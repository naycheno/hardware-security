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notesMasterIdLst>
    <p:notesMasterId r:id="rId8"/>
  </p:notesMaster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&lt;!--pageType:cover--&gt;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&lt;!--pageType:table_of_contents--&gt;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&lt;!--pageType:chapter--&gt;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&lt;!--pageType:chapter--&gt;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&lt;!--pageType:chapter--&gt;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&lt;!--pageType:chapter--&gt;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&lt;!--pageType:content--&gt;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&lt;!--pageType:final--&gt;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93B"/>
        </a:solidFill>
        <a:effectLst/>
      </p:bgPr>
    </p:bg>
    <p:spTree>
      <p:nvGrpSpPr>
        <p:cNvPr id="1" name=""/>
        <p:cNvGrpSpPr/>
        <p:nvPr/>
      </p:nvGrpSpPr>
      <p:grpSpPr/>
      <p:sp>
        <p:nvSpPr>
          <p:cNvPr id="2" name="dsl:right-panel"/>
          <p:cNvSpPr/>
          <p:nvPr/>
        </p:nvSpPr>
        <p:spPr>
          <a:xfrm>
            <a:off x="6096000" y="0"/>
            <a:ext cx="6096000" cy="6858000"/>
          </a:xfrm>
          <a:prstGeom prst="rect">
            <a:avLst/>
          </a:prstGeom>
          <a:gradFill rotWithShape="1">
            <a:gsLst>
              <a:gs pos="0">
                <a:srgbClr val="1E293B"/>
              </a:gs>
              <a:gs pos="100000">
                <a:srgbClr val="334155"/>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deco-circle-1"/>
          <p:cNvSpPr/>
          <p:nvPr/>
        </p:nvSpPr>
        <p:spPr>
          <a:xfrm>
            <a:off x="7620000" y="1714500"/>
            <a:ext cx="2667000" cy="2667000"/>
          </a:xfrm>
          <a:prstGeom prst="ellipse">
            <a:avLst/>
          </a:prstGeom>
          <a:solidFill>
            <a:srgbClr val="FFFFFF">
              <a:alpha val="3137"/>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deco-circle-2"/>
          <p:cNvSpPr/>
          <p:nvPr/>
        </p:nvSpPr>
        <p:spPr>
          <a:xfrm>
            <a:off x="9334500" y="3619500"/>
            <a:ext cx="1714500" cy="1714500"/>
          </a:xfrm>
          <a:prstGeom prst="ellipse">
            <a:avLst/>
          </a:prstGeom>
          <a:solidFill>
            <a:srgbClr val="FFFFFF">
              <a:alpha val="196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sl:accent-bar"/>
          <p:cNvSpPr/>
          <p:nvPr/>
        </p:nvSpPr>
        <p:spPr>
          <a:xfrm>
            <a:off x="571500" y="1857375"/>
            <a:ext cx="571500" cy="381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sl:cover-title|s=$coverTitle"/>
          <p:cNvSpPr txBox="1"/>
          <p:nvPr/>
        </p:nvSpPr>
        <p:spPr>
          <a:xfrm>
            <a:off x="571500" y="2000250"/>
            <a:ext cx="5191125" cy="523875"/>
          </a:xfrm>
          <a:prstGeom prst="rect">
            <a:avLst/>
          </a:prstGeom>
          <a:noFill/>
        </p:spPr>
        <p:txBody>
          <a:bodyPr wrap="none" anchor="ctr">
            <a:noAutofit/>
          </a:bodyPr>
          <a:lstStyle/>
          <a:p>
            <a:pPr algn="l">
              <a:lnSpc>
                <a:spcPct val="120000"/>
              </a:lnSpc>
            </a:pPr>
            <a:r>
              <a:rPr sz="3000" noProof="1">
                <a:solidFill>
                  <a:srgbClr val="FFFFFF"/>
                </a:solidFill>
                <a:latin typeface="QuattrocentoSans"/>
                <a:ea typeface="MiSans"/>
              </a:rPr>
              <a:t>网络设备的Web服务安全研究</a:t>
            </a:r>
          </a:p>
        </p:txBody>
      </p:sp>
      <p:sp>
        <p:nvSpPr>
          <p:cNvPr id="7" name="dsl:cover-subtitle|s=$coverSubtitle"/>
          <p:cNvSpPr txBox="1"/>
          <p:nvPr/>
        </p:nvSpPr>
        <p:spPr>
          <a:xfrm>
            <a:off x="571500" y="2667000"/>
            <a:ext cx="4953000" cy="333375"/>
          </a:xfrm>
          <a:prstGeom prst="rect">
            <a:avLst/>
          </a:prstGeom>
          <a:noFill/>
        </p:spPr>
        <p:txBody>
          <a:bodyPr wrap="none" anchor="ctr">
            <a:noAutofit/>
          </a:bodyPr>
          <a:lstStyle/>
          <a:p>
            <a:pPr algn="l">
              <a:lnSpc>
                <a:spcPct val="140000"/>
              </a:lnSpc>
            </a:pPr>
            <a:r>
              <a:rPr sz="1650" noProof="1">
                <a:solidFill>
                  <a:srgbClr val="CBD5E1"/>
                </a:solidFill>
                <a:latin typeface="QuattrocentoSans"/>
                <a:ea typeface="MiSans"/>
              </a:rPr>
              <a:t>从污点源识别到漏洞验证的全链路技术演进</a:t>
            </a:r>
          </a:p>
        </p:txBody>
      </p:sp>
      <p:sp>
        <p:nvSpPr>
          <p:cNvPr id="8" name="dsl:cover-author"/>
          <p:cNvSpPr txBox="1"/>
          <p:nvPr/>
        </p:nvSpPr>
        <p:spPr>
          <a:xfrm>
            <a:off x="571500" y="5905500"/>
            <a:ext cx="4953000" cy="238125"/>
          </a:xfrm>
          <a:prstGeom prst="rect">
            <a:avLst/>
          </a:prstGeom>
          <a:noFill/>
        </p:spPr>
        <p:txBody>
          <a:bodyPr wrap="none" anchor="ctr">
            <a:noAutofit/>
          </a:bodyPr>
          <a:lstStyle/>
          <a:p>
            <a:pPr algn="l"/>
            <a:r>
              <a:rPr sz="1050" noProof="1">
                <a:solidFill>
                  <a:srgbClr val="CBD5E1"/>
                </a:solidFill>
                <a:latin typeface="QuattrocentoSans"/>
                <a:ea typeface="MiSans"/>
              </a:rPr>
              <a:t>作者：罗夏朴 | 香港理工大学 电子计算学系 |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dsl:top-sep"/>
          <p:cNvSpPr/>
          <p:nvPr/>
        </p:nvSpPr>
        <p:spPr>
          <a:xfrm>
            <a:off x="0" y="381000"/>
            <a:ext cx="12192000" cy="1905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toc-title|s=$title"/>
          <p:cNvSpPr txBox="1"/>
          <p:nvPr/>
        </p:nvSpPr>
        <p:spPr>
          <a:xfrm>
            <a:off x="571500" y="476250"/>
            <a:ext cx="1905000" cy="381000"/>
          </a:xfrm>
          <a:prstGeom prst="rect">
            <a:avLst/>
          </a:prstGeom>
          <a:noFill/>
        </p:spPr>
        <p:txBody>
          <a:bodyPr wrap="none" anchor="ctr">
            <a:noAutofit/>
          </a:bodyPr>
          <a:lstStyle/>
          <a:p>
            <a:pPr algn="l">
              <a:lnSpc>
                <a:spcPct val="130000"/>
              </a:lnSpc>
            </a:pPr>
            <a:r>
              <a:rPr sz="2100" noProof="1">
                <a:solidFill>
                  <a:srgbClr val="1E293B"/>
                </a:solidFill>
                <a:latin typeface="QuattrocentoSans"/>
                <a:ea typeface="MiSans"/>
              </a:rPr>
              <a:t>目录</a:t>
            </a:r>
          </a:p>
        </p:txBody>
      </p:sp>
      <p:sp>
        <p:nvSpPr>
          <p:cNvPr id="4" name="dsl:card-bg-1"/>
          <p:cNvSpPr/>
          <p:nvPr/>
        </p:nvSpPr>
        <p:spPr>
          <a:xfrm>
            <a:off x="800100" y="1238250"/>
            <a:ext cx="2476500" cy="4000500"/>
          </a:xfrm>
          <a:prstGeom prst="roundRect">
            <a:avLst>
              <a:gd name="adj" fmla="val 2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sl:card-bg-2"/>
          <p:cNvSpPr/>
          <p:nvPr/>
        </p:nvSpPr>
        <p:spPr>
          <a:xfrm>
            <a:off x="3505200" y="1238250"/>
            <a:ext cx="2476500" cy="4000500"/>
          </a:xfrm>
          <a:prstGeom prst="roundRect">
            <a:avLst>
              <a:gd name="adj" fmla="val 2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sl:card-bg-3"/>
          <p:cNvSpPr/>
          <p:nvPr/>
        </p:nvSpPr>
        <p:spPr>
          <a:xfrm>
            <a:off x="6210300" y="1238250"/>
            <a:ext cx="2476500" cy="4000500"/>
          </a:xfrm>
          <a:prstGeom prst="roundRect">
            <a:avLst>
              <a:gd name="adj" fmla="val 2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sl:card-bg-4"/>
          <p:cNvSpPr/>
          <p:nvPr/>
        </p:nvSpPr>
        <p:spPr>
          <a:xfrm>
            <a:off x="8915400" y="1238250"/>
            <a:ext cx="2476500" cy="4000500"/>
          </a:xfrm>
          <a:prstGeom prst="roundRect">
            <a:avLst>
              <a:gd name="adj" fmla="val 2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sl:card-num-1|s=$kpi"/>
          <p:cNvSpPr txBox="1"/>
          <p:nvPr/>
        </p:nvSpPr>
        <p:spPr>
          <a:xfrm>
            <a:off x="990600" y="1524000"/>
            <a:ext cx="762000" cy="428625"/>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01</a:t>
            </a:r>
          </a:p>
        </p:txBody>
      </p:sp>
      <p:sp>
        <p:nvSpPr>
          <p:cNvPr id="9" name="dsl:card-title-1"/>
          <p:cNvSpPr txBox="1"/>
          <p:nvPr/>
        </p:nvSpPr>
        <p:spPr>
          <a:xfrm>
            <a:off x="990600" y="2047875"/>
            <a:ext cx="2095500" cy="285750"/>
          </a:xfrm>
          <a:prstGeom prst="rect">
            <a:avLst/>
          </a:prstGeom>
          <a:noFill/>
        </p:spPr>
        <p:txBody>
          <a:bodyPr wrap="none" anchor="ctr">
            <a:noAutofit/>
          </a:bodyPr>
          <a:lstStyle/>
          <a:p>
            <a:pPr algn="l"/>
            <a:r>
              <a:rPr sz="1500" noProof="1">
                <a:solidFill>
                  <a:srgbClr val="1E293B"/>
                </a:solidFill>
                <a:latin typeface="QuattrocentoSans"/>
                <a:ea typeface="MiSans"/>
              </a:rPr>
              <a:t>输入源点识别</a:t>
            </a:r>
          </a:p>
        </p:txBody>
      </p:sp>
      <p:sp>
        <p:nvSpPr>
          <p:cNvPr id="10" name="dsl:card-sub-1"/>
          <p:cNvSpPr txBox="1"/>
          <p:nvPr/>
        </p:nvSpPr>
        <p:spPr>
          <a:xfrm>
            <a:off x="990600" y="2381250"/>
            <a:ext cx="2095500" cy="209550"/>
          </a:xfrm>
          <a:prstGeom prst="rect">
            <a:avLst/>
          </a:prstGeom>
          <a:noFill/>
        </p:spPr>
        <p:txBody>
          <a:bodyPr wrap="none" anchor="ctr">
            <a:noAutofit/>
          </a:bodyPr>
          <a:lstStyle/>
          <a:p>
            <a:pPr algn="l"/>
            <a:r>
              <a:rPr sz="1050" noProof="1">
                <a:solidFill>
                  <a:srgbClr val="64748B"/>
                </a:solidFill>
                <a:latin typeface="QuattrocentoSans"/>
                <a:ea typeface="MiSans"/>
              </a:rPr>
              <a:t>Source</a:t>
            </a:r>
          </a:p>
        </p:txBody>
      </p:sp>
      <p:sp>
        <p:nvSpPr>
          <p:cNvPr id="11" name="dsl:card-sep-1"/>
          <p:cNvSpPr/>
          <p:nvPr/>
        </p:nvSpPr>
        <p:spPr>
          <a:xfrm>
            <a:off x="990600" y="2714625"/>
            <a:ext cx="20955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l:card-papers-1"/>
          <p:cNvSpPr txBox="1"/>
          <p:nvPr/>
        </p:nvSpPr>
        <p:spPr>
          <a:xfrm>
            <a:off x="990600" y="2857500"/>
            <a:ext cx="2095500" cy="1285875"/>
          </a:xfrm>
          <a:prstGeom prst="rect">
            <a:avLst/>
          </a:prstGeom>
          <a:noFill/>
        </p:spPr>
        <p:txBody>
          <a:bodyPr wrap="square" anchor="t">
            <a:noAutofit/>
          </a:bodyPr>
          <a:lstStyle/>
          <a:p>
            <a:pPr algn="l">
              <a:lnSpc>
                <a:spcPct val="220000"/>
              </a:lnSpc>
            </a:pPr>
            <a:r>
              <a:rPr sz="1200" noProof="1">
                <a:solidFill>
                  <a:srgbClr val="0F172A"/>
                </a:solidFill>
                <a:latin typeface="QuattrocentoSans"/>
                <a:ea typeface="MiSans"/>
              </a:rPr>
              <a:t>SaTC</a:t>
            </a:r>
          </a:p>
          <a:p>
            <a:pPr algn="l">
              <a:lnSpc>
                <a:spcPct val="220000"/>
              </a:lnSpc>
            </a:pPr>
            <a:r>
              <a:rPr sz="1200" noProof="1">
                <a:solidFill>
                  <a:srgbClr val="0F172A"/>
                </a:solidFill>
                <a:latin typeface="QuattrocentoSans"/>
                <a:ea typeface="MiSans"/>
              </a:rPr>
              <a:t>HermeScan</a:t>
            </a:r>
          </a:p>
          <a:p>
            <a:pPr algn="l">
              <a:lnSpc>
                <a:spcPct val="220000"/>
              </a:lnSpc>
            </a:pPr>
            <a:r>
              <a:rPr sz="1200" noProof="1">
                <a:solidFill>
                  <a:srgbClr val="0F172A"/>
                </a:solidFill>
                <a:latin typeface="QuattrocentoSans"/>
                <a:ea typeface="MiSans"/>
              </a:rPr>
              <a:t>LARA</a:t>
            </a:r>
          </a:p>
        </p:txBody>
      </p:sp>
      <p:sp>
        <p:nvSpPr>
          <p:cNvPr id="13" name="dsl:card-num-2|s=$kpi"/>
          <p:cNvSpPr txBox="1"/>
          <p:nvPr/>
        </p:nvSpPr>
        <p:spPr>
          <a:xfrm>
            <a:off x="3695700" y="1524000"/>
            <a:ext cx="762000" cy="428625"/>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02</a:t>
            </a:r>
          </a:p>
        </p:txBody>
      </p:sp>
      <p:sp>
        <p:nvSpPr>
          <p:cNvPr id="14" name="dsl:card-title-2"/>
          <p:cNvSpPr txBox="1"/>
          <p:nvPr/>
        </p:nvSpPr>
        <p:spPr>
          <a:xfrm>
            <a:off x="3695700" y="2047875"/>
            <a:ext cx="2095500" cy="285750"/>
          </a:xfrm>
          <a:prstGeom prst="rect">
            <a:avLst/>
          </a:prstGeom>
          <a:noFill/>
        </p:spPr>
        <p:txBody>
          <a:bodyPr wrap="none" anchor="ctr">
            <a:noAutofit/>
          </a:bodyPr>
          <a:lstStyle/>
          <a:p>
            <a:pPr algn="l"/>
            <a:r>
              <a:rPr sz="1500" noProof="1">
                <a:solidFill>
                  <a:srgbClr val="1E293B"/>
                </a:solidFill>
                <a:latin typeface="QuattrocentoSans"/>
                <a:ea typeface="MiSans"/>
              </a:rPr>
              <a:t>复杂后端数据流</a:t>
            </a:r>
          </a:p>
        </p:txBody>
      </p:sp>
      <p:sp>
        <p:nvSpPr>
          <p:cNvPr id="15" name="dsl:card-sub-2"/>
          <p:cNvSpPr txBox="1"/>
          <p:nvPr/>
        </p:nvSpPr>
        <p:spPr>
          <a:xfrm>
            <a:off x="3695700" y="2381250"/>
            <a:ext cx="2095500" cy="209550"/>
          </a:xfrm>
          <a:prstGeom prst="rect">
            <a:avLst/>
          </a:prstGeom>
          <a:noFill/>
        </p:spPr>
        <p:txBody>
          <a:bodyPr wrap="none" anchor="ctr">
            <a:noAutofit/>
          </a:bodyPr>
          <a:lstStyle/>
          <a:p>
            <a:pPr algn="l"/>
            <a:r>
              <a:rPr sz="1050" noProof="1">
                <a:solidFill>
                  <a:srgbClr val="64748B"/>
                </a:solidFill>
                <a:latin typeface="QuattrocentoSans"/>
                <a:ea typeface="MiSans"/>
              </a:rPr>
              <a:t>Propagation</a:t>
            </a:r>
          </a:p>
        </p:txBody>
      </p:sp>
      <p:sp>
        <p:nvSpPr>
          <p:cNvPr id="16" name="dsl:card-sep-2"/>
          <p:cNvSpPr/>
          <p:nvPr/>
        </p:nvSpPr>
        <p:spPr>
          <a:xfrm>
            <a:off x="3695700" y="2714625"/>
            <a:ext cx="20955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card-papers-2"/>
          <p:cNvSpPr txBox="1"/>
          <p:nvPr/>
        </p:nvSpPr>
        <p:spPr>
          <a:xfrm>
            <a:off x="3695700" y="2857500"/>
            <a:ext cx="2095500" cy="1285875"/>
          </a:xfrm>
          <a:prstGeom prst="rect">
            <a:avLst/>
          </a:prstGeom>
          <a:noFill/>
        </p:spPr>
        <p:txBody>
          <a:bodyPr wrap="square" anchor="t">
            <a:noAutofit/>
          </a:bodyPr>
          <a:lstStyle/>
          <a:p>
            <a:pPr algn="l">
              <a:lnSpc>
                <a:spcPct val="220000"/>
              </a:lnSpc>
            </a:pPr>
            <a:r>
              <a:rPr sz="1200" noProof="1">
                <a:solidFill>
                  <a:srgbClr val="0F172A"/>
                </a:solidFill>
                <a:latin typeface="QuattrocentoSans"/>
                <a:ea typeface="MiSans"/>
              </a:rPr>
              <a:t>KARONTE</a:t>
            </a:r>
          </a:p>
          <a:p>
            <a:pPr algn="l">
              <a:lnSpc>
                <a:spcPct val="220000"/>
              </a:lnSpc>
            </a:pPr>
            <a:r>
              <a:rPr sz="1200" noProof="1">
                <a:solidFill>
                  <a:srgbClr val="0F172A"/>
                </a:solidFill>
                <a:latin typeface="QuattrocentoSans"/>
                <a:ea typeface="MiSans"/>
              </a:rPr>
              <a:t>MangoDFA</a:t>
            </a:r>
          </a:p>
          <a:p>
            <a:pPr algn="l">
              <a:lnSpc>
                <a:spcPct val="220000"/>
              </a:lnSpc>
            </a:pPr>
            <a:r>
              <a:rPr sz="1200" noProof="1">
                <a:solidFill>
                  <a:srgbClr val="0F172A"/>
                </a:solidFill>
                <a:latin typeface="QuattrocentoSans"/>
                <a:ea typeface="MiSans"/>
              </a:rPr>
              <a:t>OctopusTaint</a:t>
            </a:r>
          </a:p>
        </p:txBody>
      </p:sp>
      <p:sp>
        <p:nvSpPr>
          <p:cNvPr id="18" name="dsl:card-num-3|s=$kpi"/>
          <p:cNvSpPr txBox="1"/>
          <p:nvPr/>
        </p:nvSpPr>
        <p:spPr>
          <a:xfrm>
            <a:off x="6400800" y="1524000"/>
            <a:ext cx="762000" cy="428625"/>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03</a:t>
            </a:r>
          </a:p>
        </p:txBody>
      </p:sp>
      <p:sp>
        <p:nvSpPr>
          <p:cNvPr id="19" name="dsl:card-title-3"/>
          <p:cNvSpPr txBox="1"/>
          <p:nvPr/>
        </p:nvSpPr>
        <p:spPr>
          <a:xfrm>
            <a:off x="6400800" y="2047875"/>
            <a:ext cx="2095500" cy="285750"/>
          </a:xfrm>
          <a:prstGeom prst="rect">
            <a:avLst/>
          </a:prstGeom>
          <a:noFill/>
        </p:spPr>
        <p:txBody>
          <a:bodyPr wrap="none" anchor="ctr">
            <a:noAutofit/>
          </a:bodyPr>
          <a:lstStyle/>
          <a:p>
            <a:pPr algn="l"/>
            <a:r>
              <a:rPr sz="1500" noProof="1">
                <a:solidFill>
                  <a:srgbClr val="1E293B"/>
                </a:solidFill>
                <a:latin typeface="QuattrocentoSans"/>
                <a:ea typeface="MiSans"/>
              </a:rPr>
              <a:t>隐藏接口发现</a:t>
            </a:r>
          </a:p>
        </p:txBody>
      </p:sp>
      <p:sp>
        <p:nvSpPr>
          <p:cNvPr id="20" name="dsl:card-sub-3"/>
          <p:cNvSpPr txBox="1"/>
          <p:nvPr/>
        </p:nvSpPr>
        <p:spPr>
          <a:xfrm>
            <a:off x="6400800" y="2381250"/>
            <a:ext cx="2095500" cy="209550"/>
          </a:xfrm>
          <a:prstGeom prst="rect">
            <a:avLst/>
          </a:prstGeom>
          <a:noFill/>
        </p:spPr>
        <p:txBody>
          <a:bodyPr wrap="none" anchor="ctr">
            <a:noAutofit/>
          </a:bodyPr>
          <a:lstStyle/>
          <a:p>
            <a:pPr algn="l"/>
            <a:r>
              <a:rPr sz="1050" noProof="1">
                <a:solidFill>
                  <a:srgbClr val="64748B"/>
                </a:solidFill>
                <a:latin typeface="QuattrocentoSans"/>
                <a:ea typeface="MiSans"/>
              </a:rPr>
              <a:t>Sink</a:t>
            </a:r>
          </a:p>
        </p:txBody>
      </p:sp>
      <p:sp>
        <p:nvSpPr>
          <p:cNvPr id="21" name="dsl:card-sep-3"/>
          <p:cNvSpPr/>
          <p:nvPr/>
        </p:nvSpPr>
        <p:spPr>
          <a:xfrm>
            <a:off x="6400800" y="2714625"/>
            <a:ext cx="20955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card-papers-3"/>
          <p:cNvSpPr txBox="1"/>
          <p:nvPr/>
        </p:nvSpPr>
        <p:spPr>
          <a:xfrm>
            <a:off x="6400800" y="2857500"/>
            <a:ext cx="2095500" cy="1285875"/>
          </a:xfrm>
          <a:prstGeom prst="rect">
            <a:avLst/>
          </a:prstGeom>
          <a:noFill/>
        </p:spPr>
        <p:txBody>
          <a:bodyPr wrap="square" anchor="t">
            <a:noAutofit/>
          </a:bodyPr>
          <a:lstStyle/>
          <a:p>
            <a:pPr algn="l">
              <a:lnSpc>
                <a:spcPct val="220000"/>
              </a:lnSpc>
            </a:pPr>
            <a:r>
              <a:rPr sz="1200" noProof="1">
                <a:solidFill>
                  <a:srgbClr val="0F172A"/>
                </a:solidFill>
                <a:latin typeface="QuattrocentoSans"/>
                <a:ea typeface="MiSans"/>
              </a:rPr>
              <a:t>IoTScope</a:t>
            </a:r>
          </a:p>
          <a:p>
            <a:pPr algn="l">
              <a:lnSpc>
                <a:spcPct val="220000"/>
              </a:lnSpc>
            </a:pPr>
            <a:r>
              <a:rPr sz="1200" noProof="1">
                <a:solidFill>
                  <a:srgbClr val="0F172A"/>
                </a:solidFill>
                <a:latin typeface="QuattrocentoSans"/>
                <a:ea typeface="MiSans"/>
              </a:rPr>
              <a:t>EAGLEYE</a:t>
            </a:r>
          </a:p>
          <a:p>
            <a:pPr algn="l">
              <a:lnSpc>
                <a:spcPct val="220000"/>
              </a:lnSpc>
            </a:pPr>
            <a:r>
              <a:rPr sz="1200" noProof="1">
                <a:solidFill>
                  <a:srgbClr val="0F172A"/>
                </a:solidFill>
                <a:latin typeface="QuattrocentoSans"/>
                <a:ea typeface="MiSans"/>
              </a:rPr>
              <a:t>PANGOLIN</a:t>
            </a:r>
          </a:p>
        </p:txBody>
      </p:sp>
      <p:sp>
        <p:nvSpPr>
          <p:cNvPr id="23" name="dsl:card-num-4|s=$kpi"/>
          <p:cNvSpPr txBox="1"/>
          <p:nvPr/>
        </p:nvSpPr>
        <p:spPr>
          <a:xfrm>
            <a:off x="9105900" y="1524000"/>
            <a:ext cx="762000" cy="428625"/>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04</a:t>
            </a:r>
          </a:p>
        </p:txBody>
      </p:sp>
      <p:sp>
        <p:nvSpPr>
          <p:cNvPr id="24" name="dsl:card-title-4"/>
          <p:cNvSpPr txBox="1"/>
          <p:nvPr/>
        </p:nvSpPr>
        <p:spPr>
          <a:xfrm>
            <a:off x="9105900" y="2047875"/>
            <a:ext cx="2095500" cy="285750"/>
          </a:xfrm>
          <a:prstGeom prst="rect">
            <a:avLst/>
          </a:prstGeom>
          <a:noFill/>
        </p:spPr>
        <p:txBody>
          <a:bodyPr wrap="none" anchor="ctr">
            <a:noAutofit/>
          </a:bodyPr>
          <a:lstStyle/>
          <a:p>
            <a:pPr algn="l"/>
            <a:r>
              <a:rPr sz="1500" noProof="1">
                <a:solidFill>
                  <a:srgbClr val="1E293B"/>
                </a:solidFill>
                <a:latin typeface="QuattrocentoSans"/>
                <a:ea typeface="MiSans"/>
              </a:rPr>
              <a:t>漏洞验证与PoC生成</a:t>
            </a:r>
          </a:p>
        </p:txBody>
      </p:sp>
      <p:sp>
        <p:nvSpPr>
          <p:cNvPr id="25" name="dsl:card-sub-4"/>
          <p:cNvSpPr txBox="1"/>
          <p:nvPr/>
        </p:nvSpPr>
        <p:spPr>
          <a:xfrm>
            <a:off x="9105900" y="2381250"/>
            <a:ext cx="2095500" cy="209550"/>
          </a:xfrm>
          <a:prstGeom prst="rect">
            <a:avLst/>
          </a:prstGeom>
          <a:noFill/>
        </p:spPr>
        <p:txBody>
          <a:bodyPr wrap="none" anchor="ctr">
            <a:noAutofit/>
          </a:bodyPr>
          <a:lstStyle/>
          <a:p>
            <a:pPr algn="l"/>
            <a:r>
              <a:rPr sz="1050" noProof="1">
                <a:solidFill>
                  <a:srgbClr val="64748B"/>
                </a:solidFill>
                <a:latin typeface="QuattrocentoSans"/>
                <a:ea typeface="MiSans"/>
              </a:rPr>
              <a:t>Verification</a:t>
            </a:r>
          </a:p>
        </p:txBody>
      </p:sp>
      <p:sp>
        <p:nvSpPr>
          <p:cNvPr id="26" name="dsl:card-sep-4"/>
          <p:cNvSpPr/>
          <p:nvPr/>
        </p:nvSpPr>
        <p:spPr>
          <a:xfrm>
            <a:off x="9105900" y="2714625"/>
            <a:ext cx="20955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card-papers-4"/>
          <p:cNvSpPr txBox="1"/>
          <p:nvPr/>
        </p:nvSpPr>
        <p:spPr>
          <a:xfrm>
            <a:off x="9105900" y="2857500"/>
            <a:ext cx="2095500" cy="1285875"/>
          </a:xfrm>
          <a:prstGeom prst="rect">
            <a:avLst/>
          </a:prstGeom>
          <a:noFill/>
        </p:spPr>
        <p:txBody>
          <a:bodyPr wrap="square" anchor="t">
            <a:noAutofit/>
          </a:bodyPr>
          <a:lstStyle/>
          <a:p>
            <a:pPr algn="l">
              <a:lnSpc>
                <a:spcPct val="220000"/>
              </a:lnSpc>
            </a:pPr>
            <a:r>
              <a:rPr sz="1200" noProof="1">
                <a:solidFill>
                  <a:srgbClr val="0F172A"/>
                </a:solidFill>
                <a:latin typeface="QuattrocentoSans"/>
                <a:ea typeface="MiSans"/>
              </a:rPr>
              <a:t>NÜWA</a:t>
            </a:r>
          </a:p>
          <a:p>
            <a:pPr algn="l">
              <a:lnSpc>
                <a:spcPct val="220000"/>
              </a:lnSpc>
            </a:pPr>
            <a:r>
              <a:rPr sz="1200" noProof="1">
                <a:solidFill>
                  <a:srgbClr val="0F172A"/>
                </a:solidFill>
                <a:latin typeface="QuattrocentoSans"/>
                <a:ea typeface="MiSans"/>
              </a:rPr>
              <a:t>LABRADOR</a:t>
            </a:r>
          </a:p>
          <a:p>
            <a:pPr algn="l">
              <a:lnSpc>
                <a:spcPct val="220000"/>
              </a:lnSpc>
            </a:pPr>
            <a:r>
              <a:rPr sz="1200" noProof="1">
                <a:solidFill>
                  <a:srgbClr val="0F172A"/>
                </a:solidFill>
                <a:latin typeface="QuattrocentoSans"/>
                <a:ea typeface="MiSans"/>
              </a:rPr>
              <a:t>FirmAgent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dsl:top-sep"/>
          <p:cNvSpPr/>
          <p:nvPr/>
        </p:nvSpPr>
        <p:spPr>
          <a:xfrm>
            <a:off x="0" y="381000"/>
            <a:ext cx="12192000" cy="1905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page-title|s=$title"/>
          <p:cNvSpPr txBox="1"/>
          <p:nvPr/>
        </p:nvSpPr>
        <p:spPr>
          <a:xfrm>
            <a:off x="571500" y="476250"/>
            <a:ext cx="4762500" cy="381000"/>
          </a:xfrm>
          <a:prstGeom prst="rect">
            <a:avLst/>
          </a:prstGeom>
          <a:noFill/>
        </p:spPr>
        <p:txBody>
          <a:bodyPr wrap="none" anchor="ctr">
            <a:noAutofit/>
          </a:bodyPr>
          <a:lstStyle/>
          <a:p>
            <a:pPr algn="l">
              <a:lnSpc>
                <a:spcPct val="130000"/>
              </a:lnSpc>
            </a:pPr>
            <a:r>
              <a:rPr sz="2100" noProof="1">
                <a:solidFill>
                  <a:srgbClr val="1E293B"/>
                </a:solidFill>
                <a:latin typeface="QuattrocentoSans"/>
                <a:ea typeface="MiSans"/>
              </a:rPr>
              <a:t>研究背景与问题空间</a:t>
            </a:r>
          </a:p>
        </p:txBody>
      </p:sp>
      <p:sp>
        <p:nvSpPr>
          <p:cNvPr id="4" name="dsl:intro-text"/>
          <p:cNvSpPr txBox="1"/>
          <p:nvPr/>
        </p:nvSpPr>
        <p:spPr>
          <a:xfrm>
            <a:off x="571500" y="952500"/>
            <a:ext cx="11049000" cy="333375"/>
          </a:xfrm>
          <a:prstGeom prst="rect">
            <a:avLst/>
          </a:prstGeom>
          <a:noFill/>
        </p:spPr>
        <p:txBody>
          <a:bodyPr wrap="square" anchor="ctr">
            <a:noAutofit/>
          </a:bodyPr>
          <a:lstStyle/>
          <a:p>
            <a:pPr algn="l">
              <a:lnSpc>
                <a:spcPct val="160000"/>
              </a:lnSpc>
            </a:pPr>
            <a:r>
              <a:rPr sz="1350" noProof="1">
                <a:solidFill>
                  <a:srgbClr val="0F172A"/>
                </a:solidFill>
                <a:latin typeface="QuattrocentoSans"/>
                <a:ea typeface="MiSans"/>
              </a:rPr>
              <a:t>物联网及网络设备的Web接口是对外暴露的主要通信接口，传统分析工具在IoT Web固件上面临四大挑战。</a:t>
            </a:r>
          </a:p>
        </p:txBody>
      </p:sp>
      <p:sp>
        <p:nvSpPr>
          <p:cNvPr id="5" name="dsl:challenge-bg-1"/>
          <p:cNvSpPr/>
          <p:nvPr/>
        </p:nvSpPr>
        <p:spPr>
          <a:xfrm>
            <a:off x="571500" y="1524000"/>
            <a:ext cx="2619375" cy="1619250"/>
          </a:xfrm>
          <a:prstGeom prst="roundRect">
            <a:avLst>
              <a:gd name="adj" fmla="val 5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dsl:challenge-icon-1|i=far:dot-circle" descr="tmpa6n9m_i6.png"/>
          <p:cNvPicPr>
            <a:picLocks noChangeAspect="1"/>
          </p:cNvPicPr>
          <p:nvPr/>
        </p:nvPicPr>
        <p:blipFill>
          <a:blip r:embed="rId2"/>
          <a:stretch>
            <a:fillRect/>
          </a:stretch>
        </p:blipFill>
        <p:spPr>
          <a:xfrm>
            <a:off x="762000" y="1666875"/>
            <a:ext cx="266700" cy="266700"/>
          </a:xfrm>
          <a:prstGeom prst="rect">
            <a:avLst/>
          </a:prstGeom>
          <a:ln>
            <a:noFill/>
          </a:ln>
          <a:effectLst/>
        </p:spPr>
      </p:pic>
      <p:sp>
        <p:nvSpPr>
          <p:cNvPr id="7" name="dsl:challenge-title-1"/>
          <p:cNvSpPr txBox="1"/>
          <p:nvPr/>
        </p:nvSpPr>
        <p:spPr>
          <a:xfrm>
            <a:off x="762000" y="2047875"/>
            <a:ext cx="2238375" cy="238125"/>
          </a:xfrm>
          <a:prstGeom prst="rect">
            <a:avLst/>
          </a:prstGeom>
          <a:noFill/>
        </p:spPr>
        <p:txBody>
          <a:bodyPr wrap="none" anchor="ctr">
            <a:noAutofit/>
          </a:bodyPr>
          <a:lstStyle/>
          <a:p>
            <a:pPr algn="l"/>
            <a:r>
              <a:rPr b="1" sz="1350" noProof="1">
                <a:solidFill>
                  <a:srgbClr val="1E293B"/>
                </a:solidFill>
                <a:latin typeface="QuattrocentoSans"/>
                <a:ea typeface="MiSans"/>
              </a:rPr>
              <a:t>入口识别难</a:t>
            </a:r>
          </a:p>
        </p:txBody>
      </p:sp>
      <p:sp>
        <p:nvSpPr>
          <p:cNvPr id="8" name="dsl:challenge-desc-1"/>
          <p:cNvSpPr txBox="1"/>
          <p:nvPr/>
        </p:nvSpPr>
        <p:spPr>
          <a:xfrm>
            <a:off x="762000" y="2381250"/>
            <a:ext cx="2238375" cy="523875"/>
          </a:xfrm>
          <a:prstGeom prst="rect">
            <a:avLst/>
          </a:prstGeom>
          <a:noFill/>
        </p:spPr>
        <p:txBody>
          <a:bodyPr wrap="square" anchor="t">
            <a:noAutofit/>
          </a:bodyPr>
          <a:lstStyle/>
          <a:p>
            <a:pPr algn="l">
              <a:lnSpc>
                <a:spcPct val="160000"/>
              </a:lnSpc>
            </a:pPr>
            <a:r>
              <a:rPr sz="1050" noProof="1">
                <a:solidFill>
                  <a:srgbClr val="0F172A"/>
                </a:solidFill>
                <a:latin typeface="QuattrocentoSans"/>
                <a:ea typeface="MiSans"/>
              </a:rPr>
              <a:t>缺乏源码，传统工具难以定位后端二进制程序真实的污点源</a:t>
            </a:r>
          </a:p>
        </p:txBody>
      </p:sp>
      <p:sp>
        <p:nvSpPr>
          <p:cNvPr id="9" name="dsl:challenge-bg-2"/>
          <p:cNvSpPr/>
          <p:nvPr/>
        </p:nvSpPr>
        <p:spPr>
          <a:xfrm>
            <a:off x="3381375" y="1524000"/>
            <a:ext cx="2619375" cy="1619250"/>
          </a:xfrm>
          <a:prstGeom prst="roundRect">
            <a:avLst>
              <a:gd name="adj" fmla="val 5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dsl:challenge-icon-2|i=far:share-square" descr="tmpa6n9m_i6.png"/>
          <p:cNvPicPr>
            <a:picLocks noChangeAspect="1"/>
          </p:cNvPicPr>
          <p:nvPr/>
        </p:nvPicPr>
        <p:blipFill>
          <a:blip r:embed="rId2"/>
          <a:stretch>
            <a:fillRect/>
          </a:stretch>
        </p:blipFill>
        <p:spPr>
          <a:xfrm>
            <a:off x="3571875" y="1666875"/>
            <a:ext cx="266700" cy="266700"/>
          </a:xfrm>
          <a:prstGeom prst="rect">
            <a:avLst/>
          </a:prstGeom>
          <a:ln>
            <a:noFill/>
          </a:ln>
          <a:effectLst/>
        </p:spPr>
      </p:pic>
      <p:sp>
        <p:nvSpPr>
          <p:cNvPr id="11" name="dsl:challenge-title-2"/>
          <p:cNvSpPr txBox="1"/>
          <p:nvPr/>
        </p:nvSpPr>
        <p:spPr>
          <a:xfrm>
            <a:off x="3571875" y="2047875"/>
            <a:ext cx="2238375" cy="238125"/>
          </a:xfrm>
          <a:prstGeom prst="rect">
            <a:avLst/>
          </a:prstGeom>
          <a:noFill/>
        </p:spPr>
        <p:txBody>
          <a:bodyPr wrap="none" anchor="ctr">
            <a:noAutofit/>
          </a:bodyPr>
          <a:lstStyle/>
          <a:p>
            <a:pPr algn="l"/>
            <a:r>
              <a:rPr b="1" sz="1350" noProof="1">
                <a:solidFill>
                  <a:srgbClr val="1E293B"/>
                </a:solidFill>
                <a:latin typeface="QuattrocentoSans"/>
                <a:ea typeface="MiSans"/>
              </a:rPr>
              <a:t>数据流极其复杂</a:t>
            </a:r>
          </a:p>
        </p:txBody>
      </p:sp>
      <p:sp>
        <p:nvSpPr>
          <p:cNvPr id="12" name="dsl:challenge-desc-2"/>
          <p:cNvSpPr txBox="1"/>
          <p:nvPr/>
        </p:nvSpPr>
        <p:spPr>
          <a:xfrm>
            <a:off x="3571875" y="2381250"/>
            <a:ext cx="2238375" cy="523875"/>
          </a:xfrm>
          <a:prstGeom prst="rect">
            <a:avLst/>
          </a:prstGeom>
          <a:noFill/>
        </p:spPr>
        <p:txBody>
          <a:bodyPr wrap="square" anchor="t">
            <a:noAutofit/>
          </a:bodyPr>
          <a:lstStyle/>
          <a:p>
            <a:pPr algn="l">
              <a:lnSpc>
                <a:spcPct val="160000"/>
              </a:lnSpc>
            </a:pPr>
            <a:r>
              <a:rPr sz="1050" noProof="1">
                <a:solidFill>
                  <a:srgbClr val="0F172A"/>
                </a:solidFill>
                <a:latin typeface="QuattrocentoSans"/>
                <a:ea typeface="MiSans"/>
              </a:rPr>
              <a:t>现代固件高度解耦，数据流常因多进程通信或多语言混合架构而截断</a:t>
            </a:r>
          </a:p>
        </p:txBody>
      </p:sp>
      <p:sp>
        <p:nvSpPr>
          <p:cNvPr id="13" name="dsl:challenge-bg-3"/>
          <p:cNvSpPr/>
          <p:nvPr/>
        </p:nvSpPr>
        <p:spPr>
          <a:xfrm>
            <a:off x="6191250" y="1524000"/>
            <a:ext cx="2619375" cy="1619250"/>
          </a:xfrm>
          <a:prstGeom prst="roundRect">
            <a:avLst>
              <a:gd name="adj" fmla="val 5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dsl:challenge-icon-3|i=far:eye" descr="tmpa6n9m_i6.png"/>
          <p:cNvPicPr>
            <a:picLocks noChangeAspect="1"/>
          </p:cNvPicPr>
          <p:nvPr/>
        </p:nvPicPr>
        <p:blipFill>
          <a:blip r:embed="rId2"/>
          <a:stretch>
            <a:fillRect/>
          </a:stretch>
        </p:blipFill>
        <p:spPr>
          <a:xfrm>
            <a:off x="6381750" y="1666875"/>
            <a:ext cx="266700" cy="266700"/>
          </a:xfrm>
          <a:prstGeom prst="rect">
            <a:avLst/>
          </a:prstGeom>
          <a:ln>
            <a:noFill/>
          </a:ln>
          <a:effectLst/>
        </p:spPr>
      </p:pic>
      <p:sp>
        <p:nvSpPr>
          <p:cNvPr id="15" name="dsl:challenge-title-3"/>
          <p:cNvSpPr txBox="1"/>
          <p:nvPr/>
        </p:nvSpPr>
        <p:spPr>
          <a:xfrm>
            <a:off x="6381750" y="2047875"/>
            <a:ext cx="2238375" cy="238125"/>
          </a:xfrm>
          <a:prstGeom prst="rect">
            <a:avLst/>
          </a:prstGeom>
          <a:noFill/>
        </p:spPr>
        <p:txBody>
          <a:bodyPr wrap="none" anchor="ctr">
            <a:noAutofit/>
          </a:bodyPr>
          <a:lstStyle/>
          <a:p>
            <a:pPr algn="l"/>
            <a:r>
              <a:rPr b="1" sz="1350" noProof="1">
                <a:solidFill>
                  <a:srgbClr val="1E293B"/>
                </a:solidFill>
                <a:latin typeface="QuattrocentoSans"/>
                <a:ea typeface="MiSans"/>
              </a:rPr>
              <a:t>隐藏接口泛滥</a:t>
            </a:r>
          </a:p>
        </p:txBody>
      </p:sp>
      <p:sp>
        <p:nvSpPr>
          <p:cNvPr id="16" name="dsl:challenge-desc-3"/>
          <p:cNvSpPr txBox="1"/>
          <p:nvPr/>
        </p:nvSpPr>
        <p:spPr>
          <a:xfrm>
            <a:off x="6381750" y="2381250"/>
            <a:ext cx="2238375" cy="523875"/>
          </a:xfrm>
          <a:prstGeom prst="rect">
            <a:avLst/>
          </a:prstGeom>
          <a:noFill/>
        </p:spPr>
        <p:txBody>
          <a:bodyPr wrap="square" anchor="t">
            <a:noAutofit/>
          </a:bodyPr>
          <a:lstStyle/>
          <a:p>
            <a:pPr algn="l">
              <a:lnSpc>
                <a:spcPct val="160000"/>
              </a:lnSpc>
            </a:pPr>
            <a:r>
              <a:rPr sz="1050" noProof="1">
                <a:solidFill>
                  <a:srgbClr val="0F172A"/>
                </a:solidFill>
                <a:latin typeface="QuattrocentoSans"/>
                <a:ea typeface="MiSans"/>
              </a:rPr>
              <a:t>厂商遗留的测试接口缺乏前端入口且无认证保护，传统爬虫无法触达</a:t>
            </a:r>
          </a:p>
        </p:txBody>
      </p:sp>
      <p:sp>
        <p:nvSpPr>
          <p:cNvPr id="17" name="dsl:challenge-bg-4"/>
          <p:cNvSpPr/>
          <p:nvPr/>
        </p:nvSpPr>
        <p:spPr>
          <a:xfrm>
            <a:off x="9001125" y="1524000"/>
            <a:ext cx="2619375" cy="1619250"/>
          </a:xfrm>
          <a:prstGeom prst="roundRect">
            <a:avLst>
              <a:gd name="adj" fmla="val 5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dsl:challenge-icon-4|i=far:check-circle" descr="tmpa6n9m_i6.png"/>
          <p:cNvPicPr>
            <a:picLocks noChangeAspect="1"/>
          </p:cNvPicPr>
          <p:nvPr/>
        </p:nvPicPr>
        <p:blipFill>
          <a:blip r:embed="rId2"/>
          <a:stretch>
            <a:fillRect/>
          </a:stretch>
        </p:blipFill>
        <p:spPr>
          <a:xfrm>
            <a:off x="9191625" y="1666875"/>
            <a:ext cx="266700" cy="266700"/>
          </a:xfrm>
          <a:prstGeom prst="rect">
            <a:avLst/>
          </a:prstGeom>
          <a:ln>
            <a:noFill/>
          </a:ln>
          <a:effectLst/>
        </p:spPr>
      </p:pic>
      <p:sp>
        <p:nvSpPr>
          <p:cNvPr id="19" name="dsl:challenge-title-4"/>
          <p:cNvSpPr txBox="1"/>
          <p:nvPr/>
        </p:nvSpPr>
        <p:spPr>
          <a:xfrm>
            <a:off x="9191625" y="2047875"/>
            <a:ext cx="2238375" cy="238125"/>
          </a:xfrm>
          <a:prstGeom prst="rect">
            <a:avLst/>
          </a:prstGeom>
          <a:noFill/>
        </p:spPr>
        <p:txBody>
          <a:bodyPr wrap="none" anchor="ctr">
            <a:noAutofit/>
          </a:bodyPr>
          <a:lstStyle/>
          <a:p>
            <a:pPr algn="l"/>
            <a:r>
              <a:rPr b="1" sz="1350" noProof="1">
                <a:solidFill>
                  <a:srgbClr val="1E293B"/>
                </a:solidFill>
                <a:latin typeface="QuattrocentoSans"/>
                <a:ea typeface="MiSans"/>
              </a:rPr>
              <a:t>漏洞验证困难</a:t>
            </a:r>
          </a:p>
        </p:txBody>
      </p:sp>
      <p:sp>
        <p:nvSpPr>
          <p:cNvPr id="20" name="dsl:challenge-desc-4"/>
          <p:cNvSpPr txBox="1"/>
          <p:nvPr/>
        </p:nvSpPr>
        <p:spPr>
          <a:xfrm>
            <a:off x="9191625" y="2381250"/>
            <a:ext cx="2238375" cy="523875"/>
          </a:xfrm>
          <a:prstGeom prst="rect">
            <a:avLst/>
          </a:prstGeom>
          <a:noFill/>
        </p:spPr>
        <p:txBody>
          <a:bodyPr wrap="square" anchor="t">
            <a:noAutofit/>
          </a:bodyPr>
          <a:lstStyle/>
          <a:p>
            <a:pPr algn="l">
              <a:lnSpc>
                <a:spcPct val="160000"/>
              </a:lnSpc>
            </a:pPr>
            <a:r>
              <a:rPr sz="1050" noProof="1">
                <a:solidFill>
                  <a:srgbClr val="0F172A"/>
                </a:solidFill>
                <a:latin typeface="QuattrocentoSans"/>
                <a:ea typeface="MiSans"/>
              </a:rPr>
              <a:t>静态分析告警海量；黑盒Fuzzing缺覆盖率反馈</a:t>
            </a:r>
          </a:p>
        </p:txBody>
      </p:sp>
      <p:sp>
        <p:nvSpPr>
          <p:cNvPr id="21" name="dsl:framework-title"/>
          <p:cNvSpPr txBox="1"/>
          <p:nvPr/>
        </p:nvSpPr>
        <p:spPr>
          <a:xfrm>
            <a:off x="571500" y="3429000"/>
            <a:ext cx="4762500" cy="333375"/>
          </a:xfrm>
          <a:prstGeom prst="rect">
            <a:avLst/>
          </a:prstGeom>
          <a:noFill/>
        </p:spPr>
        <p:txBody>
          <a:bodyPr wrap="none" anchor="ctr">
            <a:noAutofit/>
          </a:bodyPr>
          <a:lstStyle/>
          <a:p>
            <a:pPr algn="l"/>
            <a:r>
              <a:rPr sz="1650" noProof="1">
                <a:solidFill>
                  <a:srgbClr val="1E293B"/>
                </a:solidFill>
                <a:latin typeface="QuattrocentoSans"/>
                <a:ea typeface="MiSans"/>
              </a:rPr>
              <a:t>研究框架：四维度技术演进</a:t>
            </a:r>
          </a:p>
        </p:txBody>
      </p:sp>
      <p:sp>
        <p:nvSpPr>
          <p:cNvPr id="22" name="dsl:fw-bg-1"/>
          <p:cNvSpPr/>
          <p:nvPr/>
        </p:nvSpPr>
        <p:spPr>
          <a:xfrm>
            <a:off x="1924050" y="3905250"/>
            <a:ext cx="1905000" cy="1095375"/>
          </a:xfrm>
          <a:prstGeom prst="roundRect">
            <a:avLst>
              <a:gd name="adj" fmla="val 8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l:fw-text-1"/>
          <p:cNvSpPr txBox="1"/>
          <p:nvPr/>
        </p:nvSpPr>
        <p:spPr>
          <a:xfrm>
            <a:off x="1924050" y="3905250"/>
            <a:ext cx="1905000" cy="1095375"/>
          </a:xfrm>
          <a:prstGeom prst="rect">
            <a:avLst/>
          </a:prstGeom>
          <a:noFill/>
        </p:spPr>
        <p:txBody>
          <a:bodyPr wrap="square" anchor="ctr">
            <a:noAutofit/>
          </a:bodyPr>
          <a:lstStyle/>
          <a:p>
            <a:pPr algn="ctr">
              <a:lnSpc>
                <a:spcPct val="130000"/>
              </a:lnSpc>
            </a:pPr>
            <a:r>
              <a:rPr sz="1800" noProof="1">
                <a:solidFill>
                  <a:srgbClr val="A6192E"/>
                </a:solidFill>
                <a:latin typeface="QuattrocentoSans"/>
                <a:ea typeface="MiSans"/>
              </a:rPr>
              <a:t>01</a:t>
            </a:r>
          </a:p>
          <a:p>
            <a:pPr algn="ctr">
              <a:lnSpc>
                <a:spcPct val="130000"/>
              </a:lnSpc>
              <a:spcBef>
                <a:spcPts val="150"/>
              </a:spcBef>
            </a:pPr>
            <a:r>
              <a:rPr sz="1200" noProof="1">
                <a:solidFill>
                  <a:srgbClr val="FFFFFF"/>
                </a:solidFill>
                <a:latin typeface="QuattrocentoSans"/>
                <a:ea typeface="MiSans"/>
              </a:rPr>
              <a:t>Source</a:t>
            </a:r>
          </a:p>
          <a:p>
            <a:pPr algn="ctr">
              <a:lnSpc>
                <a:spcPct val="130000"/>
              </a:lnSpc>
              <a:spcBef>
                <a:spcPts val="150"/>
              </a:spcBef>
            </a:pPr>
            <a:r>
              <a:rPr sz="1050" noProof="1">
                <a:solidFill>
                  <a:srgbClr val="FFFFFF"/>
                </a:solidFill>
                <a:latin typeface="QuattrocentoSans"/>
                <a:ea typeface="MiSans"/>
              </a:rPr>
              <a:t>输入源点识别</a:t>
            </a:r>
          </a:p>
          <a:p>
            <a:pPr algn="ctr">
              <a:lnSpc>
                <a:spcPct val="130000"/>
              </a:lnSpc>
              <a:spcBef>
                <a:spcPts val="300"/>
              </a:spcBef>
            </a:pPr>
            <a:r>
              <a:rPr sz="900" noProof="1">
                <a:solidFill>
                  <a:srgbClr val="CBD5E1"/>
                </a:solidFill>
                <a:latin typeface="QuattrocentoSans"/>
                <a:ea typeface="MiSans"/>
              </a:rPr>
              <a:t>关键词匹配 → LLM语义</a:t>
            </a:r>
          </a:p>
        </p:txBody>
      </p:sp>
      <p:cxnSp>
        <p:nvCxnSpPr>
          <p:cNvPr id="24" name="dsl:arrow-1"/>
          <p:cNvCxnSpPr/>
          <p:nvPr/>
        </p:nvCxnSpPr>
        <p:spPr>
          <a:xfrm>
            <a:off x="3829050" y="4457700"/>
            <a:ext cx="238125" cy="0"/>
          </a:xfrm>
          <a:prstGeom prst="straightConnector1">
            <a:avLst/>
          </a:prstGeom>
          <a:ln w="25400">
            <a:solidFill>
              <a:srgbClr val="A6192E"/>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25" name="dsl:fw-bg-2"/>
          <p:cNvSpPr/>
          <p:nvPr/>
        </p:nvSpPr>
        <p:spPr>
          <a:xfrm>
            <a:off x="4067175" y="3905250"/>
            <a:ext cx="1905000" cy="1095375"/>
          </a:xfrm>
          <a:prstGeom prst="roundRect">
            <a:avLst>
              <a:gd name="adj" fmla="val 8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l:fw-text-2"/>
          <p:cNvSpPr txBox="1"/>
          <p:nvPr/>
        </p:nvSpPr>
        <p:spPr>
          <a:xfrm>
            <a:off x="4067175" y="3905250"/>
            <a:ext cx="1905000" cy="1095375"/>
          </a:xfrm>
          <a:prstGeom prst="rect">
            <a:avLst/>
          </a:prstGeom>
          <a:noFill/>
        </p:spPr>
        <p:txBody>
          <a:bodyPr wrap="square" anchor="ctr">
            <a:noAutofit/>
          </a:bodyPr>
          <a:lstStyle/>
          <a:p>
            <a:pPr algn="ctr">
              <a:lnSpc>
                <a:spcPct val="130000"/>
              </a:lnSpc>
            </a:pPr>
            <a:r>
              <a:rPr sz="1800" noProof="1">
                <a:solidFill>
                  <a:srgbClr val="A6192E"/>
                </a:solidFill>
                <a:latin typeface="QuattrocentoSans"/>
                <a:ea typeface="MiSans"/>
              </a:rPr>
              <a:t>02</a:t>
            </a:r>
          </a:p>
          <a:p>
            <a:pPr algn="ctr">
              <a:lnSpc>
                <a:spcPct val="130000"/>
              </a:lnSpc>
              <a:spcBef>
                <a:spcPts val="150"/>
              </a:spcBef>
            </a:pPr>
            <a:r>
              <a:rPr sz="1200" noProof="1">
                <a:solidFill>
                  <a:srgbClr val="FFFFFF"/>
                </a:solidFill>
                <a:latin typeface="QuattrocentoSans"/>
                <a:ea typeface="MiSans"/>
              </a:rPr>
              <a:t>Propagation</a:t>
            </a:r>
          </a:p>
          <a:p>
            <a:pPr algn="ctr">
              <a:lnSpc>
                <a:spcPct val="130000"/>
              </a:lnSpc>
              <a:spcBef>
                <a:spcPts val="150"/>
              </a:spcBef>
            </a:pPr>
            <a:r>
              <a:rPr sz="1050" noProof="1">
                <a:solidFill>
                  <a:srgbClr val="FFFFFF"/>
                </a:solidFill>
                <a:latin typeface="QuattrocentoSans"/>
                <a:ea typeface="MiSans"/>
              </a:rPr>
              <a:t>复杂数据流</a:t>
            </a:r>
          </a:p>
          <a:p>
            <a:pPr algn="ctr">
              <a:lnSpc>
                <a:spcPct val="130000"/>
              </a:lnSpc>
              <a:spcBef>
                <a:spcPts val="300"/>
              </a:spcBef>
            </a:pPr>
            <a:r>
              <a:rPr sz="900" noProof="1">
                <a:solidFill>
                  <a:srgbClr val="CBD5E1"/>
                </a:solidFill>
                <a:latin typeface="QuattrocentoSans"/>
                <a:ea typeface="MiSans"/>
              </a:rPr>
              <a:t>IPC建模 → RDA优化</a:t>
            </a:r>
          </a:p>
        </p:txBody>
      </p:sp>
      <p:cxnSp>
        <p:nvCxnSpPr>
          <p:cNvPr id="27" name="dsl:arrow-2"/>
          <p:cNvCxnSpPr/>
          <p:nvPr/>
        </p:nvCxnSpPr>
        <p:spPr>
          <a:xfrm>
            <a:off x="5972175" y="4457700"/>
            <a:ext cx="238125" cy="0"/>
          </a:xfrm>
          <a:prstGeom prst="straightConnector1">
            <a:avLst/>
          </a:prstGeom>
          <a:ln w="25400">
            <a:solidFill>
              <a:srgbClr val="A6192E"/>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28" name="dsl:fw-bg-3"/>
          <p:cNvSpPr/>
          <p:nvPr/>
        </p:nvSpPr>
        <p:spPr>
          <a:xfrm>
            <a:off x="6210300" y="3905250"/>
            <a:ext cx="1905000" cy="1095375"/>
          </a:xfrm>
          <a:prstGeom prst="roundRect">
            <a:avLst>
              <a:gd name="adj" fmla="val 8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dsl:fw-text-3"/>
          <p:cNvSpPr txBox="1"/>
          <p:nvPr/>
        </p:nvSpPr>
        <p:spPr>
          <a:xfrm>
            <a:off x="6210300" y="3905250"/>
            <a:ext cx="1905000" cy="1095375"/>
          </a:xfrm>
          <a:prstGeom prst="rect">
            <a:avLst/>
          </a:prstGeom>
          <a:noFill/>
        </p:spPr>
        <p:txBody>
          <a:bodyPr wrap="square" anchor="ctr">
            <a:noAutofit/>
          </a:bodyPr>
          <a:lstStyle/>
          <a:p>
            <a:pPr algn="ctr">
              <a:lnSpc>
                <a:spcPct val="130000"/>
              </a:lnSpc>
            </a:pPr>
            <a:r>
              <a:rPr sz="1800" noProof="1">
                <a:solidFill>
                  <a:srgbClr val="A6192E"/>
                </a:solidFill>
                <a:latin typeface="QuattrocentoSans"/>
                <a:ea typeface="MiSans"/>
              </a:rPr>
              <a:t>03</a:t>
            </a:r>
          </a:p>
          <a:p>
            <a:pPr algn="ctr">
              <a:lnSpc>
                <a:spcPct val="130000"/>
              </a:lnSpc>
              <a:spcBef>
                <a:spcPts val="150"/>
              </a:spcBef>
            </a:pPr>
            <a:r>
              <a:rPr sz="1200" noProof="1">
                <a:solidFill>
                  <a:srgbClr val="FFFFFF"/>
                </a:solidFill>
                <a:latin typeface="QuattrocentoSans"/>
                <a:ea typeface="MiSans"/>
              </a:rPr>
              <a:t>Sink</a:t>
            </a:r>
          </a:p>
          <a:p>
            <a:pPr algn="ctr">
              <a:lnSpc>
                <a:spcPct val="130000"/>
              </a:lnSpc>
              <a:spcBef>
                <a:spcPts val="150"/>
              </a:spcBef>
            </a:pPr>
            <a:r>
              <a:rPr sz="1050" noProof="1">
                <a:solidFill>
                  <a:srgbClr val="FFFFFF"/>
                </a:solidFill>
                <a:latin typeface="QuattrocentoSans"/>
                <a:ea typeface="MiSans"/>
              </a:rPr>
              <a:t>隐藏接口发现</a:t>
            </a:r>
          </a:p>
          <a:p>
            <a:pPr algn="ctr">
              <a:lnSpc>
                <a:spcPct val="130000"/>
              </a:lnSpc>
              <a:spcBef>
                <a:spcPts val="300"/>
              </a:spcBef>
            </a:pPr>
            <a:r>
              <a:rPr sz="900" noProof="1">
                <a:solidFill>
                  <a:srgbClr val="CBD5E1"/>
                </a:solidFill>
                <a:latin typeface="QuattrocentoSans"/>
                <a:ea typeface="MiSans"/>
              </a:rPr>
              <a:t>暴力枚举 → 规格恢复</a:t>
            </a:r>
          </a:p>
        </p:txBody>
      </p:sp>
      <p:cxnSp>
        <p:nvCxnSpPr>
          <p:cNvPr id="30" name="dsl:arrow-3"/>
          <p:cNvCxnSpPr/>
          <p:nvPr/>
        </p:nvCxnSpPr>
        <p:spPr>
          <a:xfrm>
            <a:off x="8115300" y="4457700"/>
            <a:ext cx="238125" cy="0"/>
          </a:xfrm>
          <a:prstGeom prst="straightConnector1">
            <a:avLst/>
          </a:prstGeom>
          <a:ln w="25400">
            <a:solidFill>
              <a:srgbClr val="A6192E"/>
            </a:solidFill>
            <a:prstDash val="solid"/>
            <a:tailEnd type="arrow"/>
          </a:ln>
          <a:effectLst/>
        </p:spPr>
        <p:style>
          <a:lnRef idx="2">
            <a:schemeClr val="accent1"/>
          </a:lnRef>
          <a:fillRef idx="0">
            <a:schemeClr val="accent1"/>
          </a:fillRef>
          <a:effectRef idx="1">
            <a:schemeClr val="accent1"/>
          </a:effectRef>
          <a:fontRef idx="minor">
            <a:schemeClr val="tx1"/>
          </a:fontRef>
        </p:style>
      </p:cxnSp>
      <p:sp>
        <p:nvSpPr>
          <p:cNvPr id="31" name="dsl:fw-bg-4"/>
          <p:cNvSpPr/>
          <p:nvPr/>
        </p:nvSpPr>
        <p:spPr>
          <a:xfrm>
            <a:off x="8353425" y="3905250"/>
            <a:ext cx="1905000" cy="1095375"/>
          </a:xfrm>
          <a:prstGeom prst="roundRect">
            <a:avLst>
              <a:gd name="adj" fmla="val 8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sl:fw-text-4"/>
          <p:cNvSpPr txBox="1"/>
          <p:nvPr/>
        </p:nvSpPr>
        <p:spPr>
          <a:xfrm>
            <a:off x="8353425" y="3905250"/>
            <a:ext cx="1905000" cy="1095375"/>
          </a:xfrm>
          <a:prstGeom prst="rect">
            <a:avLst/>
          </a:prstGeom>
          <a:noFill/>
        </p:spPr>
        <p:txBody>
          <a:bodyPr wrap="square" anchor="ctr">
            <a:noAutofit/>
          </a:bodyPr>
          <a:lstStyle/>
          <a:p>
            <a:pPr algn="ctr">
              <a:lnSpc>
                <a:spcPct val="130000"/>
              </a:lnSpc>
            </a:pPr>
            <a:r>
              <a:rPr sz="1800" noProof="1">
                <a:solidFill>
                  <a:srgbClr val="A6192E"/>
                </a:solidFill>
                <a:latin typeface="QuattrocentoSans"/>
                <a:ea typeface="MiSans"/>
              </a:rPr>
              <a:t>04</a:t>
            </a:r>
          </a:p>
          <a:p>
            <a:pPr algn="ctr">
              <a:lnSpc>
                <a:spcPct val="130000"/>
              </a:lnSpc>
              <a:spcBef>
                <a:spcPts val="150"/>
              </a:spcBef>
            </a:pPr>
            <a:r>
              <a:rPr sz="1200" noProof="1">
                <a:solidFill>
                  <a:srgbClr val="FFFFFF"/>
                </a:solidFill>
                <a:latin typeface="QuattrocentoSans"/>
                <a:ea typeface="MiSans"/>
              </a:rPr>
              <a:t>Verification</a:t>
            </a:r>
          </a:p>
          <a:p>
            <a:pPr algn="ctr">
              <a:lnSpc>
                <a:spcPct val="130000"/>
              </a:lnSpc>
              <a:spcBef>
                <a:spcPts val="150"/>
              </a:spcBef>
            </a:pPr>
            <a:r>
              <a:rPr sz="1050" noProof="1">
                <a:solidFill>
                  <a:srgbClr val="FFFFFF"/>
                </a:solidFill>
                <a:latin typeface="QuattrocentoSans"/>
                <a:ea typeface="MiSans"/>
              </a:rPr>
              <a:t>漏洞验证</a:t>
            </a:r>
          </a:p>
          <a:p>
            <a:pPr algn="ctr">
              <a:lnSpc>
                <a:spcPct val="130000"/>
              </a:lnSpc>
              <a:spcBef>
                <a:spcPts val="300"/>
              </a:spcBef>
            </a:pPr>
            <a:r>
              <a:rPr sz="900" noProof="1">
                <a:solidFill>
                  <a:srgbClr val="CBD5E1"/>
                </a:solidFill>
                <a:latin typeface="QuattrocentoSans"/>
                <a:ea typeface="MiSans"/>
              </a:rPr>
              <a:t>约束分析 → 动静结合</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293B"/>
        </a:solidFill>
        <a:effectLst/>
      </p:bgPr>
    </p:bg>
    <p:spTree>
      <p:nvGrpSpPr>
        <p:cNvPr id="1" name=""/>
        <p:cNvGrpSpPr/>
        <p:nvPr/>
      </p:nvGrpSpPr>
      <p:grpSpPr/>
      <p:sp>
        <p:nvSpPr>
          <p:cNvPr id="2" name="dsl:right-panel"/>
          <p:cNvSpPr/>
          <p:nvPr/>
        </p:nvSpPr>
        <p:spPr>
          <a:xfrm>
            <a:off x="8124825" y="0"/>
            <a:ext cx="4067175" cy="6858000"/>
          </a:xfrm>
          <a:prstGeom prst="rect">
            <a:avLst/>
          </a:prstGeom>
          <a:gradFill rotWithShape="1">
            <a:gsLst>
              <a:gs pos="0">
                <a:srgbClr val="1E293B"/>
              </a:gs>
              <a:gs pos="100000">
                <a:srgbClr val="0F172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ch-num|s=$chapterNum"/>
          <p:cNvSpPr txBox="1"/>
          <p:nvPr/>
        </p:nvSpPr>
        <p:spPr>
          <a:xfrm>
            <a:off x="571500" y="1333500"/>
            <a:ext cx="4762500" cy="1524000"/>
          </a:xfrm>
          <a:prstGeom prst="rect">
            <a:avLst/>
          </a:prstGeom>
          <a:noFill/>
        </p:spPr>
        <p:txBody>
          <a:bodyPr wrap="none" anchor="ctr">
            <a:noAutofit/>
          </a:bodyPr>
          <a:lstStyle/>
          <a:p>
            <a:pPr algn="l">
              <a:lnSpc>
                <a:spcPct val="100000"/>
              </a:lnSpc>
            </a:pPr>
            <a:r>
              <a:rPr sz="9000" noProof="1">
                <a:solidFill>
                  <a:srgbClr val="FFFFFF">
                    <a:alpha val="12549"/>
                  </a:srgbClr>
                </a:solidFill>
                <a:latin typeface="QuattrocentoSans"/>
                <a:ea typeface="MiSans"/>
              </a:rPr>
              <a:t>01</a:t>
            </a:r>
          </a:p>
        </p:txBody>
      </p:sp>
      <p:sp>
        <p:nvSpPr>
          <p:cNvPr id="4" name="dsl:accent-line"/>
          <p:cNvSpPr/>
          <p:nvPr/>
        </p:nvSpPr>
        <p:spPr>
          <a:xfrm>
            <a:off x="571500" y="3048000"/>
            <a:ext cx="571500" cy="381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sl:ch-title|s=$chapterTitle"/>
          <p:cNvSpPr txBox="1"/>
          <p:nvPr/>
        </p:nvSpPr>
        <p:spPr>
          <a:xfrm>
            <a:off x="571500" y="3238500"/>
            <a:ext cx="7048500" cy="457200"/>
          </a:xfrm>
          <a:prstGeom prst="rect">
            <a:avLst/>
          </a:prstGeom>
          <a:noFill/>
        </p:spPr>
        <p:txBody>
          <a:bodyPr wrap="none" anchor="ctr">
            <a:noAutofit/>
          </a:bodyPr>
          <a:lstStyle/>
          <a:p>
            <a:pPr algn="l">
              <a:lnSpc>
                <a:spcPct val="120000"/>
              </a:lnSpc>
            </a:pPr>
            <a:r>
              <a:rPr sz="2700" noProof="1">
                <a:solidFill>
                  <a:srgbClr val="FFFFFF"/>
                </a:solidFill>
                <a:latin typeface="QuattrocentoSans"/>
                <a:ea typeface="MiSans"/>
              </a:rPr>
              <a:t>输入源点识别（Source）</a:t>
            </a:r>
          </a:p>
        </p:txBody>
      </p:sp>
      <p:sp>
        <p:nvSpPr>
          <p:cNvPr id="6" name="dsl:ch-subtitle|s=$chapterSubtitle"/>
          <p:cNvSpPr txBox="1"/>
          <p:nvPr/>
        </p:nvSpPr>
        <p:spPr>
          <a:xfrm>
            <a:off x="571500" y="3810000"/>
            <a:ext cx="7048500" cy="304800"/>
          </a:xfrm>
          <a:prstGeom prst="rect">
            <a:avLst/>
          </a:prstGeom>
          <a:noFill/>
        </p:spPr>
        <p:txBody>
          <a:bodyPr wrap="none" anchor="ctr">
            <a:noAutofit/>
          </a:bodyPr>
          <a:lstStyle/>
          <a:p>
            <a:pPr algn="l">
              <a:lnSpc>
                <a:spcPct val="140000"/>
              </a:lnSpc>
            </a:pPr>
            <a:r>
              <a:rPr sz="1500" noProof="1">
                <a:solidFill>
                  <a:srgbClr val="CBD5E1"/>
                </a:solidFill>
                <a:latin typeface="QuattrocentoSans"/>
                <a:ea typeface="MiSans"/>
              </a:rPr>
              <a:t>从精确匹配到语义理解</a:t>
            </a:r>
          </a:p>
        </p:txBody>
      </p:sp>
      <p:sp>
        <p:nvSpPr>
          <p:cNvPr id="7" name="dsl:ch-intro"/>
          <p:cNvSpPr txBox="1"/>
          <p:nvPr/>
        </p:nvSpPr>
        <p:spPr>
          <a:xfrm>
            <a:off x="571500" y="4381500"/>
            <a:ext cx="7048500" cy="952500"/>
          </a:xfrm>
          <a:prstGeom prst="rect">
            <a:avLst/>
          </a:prstGeom>
          <a:noFill/>
        </p:spPr>
        <p:txBody>
          <a:bodyPr wrap="square" anchor="t">
            <a:noAutofit/>
          </a:bodyPr>
          <a:lstStyle/>
          <a:p>
            <a:pPr algn="l">
              <a:lnSpc>
                <a:spcPct val="160000"/>
              </a:lnSpc>
            </a:pPr>
            <a:r>
              <a:rPr sz="1350" noProof="1">
                <a:solidFill>
                  <a:srgbClr val="CBD5E1"/>
                </a:solidFill>
                <a:latin typeface="QuattrocentoSans"/>
                <a:ea typeface="MiSans"/>
              </a:rPr>
              <a:t>核心痛点：在后端二进制中盲目寻找输入点（Source）会引入大量无效路径与误报。</a:t>
            </a:r>
          </a:p>
          <a:p>
            <a:pPr algn="l">
              <a:lnSpc>
                <a:spcPct val="160000"/>
              </a:lnSpc>
            </a:pPr>
            <a:r>
              <a:rPr sz="1350" noProof="1">
                <a:solidFill>
                  <a:srgbClr val="CBD5E1"/>
                </a:solidFill>
                <a:latin typeface="QuattrocentoSans"/>
                <a:ea typeface="MiSans"/>
              </a:rPr>
              <a:t>技术演进：关键词精确匹配 → 模糊匹配 → 结构化建模 + LLM 语义理解</a:t>
            </a:r>
          </a:p>
        </p:txBody>
      </p:sp>
      <p:sp>
        <p:nvSpPr>
          <p:cNvPr id="8" name="dsl:ch-papers"/>
          <p:cNvSpPr txBox="1"/>
          <p:nvPr/>
        </p:nvSpPr>
        <p:spPr>
          <a:xfrm>
            <a:off x="571500" y="5715000"/>
            <a:ext cx="7048500" cy="571500"/>
          </a:xfrm>
          <a:prstGeom prst="rect">
            <a:avLst/>
          </a:prstGeom>
          <a:noFill/>
        </p:spPr>
        <p:txBody>
          <a:bodyPr wrap="square" anchor="t">
            <a:noAutofit/>
          </a:bodyPr>
          <a:lstStyle/>
          <a:p>
            <a:pPr algn="l">
              <a:lnSpc>
                <a:spcPct val="160000"/>
              </a:lnSpc>
            </a:pPr>
            <a:r>
              <a:rPr sz="1050" noProof="1">
                <a:solidFill>
                  <a:srgbClr val="94A3B8"/>
                </a:solidFill>
                <a:latin typeface="QuattrocentoSans"/>
                <a:ea typeface="MiSans"/>
              </a:rPr>
              <a:t>SaTC (USENIX Security 2021)  →  HermeScan (NDSS 2024)  →  LARA (USENIX Security 2024)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dsl:nav-bg"/>
          <p:cNvSpPr/>
          <p:nvPr/>
        </p:nvSpPr>
        <p:spPr>
          <a:xfrm>
            <a:off x="0" y="0"/>
            <a:ext cx="12192000" cy="381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
          <p:cNvSpPr/>
          <p:nvPr/>
        </p:nvSpPr>
        <p:spPr>
          <a:xfrm>
            <a:off x="0" y="0"/>
            <a:ext cx="3048000" cy="3810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t1|s=$nav"/>
          <p:cNvSpPr txBox="1"/>
          <p:nvPr/>
        </p:nvSpPr>
        <p:spPr>
          <a:xfrm>
            <a:off x="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维度一: Source</a:t>
            </a:r>
          </a:p>
        </p:txBody>
      </p:sp>
      <p:sp>
        <p:nvSpPr>
          <p:cNvPr id="5" name="dsl:nav-t2|s=$nav"/>
          <p:cNvSpPr txBox="1"/>
          <p:nvPr/>
        </p:nvSpPr>
        <p:spPr>
          <a:xfrm>
            <a:off x="3048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维度二: Propagation</a:t>
            </a:r>
          </a:p>
        </p:txBody>
      </p:sp>
      <p:sp>
        <p:nvSpPr>
          <p:cNvPr id="6" name="dsl:nav-t3|s=$nav"/>
          <p:cNvSpPr txBox="1"/>
          <p:nvPr/>
        </p:nvSpPr>
        <p:spPr>
          <a:xfrm>
            <a:off x="6096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维度三: Sink</a:t>
            </a:r>
          </a:p>
        </p:txBody>
      </p:sp>
      <p:sp>
        <p:nvSpPr>
          <p:cNvPr id="7" name="dsl:nav-t4|s=$nav"/>
          <p:cNvSpPr txBox="1"/>
          <p:nvPr/>
        </p:nvSpPr>
        <p:spPr>
          <a:xfrm>
            <a:off x="9144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维度四: Verification</a:t>
            </a:r>
          </a:p>
        </p:txBody>
      </p:sp>
      <p:sp>
        <p:nvSpPr>
          <p:cNvPr id="8" name="dsl:nav-line"/>
          <p:cNvSpPr/>
          <p:nvPr/>
        </p:nvSpPr>
        <p:spPr>
          <a:xfrm>
            <a:off x="0" y="381000"/>
            <a:ext cx="12192000" cy="1905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page-title|s=$title"/>
          <p:cNvSpPr txBox="1"/>
          <p:nvPr/>
        </p:nvSpPr>
        <p:spPr>
          <a:xfrm>
            <a:off x="571500" y="514350"/>
            <a:ext cx="8382000" cy="381000"/>
          </a:xfrm>
          <a:prstGeom prst="rect">
            <a:avLst/>
          </a:prstGeom>
          <a:noFill/>
        </p:spPr>
        <p:txBody>
          <a:bodyPr wrap="none" anchor="ctr">
            <a:noAutofit/>
          </a:bodyPr>
          <a:lstStyle/>
          <a:p>
            <a:pPr algn="l">
              <a:lnSpc>
                <a:spcPct val="130000"/>
              </a:lnSpc>
            </a:pPr>
            <a:r>
              <a:rPr sz="2100" noProof="1">
                <a:solidFill>
                  <a:srgbClr val="1E293B"/>
                </a:solidFill>
                <a:latin typeface="QuattrocentoSans"/>
                <a:ea typeface="MiSans"/>
              </a:rPr>
              <a:t>SaTC — 前后端共享关键词的污点源识别</a:t>
            </a:r>
          </a:p>
        </p:txBody>
      </p:sp>
      <p:sp>
        <p:nvSpPr>
          <p:cNvPr id="10" name="dsl:badge-bg"/>
          <p:cNvSpPr/>
          <p:nvPr/>
        </p:nvSpPr>
        <p:spPr>
          <a:xfrm>
            <a:off x="10001250" y="552450"/>
            <a:ext cx="1619250" cy="266700"/>
          </a:xfrm>
          <a:prstGeom prst="roundRect">
            <a:avLst>
              <a:gd name="adj" fmla="val 8000"/>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badge-text|s=$badge"/>
          <p:cNvSpPr txBox="1"/>
          <p:nvPr/>
        </p:nvSpPr>
        <p:spPr>
          <a:xfrm>
            <a:off x="10001250" y="552450"/>
            <a:ext cx="1619250" cy="2667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USENIX Security 2021</a:t>
            </a:r>
          </a:p>
        </p:txBody>
      </p:sp>
      <p:sp>
        <p:nvSpPr>
          <p:cNvPr id="12" name="dsl:left-bar-1"/>
          <p:cNvSpPr/>
          <p:nvPr/>
        </p:nvSpPr>
        <p:spPr>
          <a:xfrm>
            <a:off x="5715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left-subtitle-1|s=$subtitle"/>
          <p:cNvSpPr txBox="1"/>
          <p:nvPr/>
        </p:nvSpPr>
        <p:spPr>
          <a:xfrm>
            <a:off x="6858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内容摘要</a:t>
            </a:r>
          </a:p>
        </p:txBody>
      </p:sp>
      <p:sp>
        <p:nvSpPr>
          <p:cNvPr id="14" name="dsl:left-body-1|s=$body"/>
          <p:cNvSpPr txBox="1"/>
          <p:nvPr/>
        </p:nvSpPr>
        <p:spPr>
          <a:xfrm>
            <a:off x="571500" y="1352550"/>
            <a:ext cx="3429000" cy="18097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首次提出利用前后端共享关键词定位后端输入点的方法。通过前端页面与后端二进制共享的关键词作为锚点，定位数据提取函数，执行目标导向静态污点分析，检测命令注入和缓冲区溢出等漏洞。</a:t>
            </a:r>
          </a:p>
        </p:txBody>
      </p:sp>
      <p:sp>
        <p:nvSpPr>
          <p:cNvPr id="15" name="dsl:left-bar-2"/>
          <p:cNvSpPr/>
          <p:nvPr/>
        </p:nvSpPr>
        <p:spPr>
          <a:xfrm>
            <a:off x="571500" y="3314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left-subtitle-2|s=$subtitle"/>
          <p:cNvSpPr txBox="1"/>
          <p:nvPr/>
        </p:nvSpPr>
        <p:spPr>
          <a:xfrm>
            <a:off x="685800" y="3295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研究背景</a:t>
            </a:r>
          </a:p>
        </p:txBody>
      </p:sp>
      <p:sp>
        <p:nvSpPr>
          <p:cNvPr id="17" name="dsl:left-body-2|s=$body"/>
          <p:cNvSpPr txBox="1"/>
          <p:nvPr/>
        </p:nvSpPr>
        <p:spPr>
          <a:xfrm>
            <a:off x="571500" y="3638550"/>
            <a:ext cx="3429000" cy="21907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IoT路由器、摄像头等设备普遍暴露Web管理服务。传统动态分析覆盖率低且依赖硬件，静态分析难以识别真实用户输入。关键瓶颈：如果不知道后端哪里真正读取了Web输入，后续污点分析会在无关路径上浪费大量时间，导致误报和漏报严重。</a:t>
            </a:r>
          </a:p>
        </p:txBody>
      </p:sp>
      <p:sp>
        <p:nvSpPr>
          <p:cNvPr id="18" name="dsl:mid-bar-1"/>
          <p:cNvSpPr/>
          <p:nvPr/>
        </p:nvSpPr>
        <p:spPr>
          <a:xfrm>
            <a:off x="41910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mid-subtitle-1|s=$subtitle"/>
          <p:cNvSpPr txBox="1"/>
          <p:nvPr/>
        </p:nvSpPr>
        <p:spPr>
          <a:xfrm>
            <a:off x="43053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核心洞察</a:t>
            </a:r>
          </a:p>
        </p:txBody>
      </p:sp>
      <p:sp>
        <p:nvSpPr>
          <p:cNvPr id="20" name="dsl:mid-body-1|s=$body"/>
          <p:cNvSpPr txBox="1"/>
          <p:nvPr/>
        </p:nvSpPr>
        <p:spPr>
          <a:xfrm>
            <a:off x="4191000" y="1352550"/>
            <a:ext cx="3429000" cy="23812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共享关键词（Shared Keywords）：前端参数名（如username、passwd）常以字符串常量形式出现在后端二进制中。利用这些关键词作为锚点，直接定位后端处理用户输入的代码区域。</a:t>
            </a:r>
          </a:p>
        </p:txBody>
      </p:sp>
      <p:sp>
        <p:nvSpPr>
          <p:cNvPr id="21" name="dsl:mid-bar-2"/>
          <p:cNvSpPr/>
          <p:nvPr/>
        </p:nvSpPr>
        <p:spPr>
          <a:xfrm>
            <a:off x="4191000" y="38100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mid-subtitle-2|s=$subtitle"/>
          <p:cNvSpPr txBox="1"/>
          <p:nvPr/>
        </p:nvSpPr>
        <p:spPr>
          <a:xfrm>
            <a:off x="4305300" y="37909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解决方案</a:t>
            </a:r>
          </a:p>
        </p:txBody>
      </p:sp>
      <p:sp>
        <p:nvSpPr>
          <p:cNvPr id="23" name="dsl:mid-body-2|s=$body"/>
          <p:cNvSpPr txBox="1"/>
          <p:nvPr/>
        </p:nvSpPr>
        <p:spPr>
          <a:xfrm>
            <a:off x="4191000" y="4133850"/>
            <a:ext cx="3429000" cy="23812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1. 前端提取：解析Web文件，识别输入标签和API，建立停用词表。</a:t>
            </a:r>
          </a:p>
          <a:p>
            <a:pPr algn="l">
              <a:lnSpc>
                <a:spcPct val="160000"/>
              </a:lnSpc>
            </a:pPr>
            <a:r>
              <a:rPr sz="1350" noProof="1">
                <a:solidFill>
                  <a:srgbClr val="0F172A"/>
                </a:solidFill>
                <a:latin typeface="QuattrocentoSans"/>
                <a:ea typeface="MiSans"/>
              </a:rPr>
              <a:t>2. 后端定位：关注DRFs，通过候选选择→聚类→数据流检查→阈值筛选。</a:t>
            </a:r>
          </a:p>
          <a:p>
            <a:pPr algn="l">
              <a:lnSpc>
                <a:spcPct val="160000"/>
              </a:lnSpc>
            </a:pPr>
            <a:r>
              <a:rPr sz="1350" noProof="1">
                <a:solidFill>
                  <a:srgbClr val="0F172A"/>
                </a:solidFill>
                <a:latin typeface="QuattrocentoSans"/>
                <a:ea typeface="MiSans"/>
              </a:rPr>
              <a:t>3. 污点分析：显式/隐式Source建模，Taint Tagging区分输入源，Sink覆盖命令注入和缓冲区溢出。</a:t>
            </a:r>
          </a:p>
        </p:txBody>
      </p:sp>
      <p:sp>
        <p:nvSpPr>
          <p:cNvPr id="24" name="dsl:right-bar"/>
          <p:cNvSpPr/>
          <p:nvPr/>
        </p:nvSpPr>
        <p:spPr>
          <a:xfrm>
            <a:off x="78105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right-subtitle|s=$subtitle"/>
          <p:cNvSpPr txBox="1"/>
          <p:nvPr/>
        </p:nvSpPr>
        <p:spPr>
          <a:xfrm>
            <a:off x="79248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关键数据</a:t>
            </a:r>
          </a:p>
        </p:txBody>
      </p:sp>
      <p:sp>
        <p:nvSpPr>
          <p:cNvPr id="26" name="dsl:card1-bg"/>
          <p:cNvSpPr/>
          <p:nvPr/>
        </p:nvSpPr>
        <p:spPr>
          <a:xfrm>
            <a:off x="8001000" y="1428750"/>
            <a:ext cx="3238500" cy="1143000"/>
          </a:xfrm>
          <a:prstGeom prst="roundRect">
            <a:avLst>
              <a:gd name="adj" fmla="val 8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card1-num|s=$kpi"/>
          <p:cNvSpPr txBox="1"/>
          <p:nvPr/>
        </p:nvSpPr>
        <p:spPr>
          <a:xfrm>
            <a:off x="8191500" y="1571625"/>
            <a:ext cx="2857500" cy="400050"/>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39</a:t>
            </a:r>
          </a:p>
        </p:txBody>
      </p:sp>
      <p:sp>
        <p:nvSpPr>
          <p:cNvPr id="28" name="dsl:card1-label|s=$caption"/>
          <p:cNvSpPr txBox="1"/>
          <p:nvPr/>
        </p:nvSpPr>
        <p:spPr>
          <a:xfrm>
            <a:off x="8191500" y="2047875"/>
            <a:ext cx="2857500" cy="2286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固件样本</a:t>
            </a:r>
          </a:p>
        </p:txBody>
      </p:sp>
      <p:sp>
        <p:nvSpPr>
          <p:cNvPr id="29" name="dsl:card2-bg"/>
          <p:cNvSpPr/>
          <p:nvPr/>
        </p:nvSpPr>
        <p:spPr>
          <a:xfrm>
            <a:off x="8001000" y="2762250"/>
            <a:ext cx="3238500" cy="1143000"/>
          </a:xfrm>
          <a:prstGeom prst="roundRect">
            <a:avLst>
              <a:gd name="adj" fmla="val 8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sl:card2-num|s=$kpi"/>
          <p:cNvSpPr txBox="1"/>
          <p:nvPr/>
        </p:nvSpPr>
        <p:spPr>
          <a:xfrm>
            <a:off x="8191500" y="2905125"/>
            <a:ext cx="2857500" cy="400050"/>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33</a:t>
            </a:r>
          </a:p>
        </p:txBody>
      </p:sp>
      <p:sp>
        <p:nvSpPr>
          <p:cNvPr id="31" name="dsl:card2-label|s=$caption"/>
          <p:cNvSpPr txBox="1"/>
          <p:nvPr/>
        </p:nvSpPr>
        <p:spPr>
          <a:xfrm>
            <a:off x="8191500" y="3381375"/>
            <a:ext cx="2857500" cy="2286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0-day 漏洞</a:t>
            </a:r>
          </a:p>
        </p:txBody>
      </p:sp>
      <p:sp>
        <p:nvSpPr>
          <p:cNvPr id="32" name="dsl:card3-bg"/>
          <p:cNvSpPr/>
          <p:nvPr/>
        </p:nvSpPr>
        <p:spPr>
          <a:xfrm>
            <a:off x="8001000" y="4095750"/>
            <a:ext cx="3238500" cy="1143000"/>
          </a:xfrm>
          <a:prstGeom prst="roundRect">
            <a:avLst>
              <a:gd name="adj" fmla="val 8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sl:card3-num|s=$kpi"/>
          <p:cNvSpPr txBox="1"/>
          <p:nvPr/>
        </p:nvSpPr>
        <p:spPr>
          <a:xfrm>
            <a:off x="8191500" y="4238625"/>
            <a:ext cx="2857500" cy="400050"/>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30</a:t>
            </a:r>
          </a:p>
        </p:txBody>
      </p:sp>
      <p:sp>
        <p:nvSpPr>
          <p:cNvPr id="34" name="dsl:card3-label|s=$caption"/>
          <p:cNvSpPr txBox="1"/>
          <p:nvPr/>
        </p:nvSpPr>
        <p:spPr>
          <a:xfrm>
            <a:off x="8191500" y="4714875"/>
            <a:ext cx="2857500" cy="2286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获 CVE/CNVD/PSV 认可</a:t>
            </a:r>
          </a:p>
        </p:txBody>
      </p:sp>
      <p:sp>
        <p:nvSpPr>
          <p:cNvPr id="35" name="dsl:footer-left|s=$caption"/>
          <p:cNvSpPr txBox="1"/>
          <p:nvPr/>
        </p:nvSpPr>
        <p:spPr>
          <a:xfrm>
            <a:off x="571500" y="6572250"/>
            <a:ext cx="3810000" cy="1905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网络设备Web服务安全研究</a:t>
            </a:r>
          </a:p>
        </p:txBody>
      </p:sp>
      <p:sp>
        <p:nvSpPr>
          <p:cNvPr id="36" name="dsl:footer-right|s=$caption"/>
          <p:cNvSpPr txBox="1"/>
          <p:nvPr/>
        </p:nvSpPr>
        <p:spPr>
          <a:xfrm>
            <a:off x="10477500" y="6572250"/>
            <a:ext cx="1143000" cy="190500"/>
          </a:xfrm>
          <a:prstGeom prst="rect">
            <a:avLst/>
          </a:prstGeom>
          <a:noFill/>
        </p:spPr>
        <p:txBody>
          <a:bodyPr wrap="none" anchor="ctr">
            <a:noAutofit/>
          </a:bodyPr>
          <a:lstStyle/>
          <a:p>
            <a:pPr algn="r">
              <a:lnSpc>
                <a:spcPct val="140000"/>
              </a:lnSpc>
            </a:pPr>
            <a:r>
              <a:rPr sz="1050" noProof="1">
                <a:solidFill>
                  <a:srgbClr val="64748B"/>
                </a:solidFill>
                <a:latin typeface="QuattrocentoSans"/>
                <a:ea typeface="MiSans"/>
              </a:rPr>
              <a:t>5 / 37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dsl:nav-bg"/>
          <p:cNvSpPr/>
          <p:nvPr/>
        </p:nvSpPr>
        <p:spPr>
          <a:xfrm>
            <a:off x="0" y="0"/>
            <a:ext cx="12192000" cy="381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
          <p:cNvSpPr/>
          <p:nvPr/>
        </p:nvSpPr>
        <p:spPr>
          <a:xfrm>
            <a:off x="0" y="0"/>
            <a:ext cx="3048000" cy="3810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t1|s=$nav"/>
          <p:cNvSpPr txBox="1"/>
          <p:nvPr/>
        </p:nvSpPr>
        <p:spPr>
          <a:xfrm>
            <a:off x="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维度一: Source</a:t>
            </a:r>
          </a:p>
        </p:txBody>
      </p:sp>
      <p:sp>
        <p:nvSpPr>
          <p:cNvPr id="5" name="dsl:nav-t2|s=$nav"/>
          <p:cNvSpPr txBox="1"/>
          <p:nvPr/>
        </p:nvSpPr>
        <p:spPr>
          <a:xfrm>
            <a:off x="3048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维度二: Propagation</a:t>
            </a:r>
          </a:p>
        </p:txBody>
      </p:sp>
      <p:sp>
        <p:nvSpPr>
          <p:cNvPr id="6" name="dsl:nav-t3|s=$nav"/>
          <p:cNvSpPr txBox="1"/>
          <p:nvPr/>
        </p:nvSpPr>
        <p:spPr>
          <a:xfrm>
            <a:off x="6096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维度三: Sink</a:t>
            </a:r>
          </a:p>
        </p:txBody>
      </p:sp>
      <p:sp>
        <p:nvSpPr>
          <p:cNvPr id="7" name="dsl:nav-t4|s=$nav"/>
          <p:cNvSpPr txBox="1"/>
          <p:nvPr/>
        </p:nvSpPr>
        <p:spPr>
          <a:xfrm>
            <a:off x="9144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维度四: Verification</a:t>
            </a:r>
          </a:p>
        </p:txBody>
      </p:sp>
      <p:sp>
        <p:nvSpPr>
          <p:cNvPr id="8" name="dsl:nav-line"/>
          <p:cNvSpPr/>
          <p:nvPr/>
        </p:nvSpPr>
        <p:spPr>
          <a:xfrm>
            <a:off x="0" y="381000"/>
            <a:ext cx="12192000" cy="1905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page-title|s=$title"/>
          <p:cNvSpPr txBox="1"/>
          <p:nvPr/>
        </p:nvSpPr>
        <p:spPr>
          <a:xfrm>
            <a:off x="571500" y="514350"/>
            <a:ext cx="8382000" cy="381000"/>
          </a:xfrm>
          <a:prstGeom prst="rect">
            <a:avLst/>
          </a:prstGeom>
          <a:noFill/>
        </p:spPr>
        <p:txBody>
          <a:bodyPr wrap="none" anchor="ctr">
            <a:noAutofit/>
          </a:bodyPr>
          <a:lstStyle/>
          <a:p>
            <a:pPr algn="l">
              <a:lnSpc>
                <a:spcPct val="130000"/>
              </a:lnSpc>
            </a:pPr>
            <a:r>
              <a:rPr sz="2100" noProof="1">
                <a:solidFill>
                  <a:srgbClr val="1E293B"/>
                </a:solidFill>
                <a:latin typeface="QuattrocentoSans"/>
                <a:ea typeface="MiSans"/>
              </a:rPr>
              <a:t>SaTC — 实验结果与文章评价</a:t>
            </a:r>
          </a:p>
        </p:txBody>
      </p:sp>
      <p:sp>
        <p:nvSpPr>
          <p:cNvPr id="10" name="dsl:badge-bg"/>
          <p:cNvSpPr/>
          <p:nvPr/>
        </p:nvSpPr>
        <p:spPr>
          <a:xfrm>
            <a:off x="10001250" y="552450"/>
            <a:ext cx="1619250" cy="266700"/>
          </a:xfrm>
          <a:prstGeom prst="roundRect">
            <a:avLst>
              <a:gd name="adj" fmla="val 8000"/>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badge-text|s=$badge"/>
          <p:cNvSpPr txBox="1"/>
          <p:nvPr/>
        </p:nvSpPr>
        <p:spPr>
          <a:xfrm>
            <a:off x="10001250" y="552450"/>
            <a:ext cx="1619250" cy="2667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USENIX Security 2021</a:t>
            </a:r>
          </a:p>
        </p:txBody>
      </p:sp>
      <p:sp>
        <p:nvSpPr>
          <p:cNvPr id="12" name="dsl:results-bar"/>
          <p:cNvSpPr/>
          <p:nvPr/>
        </p:nvSpPr>
        <p:spPr>
          <a:xfrm>
            <a:off x="5715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results-subtitle|s=$subtitle"/>
          <p:cNvSpPr txBox="1"/>
          <p:nvPr/>
        </p:nvSpPr>
        <p:spPr>
          <a:xfrm>
            <a:off x="6858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实验结果</a:t>
            </a:r>
          </a:p>
        </p:txBody>
      </p:sp>
      <p:graphicFrame>
        <p:nvGraphicFramePr>
          <p:cNvPr id="14" name="dsl:results-table"/>
          <p:cNvGraphicFramePr>
            <a:graphicFrameLocks noGrp="1"/>
          </p:cNvGraphicFramePr>
          <p:nvPr/>
        </p:nvGraphicFramePr>
        <p:xfrm>
          <a:off x="571500" y="1409700"/>
          <a:ext cx="5715000" cy="2286000"/>
        </p:xfrm>
        <a:graphic>
          <a:graphicData uri="http://schemas.openxmlformats.org/drawingml/2006/table">
            <a:tbl>
              <a:tblPr firstRow="0" bandRow="0" lastRow="0" firstCol="0" lastCol="0" bandCol="0">
                <a:tableStyleId>{2D5ABB26-0587-4C30-8999-92F81FD0307C}</a:tableStyleId>
              </a:tblPr>
              <a:tblGrid>
                <a:gridCol w="2857500"/>
                <a:gridCol w="2857500"/>
              </a:tblGrid>
              <a:tr h="342900">
                <a:tc>
                  <a:txBody>
                    <a:bodyPr wrap="square" anchor="ctr">
                      <a:noAutofit/>
                    </a:bodyPr>
                    <a:lstStyle/>
                    <a:p>
                      <a:pPr algn="ctr"/>
                      <a:r>
                        <a:rPr sz="1200" noProof="1" b="1">
                          <a:solidFill>
                            <a:srgbClr val="FFFFFF"/>
                          </a:solidFill>
                          <a:latin typeface="QuattrocentoSans"/>
                          <a:ea typeface="MiSans"/>
                        </a:rPr>
                        <a:t>评估指标</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1E293B"/>
                    </a:solidFill>
                  </a:tcPr>
                </a:tc>
                <a:tc>
                  <a:txBody>
                    <a:bodyPr wrap="square" anchor="ctr">
                      <a:noAutofit/>
                    </a:bodyPr>
                    <a:lstStyle/>
                    <a:p>
                      <a:pPr algn="ctr"/>
                      <a:r>
                        <a:rPr sz="1200" noProof="1" b="1">
                          <a:solidFill>
                            <a:srgbClr val="FFFFFF"/>
                          </a:solidFill>
                          <a:latin typeface="QuattrocentoSans"/>
                          <a:ea typeface="MiSans"/>
                        </a:rPr>
                        <a:t>数值</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1E293B"/>
                    </a:solidFill>
                  </a:tcPr>
                </a:tc>
              </a:tr>
              <a:tr h="388620">
                <a:tc>
                  <a:txBody>
                    <a:bodyPr wrap="square" anchor="ctr">
                      <a:noAutofit/>
                    </a:bodyPr>
                    <a:lstStyle/>
                    <a:p>
                      <a:pPr algn="ctr"/>
                      <a:r>
                        <a:rPr sz="1200" noProof="1">
                          <a:solidFill>
                            <a:srgbClr val="0F172A"/>
                          </a:solidFill>
                          <a:latin typeface="QuattrocentoSans"/>
                          <a:ea typeface="MiSans"/>
                        </a:rPr>
                        <a:t>固件样本</a:t>
                      </a:r>
                    </a:p>
                  </a:txBody>
                  <a:tcPr marL="91440" marR="91440" marT="0" marB="0" anchor="ctr">
                    <a:solidFill>
                      <a:srgbClr val="FFFFFF"/>
                    </a:solidFill>
                  </a:tcPr>
                </a:tc>
                <a:tc>
                  <a:txBody>
                    <a:bodyPr wrap="square" anchor="ctr">
                      <a:noAutofit/>
                    </a:bodyPr>
                    <a:lstStyle/>
                    <a:p>
                      <a:pPr algn="ctr"/>
                      <a:r>
                        <a:rPr sz="1200" noProof="1">
                          <a:solidFill>
                            <a:srgbClr val="0F172A"/>
                          </a:solidFill>
                          <a:latin typeface="QuattrocentoSans"/>
                          <a:ea typeface="MiSans"/>
                        </a:rPr>
                        <a:t>39 个</a:t>
                      </a:r>
                    </a:p>
                  </a:txBody>
                  <a:tcPr marL="91440" marR="91440" marT="0" marB="0" anchor="ctr">
                    <a:solidFill>
                      <a:srgbClr val="FFFFFF"/>
                    </a:solidFill>
                  </a:tcPr>
                </a:tc>
              </a:tr>
              <a:tr h="388620">
                <a:tc>
                  <a:txBody>
                    <a:bodyPr wrap="square" anchor="ctr">
                      <a:noAutofit/>
                    </a:bodyPr>
                    <a:lstStyle/>
                    <a:p>
                      <a:pPr algn="ctr"/>
                      <a:r>
                        <a:rPr sz="1200" noProof="1">
                          <a:solidFill>
                            <a:srgbClr val="0F172A"/>
                          </a:solidFill>
                          <a:latin typeface="QuattrocentoSans"/>
                          <a:ea typeface="MiSans"/>
                        </a:rPr>
                        <a:t>0-day 漏洞</a:t>
                      </a:r>
                    </a:p>
                  </a:txBody>
                  <a:tcPr marL="91440" marR="91440" marT="0" marB="0" anchor="ctr">
                    <a:solidFill>
                      <a:srgbClr val="F1F5F9"/>
                    </a:solidFill>
                  </a:tcPr>
                </a:tc>
                <a:tc>
                  <a:txBody>
                    <a:bodyPr wrap="square" anchor="ctr">
                      <a:noAutofit/>
                    </a:bodyPr>
                    <a:lstStyle/>
                    <a:p>
                      <a:pPr algn="ctr"/>
                      <a:r>
                        <a:rPr sz="1200" noProof="1">
                          <a:solidFill>
                            <a:srgbClr val="0F172A"/>
                          </a:solidFill>
                          <a:latin typeface="QuattrocentoSans"/>
                          <a:ea typeface="MiSans"/>
                        </a:rPr>
                        <a:t>33 个</a:t>
                      </a:r>
                    </a:p>
                  </a:txBody>
                  <a:tcPr marL="91440" marR="91440" marT="0" marB="0" anchor="ctr">
                    <a:solidFill>
                      <a:srgbClr val="F1F5F9"/>
                    </a:solidFill>
                  </a:tcPr>
                </a:tc>
              </a:tr>
              <a:tr h="388620">
                <a:tc>
                  <a:txBody>
                    <a:bodyPr wrap="square" anchor="ctr">
                      <a:noAutofit/>
                    </a:bodyPr>
                    <a:lstStyle/>
                    <a:p>
                      <a:pPr algn="ctr"/>
                      <a:r>
                        <a:rPr sz="1200" noProof="1">
                          <a:solidFill>
                            <a:srgbClr val="0F172A"/>
                          </a:solidFill>
                          <a:latin typeface="QuattrocentoSans"/>
                          <a:ea typeface="MiSans"/>
                        </a:rPr>
                        <a:t>命令注入</a:t>
                      </a:r>
                    </a:p>
                  </a:txBody>
                  <a:tcPr marL="91440" marR="91440" marT="0" marB="0" anchor="ctr">
                    <a:solidFill>
                      <a:srgbClr val="FFFFFF"/>
                    </a:solidFill>
                  </a:tcPr>
                </a:tc>
                <a:tc>
                  <a:txBody>
                    <a:bodyPr wrap="square" anchor="ctr">
                      <a:noAutofit/>
                    </a:bodyPr>
                    <a:lstStyle/>
                    <a:p>
                      <a:pPr algn="ctr"/>
                      <a:r>
                        <a:rPr sz="1200" noProof="1">
                          <a:solidFill>
                            <a:srgbClr val="0F172A"/>
                          </a:solidFill>
                          <a:latin typeface="QuattrocentoSans"/>
                          <a:ea typeface="MiSans"/>
                        </a:rPr>
                        <a:t>20 个</a:t>
                      </a:r>
                    </a:p>
                  </a:txBody>
                  <a:tcPr marL="91440" marR="91440" marT="0" marB="0" anchor="ctr">
                    <a:solidFill>
                      <a:srgbClr val="FFFFFF"/>
                    </a:solidFill>
                  </a:tcPr>
                </a:tc>
              </a:tr>
              <a:tr h="388620">
                <a:tc>
                  <a:txBody>
                    <a:bodyPr wrap="square" anchor="ctr">
                      <a:noAutofit/>
                    </a:bodyPr>
                    <a:lstStyle/>
                    <a:p>
                      <a:pPr algn="ctr"/>
                      <a:r>
                        <a:rPr sz="1200" noProof="1">
                          <a:solidFill>
                            <a:srgbClr val="0F172A"/>
                          </a:solidFill>
                          <a:latin typeface="QuattrocentoSans"/>
                          <a:ea typeface="MiSans"/>
                        </a:rPr>
                        <a:t>缓冲区溢出</a:t>
                      </a:r>
                    </a:p>
                  </a:txBody>
                  <a:tcPr marL="91440" marR="91440" marT="0" marB="0" anchor="ctr">
                    <a:solidFill>
                      <a:srgbClr val="F1F5F9"/>
                    </a:solidFill>
                  </a:tcPr>
                </a:tc>
                <a:tc>
                  <a:txBody>
                    <a:bodyPr wrap="square" anchor="ctr">
                      <a:noAutofit/>
                    </a:bodyPr>
                    <a:lstStyle/>
                    <a:p>
                      <a:pPr algn="ctr"/>
                      <a:r>
                        <a:rPr sz="1200" noProof="1">
                          <a:solidFill>
                            <a:srgbClr val="0F172A"/>
                          </a:solidFill>
                          <a:latin typeface="QuattrocentoSans"/>
                          <a:ea typeface="MiSans"/>
                        </a:rPr>
                        <a:t>13 个</a:t>
                      </a:r>
                    </a:p>
                  </a:txBody>
                  <a:tcPr marL="91440" marR="91440" marT="0" marB="0" anchor="ctr">
                    <a:solidFill>
                      <a:srgbClr val="F1F5F9"/>
                    </a:solidFill>
                  </a:tcPr>
                </a:tc>
              </a:tr>
              <a:tr h="388620">
                <a:tc>
                  <a:txBody>
                    <a:bodyPr wrap="square" anchor="ctr">
                      <a:noAutofit/>
                    </a:bodyPr>
                    <a:lstStyle/>
                    <a:p>
                      <a:pPr algn="ctr"/>
                      <a:r>
                        <a:rPr sz="1200" noProof="1">
                          <a:solidFill>
                            <a:srgbClr val="0F172A"/>
                          </a:solidFill>
                          <a:latin typeface="QuattrocentoSans"/>
                          <a:ea typeface="MiSans"/>
                        </a:rPr>
                        <a:t>关键词提取 / 污点分析</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FFFFFF"/>
                    </a:solidFill>
                  </a:tcPr>
                </a:tc>
                <a:tc>
                  <a:txBody>
                    <a:bodyPr wrap="square" anchor="ctr">
                      <a:noAutofit/>
                    </a:bodyPr>
                    <a:lstStyle/>
                    <a:p>
                      <a:pPr algn="ctr"/>
                      <a:r>
                        <a:rPr sz="1200" noProof="1">
                          <a:solidFill>
                            <a:srgbClr val="0F172A"/>
                          </a:solidFill>
                          <a:latin typeface="QuattrocentoSans"/>
                          <a:ea typeface="MiSans"/>
                        </a:rPr>
                        <a:t>&lt;10秒 / 20-30分钟</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FFFFFF"/>
                    </a:solidFill>
                  </a:tcPr>
                </a:tc>
              </a:tr>
            </a:tbl>
          </a:graphicData>
        </a:graphic>
      </p:graphicFrame>
      <p:sp>
        <p:nvSpPr>
          <p:cNvPr id="15" name="dsl:results-note|s=$body"/>
          <p:cNvSpPr txBox="1"/>
          <p:nvPr/>
        </p:nvSpPr>
        <p:spPr>
          <a:xfrm>
            <a:off x="6667500" y="1409700"/>
            <a:ext cx="4953000" cy="2286000"/>
          </a:xfrm>
          <a:prstGeom prst="rect">
            <a:avLst/>
          </a:prstGeom>
          <a:noFill/>
        </p:spPr>
        <p:txBody>
          <a:bodyPr wrap="square" anchor="t">
            <a:noAutofit/>
          </a:bodyPr>
          <a:lstStyle/>
          <a:p>
            <a:pPr algn="l">
              <a:lnSpc>
                <a:spcPct val="160000"/>
              </a:lnSpc>
            </a:pPr>
            <a:r>
              <a:rPr b="1" sz="1350" noProof="1">
                <a:solidFill>
                  <a:srgbClr val="0F172A"/>
                </a:solidFill>
                <a:latin typeface="QuattrocentoSans"/>
                <a:ea typeface="MiSans"/>
              </a:rPr>
              <a:t>与现有方法对比</a:t>
            </a:r>
          </a:p>
          <a:p>
            <a:pPr algn="l">
              <a:lnSpc>
                <a:spcPct val="160000"/>
              </a:lnSpc>
            </a:pPr>
            <a:r>
              <a:rPr sz="1350" noProof="1">
                <a:solidFill>
                  <a:srgbClr val="0F172A"/>
                </a:solidFill>
                <a:latin typeface="QuattrocentoSans"/>
                <a:ea typeface="MiSans"/>
              </a:rPr>
              <a:t>首次实现前后端协同Source识别，将Source定位从纯二进制推断转向前后端协同，显著提升了分析效率。</a:t>
            </a:r>
          </a:p>
          <a:p>
            <a:pPr algn="l">
              <a:lnSpc>
                <a:spcPct val="160000"/>
              </a:lnSpc>
            </a:pPr>
            <a:r>
              <a:rPr sz="1350" noProof="1">
                <a:solidFill>
                  <a:srgbClr val="0F172A"/>
                </a:solidFill>
                <a:latin typeface="QuattrocentoSans"/>
                <a:ea typeface="MiSans"/>
              </a:rPr>
              <a:t>漏洞均位于"非标准"数据处理路径上，传统工具无法定位入口。</a:t>
            </a:r>
          </a:p>
        </p:txBody>
      </p:sp>
      <p:sp>
        <p:nvSpPr>
          <p:cNvPr id="16" name="dsl:eval-bar"/>
          <p:cNvSpPr/>
          <p:nvPr/>
        </p:nvSpPr>
        <p:spPr>
          <a:xfrm>
            <a:off x="571500" y="390525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eval-subtitle|s=$subtitle"/>
          <p:cNvSpPr txBox="1"/>
          <p:nvPr/>
        </p:nvSpPr>
        <p:spPr>
          <a:xfrm>
            <a:off x="685800" y="388620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文章评价</a:t>
            </a:r>
          </a:p>
        </p:txBody>
      </p:sp>
      <p:sp>
        <p:nvSpPr>
          <p:cNvPr id="18" name="dsl:eval1-bar"/>
          <p:cNvSpPr/>
          <p:nvPr/>
        </p:nvSpPr>
        <p:spPr>
          <a:xfrm>
            <a:off x="571500" y="4305300"/>
            <a:ext cx="38100" cy="2286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eval1-subtitle"/>
          <p:cNvSpPr txBox="1"/>
          <p:nvPr/>
        </p:nvSpPr>
        <p:spPr>
          <a:xfrm>
            <a:off x="685800" y="4286250"/>
            <a:ext cx="3314700" cy="266700"/>
          </a:xfrm>
          <a:prstGeom prst="rect">
            <a:avLst/>
          </a:prstGeom>
          <a:noFill/>
        </p:spPr>
        <p:txBody>
          <a:bodyPr wrap="none" anchor="ctr">
            <a:noAutofit/>
          </a:bodyPr>
          <a:lstStyle/>
          <a:p>
            <a:pPr algn="l"/>
            <a:r>
              <a:rPr b="1" sz="1350" noProof="1">
                <a:solidFill>
                  <a:srgbClr val="059669"/>
                </a:solidFill>
                <a:latin typeface="QuattrocentoSans"/>
                <a:ea typeface="MiSans"/>
              </a:rPr>
              <a:t>优势</a:t>
            </a:r>
          </a:p>
        </p:txBody>
      </p:sp>
      <p:sp>
        <p:nvSpPr>
          <p:cNvPr id="20" name="dsl:eval1-body|s=$body"/>
          <p:cNvSpPr txBox="1"/>
          <p:nvPr/>
        </p:nvSpPr>
        <p:spPr>
          <a:xfrm>
            <a:off x="571500" y="4629150"/>
            <a:ext cx="3429000" cy="171450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关键洞察简洁、工程可落地性强。把Source识别从纯二进制推断转向前后端协同，显著提升了分析效率。适合作为固件Web安全扫描的基础模块。</a:t>
            </a:r>
          </a:p>
        </p:txBody>
      </p:sp>
      <p:sp>
        <p:nvSpPr>
          <p:cNvPr id="21" name="dsl:eval2-bar"/>
          <p:cNvSpPr/>
          <p:nvPr/>
        </p:nvSpPr>
        <p:spPr>
          <a:xfrm>
            <a:off x="4191000" y="4305300"/>
            <a:ext cx="38100" cy="2286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eval2-subtitle"/>
          <p:cNvSpPr txBox="1"/>
          <p:nvPr/>
        </p:nvSpPr>
        <p:spPr>
          <a:xfrm>
            <a:off x="4305300" y="4286250"/>
            <a:ext cx="3314700" cy="266700"/>
          </a:xfrm>
          <a:prstGeom prst="rect">
            <a:avLst/>
          </a:prstGeom>
          <a:noFill/>
        </p:spPr>
        <p:txBody>
          <a:bodyPr wrap="none" anchor="ctr">
            <a:noAutofit/>
          </a:bodyPr>
          <a:lstStyle/>
          <a:p>
            <a:pPr algn="l"/>
            <a:r>
              <a:rPr b="1" sz="1350" noProof="1">
                <a:solidFill>
                  <a:srgbClr val="DC2626"/>
                </a:solidFill>
                <a:latin typeface="QuattrocentoSans"/>
                <a:ea typeface="MiSans"/>
              </a:rPr>
              <a:t>局限</a:t>
            </a:r>
          </a:p>
        </p:txBody>
      </p:sp>
      <p:sp>
        <p:nvSpPr>
          <p:cNvPr id="23" name="dsl:eval2-body|s=$body"/>
          <p:cNvSpPr txBox="1"/>
          <p:nvPr/>
        </p:nvSpPr>
        <p:spPr>
          <a:xfrm>
            <a:off x="4191000" y="4629150"/>
            <a:ext cx="3429000" cy="171450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① Web依赖：非Web攻击面（如私有二进制协议）失效；② 前端混淆：React/Vue打包后变量名压缩导致语义丢失；③ 隐藏接口：前端无对应关键词则无法提取，产生漏报。</a:t>
            </a:r>
          </a:p>
        </p:txBody>
      </p:sp>
      <p:sp>
        <p:nvSpPr>
          <p:cNvPr id="24" name="dsl:eval3-bar"/>
          <p:cNvSpPr/>
          <p:nvPr/>
        </p:nvSpPr>
        <p:spPr>
          <a:xfrm>
            <a:off x="7810500" y="4305300"/>
            <a:ext cx="38100" cy="228600"/>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eval3-subtitle"/>
          <p:cNvSpPr txBox="1"/>
          <p:nvPr/>
        </p:nvSpPr>
        <p:spPr>
          <a:xfrm>
            <a:off x="7924800" y="4286250"/>
            <a:ext cx="3314700" cy="266700"/>
          </a:xfrm>
          <a:prstGeom prst="rect">
            <a:avLst/>
          </a:prstGeom>
          <a:noFill/>
        </p:spPr>
        <p:txBody>
          <a:bodyPr wrap="none" anchor="ctr">
            <a:noAutofit/>
          </a:bodyPr>
          <a:lstStyle/>
          <a:p>
            <a:pPr algn="l"/>
            <a:r>
              <a:rPr b="1" sz="1350" noProof="1">
                <a:solidFill>
                  <a:srgbClr val="64748B"/>
                </a:solidFill>
                <a:latin typeface="QuattrocentoSans"/>
                <a:ea typeface="MiSans"/>
              </a:rPr>
              <a:t>商业化</a:t>
            </a:r>
          </a:p>
        </p:txBody>
      </p:sp>
      <p:sp>
        <p:nvSpPr>
          <p:cNvPr id="26" name="dsl:eval3-body|s=$body"/>
          <p:cNvSpPr txBox="1"/>
          <p:nvPr/>
        </p:nvSpPr>
        <p:spPr>
          <a:xfrm>
            <a:off x="7810500" y="4629150"/>
            <a:ext cx="3429000" cy="171450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2021年的技术，更推荐商业化落地同一类目的后续技术（如HermeScan和LARA）。</a:t>
            </a:r>
          </a:p>
        </p:txBody>
      </p:sp>
      <p:sp>
        <p:nvSpPr>
          <p:cNvPr id="27" name="dsl:footer-left|s=$caption"/>
          <p:cNvSpPr txBox="1"/>
          <p:nvPr/>
        </p:nvSpPr>
        <p:spPr>
          <a:xfrm>
            <a:off x="571500" y="6572250"/>
            <a:ext cx="3810000" cy="1905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网络设备Web服务安全研究</a:t>
            </a:r>
          </a:p>
        </p:txBody>
      </p:sp>
      <p:sp>
        <p:nvSpPr>
          <p:cNvPr id="28" name="dsl:footer-right|s=$caption"/>
          <p:cNvSpPr txBox="1"/>
          <p:nvPr/>
        </p:nvSpPr>
        <p:spPr>
          <a:xfrm>
            <a:off x="10477500" y="6572250"/>
            <a:ext cx="1143000" cy="190500"/>
          </a:xfrm>
          <a:prstGeom prst="rect">
            <a:avLst/>
          </a:prstGeom>
          <a:noFill/>
        </p:spPr>
        <p:txBody>
          <a:bodyPr wrap="none" anchor="ctr">
            <a:noAutofit/>
          </a:bodyPr>
          <a:lstStyle/>
          <a:p>
            <a:pPr algn="r">
              <a:lnSpc>
                <a:spcPct val="140000"/>
              </a:lnSpc>
            </a:pPr>
            <a:r>
              <a:rPr sz="1050" noProof="1">
                <a:solidFill>
                  <a:srgbClr val="64748B"/>
                </a:solidFill>
                <a:latin typeface="QuattrocentoSans"/>
                <a:ea typeface="MiSans"/>
              </a:rPr>
              <a:t>6 / 37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dsl:nav-bg"/>
          <p:cNvSpPr/>
          <p:nvPr/>
        </p:nvSpPr>
        <p:spPr>
          <a:xfrm>
            <a:off x="0" y="0"/>
            <a:ext cx="12192000" cy="381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
          <p:cNvSpPr/>
          <p:nvPr/>
        </p:nvSpPr>
        <p:spPr>
          <a:xfrm>
            <a:off x="0" y="0"/>
            <a:ext cx="3048000" cy="3810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t1|s=$nav"/>
          <p:cNvSpPr txBox="1"/>
          <p:nvPr/>
        </p:nvSpPr>
        <p:spPr>
          <a:xfrm>
            <a:off x="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维度一: Source</a:t>
            </a:r>
          </a:p>
        </p:txBody>
      </p:sp>
      <p:sp>
        <p:nvSpPr>
          <p:cNvPr id="5" name="dsl:nav-t2|s=$nav"/>
          <p:cNvSpPr txBox="1"/>
          <p:nvPr/>
        </p:nvSpPr>
        <p:spPr>
          <a:xfrm>
            <a:off x="3048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维度二: Propagation</a:t>
            </a:r>
          </a:p>
        </p:txBody>
      </p:sp>
      <p:sp>
        <p:nvSpPr>
          <p:cNvPr id="6" name="dsl:nav-t3|s=$nav"/>
          <p:cNvSpPr txBox="1"/>
          <p:nvPr/>
        </p:nvSpPr>
        <p:spPr>
          <a:xfrm>
            <a:off x="6096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维度三: Sink</a:t>
            </a:r>
          </a:p>
        </p:txBody>
      </p:sp>
      <p:sp>
        <p:nvSpPr>
          <p:cNvPr id="7" name="dsl:nav-t4|s=$nav"/>
          <p:cNvSpPr txBox="1"/>
          <p:nvPr/>
        </p:nvSpPr>
        <p:spPr>
          <a:xfrm>
            <a:off x="9144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维度四: Verification</a:t>
            </a:r>
          </a:p>
        </p:txBody>
      </p:sp>
      <p:sp>
        <p:nvSpPr>
          <p:cNvPr id="8" name="dsl:nav-line"/>
          <p:cNvSpPr/>
          <p:nvPr/>
        </p:nvSpPr>
        <p:spPr>
          <a:xfrm>
            <a:off x="0" y="381000"/>
            <a:ext cx="12192000" cy="1905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page-title|s=$title"/>
          <p:cNvSpPr txBox="1"/>
          <p:nvPr/>
        </p:nvSpPr>
        <p:spPr>
          <a:xfrm>
            <a:off x="571500" y="514350"/>
            <a:ext cx="8382000" cy="381000"/>
          </a:xfrm>
          <a:prstGeom prst="rect">
            <a:avLst/>
          </a:prstGeom>
          <a:noFill/>
        </p:spPr>
        <p:txBody>
          <a:bodyPr wrap="none" anchor="ctr">
            <a:noAutofit/>
          </a:bodyPr>
          <a:lstStyle/>
          <a:p>
            <a:pPr algn="l">
              <a:lnSpc>
                <a:spcPct val="130000"/>
              </a:lnSpc>
            </a:pPr>
            <a:r>
              <a:rPr sz="2100" noProof="1">
                <a:solidFill>
                  <a:srgbClr val="1E293B"/>
                </a:solidFill>
                <a:latin typeface="QuattrocentoSans"/>
                <a:ea typeface="MiSans"/>
              </a:rPr>
              <a:t>HermeScan — 模糊匹配与轻量级数据流分析</a:t>
            </a:r>
          </a:p>
        </p:txBody>
      </p:sp>
      <p:sp>
        <p:nvSpPr>
          <p:cNvPr id="10" name="dsl:badge-bg"/>
          <p:cNvSpPr/>
          <p:nvPr/>
        </p:nvSpPr>
        <p:spPr>
          <a:xfrm>
            <a:off x="10001250" y="552450"/>
            <a:ext cx="1619250" cy="266700"/>
          </a:xfrm>
          <a:prstGeom prst="roundRect">
            <a:avLst>
              <a:gd name="adj" fmla="val 8000"/>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badge-text|s=$badge"/>
          <p:cNvSpPr txBox="1"/>
          <p:nvPr/>
        </p:nvSpPr>
        <p:spPr>
          <a:xfrm>
            <a:off x="10001250" y="552450"/>
            <a:ext cx="1619250" cy="2667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NDSS 2024</a:t>
            </a:r>
          </a:p>
        </p:txBody>
      </p:sp>
      <p:sp>
        <p:nvSpPr>
          <p:cNvPr id="12" name="dsl:left-bar-1"/>
          <p:cNvSpPr/>
          <p:nvPr/>
        </p:nvSpPr>
        <p:spPr>
          <a:xfrm>
            <a:off x="5715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left-subtitle-1|s=$subtitle"/>
          <p:cNvSpPr txBox="1"/>
          <p:nvPr/>
        </p:nvSpPr>
        <p:spPr>
          <a:xfrm>
            <a:off x="6858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内容摘要</a:t>
            </a:r>
          </a:p>
        </p:txBody>
      </p:sp>
      <p:sp>
        <p:nvSpPr>
          <p:cNvPr id="14" name="dsl:left-body-1|s=$body"/>
          <p:cNvSpPr txBox="1"/>
          <p:nvPr/>
        </p:nvSpPr>
        <p:spPr>
          <a:xfrm>
            <a:off x="571500" y="1352550"/>
            <a:ext cx="3429000" cy="18097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首次提出结合模糊Source匹配、跨库CFG恢复与轻量级RDA的漏洞检测框架。引入编辑距离和BERT语义相似度缓解格式差异漏报，用RDA替代符号执行避免路径爆炸，恢复跨库CFG找回丢失路径。</a:t>
            </a:r>
          </a:p>
        </p:txBody>
      </p:sp>
      <p:sp>
        <p:nvSpPr>
          <p:cNvPr id="15" name="dsl:left-bar-2"/>
          <p:cNvSpPr/>
          <p:nvPr/>
        </p:nvSpPr>
        <p:spPr>
          <a:xfrm>
            <a:off x="571500" y="3314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left-subtitle-2|s=$subtitle"/>
          <p:cNvSpPr txBox="1"/>
          <p:nvPr/>
        </p:nvSpPr>
        <p:spPr>
          <a:xfrm>
            <a:off x="685800" y="3295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研究背景</a:t>
            </a:r>
          </a:p>
        </p:txBody>
      </p:sp>
      <p:sp>
        <p:nvSpPr>
          <p:cNvPr id="17" name="dsl:left-body-2|s=$body"/>
          <p:cNvSpPr txBox="1"/>
          <p:nvPr/>
        </p:nvSpPr>
        <p:spPr>
          <a:xfrm>
            <a:off x="571500" y="3638550"/>
            <a:ext cx="3429000" cy="21907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SaTC等方法依赖精确匹配，遇到格式差异即漏报。符号执行面对复杂固件路径爆炸。现实固件大量使用函数指针表、共享库包装和被剥离符号，导致CFG不完整，Source和Sink都可能无法连通。</a:t>
            </a:r>
          </a:p>
        </p:txBody>
      </p:sp>
      <p:sp>
        <p:nvSpPr>
          <p:cNvPr id="18" name="dsl:mid-bar-1"/>
          <p:cNvSpPr/>
          <p:nvPr/>
        </p:nvSpPr>
        <p:spPr>
          <a:xfrm>
            <a:off x="41910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mid-subtitle-1|s=$subtitle"/>
          <p:cNvSpPr txBox="1"/>
          <p:nvPr/>
        </p:nvSpPr>
        <p:spPr>
          <a:xfrm>
            <a:off x="43053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核心洞察</a:t>
            </a:r>
          </a:p>
        </p:txBody>
      </p:sp>
      <p:sp>
        <p:nvSpPr>
          <p:cNvPr id="20" name="dsl:mid-body-1|s=$body"/>
          <p:cNvSpPr txBox="1"/>
          <p:nvPr/>
        </p:nvSpPr>
        <p:spPr>
          <a:xfrm>
            <a:off x="4191000" y="1352550"/>
            <a:ext cx="3429000" cy="209550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Insight 1: 将污点追踪降维为"数据可达性"问题，引入RDA替代符号执行。</a:t>
            </a:r>
          </a:p>
          <a:p>
            <a:pPr algn="l">
              <a:lnSpc>
                <a:spcPct val="160000"/>
              </a:lnSpc>
            </a:pPr>
            <a:r>
              <a:rPr sz="1350" noProof="1">
                <a:solidFill>
                  <a:srgbClr val="0F172A"/>
                </a:solidFill>
                <a:latin typeface="QuattrocentoSans"/>
                <a:ea typeface="MiSans"/>
              </a:rPr>
              <a:t>Insight 2: 重建跨越边界的代码图谱，连接Bin-CFG与Lib-CFG。</a:t>
            </a:r>
          </a:p>
          <a:p>
            <a:pPr algn="l">
              <a:lnSpc>
                <a:spcPct val="160000"/>
              </a:lnSpc>
            </a:pPr>
            <a:r>
              <a:rPr sz="1350" noProof="1">
                <a:solidFill>
                  <a:srgbClr val="0F172A"/>
                </a:solidFill>
                <a:latin typeface="QuattrocentoSans"/>
                <a:ea typeface="MiSans"/>
              </a:rPr>
              <a:t>Insight 3: 从"硬编码匹配"走向"语义容错"，引入BERT模糊匹配。</a:t>
            </a:r>
          </a:p>
        </p:txBody>
      </p:sp>
      <p:sp>
        <p:nvSpPr>
          <p:cNvPr id="21" name="dsl:mid-bar-2"/>
          <p:cNvSpPr/>
          <p:nvPr/>
        </p:nvSpPr>
        <p:spPr>
          <a:xfrm>
            <a:off x="4191000" y="35433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mid-subtitle-2|s=$subtitle"/>
          <p:cNvSpPr txBox="1"/>
          <p:nvPr/>
        </p:nvSpPr>
        <p:spPr>
          <a:xfrm>
            <a:off x="4305300" y="35242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解决方案</a:t>
            </a:r>
          </a:p>
        </p:txBody>
      </p:sp>
      <p:sp>
        <p:nvSpPr>
          <p:cNvPr id="23" name="dsl:mid-body-2|s=$body"/>
          <p:cNvSpPr txBox="1"/>
          <p:nvPr/>
        </p:nvSpPr>
        <p:spPr>
          <a:xfrm>
            <a:off x="4191000" y="3848100"/>
            <a:ext cx="3429000" cy="209550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1. 增强CFG恢复：函数边界识别、符号名恢复、调用约定恢复、库连接。</a:t>
            </a:r>
          </a:p>
          <a:p>
            <a:pPr algn="l">
              <a:lnSpc>
                <a:spcPct val="160000"/>
              </a:lnSpc>
            </a:pPr>
            <a:r>
              <a:rPr sz="1350" noProof="1">
                <a:solidFill>
                  <a:srgbClr val="0F172A"/>
                </a:solidFill>
                <a:latin typeface="QuattrocentoSans"/>
                <a:ea typeface="MiSans"/>
              </a:rPr>
              <a:t>2. 模糊Source匹配：编辑距离字面相似度 + BERT语义相似度。</a:t>
            </a:r>
          </a:p>
          <a:p>
            <a:pPr algn="l">
              <a:lnSpc>
                <a:spcPct val="160000"/>
              </a:lnSpc>
            </a:pPr>
            <a:r>
              <a:rPr sz="1350" noProof="1">
                <a:solidFill>
                  <a:srgbClr val="0F172A"/>
                </a:solidFill>
                <a:latin typeface="QuattrocentoSans"/>
                <a:ea typeface="MiSans"/>
              </a:rPr>
              <a:t>3. LCO-RDA：轻量级、上下文敏感、按需分析，路径合并策略。</a:t>
            </a:r>
          </a:p>
        </p:txBody>
      </p:sp>
      <p:sp>
        <p:nvSpPr>
          <p:cNvPr id="24" name="dsl:right-bar"/>
          <p:cNvSpPr/>
          <p:nvPr/>
        </p:nvSpPr>
        <p:spPr>
          <a:xfrm>
            <a:off x="78105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right-subtitle|s=$subtitle"/>
          <p:cNvSpPr txBox="1"/>
          <p:nvPr/>
        </p:nvSpPr>
        <p:spPr>
          <a:xfrm>
            <a:off x="79248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关键数据</a:t>
            </a:r>
          </a:p>
        </p:txBody>
      </p:sp>
      <p:sp>
        <p:nvSpPr>
          <p:cNvPr id="26" name="dsl:card1-bg"/>
          <p:cNvSpPr/>
          <p:nvPr/>
        </p:nvSpPr>
        <p:spPr>
          <a:xfrm>
            <a:off x="8001000" y="1428750"/>
            <a:ext cx="3238500" cy="1143000"/>
          </a:xfrm>
          <a:prstGeom prst="roundRect">
            <a:avLst>
              <a:gd name="adj" fmla="val 8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card1-num|s=$kpi"/>
          <p:cNvSpPr txBox="1"/>
          <p:nvPr/>
        </p:nvSpPr>
        <p:spPr>
          <a:xfrm>
            <a:off x="8191500" y="1571625"/>
            <a:ext cx="2857500" cy="400050"/>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163</a:t>
            </a:r>
          </a:p>
        </p:txBody>
      </p:sp>
      <p:sp>
        <p:nvSpPr>
          <p:cNvPr id="28" name="dsl:card1-label|s=$caption"/>
          <p:cNvSpPr txBox="1"/>
          <p:nvPr/>
        </p:nvSpPr>
        <p:spPr>
          <a:xfrm>
            <a:off x="8191500" y="2047875"/>
            <a:ext cx="2857500" cy="2286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漏洞发现</a:t>
            </a:r>
          </a:p>
        </p:txBody>
      </p:sp>
      <p:sp>
        <p:nvSpPr>
          <p:cNvPr id="29" name="dsl:card2-bg"/>
          <p:cNvSpPr/>
          <p:nvPr/>
        </p:nvSpPr>
        <p:spPr>
          <a:xfrm>
            <a:off x="8001000" y="2762250"/>
            <a:ext cx="3238500" cy="1143000"/>
          </a:xfrm>
          <a:prstGeom prst="roundRect">
            <a:avLst>
              <a:gd name="adj" fmla="val 8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sl:card2-num|s=$kpi"/>
          <p:cNvSpPr txBox="1"/>
          <p:nvPr/>
        </p:nvSpPr>
        <p:spPr>
          <a:xfrm>
            <a:off x="8191500" y="2905125"/>
            <a:ext cx="2857500" cy="400050"/>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81%</a:t>
            </a:r>
          </a:p>
        </p:txBody>
      </p:sp>
      <p:sp>
        <p:nvSpPr>
          <p:cNvPr id="31" name="dsl:card2-label|s=$caption"/>
          <p:cNvSpPr txBox="1"/>
          <p:nvPr/>
        </p:nvSpPr>
        <p:spPr>
          <a:xfrm>
            <a:off x="8191500" y="3381375"/>
            <a:ext cx="2857500" cy="2286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TPR（真实阳性率）</a:t>
            </a:r>
          </a:p>
        </p:txBody>
      </p:sp>
      <p:sp>
        <p:nvSpPr>
          <p:cNvPr id="32" name="dsl:card3-bg"/>
          <p:cNvSpPr/>
          <p:nvPr/>
        </p:nvSpPr>
        <p:spPr>
          <a:xfrm>
            <a:off x="8001000" y="4095750"/>
            <a:ext cx="3238500" cy="1143000"/>
          </a:xfrm>
          <a:prstGeom prst="roundRect">
            <a:avLst>
              <a:gd name="adj" fmla="val 8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sl:card3-num|s=$kpi"/>
          <p:cNvSpPr txBox="1"/>
          <p:nvPr/>
        </p:nvSpPr>
        <p:spPr>
          <a:xfrm>
            <a:off x="8191500" y="4238625"/>
            <a:ext cx="2857500" cy="400050"/>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7.5x</a:t>
            </a:r>
          </a:p>
        </p:txBody>
      </p:sp>
      <p:sp>
        <p:nvSpPr>
          <p:cNvPr id="34" name="dsl:card3-label|s=$caption"/>
          <p:cNvSpPr txBox="1"/>
          <p:nvPr/>
        </p:nvSpPr>
        <p:spPr>
          <a:xfrm>
            <a:off x="8191500" y="4714875"/>
            <a:ext cx="2857500" cy="2286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分析速度（vs SaTC）</a:t>
            </a:r>
          </a:p>
        </p:txBody>
      </p:sp>
      <p:sp>
        <p:nvSpPr>
          <p:cNvPr id="35" name="dsl:footer-left|s=$caption"/>
          <p:cNvSpPr txBox="1"/>
          <p:nvPr/>
        </p:nvSpPr>
        <p:spPr>
          <a:xfrm>
            <a:off x="571500" y="6572250"/>
            <a:ext cx="3810000" cy="1905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网络设备Web服务安全研究</a:t>
            </a:r>
          </a:p>
        </p:txBody>
      </p:sp>
      <p:sp>
        <p:nvSpPr>
          <p:cNvPr id="36" name="dsl:footer-right|s=$caption"/>
          <p:cNvSpPr txBox="1"/>
          <p:nvPr/>
        </p:nvSpPr>
        <p:spPr>
          <a:xfrm>
            <a:off x="10477500" y="6572250"/>
            <a:ext cx="1143000" cy="190500"/>
          </a:xfrm>
          <a:prstGeom prst="rect">
            <a:avLst/>
          </a:prstGeom>
          <a:noFill/>
        </p:spPr>
        <p:txBody>
          <a:bodyPr wrap="none" anchor="ctr">
            <a:noAutofit/>
          </a:bodyPr>
          <a:lstStyle/>
          <a:p>
            <a:pPr algn="r">
              <a:lnSpc>
                <a:spcPct val="140000"/>
              </a:lnSpc>
            </a:pPr>
            <a:r>
              <a:rPr sz="1050" noProof="1">
                <a:solidFill>
                  <a:srgbClr val="64748B"/>
                </a:solidFill>
                <a:latin typeface="QuattrocentoSans"/>
                <a:ea typeface="MiSans"/>
              </a:rPr>
              <a:t>7 / 37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dsl:nav-bg"/>
          <p:cNvSpPr/>
          <p:nvPr/>
        </p:nvSpPr>
        <p:spPr>
          <a:xfrm>
            <a:off x="0" y="0"/>
            <a:ext cx="12192000" cy="381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
          <p:cNvSpPr/>
          <p:nvPr/>
        </p:nvSpPr>
        <p:spPr>
          <a:xfrm>
            <a:off x="0" y="0"/>
            <a:ext cx="3048000" cy="3810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t1|s=$nav"/>
          <p:cNvSpPr txBox="1"/>
          <p:nvPr/>
        </p:nvSpPr>
        <p:spPr>
          <a:xfrm>
            <a:off x="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维度一: Source</a:t>
            </a:r>
          </a:p>
        </p:txBody>
      </p:sp>
      <p:sp>
        <p:nvSpPr>
          <p:cNvPr id="5" name="dsl:nav-t2|s=$nav"/>
          <p:cNvSpPr txBox="1"/>
          <p:nvPr/>
        </p:nvSpPr>
        <p:spPr>
          <a:xfrm>
            <a:off x="3048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维度二: Propagation</a:t>
            </a:r>
          </a:p>
        </p:txBody>
      </p:sp>
      <p:sp>
        <p:nvSpPr>
          <p:cNvPr id="6" name="dsl:nav-t3|s=$nav"/>
          <p:cNvSpPr txBox="1"/>
          <p:nvPr/>
        </p:nvSpPr>
        <p:spPr>
          <a:xfrm>
            <a:off x="6096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维度三: Sink</a:t>
            </a:r>
          </a:p>
        </p:txBody>
      </p:sp>
      <p:sp>
        <p:nvSpPr>
          <p:cNvPr id="7" name="dsl:nav-t4|s=$nav"/>
          <p:cNvSpPr txBox="1"/>
          <p:nvPr/>
        </p:nvSpPr>
        <p:spPr>
          <a:xfrm>
            <a:off x="9144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维度四: Verification</a:t>
            </a:r>
          </a:p>
        </p:txBody>
      </p:sp>
      <p:sp>
        <p:nvSpPr>
          <p:cNvPr id="8" name="dsl:nav-line"/>
          <p:cNvSpPr/>
          <p:nvPr/>
        </p:nvSpPr>
        <p:spPr>
          <a:xfrm>
            <a:off x="0" y="381000"/>
            <a:ext cx="12192000" cy="1905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page-title|s=$title"/>
          <p:cNvSpPr txBox="1"/>
          <p:nvPr/>
        </p:nvSpPr>
        <p:spPr>
          <a:xfrm>
            <a:off x="571500" y="514350"/>
            <a:ext cx="8382000" cy="381000"/>
          </a:xfrm>
          <a:prstGeom prst="rect">
            <a:avLst/>
          </a:prstGeom>
          <a:noFill/>
        </p:spPr>
        <p:txBody>
          <a:bodyPr wrap="none" anchor="ctr">
            <a:noAutofit/>
          </a:bodyPr>
          <a:lstStyle/>
          <a:p>
            <a:pPr algn="l">
              <a:lnSpc>
                <a:spcPct val="130000"/>
              </a:lnSpc>
            </a:pPr>
            <a:r>
              <a:rPr sz="2100" noProof="1">
                <a:solidFill>
                  <a:srgbClr val="1E293B"/>
                </a:solidFill>
                <a:latin typeface="QuattrocentoSans"/>
                <a:ea typeface="MiSans"/>
              </a:rPr>
              <a:t>HermeScan — 实验结果与文章评价</a:t>
            </a:r>
          </a:p>
        </p:txBody>
      </p:sp>
      <p:sp>
        <p:nvSpPr>
          <p:cNvPr id="10" name="dsl:badge-bg"/>
          <p:cNvSpPr/>
          <p:nvPr/>
        </p:nvSpPr>
        <p:spPr>
          <a:xfrm>
            <a:off x="10001250" y="552450"/>
            <a:ext cx="1619250" cy="266700"/>
          </a:xfrm>
          <a:prstGeom prst="roundRect">
            <a:avLst>
              <a:gd name="adj" fmla="val 8000"/>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badge-text|s=$badge"/>
          <p:cNvSpPr txBox="1"/>
          <p:nvPr/>
        </p:nvSpPr>
        <p:spPr>
          <a:xfrm>
            <a:off x="10001250" y="552450"/>
            <a:ext cx="1619250" cy="2667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NDSS 2024</a:t>
            </a:r>
          </a:p>
        </p:txBody>
      </p:sp>
      <p:sp>
        <p:nvSpPr>
          <p:cNvPr id="12" name="dsl:results-bar"/>
          <p:cNvSpPr/>
          <p:nvPr/>
        </p:nvSpPr>
        <p:spPr>
          <a:xfrm>
            <a:off x="5715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results-subtitle|s=$subtitle"/>
          <p:cNvSpPr txBox="1"/>
          <p:nvPr/>
        </p:nvSpPr>
        <p:spPr>
          <a:xfrm>
            <a:off x="6858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实验结果</a:t>
            </a:r>
          </a:p>
        </p:txBody>
      </p:sp>
      <p:graphicFrame>
        <p:nvGraphicFramePr>
          <p:cNvPr id="14" name="dsl:results-table"/>
          <p:cNvGraphicFramePr>
            <a:graphicFrameLocks noGrp="1"/>
          </p:cNvGraphicFramePr>
          <p:nvPr/>
        </p:nvGraphicFramePr>
        <p:xfrm>
          <a:off x="571500" y="1409700"/>
          <a:ext cx="6667500" cy="2285995"/>
        </p:xfrm>
        <a:graphic>
          <a:graphicData uri="http://schemas.openxmlformats.org/drawingml/2006/table">
            <a:tbl>
              <a:tblPr firstRow="0" bandRow="0" lastRow="0" firstCol="0" lastCol="0" bandCol="0">
                <a:tableStyleId>{2D5ABB26-0587-4C30-8999-92F81FD0307C}</a:tableStyleId>
              </a:tblPr>
              <a:tblGrid>
                <a:gridCol w="1866900"/>
                <a:gridCol w="1600200"/>
                <a:gridCol w="1600200"/>
                <a:gridCol w="1600200"/>
              </a:tblGrid>
              <a:tr h="411479">
                <a:tc>
                  <a:txBody>
                    <a:bodyPr wrap="square" anchor="ctr">
                      <a:noAutofit/>
                    </a:bodyPr>
                    <a:lstStyle/>
                    <a:p>
                      <a:pPr algn="ctr"/>
                      <a:r>
                        <a:rPr sz="1200" noProof="1" b="1">
                          <a:solidFill>
                            <a:srgbClr val="FFFFFF"/>
                          </a:solidFill>
                          <a:latin typeface="QuattrocentoSans"/>
                          <a:ea typeface="MiSans"/>
                        </a:rPr>
                        <a:t>指标</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1E293B"/>
                    </a:solidFill>
                  </a:tcPr>
                </a:tc>
                <a:tc>
                  <a:txBody>
                    <a:bodyPr wrap="square" anchor="ctr">
                      <a:noAutofit/>
                    </a:bodyPr>
                    <a:lstStyle/>
                    <a:p>
                      <a:pPr algn="ctr"/>
                      <a:r>
                        <a:rPr sz="1200" noProof="1" b="1">
                          <a:solidFill>
                            <a:srgbClr val="FFFFFF"/>
                          </a:solidFill>
                          <a:latin typeface="QuattrocentoSans"/>
                          <a:ea typeface="MiSans"/>
                        </a:rPr>
                        <a:t>HermeScan</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1E293B"/>
                    </a:solidFill>
                  </a:tcPr>
                </a:tc>
                <a:tc>
                  <a:txBody>
                    <a:bodyPr wrap="square" anchor="ctr">
                      <a:noAutofit/>
                    </a:bodyPr>
                    <a:lstStyle/>
                    <a:p>
                      <a:pPr algn="ctr"/>
                      <a:r>
                        <a:rPr sz="1200" noProof="1" b="1">
                          <a:solidFill>
                            <a:srgbClr val="FFFFFF"/>
                          </a:solidFill>
                          <a:latin typeface="QuattrocentoSans"/>
                          <a:ea typeface="MiSans"/>
                        </a:rPr>
                        <a:t>SaTC</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1E293B"/>
                    </a:solidFill>
                  </a:tcPr>
                </a:tc>
                <a:tc>
                  <a:txBody>
                    <a:bodyPr wrap="square" anchor="ctr">
                      <a:noAutofit/>
                    </a:bodyPr>
                    <a:lstStyle/>
                    <a:p>
                      <a:pPr algn="ctr"/>
                      <a:r>
                        <a:rPr sz="1200" noProof="1" b="1">
                          <a:solidFill>
                            <a:srgbClr val="FFFFFF"/>
                          </a:solidFill>
                          <a:latin typeface="QuattrocentoSans"/>
                          <a:ea typeface="MiSans"/>
                        </a:rPr>
                        <a:t>KARONTE</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1E293B"/>
                    </a:solidFill>
                  </a:tcPr>
                </a:tc>
              </a:tr>
              <a:tr h="468629">
                <a:tc>
                  <a:txBody>
                    <a:bodyPr wrap="square" anchor="ctr">
                      <a:noAutofit/>
                    </a:bodyPr>
                    <a:lstStyle/>
                    <a:p>
                      <a:pPr algn="ctr"/>
                      <a:r>
                        <a:rPr sz="1200" noProof="1">
                          <a:solidFill>
                            <a:srgbClr val="0F172A"/>
                          </a:solidFill>
                          <a:latin typeface="QuattrocentoSans"/>
                          <a:ea typeface="MiSans"/>
                        </a:rPr>
                        <a:t>漏洞发现数</a:t>
                      </a:r>
                    </a:p>
                  </a:txBody>
                  <a:tcPr marL="91440" marR="91440" marT="0" marB="0" anchor="ctr">
                    <a:solidFill>
                      <a:srgbClr val="FFFFFF"/>
                    </a:solidFill>
                  </a:tcPr>
                </a:tc>
                <a:tc>
                  <a:txBody>
                    <a:bodyPr wrap="square" anchor="ctr">
                      <a:noAutofit/>
                    </a:bodyPr>
                    <a:lstStyle/>
                    <a:p>
                      <a:pPr algn="ctr"/>
                      <a:r>
                        <a:rPr sz="1200" noProof="1">
                          <a:solidFill>
                            <a:srgbClr val="0F172A"/>
                          </a:solidFill>
                          <a:latin typeface="QuattrocentoSans"/>
                          <a:ea typeface="MiSans"/>
                        </a:rPr>
                        <a:t>163</a:t>
                      </a:r>
                    </a:p>
                  </a:txBody>
                  <a:tcPr marL="91440" marR="91440" marT="0" marB="0" anchor="ctr">
                    <a:solidFill>
                      <a:srgbClr val="FFFFFF"/>
                    </a:solidFill>
                  </a:tcPr>
                </a:tc>
                <a:tc>
                  <a:txBody>
                    <a:bodyPr wrap="square" anchor="ctr">
                      <a:noAutofit/>
                    </a:bodyPr>
                    <a:lstStyle/>
                    <a:p>
                      <a:pPr algn="ctr"/>
                      <a:r>
                        <a:rPr sz="1200" noProof="1">
                          <a:solidFill>
                            <a:srgbClr val="0F172A"/>
                          </a:solidFill>
                          <a:latin typeface="QuattrocentoSans"/>
                          <a:ea typeface="MiSans"/>
                        </a:rPr>
                        <a:t>32</a:t>
                      </a:r>
                    </a:p>
                  </a:txBody>
                  <a:tcPr marL="91440" marR="91440" marT="0" marB="0" anchor="ctr">
                    <a:solidFill>
                      <a:srgbClr val="FFFFFF"/>
                    </a:solidFill>
                  </a:tcPr>
                </a:tc>
                <a:tc>
                  <a:txBody>
                    <a:bodyPr wrap="square" anchor="ctr">
                      <a:noAutofit/>
                    </a:bodyPr>
                    <a:lstStyle/>
                    <a:p>
                      <a:pPr algn="ctr"/>
                      <a:r>
                        <a:rPr sz="1200" noProof="1">
                          <a:solidFill>
                            <a:srgbClr val="0F172A"/>
                          </a:solidFill>
                          <a:latin typeface="QuattrocentoSans"/>
                          <a:ea typeface="MiSans"/>
                        </a:rPr>
                        <a:t>0</a:t>
                      </a:r>
                    </a:p>
                  </a:txBody>
                  <a:tcPr marL="91440" marR="91440" marT="0" marB="0" anchor="ctr">
                    <a:solidFill>
                      <a:srgbClr val="FFFFFF"/>
                    </a:solidFill>
                  </a:tcPr>
                </a:tc>
              </a:tr>
              <a:tr h="468629">
                <a:tc>
                  <a:txBody>
                    <a:bodyPr wrap="square" anchor="ctr">
                      <a:noAutofit/>
                    </a:bodyPr>
                    <a:lstStyle/>
                    <a:p>
                      <a:pPr algn="ctr"/>
                      <a:r>
                        <a:rPr sz="1200" noProof="1">
                          <a:solidFill>
                            <a:srgbClr val="0F172A"/>
                          </a:solidFill>
                          <a:latin typeface="QuattrocentoSans"/>
                          <a:ea typeface="MiSans"/>
                        </a:rPr>
                        <a:t>TPR</a:t>
                      </a:r>
                    </a:p>
                  </a:txBody>
                  <a:tcPr marL="91440" marR="91440" marT="0" marB="0" anchor="ctr">
                    <a:solidFill>
                      <a:srgbClr val="F1F5F9"/>
                    </a:solidFill>
                  </a:tcPr>
                </a:tc>
                <a:tc>
                  <a:txBody>
                    <a:bodyPr wrap="square" anchor="ctr">
                      <a:noAutofit/>
                    </a:bodyPr>
                    <a:lstStyle/>
                    <a:p>
                      <a:pPr algn="ctr"/>
                      <a:r>
                        <a:rPr sz="1200" noProof="1">
                          <a:solidFill>
                            <a:srgbClr val="0F172A"/>
                          </a:solidFill>
                          <a:latin typeface="QuattrocentoSans"/>
                          <a:ea typeface="MiSans"/>
                        </a:rPr>
                        <a:t>81%</a:t>
                      </a:r>
                    </a:p>
                  </a:txBody>
                  <a:tcPr marL="91440" marR="91440" marT="0" marB="0" anchor="ctr">
                    <a:solidFill>
                      <a:srgbClr val="F1F5F9"/>
                    </a:solidFill>
                  </a:tcPr>
                </a:tc>
                <a:tc>
                  <a:txBody>
                    <a:bodyPr wrap="square" anchor="ctr">
                      <a:noAutofit/>
                    </a:bodyPr>
                    <a:lstStyle/>
                    <a:p>
                      <a:pPr algn="ctr"/>
                      <a:r>
                        <a:rPr sz="1200" noProof="1">
                          <a:solidFill>
                            <a:srgbClr val="0F172A"/>
                          </a:solidFill>
                          <a:latin typeface="QuattrocentoSans"/>
                          <a:ea typeface="MiSans"/>
                        </a:rPr>
                        <a:t>42%</a:t>
                      </a:r>
                    </a:p>
                  </a:txBody>
                  <a:tcPr marL="91440" marR="91440" marT="0" marB="0" anchor="ctr">
                    <a:solidFill>
                      <a:srgbClr val="F1F5F9"/>
                    </a:solidFill>
                  </a:tcPr>
                </a:tc>
                <a:tc>
                  <a:txBody>
                    <a:bodyPr wrap="square" anchor="ctr">
                      <a:noAutofit/>
                    </a:bodyPr>
                    <a:lstStyle/>
                    <a:p>
                      <a:pPr algn="ctr"/>
                      <a:r>
                        <a:rPr sz="1200" noProof="1">
                          <a:solidFill>
                            <a:srgbClr val="0F172A"/>
                          </a:solidFill>
                          <a:latin typeface="QuattrocentoSans"/>
                          <a:ea typeface="MiSans"/>
                        </a:rPr>
                        <a:t>0%</a:t>
                      </a:r>
                    </a:p>
                  </a:txBody>
                  <a:tcPr marL="91440" marR="91440" marT="0" marB="0" anchor="ctr">
                    <a:solidFill>
                      <a:srgbClr val="F1F5F9"/>
                    </a:solidFill>
                  </a:tcPr>
                </a:tc>
              </a:tr>
              <a:tr h="468629">
                <a:tc>
                  <a:txBody>
                    <a:bodyPr wrap="square" anchor="ctr">
                      <a:noAutofit/>
                    </a:bodyPr>
                    <a:lstStyle/>
                    <a:p>
                      <a:pPr algn="ctr"/>
                      <a:r>
                        <a:rPr sz="1200" noProof="1">
                          <a:solidFill>
                            <a:srgbClr val="0F172A"/>
                          </a:solidFill>
                          <a:latin typeface="QuattrocentoSans"/>
                          <a:ea typeface="MiSans"/>
                        </a:rPr>
                        <a:t>平均速度</a:t>
                      </a:r>
                    </a:p>
                  </a:txBody>
                  <a:tcPr marL="91440" marR="91440" marT="0" marB="0" anchor="ctr">
                    <a:solidFill>
                      <a:srgbClr val="FFFFFF"/>
                    </a:solidFill>
                  </a:tcPr>
                </a:tc>
                <a:tc>
                  <a:txBody>
                    <a:bodyPr wrap="square" anchor="ctr">
                      <a:noAutofit/>
                    </a:bodyPr>
                    <a:lstStyle/>
                    <a:p>
                      <a:pPr algn="ctr"/>
                      <a:r>
                        <a:rPr sz="1200" noProof="1">
                          <a:solidFill>
                            <a:srgbClr val="0F172A"/>
                          </a:solidFill>
                          <a:latin typeface="QuattrocentoSans"/>
                          <a:ea typeface="MiSans"/>
                        </a:rPr>
                        <a:t>1h7m/样本</a:t>
                      </a:r>
                    </a:p>
                  </a:txBody>
                  <a:tcPr marL="91440" marR="91440" marT="0" marB="0" anchor="ctr">
                    <a:solidFill>
                      <a:srgbClr val="FFFFFF"/>
                    </a:solidFill>
                  </a:tcPr>
                </a:tc>
                <a:tc>
                  <a:txBody>
                    <a:bodyPr wrap="square" anchor="ctr">
                      <a:noAutofit/>
                    </a:bodyPr>
                    <a:lstStyle/>
                    <a:p>
                      <a:pPr algn="ctr"/>
                      <a:r>
                        <a:rPr sz="1200" noProof="1">
                          <a:solidFill>
                            <a:srgbClr val="0F172A"/>
                          </a:solidFill>
                          <a:latin typeface="QuattrocentoSans"/>
                          <a:ea typeface="MiSans"/>
                        </a:rPr>
                        <a:t>7.5x 慢</a:t>
                      </a:r>
                    </a:p>
                  </a:txBody>
                  <a:tcPr marL="91440" marR="91440" marT="0" marB="0" anchor="ctr">
                    <a:solidFill>
                      <a:srgbClr val="FFFFFF"/>
                    </a:solidFill>
                  </a:tcPr>
                </a:tc>
                <a:tc>
                  <a:txBody>
                    <a:bodyPr wrap="square" anchor="ctr">
                      <a:noAutofit/>
                    </a:bodyPr>
                    <a:lstStyle/>
                    <a:p>
                      <a:pPr algn="ctr"/>
                      <a:r>
                        <a:rPr sz="1200" noProof="1">
                          <a:solidFill>
                            <a:srgbClr val="0F172A"/>
                          </a:solidFill>
                          <a:latin typeface="QuattrocentoSans"/>
                          <a:ea typeface="MiSans"/>
                        </a:rPr>
                        <a:t>3.8x 慢</a:t>
                      </a:r>
                    </a:p>
                  </a:txBody>
                  <a:tcPr marL="91440" marR="91440" marT="0" marB="0" anchor="ctr">
                    <a:solidFill>
                      <a:srgbClr val="FFFFFF"/>
                    </a:solidFill>
                  </a:tcPr>
                </a:tc>
              </a:tr>
              <a:tr h="468629">
                <a:tc>
                  <a:txBody>
                    <a:bodyPr wrap="square" anchor="ctr">
                      <a:noAutofit/>
                    </a:bodyPr>
                    <a:lstStyle/>
                    <a:p>
                      <a:pPr algn="ctr"/>
                      <a:r>
                        <a:rPr sz="1200" noProof="1">
                          <a:solidFill>
                            <a:srgbClr val="0F172A"/>
                          </a:solidFill>
                          <a:latin typeface="QuattrocentoSans"/>
                          <a:ea typeface="MiSans"/>
                        </a:rPr>
                        <a:t>N-day 发现</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F1F5F9"/>
                    </a:solidFill>
                  </a:tcPr>
                </a:tc>
                <a:tc>
                  <a:txBody>
                    <a:bodyPr wrap="square" anchor="ctr">
                      <a:noAutofit/>
                    </a:bodyPr>
                    <a:lstStyle/>
                    <a:p>
                      <a:pPr algn="ctr"/>
                      <a:r>
                        <a:rPr sz="1200" noProof="1">
                          <a:solidFill>
                            <a:srgbClr val="0F172A"/>
                          </a:solidFill>
                          <a:latin typeface="QuattrocentoSans"/>
                          <a:ea typeface="MiSans"/>
                        </a:rPr>
                        <a:t>204</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F1F5F9"/>
                    </a:solidFill>
                  </a:tcPr>
                </a:tc>
                <a:tc>
                  <a:txBody>
                    <a:bodyPr wrap="square" anchor="ctr">
                      <a:noAutofit/>
                    </a:bodyPr>
                    <a:lstStyle/>
                    <a:p>
                      <a:pPr algn="ctr"/>
                      <a:r>
                        <a:rPr sz="1200" noProof="1">
                          <a:solidFill>
                            <a:srgbClr val="0F172A"/>
                          </a:solidFill>
                          <a:latin typeface="QuattrocentoSans"/>
                          <a:ea typeface="MiSans"/>
                        </a:rPr>
                        <a:t>138</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F1F5F9"/>
                    </a:solidFill>
                  </a:tcPr>
                </a:tc>
                <a:tc>
                  <a:txBody>
                    <a:bodyPr wrap="square" anchor="ctr">
                      <a:noAutofit/>
                    </a:bodyPr>
                    <a:lstStyle/>
                    <a:p>
                      <a:pPr algn="ctr"/>
                      <a:r>
                        <a:rPr sz="1200" noProof="1">
                          <a:solidFill>
                            <a:srgbClr val="0F172A"/>
                          </a:solidFill>
                          <a:latin typeface="QuattrocentoSans"/>
                          <a:ea typeface="MiSans"/>
                        </a:rPr>
                        <a:t>—</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F1F5F9"/>
                    </a:solidFill>
                  </a:tcPr>
                </a:tc>
              </a:tr>
            </a:tbl>
          </a:graphicData>
        </a:graphic>
      </p:graphicFrame>
      <p:sp>
        <p:nvSpPr>
          <p:cNvPr id="15" name="dsl:results-note|s=$body"/>
          <p:cNvSpPr txBox="1"/>
          <p:nvPr/>
        </p:nvSpPr>
        <p:spPr>
          <a:xfrm>
            <a:off x="7620000" y="1409700"/>
            <a:ext cx="4000500" cy="2286000"/>
          </a:xfrm>
          <a:prstGeom prst="rect">
            <a:avLst/>
          </a:prstGeom>
          <a:noFill/>
        </p:spPr>
        <p:txBody>
          <a:bodyPr wrap="square" anchor="t">
            <a:noAutofit/>
          </a:bodyPr>
          <a:lstStyle/>
          <a:p>
            <a:pPr algn="l">
              <a:lnSpc>
                <a:spcPct val="160000"/>
              </a:lnSpc>
            </a:pPr>
            <a:r>
              <a:rPr b="1" sz="1350" noProof="1">
                <a:solidFill>
                  <a:srgbClr val="0F172A"/>
                </a:solidFill>
                <a:latin typeface="QuattrocentoSans"/>
                <a:ea typeface="MiSans"/>
              </a:rPr>
              <a:t>关键发现</a:t>
            </a:r>
          </a:p>
          <a:p>
            <a:pPr algn="l">
              <a:lnSpc>
                <a:spcPct val="160000"/>
              </a:lnSpc>
            </a:pPr>
            <a:r>
              <a:rPr sz="1350" noProof="1">
                <a:solidFill>
                  <a:srgbClr val="0F172A"/>
                </a:solidFill>
                <a:latin typeface="QuattrocentoSans"/>
                <a:ea typeface="MiSans"/>
              </a:rPr>
              <a:t>30个最新固件上发现163个漏洞，其中87个未知、76个已知未修补。</a:t>
            </a:r>
          </a:p>
          <a:p>
            <a:pPr algn="l">
              <a:lnSpc>
                <a:spcPct val="160000"/>
              </a:lnSpc>
            </a:pPr>
            <a:r>
              <a:rPr sz="1350" noProof="1">
                <a:solidFill>
                  <a:srgbClr val="0F172A"/>
                </a:solidFill>
                <a:latin typeface="QuattrocentoSans"/>
                <a:ea typeface="MiSans"/>
              </a:rPr>
              <a:t>N-day数据集上发现204个已知漏洞，TPR达79%。</a:t>
            </a:r>
          </a:p>
        </p:txBody>
      </p:sp>
      <p:sp>
        <p:nvSpPr>
          <p:cNvPr id="16" name="dsl:eval-bar"/>
          <p:cNvSpPr/>
          <p:nvPr/>
        </p:nvSpPr>
        <p:spPr>
          <a:xfrm>
            <a:off x="571500" y="390525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eval-subtitle|s=$subtitle"/>
          <p:cNvSpPr txBox="1"/>
          <p:nvPr/>
        </p:nvSpPr>
        <p:spPr>
          <a:xfrm>
            <a:off x="685800" y="388620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文章评价</a:t>
            </a:r>
          </a:p>
        </p:txBody>
      </p:sp>
      <p:sp>
        <p:nvSpPr>
          <p:cNvPr id="18" name="dsl:eval1-bar"/>
          <p:cNvSpPr/>
          <p:nvPr/>
        </p:nvSpPr>
        <p:spPr>
          <a:xfrm>
            <a:off x="571500" y="4305300"/>
            <a:ext cx="38100" cy="2286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eval1-subtitle"/>
          <p:cNvSpPr txBox="1"/>
          <p:nvPr/>
        </p:nvSpPr>
        <p:spPr>
          <a:xfrm>
            <a:off x="685800" y="4286250"/>
            <a:ext cx="3314700" cy="266700"/>
          </a:xfrm>
          <a:prstGeom prst="rect">
            <a:avLst/>
          </a:prstGeom>
          <a:noFill/>
        </p:spPr>
        <p:txBody>
          <a:bodyPr wrap="none" anchor="ctr">
            <a:noAutofit/>
          </a:bodyPr>
          <a:lstStyle/>
          <a:p>
            <a:pPr algn="l"/>
            <a:r>
              <a:rPr b="1" sz="1350" noProof="1">
                <a:solidFill>
                  <a:srgbClr val="059669"/>
                </a:solidFill>
                <a:latin typeface="QuattrocentoSans"/>
                <a:ea typeface="MiSans"/>
              </a:rPr>
              <a:t>优势</a:t>
            </a:r>
          </a:p>
        </p:txBody>
      </p:sp>
      <p:sp>
        <p:nvSpPr>
          <p:cNvPr id="20" name="dsl:eval1-body|s=$body"/>
          <p:cNvSpPr txBox="1"/>
          <p:nvPr/>
        </p:nvSpPr>
        <p:spPr>
          <a:xfrm>
            <a:off x="571500" y="4629150"/>
            <a:ext cx="3429000" cy="152400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系统性补齐了Source模糊匹配、跨库CFG与轻量数据流三类关键缺口。适合大规模固件扫描，作为高速静态引擎具有工程价值。</a:t>
            </a:r>
          </a:p>
        </p:txBody>
      </p:sp>
      <p:sp>
        <p:nvSpPr>
          <p:cNvPr id="21" name="dsl:eval2-bar"/>
          <p:cNvSpPr/>
          <p:nvPr/>
        </p:nvSpPr>
        <p:spPr>
          <a:xfrm>
            <a:off x="4191000" y="4305300"/>
            <a:ext cx="38100" cy="2286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eval2-subtitle"/>
          <p:cNvSpPr txBox="1"/>
          <p:nvPr/>
        </p:nvSpPr>
        <p:spPr>
          <a:xfrm>
            <a:off x="4305300" y="4286250"/>
            <a:ext cx="3314700" cy="266700"/>
          </a:xfrm>
          <a:prstGeom prst="rect">
            <a:avLst/>
          </a:prstGeom>
          <a:noFill/>
        </p:spPr>
        <p:txBody>
          <a:bodyPr wrap="none" anchor="ctr">
            <a:noAutofit/>
          </a:bodyPr>
          <a:lstStyle/>
          <a:p>
            <a:pPr algn="l"/>
            <a:r>
              <a:rPr b="1" sz="1350" noProof="1">
                <a:solidFill>
                  <a:srgbClr val="DC2626"/>
                </a:solidFill>
                <a:latin typeface="QuattrocentoSans"/>
                <a:ea typeface="MiSans"/>
              </a:rPr>
              <a:t>局限</a:t>
            </a:r>
          </a:p>
        </p:txBody>
      </p:sp>
      <p:sp>
        <p:nvSpPr>
          <p:cNvPr id="23" name="dsl:eval2-body|s=$body"/>
          <p:cNvSpPr txBox="1"/>
          <p:nvPr/>
        </p:nvSpPr>
        <p:spPr>
          <a:xfrm>
            <a:off x="4191000" y="4629150"/>
            <a:ext cx="3429000" cy="152400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① RDA路径不敏感特性仍可能带来误报；② BERT相似度可能引入语义噪声。</a:t>
            </a:r>
          </a:p>
        </p:txBody>
      </p:sp>
      <p:sp>
        <p:nvSpPr>
          <p:cNvPr id="24" name="dsl:eval3-bar"/>
          <p:cNvSpPr/>
          <p:nvPr/>
        </p:nvSpPr>
        <p:spPr>
          <a:xfrm>
            <a:off x="7810500" y="4305300"/>
            <a:ext cx="38100" cy="228600"/>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eval3-subtitle"/>
          <p:cNvSpPr txBox="1"/>
          <p:nvPr/>
        </p:nvSpPr>
        <p:spPr>
          <a:xfrm>
            <a:off x="7924800" y="4286250"/>
            <a:ext cx="3314700" cy="266700"/>
          </a:xfrm>
          <a:prstGeom prst="rect">
            <a:avLst/>
          </a:prstGeom>
          <a:noFill/>
        </p:spPr>
        <p:txBody>
          <a:bodyPr wrap="none" anchor="ctr">
            <a:noAutofit/>
          </a:bodyPr>
          <a:lstStyle/>
          <a:p>
            <a:pPr algn="l"/>
            <a:r>
              <a:rPr b="1" sz="1350" noProof="1">
                <a:solidFill>
                  <a:srgbClr val="64748B"/>
                </a:solidFill>
                <a:latin typeface="QuattrocentoSans"/>
                <a:ea typeface="MiSans"/>
              </a:rPr>
              <a:t>商业化</a:t>
            </a:r>
          </a:p>
        </p:txBody>
      </p:sp>
      <p:sp>
        <p:nvSpPr>
          <p:cNvPr id="26" name="dsl:eval3-body|s=$body"/>
          <p:cNvSpPr txBox="1"/>
          <p:nvPr/>
        </p:nvSpPr>
        <p:spPr>
          <a:xfrm>
            <a:off x="7810500" y="4629150"/>
            <a:ext cx="3429000" cy="152400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适合作为固件安全平台的高速静态引擎。但在Source识别方面，建议参考同一类目的后续技术。</a:t>
            </a:r>
          </a:p>
        </p:txBody>
      </p:sp>
      <p:sp>
        <p:nvSpPr>
          <p:cNvPr id="27" name="dsl:footer-left|s=$caption"/>
          <p:cNvSpPr txBox="1"/>
          <p:nvPr/>
        </p:nvSpPr>
        <p:spPr>
          <a:xfrm>
            <a:off x="571500" y="6572250"/>
            <a:ext cx="3810000" cy="1905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网络设备Web服务安全研究</a:t>
            </a:r>
          </a:p>
        </p:txBody>
      </p:sp>
      <p:sp>
        <p:nvSpPr>
          <p:cNvPr id="28" name="dsl:footer-right|s=$caption"/>
          <p:cNvSpPr txBox="1"/>
          <p:nvPr/>
        </p:nvSpPr>
        <p:spPr>
          <a:xfrm>
            <a:off x="10477500" y="6572250"/>
            <a:ext cx="1143000" cy="190500"/>
          </a:xfrm>
          <a:prstGeom prst="rect">
            <a:avLst/>
          </a:prstGeom>
          <a:noFill/>
        </p:spPr>
        <p:txBody>
          <a:bodyPr wrap="none" anchor="ctr">
            <a:noAutofit/>
          </a:bodyPr>
          <a:lstStyle/>
          <a:p>
            <a:pPr algn="r">
              <a:lnSpc>
                <a:spcPct val="140000"/>
              </a:lnSpc>
            </a:pPr>
            <a:r>
              <a:rPr sz="1050" noProof="1">
                <a:solidFill>
                  <a:srgbClr val="64748B"/>
                </a:solidFill>
                <a:latin typeface="QuattrocentoSans"/>
                <a:ea typeface="MiSans"/>
              </a:rPr>
              <a:t>8 / 37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dsl:nav-bg"/>
          <p:cNvSpPr/>
          <p:nvPr/>
        </p:nvSpPr>
        <p:spPr>
          <a:xfrm>
            <a:off x="0" y="0"/>
            <a:ext cx="12192000" cy="381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
          <p:cNvSpPr/>
          <p:nvPr/>
        </p:nvSpPr>
        <p:spPr>
          <a:xfrm>
            <a:off x="0" y="0"/>
            <a:ext cx="3048000" cy="3810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t1|s=$nav"/>
          <p:cNvSpPr txBox="1"/>
          <p:nvPr/>
        </p:nvSpPr>
        <p:spPr>
          <a:xfrm>
            <a:off x="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维度一: Source</a:t>
            </a:r>
          </a:p>
        </p:txBody>
      </p:sp>
      <p:sp>
        <p:nvSpPr>
          <p:cNvPr id="5" name="dsl:nav-t2|s=$nav"/>
          <p:cNvSpPr txBox="1"/>
          <p:nvPr/>
        </p:nvSpPr>
        <p:spPr>
          <a:xfrm>
            <a:off x="3048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维度二: Propagation</a:t>
            </a:r>
          </a:p>
        </p:txBody>
      </p:sp>
      <p:sp>
        <p:nvSpPr>
          <p:cNvPr id="6" name="dsl:nav-t3|s=$nav"/>
          <p:cNvSpPr txBox="1"/>
          <p:nvPr/>
        </p:nvSpPr>
        <p:spPr>
          <a:xfrm>
            <a:off x="6096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维度三: Sink</a:t>
            </a:r>
          </a:p>
        </p:txBody>
      </p:sp>
      <p:sp>
        <p:nvSpPr>
          <p:cNvPr id="7" name="dsl:nav-t4|s=$nav"/>
          <p:cNvSpPr txBox="1"/>
          <p:nvPr/>
        </p:nvSpPr>
        <p:spPr>
          <a:xfrm>
            <a:off x="9144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维度四: Verification</a:t>
            </a:r>
          </a:p>
        </p:txBody>
      </p:sp>
      <p:sp>
        <p:nvSpPr>
          <p:cNvPr id="8" name="dsl:nav-line"/>
          <p:cNvSpPr/>
          <p:nvPr/>
        </p:nvSpPr>
        <p:spPr>
          <a:xfrm>
            <a:off x="0" y="381000"/>
            <a:ext cx="12192000" cy="1905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page-title|s=$title"/>
          <p:cNvSpPr txBox="1"/>
          <p:nvPr/>
        </p:nvSpPr>
        <p:spPr>
          <a:xfrm>
            <a:off x="571500" y="514350"/>
            <a:ext cx="8382000" cy="381000"/>
          </a:xfrm>
          <a:prstGeom prst="rect">
            <a:avLst/>
          </a:prstGeom>
          <a:noFill/>
        </p:spPr>
        <p:txBody>
          <a:bodyPr wrap="none" anchor="ctr">
            <a:noAutofit/>
          </a:bodyPr>
          <a:lstStyle/>
          <a:p>
            <a:pPr algn="l">
              <a:lnSpc>
                <a:spcPct val="130000"/>
              </a:lnSpc>
            </a:pPr>
            <a:r>
              <a:rPr sz="2100" noProof="1">
                <a:solidFill>
                  <a:srgbClr val="1E293B"/>
                </a:solidFill>
                <a:latin typeface="QuattrocentoSans"/>
                <a:ea typeface="MiSans"/>
              </a:rPr>
              <a:t>LARA — URI-Key结构化与LLM语义分析</a:t>
            </a:r>
          </a:p>
        </p:txBody>
      </p:sp>
      <p:sp>
        <p:nvSpPr>
          <p:cNvPr id="10" name="dsl:badge-bg"/>
          <p:cNvSpPr/>
          <p:nvPr/>
        </p:nvSpPr>
        <p:spPr>
          <a:xfrm>
            <a:off x="10001250" y="552450"/>
            <a:ext cx="1619250" cy="266700"/>
          </a:xfrm>
          <a:prstGeom prst="roundRect">
            <a:avLst>
              <a:gd name="adj" fmla="val 8000"/>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badge-text|s=$badge"/>
          <p:cNvSpPr txBox="1"/>
          <p:nvPr/>
        </p:nvSpPr>
        <p:spPr>
          <a:xfrm>
            <a:off x="10001250" y="552450"/>
            <a:ext cx="1619250" cy="2667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USENIX Security 2024</a:t>
            </a:r>
          </a:p>
        </p:txBody>
      </p:sp>
      <p:sp>
        <p:nvSpPr>
          <p:cNvPr id="12" name="dsl:left-bar-1"/>
          <p:cNvSpPr/>
          <p:nvPr/>
        </p:nvSpPr>
        <p:spPr>
          <a:xfrm>
            <a:off x="5715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left-subtitle-1|s=$subtitle"/>
          <p:cNvSpPr txBox="1"/>
          <p:nvPr/>
        </p:nvSpPr>
        <p:spPr>
          <a:xfrm>
            <a:off x="6858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内容摘要</a:t>
            </a:r>
          </a:p>
        </p:txBody>
      </p:sp>
      <p:sp>
        <p:nvSpPr>
          <p:cNvPr id="14" name="dsl:left-body-1|s=$body"/>
          <p:cNvSpPr txBox="1"/>
          <p:nvPr/>
        </p:nvSpPr>
        <p:spPr>
          <a:xfrm>
            <a:off x="571500" y="1352550"/>
            <a:ext cx="3429000" cy="18097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首次提出融合URI-Key结构化建模与LLM代码语义理解的Web输入源识别方法。将输入结构化为URI和Key的映射，通过模式匹配与LLM交叉验证识别隐藏输入，执行键值敏感污点分析。</a:t>
            </a:r>
          </a:p>
        </p:txBody>
      </p:sp>
      <p:sp>
        <p:nvSpPr>
          <p:cNvPr id="15" name="dsl:left-bar-2"/>
          <p:cNvSpPr/>
          <p:nvPr/>
        </p:nvSpPr>
        <p:spPr>
          <a:xfrm>
            <a:off x="571500" y="3314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left-subtitle-2|s=$subtitle"/>
          <p:cNvSpPr txBox="1"/>
          <p:nvPr/>
        </p:nvSpPr>
        <p:spPr>
          <a:xfrm>
            <a:off x="685800" y="3295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研究背景</a:t>
            </a:r>
          </a:p>
        </p:txBody>
      </p:sp>
      <p:sp>
        <p:nvSpPr>
          <p:cNvPr id="17" name="dsl:left-body-2|s=$body"/>
          <p:cNvSpPr txBox="1"/>
          <p:nvPr/>
        </p:nvSpPr>
        <p:spPr>
          <a:xfrm>
            <a:off x="571500" y="3638550"/>
            <a:ext cx="3429000" cy="21907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现有技术依赖精确匹配，遗漏隐藏Key且产生语义误报。缺乏代码上下文理解导致大量漏报和误判。传统模式匹配无法理解代码语义，只要参数中包含类似关键字即被错误标记。</a:t>
            </a:r>
          </a:p>
        </p:txBody>
      </p:sp>
      <p:sp>
        <p:nvSpPr>
          <p:cNvPr id="18" name="dsl:mid-bar-1"/>
          <p:cNvSpPr/>
          <p:nvPr/>
        </p:nvSpPr>
        <p:spPr>
          <a:xfrm>
            <a:off x="41910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mid-subtitle-1|s=$subtitle"/>
          <p:cNvSpPr txBox="1"/>
          <p:nvPr/>
        </p:nvSpPr>
        <p:spPr>
          <a:xfrm>
            <a:off x="43053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核心洞察</a:t>
            </a:r>
          </a:p>
        </p:txBody>
      </p:sp>
      <p:sp>
        <p:nvSpPr>
          <p:cNvPr id="20" name="dsl:mid-body-1|s=$body"/>
          <p:cNvSpPr txBox="1"/>
          <p:nvPr/>
        </p:nvSpPr>
        <p:spPr>
          <a:xfrm>
            <a:off x="4191000" y="1352550"/>
            <a:ext cx="3429000" cy="209550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Insight 1: 用户输入可结构化分类为"URI-Key"二元结构，利用已知URI可推导出隐藏Key。</a:t>
            </a:r>
          </a:p>
          <a:p>
            <a:pPr algn="l">
              <a:lnSpc>
                <a:spcPct val="160000"/>
              </a:lnSpc>
            </a:pPr>
            <a:r>
              <a:rPr sz="1350" noProof="1">
                <a:solidFill>
                  <a:srgbClr val="0F172A"/>
                </a:solidFill>
                <a:latin typeface="QuattrocentoSans"/>
                <a:ea typeface="MiSans"/>
              </a:rPr>
              <a:t>Insight 2: LLM辅助语义理解，模式匹配与LLM误报原因正交，取交集可过滤语义误报。</a:t>
            </a:r>
          </a:p>
        </p:txBody>
      </p:sp>
      <p:sp>
        <p:nvSpPr>
          <p:cNvPr id="21" name="dsl:mid-bar-2"/>
          <p:cNvSpPr/>
          <p:nvPr/>
        </p:nvSpPr>
        <p:spPr>
          <a:xfrm>
            <a:off x="4191000" y="35433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mid-subtitle-2|s=$subtitle"/>
          <p:cNvSpPr txBox="1"/>
          <p:nvPr/>
        </p:nvSpPr>
        <p:spPr>
          <a:xfrm>
            <a:off x="4305300" y="35242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解决方案</a:t>
            </a:r>
          </a:p>
        </p:txBody>
      </p:sp>
      <p:sp>
        <p:nvSpPr>
          <p:cNvPr id="23" name="dsl:mid-body-2|s=$body"/>
          <p:cNvSpPr txBox="1"/>
          <p:nvPr/>
        </p:nvSpPr>
        <p:spPr>
          <a:xfrm>
            <a:off x="4191000" y="3848100"/>
            <a:ext cx="3429000" cy="23812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1. 预处理：提取前端文件和后端程序，正则和AST提取初始URI和Key。</a:t>
            </a:r>
          </a:p>
          <a:p>
            <a:pPr algn="l">
              <a:lnSpc>
                <a:spcPct val="160000"/>
              </a:lnSpc>
            </a:pPr>
            <a:r>
              <a:rPr sz="1350" noProof="1">
                <a:solidFill>
                  <a:srgbClr val="0F172A"/>
                </a:solidFill>
                <a:latin typeface="QuattrocentoSans"/>
                <a:ea typeface="MiSans"/>
              </a:rPr>
              <a:t>2. 污点源提取：模式匹配+LLM辅助定位URI和Key处理函数。</a:t>
            </a:r>
          </a:p>
          <a:p>
            <a:pPr algn="l">
              <a:lnSpc>
                <a:spcPct val="160000"/>
              </a:lnSpc>
            </a:pPr>
            <a:r>
              <a:rPr sz="1350" noProof="1">
                <a:solidFill>
                  <a:srgbClr val="0F172A"/>
                </a:solidFill>
                <a:latin typeface="QuattrocentoSans"/>
                <a:ea typeface="MiSans"/>
              </a:rPr>
              <a:t>3. 汇聚点提取：递归提取危险函数及其多层包装函数。</a:t>
            </a:r>
          </a:p>
          <a:p>
            <a:pPr algn="l">
              <a:lnSpc>
                <a:spcPct val="160000"/>
              </a:lnSpc>
            </a:pPr>
            <a:r>
              <a:rPr sz="1350" noProof="1">
                <a:solidFill>
                  <a:srgbClr val="0F172A"/>
                </a:solidFill>
                <a:latin typeface="QuattrocentoSans"/>
                <a:ea typeface="MiSans"/>
              </a:rPr>
              <a:t>4. 污点分析：键值敏感前向静态分析。</a:t>
            </a:r>
          </a:p>
        </p:txBody>
      </p:sp>
      <p:sp>
        <p:nvSpPr>
          <p:cNvPr id="24" name="dsl:right-bar"/>
          <p:cNvSpPr/>
          <p:nvPr/>
        </p:nvSpPr>
        <p:spPr>
          <a:xfrm>
            <a:off x="78105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right-subtitle|s=$subtitle"/>
          <p:cNvSpPr txBox="1"/>
          <p:nvPr/>
        </p:nvSpPr>
        <p:spPr>
          <a:xfrm>
            <a:off x="79248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关键数据</a:t>
            </a:r>
          </a:p>
        </p:txBody>
      </p:sp>
      <p:sp>
        <p:nvSpPr>
          <p:cNvPr id="26" name="dsl:card1-bg"/>
          <p:cNvSpPr/>
          <p:nvPr/>
        </p:nvSpPr>
        <p:spPr>
          <a:xfrm>
            <a:off x="8001000" y="1428750"/>
            <a:ext cx="3238500" cy="1143000"/>
          </a:xfrm>
          <a:prstGeom prst="roundRect">
            <a:avLst>
              <a:gd name="adj" fmla="val 8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card1-num|s=$kpi"/>
          <p:cNvSpPr txBox="1"/>
          <p:nvPr/>
        </p:nvSpPr>
        <p:spPr>
          <a:xfrm>
            <a:off x="8191500" y="1571625"/>
            <a:ext cx="2857500" cy="400050"/>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5.4x</a:t>
            </a:r>
          </a:p>
        </p:txBody>
      </p:sp>
      <p:sp>
        <p:nvSpPr>
          <p:cNvPr id="28" name="dsl:card1-label|s=$caption"/>
          <p:cNvSpPr txBox="1"/>
          <p:nvPr/>
        </p:nvSpPr>
        <p:spPr>
          <a:xfrm>
            <a:off x="8191500" y="2047875"/>
            <a:ext cx="2857500" cy="2286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URI 提取提升（vs SaTC）</a:t>
            </a:r>
          </a:p>
        </p:txBody>
      </p:sp>
      <p:sp>
        <p:nvSpPr>
          <p:cNvPr id="29" name="dsl:card2-bg"/>
          <p:cNvSpPr/>
          <p:nvPr/>
        </p:nvSpPr>
        <p:spPr>
          <a:xfrm>
            <a:off x="8001000" y="2762250"/>
            <a:ext cx="3238500" cy="1143000"/>
          </a:xfrm>
          <a:prstGeom prst="roundRect">
            <a:avLst>
              <a:gd name="adj" fmla="val 8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sl:card2-num|s=$kpi"/>
          <p:cNvSpPr txBox="1"/>
          <p:nvPr/>
        </p:nvSpPr>
        <p:spPr>
          <a:xfrm>
            <a:off x="8191500" y="2905125"/>
            <a:ext cx="2857500" cy="400050"/>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556</a:t>
            </a:r>
          </a:p>
        </p:txBody>
      </p:sp>
      <p:sp>
        <p:nvSpPr>
          <p:cNvPr id="31" name="dsl:card2-label|s=$caption"/>
          <p:cNvSpPr txBox="1"/>
          <p:nvPr/>
        </p:nvSpPr>
        <p:spPr>
          <a:xfrm>
            <a:off x="8191500" y="3381375"/>
            <a:ext cx="2857500" cy="2286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多发现漏洞（vs SaTC）</a:t>
            </a:r>
          </a:p>
        </p:txBody>
      </p:sp>
      <p:sp>
        <p:nvSpPr>
          <p:cNvPr id="32" name="dsl:card3-bg"/>
          <p:cNvSpPr/>
          <p:nvPr/>
        </p:nvSpPr>
        <p:spPr>
          <a:xfrm>
            <a:off x="8001000" y="4095750"/>
            <a:ext cx="3238500" cy="1143000"/>
          </a:xfrm>
          <a:prstGeom prst="roundRect">
            <a:avLst>
              <a:gd name="adj" fmla="val 8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sl:card3-num|s=$kpi"/>
          <p:cNvSpPr txBox="1"/>
          <p:nvPr/>
        </p:nvSpPr>
        <p:spPr>
          <a:xfrm>
            <a:off x="8191500" y="4238625"/>
            <a:ext cx="2857500" cy="400050"/>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245</a:t>
            </a:r>
          </a:p>
        </p:txBody>
      </p:sp>
      <p:sp>
        <p:nvSpPr>
          <p:cNvPr id="34" name="dsl:card3-label|s=$caption"/>
          <p:cNvSpPr txBox="1"/>
          <p:nvPr/>
        </p:nvSpPr>
        <p:spPr>
          <a:xfrm>
            <a:off x="8191500" y="4714875"/>
            <a:ext cx="2857500" cy="2286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0-day 漏洞</a:t>
            </a:r>
          </a:p>
        </p:txBody>
      </p:sp>
      <p:sp>
        <p:nvSpPr>
          <p:cNvPr id="35" name="dsl:footer-left|s=$caption"/>
          <p:cNvSpPr txBox="1"/>
          <p:nvPr/>
        </p:nvSpPr>
        <p:spPr>
          <a:xfrm>
            <a:off x="571500" y="6572250"/>
            <a:ext cx="3810000" cy="1905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网络设备Web服务安全研究</a:t>
            </a:r>
          </a:p>
        </p:txBody>
      </p:sp>
      <p:sp>
        <p:nvSpPr>
          <p:cNvPr id="36" name="dsl:footer-right|s=$caption"/>
          <p:cNvSpPr txBox="1"/>
          <p:nvPr/>
        </p:nvSpPr>
        <p:spPr>
          <a:xfrm>
            <a:off x="10477500" y="6572250"/>
            <a:ext cx="1143000" cy="190500"/>
          </a:xfrm>
          <a:prstGeom prst="rect">
            <a:avLst/>
          </a:prstGeom>
          <a:noFill/>
        </p:spPr>
        <p:txBody>
          <a:bodyPr wrap="none" anchor="ctr">
            <a:noAutofit/>
          </a:bodyPr>
          <a:lstStyle/>
          <a:p>
            <a:pPr algn="r">
              <a:lnSpc>
                <a:spcPct val="140000"/>
              </a:lnSpc>
            </a:pPr>
            <a:r>
              <a:rPr sz="1050" noProof="1">
                <a:solidFill>
                  <a:srgbClr val="64748B"/>
                </a:solidFill>
                <a:latin typeface="QuattrocentoSans"/>
                <a:ea typeface="MiSans"/>
              </a:rPr>
              <a:t>9 / 37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dsl:nav-bg"/>
          <p:cNvSpPr/>
          <p:nvPr/>
        </p:nvSpPr>
        <p:spPr>
          <a:xfrm>
            <a:off x="0" y="0"/>
            <a:ext cx="12192000" cy="381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
          <p:cNvSpPr/>
          <p:nvPr/>
        </p:nvSpPr>
        <p:spPr>
          <a:xfrm>
            <a:off x="0" y="0"/>
            <a:ext cx="3048000" cy="3810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t1|s=$nav"/>
          <p:cNvSpPr txBox="1"/>
          <p:nvPr/>
        </p:nvSpPr>
        <p:spPr>
          <a:xfrm>
            <a:off x="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维度一: Source</a:t>
            </a:r>
          </a:p>
        </p:txBody>
      </p:sp>
      <p:sp>
        <p:nvSpPr>
          <p:cNvPr id="5" name="dsl:nav-t2|s=$nav"/>
          <p:cNvSpPr txBox="1"/>
          <p:nvPr/>
        </p:nvSpPr>
        <p:spPr>
          <a:xfrm>
            <a:off x="3048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维度二: Propagation</a:t>
            </a:r>
          </a:p>
        </p:txBody>
      </p:sp>
      <p:sp>
        <p:nvSpPr>
          <p:cNvPr id="6" name="dsl:nav-t3|s=$nav"/>
          <p:cNvSpPr txBox="1"/>
          <p:nvPr/>
        </p:nvSpPr>
        <p:spPr>
          <a:xfrm>
            <a:off x="6096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维度三: Sink</a:t>
            </a:r>
          </a:p>
        </p:txBody>
      </p:sp>
      <p:sp>
        <p:nvSpPr>
          <p:cNvPr id="7" name="dsl:nav-t4|s=$nav"/>
          <p:cNvSpPr txBox="1"/>
          <p:nvPr/>
        </p:nvSpPr>
        <p:spPr>
          <a:xfrm>
            <a:off x="9144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维度四: Verification</a:t>
            </a:r>
          </a:p>
        </p:txBody>
      </p:sp>
      <p:sp>
        <p:nvSpPr>
          <p:cNvPr id="8" name="dsl:nav-line"/>
          <p:cNvSpPr/>
          <p:nvPr/>
        </p:nvSpPr>
        <p:spPr>
          <a:xfrm>
            <a:off x="0" y="381000"/>
            <a:ext cx="12192000" cy="1905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page-title|s=$title"/>
          <p:cNvSpPr txBox="1"/>
          <p:nvPr/>
        </p:nvSpPr>
        <p:spPr>
          <a:xfrm>
            <a:off x="571500" y="514350"/>
            <a:ext cx="8382000" cy="381000"/>
          </a:xfrm>
          <a:prstGeom prst="rect">
            <a:avLst/>
          </a:prstGeom>
          <a:noFill/>
        </p:spPr>
        <p:txBody>
          <a:bodyPr wrap="none" anchor="ctr">
            <a:noAutofit/>
          </a:bodyPr>
          <a:lstStyle/>
          <a:p>
            <a:pPr algn="l">
              <a:lnSpc>
                <a:spcPct val="130000"/>
              </a:lnSpc>
            </a:pPr>
            <a:r>
              <a:rPr sz="2100" noProof="1">
                <a:solidFill>
                  <a:srgbClr val="1E293B"/>
                </a:solidFill>
                <a:latin typeface="QuattrocentoSans"/>
                <a:ea typeface="MiSans"/>
              </a:rPr>
              <a:t>LARA — 实验结果与文章评价</a:t>
            </a:r>
          </a:p>
        </p:txBody>
      </p:sp>
      <p:sp>
        <p:nvSpPr>
          <p:cNvPr id="10" name="dsl:badge-bg"/>
          <p:cNvSpPr/>
          <p:nvPr/>
        </p:nvSpPr>
        <p:spPr>
          <a:xfrm>
            <a:off x="10001250" y="552450"/>
            <a:ext cx="1619250" cy="266700"/>
          </a:xfrm>
          <a:prstGeom prst="roundRect">
            <a:avLst>
              <a:gd name="adj" fmla="val 8000"/>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badge-text|s=$badge"/>
          <p:cNvSpPr txBox="1"/>
          <p:nvPr/>
        </p:nvSpPr>
        <p:spPr>
          <a:xfrm>
            <a:off x="10001250" y="552450"/>
            <a:ext cx="1619250" cy="2667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USENIX Security 2024</a:t>
            </a:r>
          </a:p>
        </p:txBody>
      </p:sp>
      <p:sp>
        <p:nvSpPr>
          <p:cNvPr id="12" name="dsl:results-bar"/>
          <p:cNvSpPr/>
          <p:nvPr/>
        </p:nvSpPr>
        <p:spPr>
          <a:xfrm>
            <a:off x="5715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results-subtitle|s=$subtitle"/>
          <p:cNvSpPr txBox="1"/>
          <p:nvPr/>
        </p:nvSpPr>
        <p:spPr>
          <a:xfrm>
            <a:off x="6858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实验结果</a:t>
            </a:r>
          </a:p>
        </p:txBody>
      </p:sp>
      <p:graphicFrame>
        <p:nvGraphicFramePr>
          <p:cNvPr id="14" name="dsl:results-table"/>
          <p:cNvGraphicFramePr>
            <a:graphicFrameLocks noGrp="1"/>
          </p:cNvGraphicFramePr>
          <p:nvPr/>
        </p:nvGraphicFramePr>
        <p:xfrm>
          <a:off x="571500" y="1409700"/>
          <a:ext cx="4762500" cy="2666994"/>
        </p:xfrm>
        <a:graphic>
          <a:graphicData uri="http://schemas.openxmlformats.org/drawingml/2006/table">
            <a:tbl>
              <a:tblPr firstRow="0" bandRow="0" lastRow="0" firstCol="0" lastCol="0" bandCol="0">
                <a:tableStyleId>{2D5ABB26-0587-4C30-8999-92F81FD0307C}</a:tableStyleId>
              </a:tblPr>
              <a:tblGrid>
                <a:gridCol w="2381250"/>
                <a:gridCol w="2381250"/>
              </a:tblGrid>
              <a:tr h="346710">
                <a:tc>
                  <a:txBody>
                    <a:bodyPr wrap="square" anchor="ctr">
                      <a:noAutofit/>
                    </a:bodyPr>
                    <a:lstStyle/>
                    <a:p>
                      <a:pPr algn="ctr"/>
                      <a:r>
                        <a:rPr sz="1200" noProof="1" b="1">
                          <a:solidFill>
                            <a:srgbClr val="FFFFFF"/>
                          </a:solidFill>
                          <a:latin typeface="QuattrocentoSans"/>
                          <a:ea typeface="MiSans"/>
                        </a:rPr>
                        <a:t>关键指标</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1E293B"/>
                    </a:solidFill>
                  </a:tcPr>
                </a:tc>
                <a:tc>
                  <a:txBody>
                    <a:bodyPr wrap="square" anchor="ctr">
                      <a:noAutofit/>
                    </a:bodyPr>
                    <a:lstStyle/>
                    <a:p>
                      <a:pPr algn="ctr"/>
                      <a:r>
                        <a:rPr sz="1200" noProof="1" b="1">
                          <a:solidFill>
                            <a:srgbClr val="FFFFFF"/>
                          </a:solidFill>
                          <a:latin typeface="QuattrocentoSans"/>
                          <a:ea typeface="MiSans"/>
                        </a:rPr>
                        <a:t>数值</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1E293B"/>
                    </a:solidFill>
                  </a:tcPr>
                </a:tc>
              </a:tr>
              <a:tr h="386714">
                <a:tc>
                  <a:txBody>
                    <a:bodyPr wrap="square" anchor="ctr">
                      <a:noAutofit/>
                    </a:bodyPr>
                    <a:lstStyle/>
                    <a:p>
                      <a:pPr algn="ctr"/>
                      <a:r>
                        <a:rPr sz="1200" noProof="1">
                          <a:solidFill>
                            <a:srgbClr val="0F172A"/>
                          </a:solidFill>
                          <a:latin typeface="QuattrocentoSans"/>
                          <a:ea typeface="MiSans"/>
                        </a:rPr>
                        <a:t>设备固件</a:t>
                      </a:r>
                    </a:p>
                  </a:txBody>
                  <a:tcPr marL="91440" marR="91440" marT="0" marB="0" anchor="ctr">
                    <a:solidFill>
                      <a:srgbClr val="FFFFFF"/>
                    </a:solidFill>
                  </a:tcPr>
                </a:tc>
                <a:tc>
                  <a:txBody>
                    <a:bodyPr wrap="square" anchor="ctr">
                      <a:noAutofit/>
                    </a:bodyPr>
                    <a:lstStyle/>
                    <a:p>
                      <a:pPr algn="ctr"/>
                      <a:r>
                        <a:rPr sz="1200" noProof="1">
                          <a:solidFill>
                            <a:srgbClr val="0F172A"/>
                          </a:solidFill>
                          <a:latin typeface="QuattrocentoSans"/>
                          <a:ea typeface="MiSans"/>
                        </a:rPr>
                        <a:t>203 款</a:t>
                      </a:r>
                    </a:p>
                  </a:txBody>
                  <a:tcPr marL="91440" marR="91440" marT="0" marB="0" anchor="ctr">
                    <a:solidFill>
                      <a:srgbClr val="FFFFFF"/>
                    </a:solidFill>
                  </a:tcPr>
                </a:tc>
              </a:tr>
              <a:tr h="386714">
                <a:tc>
                  <a:txBody>
                    <a:bodyPr wrap="square" anchor="ctr">
                      <a:noAutofit/>
                    </a:bodyPr>
                    <a:lstStyle/>
                    <a:p>
                      <a:pPr algn="ctr"/>
                      <a:r>
                        <a:rPr sz="1200" noProof="1">
                          <a:solidFill>
                            <a:srgbClr val="0F172A"/>
                          </a:solidFill>
                          <a:latin typeface="QuattrocentoSans"/>
                          <a:ea typeface="MiSans"/>
                        </a:rPr>
                        <a:t>URI 提取提升</a:t>
                      </a:r>
                    </a:p>
                  </a:txBody>
                  <a:tcPr marL="91440" marR="91440" marT="0" marB="0" anchor="ctr">
                    <a:solidFill>
                      <a:srgbClr val="F1F5F9"/>
                    </a:solidFill>
                  </a:tcPr>
                </a:tc>
                <a:tc>
                  <a:txBody>
                    <a:bodyPr wrap="square" anchor="ctr">
                      <a:noAutofit/>
                    </a:bodyPr>
                    <a:lstStyle/>
                    <a:p>
                      <a:pPr algn="ctr"/>
                      <a:r>
                        <a:rPr sz="1200" noProof="1">
                          <a:solidFill>
                            <a:srgbClr val="0F172A"/>
                          </a:solidFill>
                          <a:latin typeface="QuattrocentoSans"/>
                          <a:ea typeface="MiSans"/>
                        </a:rPr>
                        <a:t>5.4x</a:t>
                      </a:r>
                    </a:p>
                  </a:txBody>
                  <a:tcPr marL="91440" marR="91440" marT="0" marB="0" anchor="ctr">
                    <a:solidFill>
                      <a:srgbClr val="F1F5F9"/>
                    </a:solidFill>
                  </a:tcPr>
                </a:tc>
              </a:tr>
              <a:tr h="386714">
                <a:tc>
                  <a:txBody>
                    <a:bodyPr wrap="square" anchor="ctr">
                      <a:noAutofit/>
                    </a:bodyPr>
                    <a:lstStyle/>
                    <a:p>
                      <a:pPr algn="ctr"/>
                      <a:r>
                        <a:rPr sz="1200" noProof="1">
                          <a:solidFill>
                            <a:srgbClr val="0F172A"/>
                          </a:solidFill>
                          <a:latin typeface="QuattrocentoSans"/>
                          <a:ea typeface="MiSans"/>
                        </a:rPr>
                        <a:t>Key 提取提升</a:t>
                      </a:r>
                    </a:p>
                  </a:txBody>
                  <a:tcPr marL="91440" marR="91440" marT="0" marB="0" anchor="ctr">
                    <a:solidFill>
                      <a:srgbClr val="FFFFFF"/>
                    </a:solidFill>
                  </a:tcPr>
                </a:tc>
                <a:tc>
                  <a:txBody>
                    <a:bodyPr wrap="square" anchor="ctr">
                      <a:noAutofit/>
                    </a:bodyPr>
                    <a:lstStyle/>
                    <a:p>
                      <a:pPr algn="ctr"/>
                      <a:r>
                        <a:rPr sz="1200" noProof="1">
                          <a:solidFill>
                            <a:srgbClr val="0F172A"/>
                          </a:solidFill>
                          <a:latin typeface="QuattrocentoSans"/>
                          <a:ea typeface="MiSans"/>
                        </a:rPr>
                        <a:t>4.7x</a:t>
                      </a:r>
                    </a:p>
                  </a:txBody>
                  <a:tcPr marL="91440" marR="91440" marT="0" marB="0" anchor="ctr">
                    <a:solidFill>
                      <a:srgbClr val="FFFFFF"/>
                    </a:solidFill>
                  </a:tcPr>
                </a:tc>
              </a:tr>
              <a:tr h="386714">
                <a:tc>
                  <a:txBody>
                    <a:bodyPr wrap="square" anchor="ctr">
                      <a:noAutofit/>
                    </a:bodyPr>
                    <a:lstStyle/>
                    <a:p>
                      <a:pPr algn="ctr"/>
                      <a:r>
                        <a:rPr sz="1200" noProof="1">
                          <a:solidFill>
                            <a:srgbClr val="0F172A"/>
                          </a:solidFill>
                          <a:latin typeface="QuattrocentoSans"/>
                          <a:ea typeface="MiSans"/>
                        </a:rPr>
                        <a:t>误报率降低</a:t>
                      </a:r>
                    </a:p>
                  </a:txBody>
                  <a:tcPr marL="91440" marR="91440" marT="0" marB="0" anchor="ctr">
                    <a:solidFill>
                      <a:srgbClr val="F1F5F9"/>
                    </a:solidFill>
                  </a:tcPr>
                </a:tc>
                <a:tc>
                  <a:txBody>
                    <a:bodyPr wrap="square" anchor="ctr">
                      <a:noAutofit/>
                    </a:bodyPr>
                    <a:lstStyle/>
                    <a:p>
                      <a:pPr algn="ctr"/>
                      <a:r>
                        <a:rPr sz="1200" noProof="1">
                          <a:solidFill>
                            <a:srgbClr val="0F172A"/>
                          </a:solidFill>
                          <a:latin typeface="QuattrocentoSans"/>
                          <a:ea typeface="MiSans"/>
                        </a:rPr>
                        <a:t>57%</a:t>
                      </a:r>
                    </a:p>
                  </a:txBody>
                  <a:tcPr marL="91440" marR="91440" marT="0" marB="0" anchor="ctr">
                    <a:solidFill>
                      <a:srgbClr val="F1F5F9"/>
                    </a:solidFill>
                  </a:tcPr>
                </a:tc>
              </a:tr>
              <a:tr h="386714">
                <a:tc>
                  <a:txBody>
                    <a:bodyPr wrap="square" anchor="ctr">
                      <a:noAutofit/>
                    </a:bodyPr>
                    <a:lstStyle/>
                    <a:p>
                      <a:pPr algn="ctr"/>
                      <a:r>
                        <a:rPr sz="1200" noProof="1">
                          <a:solidFill>
                            <a:srgbClr val="0F172A"/>
                          </a:solidFill>
                          <a:latin typeface="QuattrocentoSans"/>
                          <a:ea typeface="MiSans"/>
                        </a:rPr>
                        <a:t>0-day 漏洞</a:t>
                      </a:r>
                    </a:p>
                  </a:txBody>
                  <a:tcPr marL="91440" marR="91440" marT="0" marB="0" anchor="ctr">
                    <a:solidFill>
                      <a:srgbClr val="FFFFFF"/>
                    </a:solidFill>
                  </a:tcPr>
                </a:tc>
                <a:tc>
                  <a:txBody>
                    <a:bodyPr wrap="square" anchor="ctr">
                      <a:noAutofit/>
                    </a:bodyPr>
                    <a:lstStyle/>
                    <a:p>
                      <a:pPr algn="ctr"/>
                      <a:r>
                        <a:rPr sz="1200" noProof="1">
                          <a:solidFill>
                            <a:srgbClr val="0F172A"/>
                          </a:solidFill>
                          <a:latin typeface="QuattrocentoSans"/>
                          <a:ea typeface="MiSans"/>
                        </a:rPr>
                        <a:t>245 个</a:t>
                      </a:r>
                    </a:p>
                  </a:txBody>
                  <a:tcPr marL="91440" marR="91440" marT="0" marB="0" anchor="ctr">
                    <a:solidFill>
                      <a:srgbClr val="FFFFFF"/>
                    </a:solidFill>
                  </a:tcPr>
                </a:tc>
              </a:tr>
              <a:tr h="386714">
                <a:tc>
                  <a:txBody>
                    <a:bodyPr wrap="square" anchor="ctr">
                      <a:noAutofit/>
                    </a:bodyPr>
                    <a:lstStyle/>
                    <a:p>
                      <a:pPr algn="ctr"/>
                      <a:r>
                        <a:rPr sz="1200" noProof="1">
                          <a:solidFill>
                            <a:srgbClr val="0F172A"/>
                          </a:solidFill>
                          <a:latin typeface="QuattrocentoSans"/>
                          <a:ea typeface="MiSans"/>
                        </a:rPr>
                        <a:t>CVE 编号</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F1F5F9"/>
                    </a:solidFill>
                  </a:tcPr>
                </a:tc>
                <a:tc>
                  <a:txBody>
                    <a:bodyPr wrap="square" anchor="ctr">
                      <a:noAutofit/>
                    </a:bodyPr>
                    <a:lstStyle/>
                    <a:p>
                      <a:pPr algn="ctr"/>
                      <a:r>
                        <a:rPr sz="1200" noProof="1">
                          <a:solidFill>
                            <a:srgbClr val="0F172A"/>
                          </a:solidFill>
                          <a:latin typeface="QuattrocentoSans"/>
                          <a:ea typeface="MiSans"/>
                        </a:rPr>
                        <a:t>162 个</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F1F5F9"/>
                    </a:solidFill>
                  </a:tcPr>
                </a:tc>
              </a:tr>
            </a:tbl>
          </a:graphicData>
        </a:graphic>
      </p:graphicFrame>
      <p:sp>
        <p:nvSpPr>
          <p:cNvPr id="15" name="dsl:results-note|s=$body"/>
          <p:cNvSpPr txBox="1"/>
          <p:nvPr/>
        </p:nvSpPr>
        <p:spPr>
          <a:xfrm>
            <a:off x="5715000" y="1409700"/>
            <a:ext cx="5905500" cy="2667000"/>
          </a:xfrm>
          <a:prstGeom prst="rect">
            <a:avLst/>
          </a:prstGeom>
          <a:noFill/>
        </p:spPr>
        <p:txBody>
          <a:bodyPr wrap="square" anchor="t">
            <a:noAutofit/>
          </a:bodyPr>
          <a:lstStyle/>
          <a:p>
            <a:pPr algn="l">
              <a:lnSpc>
                <a:spcPct val="160000"/>
              </a:lnSpc>
            </a:pPr>
            <a:r>
              <a:rPr b="1" sz="1350" noProof="1">
                <a:solidFill>
                  <a:srgbClr val="0F172A"/>
                </a:solidFill>
                <a:latin typeface="QuattrocentoSans"/>
                <a:ea typeface="MiSans"/>
              </a:rPr>
              <a:t>与现有方法对比</a:t>
            </a:r>
          </a:p>
          <a:p>
            <a:pPr algn="l">
              <a:lnSpc>
                <a:spcPct val="160000"/>
              </a:lnSpc>
            </a:pPr>
            <a:r>
              <a:rPr sz="1350" noProof="1">
                <a:solidFill>
                  <a:srgbClr val="0F172A"/>
                </a:solidFill>
                <a:latin typeface="QuattrocentoSans"/>
                <a:ea typeface="MiSans"/>
              </a:rPr>
              <a:t>相比 SaTC 多发现 556 个漏洞，相比 KARONTE 多发现 602 个漏洞。</a:t>
            </a:r>
          </a:p>
          <a:p>
            <a:pPr algn="l">
              <a:lnSpc>
                <a:spcPct val="160000"/>
              </a:lnSpc>
            </a:pPr>
            <a:r>
              <a:rPr sz="1350" noProof="1">
                <a:solidFill>
                  <a:srgbClr val="0F172A"/>
                </a:solidFill>
                <a:latin typeface="QuattrocentoSans"/>
                <a:ea typeface="MiSans"/>
              </a:rPr>
              <a:t>分析时间减少 65.5%，所有漏洞均已被厂商确认或修复。</a:t>
            </a:r>
          </a:p>
          <a:p>
            <a:pPr algn="l">
              <a:lnSpc>
                <a:spcPct val="160000"/>
              </a:lnSpc>
            </a:pPr>
            <a:r>
              <a:rPr sz="1350" noProof="1">
                <a:solidFill>
                  <a:srgbClr val="0F172A"/>
                </a:solidFill>
                <a:latin typeface="QuattrocentoSans"/>
                <a:ea typeface="MiSans"/>
              </a:rPr>
              <a:t>在 21 个厂商、203 款设备的真实固件数据集上全面评估。</a:t>
            </a:r>
          </a:p>
        </p:txBody>
      </p:sp>
      <p:sp>
        <p:nvSpPr>
          <p:cNvPr id="16" name="dsl:eval-bar"/>
          <p:cNvSpPr/>
          <p:nvPr/>
        </p:nvSpPr>
        <p:spPr>
          <a:xfrm>
            <a:off x="571500" y="428625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eval-subtitle|s=$subtitle"/>
          <p:cNvSpPr txBox="1"/>
          <p:nvPr/>
        </p:nvSpPr>
        <p:spPr>
          <a:xfrm>
            <a:off x="685800" y="426720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文章评价</a:t>
            </a:r>
          </a:p>
        </p:txBody>
      </p:sp>
      <p:sp>
        <p:nvSpPr>
          <p:cNvPr id="18" name="dsl:eval1-bar"/>
          <p:cNvSpPr/>
          <p:nvPr/>
        </p:nvSpPr>
        <p:spPr>
          <a:xfrm>
            <a:off x="571500" y="4686300"/>
            <a:ext cx="38100" cy="2286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eval1-subtitle"/>
          <p:cNvSpPr txBox="1"/>
          <p:nvPr/>
        </p:nvSpPr>
        <p:spPr>
          <a:xfrm>
            <a:off x="685800" y="4667250"/>
            <a:ext cx="3314700" cy="266700"/>
          </a:xfrm>
          <a:prstGeom prst="rect">
            <a:avLst/>
          </a:prstGeom>
          <a:noFill/>
        </p:spPr>
        <p:txBody>
          <a:bodyPr wrap="none" anchor="ctr">
            <a:noAutofit/>
          </a:bodyPr>
          <a:lstStyle/>
          <a:p>
            <a:pPr algn="l"/>
            <a:r>
              <a:rPr b="1" sz="1350" noProof="1">
                <a:solidFill>
                  <a:srgbClr val="059669"/>
                </a:solidFill>
                <a:latin typeface="QuattrocentoSans"/>
                <a:ea typeface="MiSans"/>
              </a:rPr>
              <a:t>优势</a:t>
            </a:r>
          </a:p>
        </p:txBody>
      </p:sp>
      <p:sp>
        <p:nvSpPr>
          <p:cNvPr id="20" name="dsl:eval1-body|s=$body"/>
          <p:cNvSpPr txBox="1"/>
          <p:nvPr/>
        </p:nvSpPr>
        <p:spPr>
          <a:xfrm>
            <a:off x="571500" y="5010150"/>
            <a:ext cx="3429000" cy="12382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把源点识别从字符串层推进到代码意图层，对Source识别能力更出色。URI-Key结构化建模显著提升覆盖率和精确度。</a:t>
            </a:r>
          </a:p>
        </p:txBody>
      </p:sp>
      <p:sp>
        <p:nvSpPr>
          <p:cNvPr id="21" name="dsl:eval2-bar"/>
          <p:cNvSpPr/>
          <p:nvPr/>
        </p:nvSpPr>
        <p:spPr>
          <a:xfrm>
            <a:off x="4191000" y="4686300"/>
            <a:ext cx="38100" cy="2286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eval2-subtitle"/>
          <p:cNvSpPr txBox="1"/>
          <p:nvPr/>
        </p:nvSpPr>
        <p:spPr>
          <a:xfrm>
            <a:off x="4305300" y="4667250"/>
            <a:ext cx="3314700" cy="266700"/>
          </a:xfrm>
          <a:prstGeom prst="rect">
            <a:avLst/>
          </a:prstGeom>
          <a:noFill/>
        </p:spPr>
        <p:txBody>
          <a:bodyPr wrap="none" anchor="ctr">
            <a:noAutofit/>
          </a:bodyPr>
          <a:lstStyle/>
          <a:p>
            <a:pPr algn="l"/>
            <a:r>
              <a:rPr b="1" sz="1350" noProof="1">
                <a:solidFill>
                  <a:srgbClr val="DC2626"/>
                </a:solidFill>
                <a:latin typeface="QuattrocentoSans"/>
                <a:ea typeface="MiSans"/>
              </a:rPr>
              <a:t>局限</a:t>
            </a:r>
          </a:p>
        </p:txBody>
      </p:sp>
      <p:sp>
        <p:nvSpPr>
          <p:cNvPr id="23" name="dsl:eval2-body|s=$body"/>
          <p:cNvSpPr txBox="1"/>
          <p:nvPr/>
        </p:nvSpPr>
        <p:spPr>
          <a:xfrm>
            <a:off x="4191000" y="5010150"/>
            <a:ext cx="3429000" cy="12382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① LLM引入成本、稳定性和可复现性问题；② LLM效果依赖反编译代码片段质量。</a:t>
            </a:r>
          </a:p>
        </p:txBody>
      </p:sp>
      <p:sp>
        <p:nvSpPr>
          <p:cNvPr id="24" name="dsl:eval3-bar"/>
          <p:cNvSpPr/>
          <p:nvPr/>
        </p:nvSpPr>
        <p:spPr>
          <a:xfrm>
            <a:off x="7810500" y="4686300"/>
            <a:ext cx="38100" cy="228600"/>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eval3-subtitle"/>
          <p:cNvSpPr txBox="1"/>
          <p:nvPr/>
        </p:nvSpPr>
        <p:spPr>
          <a:xfrm>
            <a:off x="7924800" y="4667250"/>
            <a:ext cx="3314700" cy="266700"/>
          </a:xfrm>
          <a:prstGeom prst="rect">
            <a:avLst/>
          </a:prstGeom>
          <a:noFill/>
        </p:spPr>
        <p:txBody>
          <a:bodyPr wrap="none" anchor="ctr">
            <a:noAutofit/>
          </a:bodyPr>
          <a:lstStyle/>
          <a:p>
            <a:pPr algn="l"/>
            <a:r>
              <a:rPr b="1" sz="1350" noProof="1">
                <a:solidFill>
                  <a:srgbClr val="64748B"/>
                </a:solidFill>
                <a:latin typeface="QuattrocentoSans"/>
                <a:ea typeface="MiSans"/>
              </a:rPr>
              <a:t>商业化</a:t>
            </a:r>
          </a:p>
        </p:txBody>
      </p:sp>
      <p:sp>
        <p:nvSpPr>
          <p:cNvPr id="26" name="dsl:eval3-body|s=$body"/>
          <p:cNvSpPr txBox="1"/>
          <p:nvPr/>
        </p:nvSpPr>
        <p:spPr>
          <a:xfrm>
            <a:off x="7810500" y="5010150"/>
            <a:ext cx="3429000" cy="12382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适合新一代基于大模型的Source识别技术。但需要提示词固化、缓存、本地模型或审核流程来降低不确定性。</a:t>
            </a:r>
          </a:p>
        </p:txBody>
      </p:sp>
      <p:sp>
        <p:nvSpPr>
          <p:cNvPr id="27" name="dsl:footer-left|s=$caption"/>
          <p:cNvSpPr txBox="1"/>
          <p:nvPr/>
        </p:nvSpPr>
        <p:spPr>
          <a:xfrm>
            <a:off x="571500" y="6572250"/>
            <a:ext cx="3810000" cy="1905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网络设备Web服务安全研究</a:t>
            </a:r>
          </a:p>
        </p:txBody>
      </p:sp>
      <p:sp>
        <p:nvSpPr>
          <p:cNvPr id="28" name="dsl:footer-right|s=$caption"/>
          <p:cNvSpPr txBox="1"/>
          <p:nvPr/>
        </p:nvSpPr>
        <p:spPr>
          <a:xfrm>
            <a:off x="10477500" y="6572250"/>
            <a:ext cx="1143000" cy="190500"/>
          </a:xfrm>
          <a:prstGeom prst="rect">
            <a:avLst/>
          </a:prstGeom>
          <a:noFill/>
        </p:spPr>
        <p:txBody>
          <a:bodyPr wrap="none" anchor="ctr">
            <a:noAutofit/>
          </a:bodyPr>
          <a:lstStyle/>
          <a:p>
            <a:pPr algn="r">
              <a:lnSpc>
                <a:spcPct val="140000"/>
              </a:lnSpc>
            </a:pPr>
            <a:r>
              <a:rPr sz="1050" noProof="1">
                <a:solidFill>
                  <a:srgbClr val="64748B"/>
                </a:solidFill>
                <a:latin typeface="QuattrocentoSans"/>
                <a:ea typeface="MiSans"/>
              </a:rPr>
              <a:t>10 / 37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dsl:nav-bg"/>
          <p:cNvSpPr/>
          <p:nvPr/>
        </p:nvSpPr>
        <p:spPr>
          <a:xfrm>
            <a:off x="0" y="0"/>
            <a:ext cx="12192000" cy="381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
          <p:cNvSpPr/>
          <p:nvPr/>
        </p:nvSpPr>
        <p:spPr>
          <a:xfrm>
            <a:off x="0" y="0"/>
            <a:ext cx="3048000" cy="3810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t1|s=$nav"/>
          <p:cNvSpPr txBox="1"/>
          <p:nvPr/>
        </p:nvSpPr>
        <p:spPr>
          <a:xfrm>
            <a:off x="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维度一: Source</a:t>
            </a:r>
          </a:p>
        </p:txBody>
      </p:sp>
      <p:sp>
        <p:nvSpPr>
          <p:cNvPr id="5" name="dsl:nav-t2|s=$nav"/>
          <p:cNvSpPr txBox="1"/>
          <p:nvPr/>
        </p:nvSpPr>
        <p:spPr>
          <a:xfrm>
            <a:off x="3048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维度二: Propagation</a:t>
            </a:r>
          </a:p>
        </p:txBody>
      </p:sp>
      <p:sp>
        <p:nvSpPr>
          <p:cNvPr id="6" name="dsl:nav-t3|s=$nav"/>
          <p:cNvSpPr txBox="1"/>
          <p:nvPr/>
        </p:nvSpPr>
        <p:spPr>
          <a:xfrm>
            <a:off x="6096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维度三: Sink</a:t>
            </a:r>
          </a:p>
        </p:txBody>
      </p:sp>
      <p:sp>
        <p:nvSpPr>
          <p:cNvPr id="7" name="dsl:nav-t4|s=$nav"/>
          <p:cNvSpPr txBox="1"/>
          <p:nvPr/>
        </p:nvSpPr>
        <p:spPr>
          <a:xfrm>
            <a:off x="9144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维度四: Verification</a:t>
            </a:r>
          </a:p>
        </p:txBody>
      </p:sp>
      <p:sp>
        <p:nvSpPr>
          <p:cNvPr id="8" name="dsl:nav-line"/>
          <p:cNvSpPr/>
          <p:nvPr/>
        </p:nvSpPr>
        <p:spPr>
          <a:xfrm>
            <a:off x="0" y="381000"/>
            <a:ext cx="12192000" cy="1905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page-title|s=$title"/>
          <p:cNvSpPr txBox="1"/>
          <p:nvPr/>
        </p:nvSpPr>
        <p:spPr>
          <a:xfrm>
            <a:off x="571500" y="514350"/>
            <a:ext cx="11049000" cy="381000"/>
          </a:xfrm>
          <a:prstGeom prst="rect">
            <a:avLst/>
          </a:prstGeom>
          <a:noFill/>
        </p:spPr>
        <p:txBody>
          <a:bodyPr wrap="none" anchor="ctr">
            <a:noAutofit/>
          </a:bodyPr>
          <a:lstStyle/>
          <a:p>
            <a:pPr algn="l">
              <a:lnSpc>
                <a:spcPct val="130000"/>
              </a:lnSpc>
            </a:pPr>
            <a:r>
              <a:rPr sz="2100" noProof="1">
                <a:solidFill>
                  <a:srgbClr val="1E293B"/>
                </a:solidFill>
                <a:latin typeface="QuattrocentoSans"/>
                <a:ea typeface="MiSans"/>
              </a:rPr>
              <a:t>维度一总结：Source 识别技术演进</a:t>
            </a:r>
          </a:p>
        </p:txBody>
      </p:sp>
      <p:sp>
        <p:nvSpPr>
          <p:cNvPr id="10" name="dsl:card1-bg"/>
          <p:cNvSpPr/>
          <p:nvPr/>
        </p:nvSpPr>
        <p:spPr>
          <a:xfrm>
            <a:off x="571500" y="1143000"/>
            <a:ext cx="3429000" cy="4953000"/>
          </a:xfrm>
          <a:prstGeom prst="roundRect">
            <a:avLst>
              <a:gd name="adj" fmla="val 6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card1-accent"/>
          <p:cNvSpPr/>
          <p:nvPr/>
        </p:nvSpPr>
        <p:spPr>
          <a:xfrm>
            <a:off x="762000" y="1333500"/>
            <a:ext cx="571500" cy="381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l:card1-title"/>
          <p:cNvSpPr txBox="1"/>
          <p:nvPr/>
        </p:nvSpPr>
        <p:spPr>
          <a:xfrm>
            <a:off x="762000" y="1485900"/>
            <a:ext cx="3048000" cy="342900"/>
          </a:xfrm>
          <a:prstGeom prst="rect">
            <a:avLst/>
          </a:prstGeom>
          <a:noFill/>
        </p:spPr>
        <p:txBody>
          <a:bodyPr wrap="none" anchor="ctr">
            <a:noAutofit/>
          </a:bodyPr>
          <a:lstStyle/>
          <a:p>
            <a:pPr algn="l"/>
            <a:r>
              <a:rPr b="1" sz="1800" noProof="1">
                <a:solidFill>
                  <a:srgbClr val="1E293B"/>
                </a:solidFill>
                <a:latin typeface="QuattrocentoSans"/>
                <a:ea typeface="MiSans"/>
              </a:rPr>
              <a:t>SaTC</a:t>
            </a:r>
          </a:p>
        </p:txBody>
      </p:sp>
      <p:sp>
        <p:nvSpPr>
          <p:cNvPr id="13" name="dsl:card1-conf|s=$caption"/>
          <p:cNvSpPr txBox="1"/>
          <p:nvPr/>
        </p:nvSpPr>
        <p:spPr>
          <a:xfrm>
            <a:off x="762000" y="1866900"/>
            <a:ext cx="1905000" cy="20955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USENIX Security 2021</a:t>
            </a:r>
          </a:p>
        </p:txBody>
      </p:sp>
      <p:sp>
        <p:nvSpPr>
          <p:cNvPr id="14" name="dsl:card1-line"/>
          <p:cNvSpPr/>
          <p:nvPr/>
        </p:nvSpPr>
        <p:spPr>
          <a:xfrm>
            <a:off x="762000" y="2171700"/>
            <a:ext cx="3048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l:card1-sub1"/>
          <p:cNvSpPr txBox="1"/>
          <p:nvPr/>
        </p:nvSpPr>
        <p:spPr>
          <a:xfrm>
            <a:off x="762000" y="2286000"/>
            <a:ext cx="3048000" cy="247650"/>
          </a:xfrm>
          <a:prstGeom prst="rect">
            <a:avLst/>
          </a:prstGeom>
          <a:noFill/>
        </p:spPr>
        <p:txBody>
          <a:bodyPr wrap="none" anchor="ctr">
            <a:noAutofit/>
          </a:bodyPr>
          <a:lstStyle/>
          <a:p>
            <a:pPr algn="l"/>
            <a:r>
              <a:rPr b="1" sz="1350" noProof="1">
                <a:solidFill>
                  <a:srgbClr val="1E293B"/>
                </a:solidFill>
                <a:latin typeface="QuattrocentoSans"/>
                <a:ea typeface="MiSans"/>
              </a:rPr>
              <a:t>核心贡献</a:t>
            </a:r>
          </a:p>
        </p:txBody>
      </p:sp>
      <p:sp>
        <p:nvSpPr>
          <p:cNvPr id="16" name="dsl:card1-body1"/>
          <p:cNvSpPr txBox="1"/>
          <p:nvPr/>
        </p:nvSpPr>
        <p:spPr>
          <a:xfrm>
            <a:off x="762000" y="2571750"/>
            <a:ext cx="3048000" cy="11430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首次利用前后端共享关键词在二进制中定位输入入口。通过前端关键词提取→后端DRF定位→目标导向污点分析，检测命令注入和缓冲区溢出。</a:t>
            </a:r>
          </a:p>
        </p:txBody>
      </p:sp>
      <p:sp>
        <p:nvSpPr>
          <p:cNvPr id="17" name="dsl:card1-sub2"/>
          <p:cNvSpPr txBox="1"/>
          <p:nvPr/>
        </p:nvSpPr>
        <p:spPr>
          <a:xfrm>
            <a:off x="762000" y="3810000"/>
            <a:ext cx="3048000" cy="247650"/>
          </a:xfrm>
          <a:prstGeom prst="rect">
            <a:avLst/>
          </a:prstGeom>
          <a:noFill/>
        </p:spPr>
        <p:txBody>
          <a:bodyPr wrap="none" anchor="ctr">
            <a:noAutofit/>
          </a:bodyPr>
          <a:lstStyle/>
          <a:p>
            <a:pPr algn="l"/>
            <a:r>
              <a:rPr b="1" sz="1350" noProof="1">
                <a:solidFill>
                  <a:srgbClr val="1E293B"/>
                </a:solidFill>
                <a:latin typeface="QuattrocentoSans"/>
                <a:ea typeface="MiSans"/>
              </a:rPr>
              <a:t>关键数据</a:t>
            </a:r>
          </a:p>
        </p:txBody>
      </p:sp>
      <p:sp>
        <p:nvSpPr>
          <p:cNvPr id="18" name="dsl:card1-body2"/>
          <p:cNvSpPr txBox="1"/>
          <p:nvPr/>
        </p:nvSpPr>
        <p:spPr>
          <a:xfrm>
            <a:off x="762000" y="4095750"/>
            <a:ext cx="3048000" cy="5715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39固件 | 33 0-day | 30 CVE</a:t>
            </a:r>
          </a:p>
        </p:txBody>
      </p:sp>
      <p:sp>
        <p:nvSpPr>
          <p:cNvPr id="19" name="dsl:card1-sub3"/>
          <p:cNvSpPr txBox="1"/>
          <p:nvPr/>
        </p:nvSpPr>
        <p:spPr>
          <a:xfrm>
            <a:off x="762000" y="4762500"/>
            <a:ext cx="3048000" cy="247650"/>
          </a:xfrm>
          <a:prstGeom prst="rect">
            <a:avLst/>
          </a:prstGeom>
          <a:noFill/>
        </p:spPr>
        <p:txBody>
          <a:bodyPr wrap="none" anchor="ctr">
            <a:noAutofit/>
          </a:bodyPr>
          <a:lstStyle/>
          <a:p>
            <a:pPr algn="l"/>
            <a:r>
              <a:rPr b="1" sz="1350" noProof="1">
                <a:solidFill>
                  <a:srgbClr val="1E293B"/>
                </a:solidFill>
                <a:latin typeface="QuattrocentoSans"/>
                <a:ea typeface="MiSans"/>
              </a:rPr>
              <a:t>局限性</a:t>
            </a:r>
          </a:p>
        </p:txBody>
      </p:sp>
      <p:sp>
        <p:nvSpPr>
          <p:cNvPr id="20" name="dsl:card1-body3"/>
          <p:cNvSpPr txBox="1"/>
          <p:nvPr/>
        </p:nvSpPr>
        <p:spPr>
          <a:xfrm>
            <a:off x="762000" y="5048250"/>
            <a:ext cx="3048000" cy="7620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硬编码精确匹配导致漏报；Web依赖；前端混淆；隐藏接口无法覆盖</a:t>
            </a:r>
          </a:p>
        </p:txBody>
      </p:sp>
      <p:sp>
        <p:nvSpPr>
          <p:cNvPr id="21" name="dsl:card2-bg"/>
          <p:cNvSpPr/>
          <p:nvPr/>
        </p:nvSpPr>
        <p:spPr>
          <a:xfrm>
            <a:off x="4191000" y="1143000"/>
            <a:ext cx="3429000" cy="4953000"/>
          </a:xfrm>
          <a:prstGeom prst="roundRect">
            <a:avLst>
              <a:gd name="adj" fmla="val 6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card2-accent"/>
          <p:cNvSpPr/>
          <p:nvPr/>
        </p:nvSpPr>
        <p:spPr>
          <a:xfrm>
            <a:off x="4381500" y="1333500"/>
            <a:ext cx="571500" cy="381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l:card2-title"/>
          <p:cNvSpPr txBox="1"/>
          <p:nvPr/>
        </p:nvSpPr>
        <p:spPr>
          <a:xfrm>
            <a:off x="4381500" y="1485900"/>
            <a:ext cx="3048000" cy="342900"/>
          </a:xfrm>
          <a:prstGeom prst="rect">
            <a:avLst/>
          </a:prstGeom>
          <a:noFill/>
        </p:spPr>
        <p:txBody>
          <a:bodyPr wrap="none" anchor="ctr">
            <a:noAutofit/>
          </a:bodyPr>
          <a:lstStyle/>
          <a:p>
            <a:pPr algn="l"/>
            <a:r>
              <a:rPr b="1" sz="1800" noProof="1">
                <a:solidFill>
                  <a:srgbClr val="1E293B"/>
                </a:solidFill>
                <a:latin typeface="QuattrocentoSans"/>
                <a:ea typeface="MiSans"/>
              </a:rPr>
              <a:t>HermeScan</a:t>
            </a:r>
          </a:p>
        </p:txBody>
      </p:sp>
      <p:sp>
        <p:nvSpPr>
          <p:cNvPr id="24" name="dsl:card2-conf|s=$caption"/>
          <p:cNvSpPr txBox="1"/>
          <p:nvPr/>
        </p:nvSpPr>
        <p:spPr>
          <a:xfrm>
            <a:off x="4381500" y="1866900"/>
            <a:ext cx="1905000" cy="20955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NDSS 2024</a:t>
            </a:r>
          </a:p>
        </p:txBody>
      </p:sp>
      <p:sp>
        <p:nvSpPr>
          <p:cNvPr id="25" name="dsl:card2-line"/>
          <p:cNvSpPr/>
          <p:nvPr/>
        </p:nvSpPr>
        <p:spPr>
          <a:xfrm>
            <a:off x="4381500" y="2171700"/>
            <a:ext cx="3048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l:card2-sub1"/>
          <p:cNvSpPr txBox="1"/>
          <p:nvPr/>
        </p:nvSpPr>
        <p:spPr>
          <a:xfrm>
            <a:off x="4381500" y="2286000"/>
            <a:ext cx="3048000" cy="247650"/>
          </a:xfrm>
          <a:prstGeom prst="rect">
            <a:avLst/>
          </a:prstGeom>
          <a:noFill/>
        </p:spPr>
        <p:txBody>
          <a:bodyPr wrap="none" anchor="ctr">
            <a:noAutofit/>
          </a:bodyPr>
          <a:lstStyle/>
          <a:p>
            <a:pPr algn="l"/>
            <a:r>
              <a:rPr b="1" sz="1350" noProof="1">
                <a:solidFill>
                  <a:srgbClr val="1E293B"/>
                </a:solidFill>
                <a:latin typeface="QuattrocentoSans"/>
                <a:ea typeface="MiSans"/>
              </a:rPr>
              <a:t>核心贡献</a:t>
            </a:r>
          </a:p>
        </p:txBody>
      </p:sp>
      <p:sp>
        <p:nvSpPr>
          <p:cNvPr id="27" name="dsl:card2-body1"/>
          <p:cNvSpPr txBox="1"/>
          <p:nvPr/>
        </p:nvSpPr>
        <p:spPr>
          <a:xfrm>
            <a:off x="4381500" y="2571750"/>
            <a:ext cx="3048000" cy="11430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引入编辑距离与BERT语义相似度的模糊Source匹配，恢复跨库CFG，采用LCO-RDA轻量级数据流分析替代符号执行。</a:t>
            </a:r>
          </a:p>
        </p:txBody>
      </p:sp>
      <p:sp>
        <p:nvSpPr>
          <p:cNvPr id="28" name="dsl:card2-sub2"/>
          <p:cNvSpPr txBox="1"/>
          <p:nvPr/>
        </p:nvSpPr>
        <p:spPr>
          <a:xfrm>
            <a:off x="4381500" y="3810000"/>
            <a:ext cx="3048000" cy="247650"/>
          </a:xfrm>
          <a:prstGeom prst="rect">
            <a:avLst/>
          </a:prstGeom>
          <a:noFill/>
        </p:spPr>
        <p:txBody>
          <a:bodyPr wrap="none" anchor="ctr">
            <a:noAutofit/>
          </a:bodyPr>
          <a:lstStyle/>
          <a:p>
            <a:pPr algn="l"/>
            <a:r>
              <a:rPr b="1" sz="1350" noProof="1">
                <a:solidFill>
                  <a:srgbClr val="1E293B"/>
                </a:solidFill>
                <a:latin typeface="QuattrocentoSans"/>
                <a:ea typeface="MiSans"/>
              </a:rPr>
              <a:t>关键数据</a:t>
            </a:r>
          </a:p>
        </p:txBody>
      </p:sp>
      <p:sp>
        <p:nvSpPr>
          <p:cNvPr id="29" name="dsl:card2-body2"/>
          <p:cNvSpPr txBox="1"/>
          <p:nvPr/>
        </p:nvSpPr>
        <p:spPr>
          <a:xfrm>
            <a:off x="4381500" y="4095750"/>
            <a:ext cx="3048000" cy="5715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30固件 | 163漏洞 | TPR 81% | 7.5x速度</a:t>
            </a:r>
          </a:p>
        </p:txBody>
      </p:sp>
      <p:sp>
        <p:nvSpPr>
          <p:cNvPr id="30" name="dsl:card2-sub3"/>
          <p:cNvSpPr txBox="1"/>
          <p:nvPr/>
        </p:nvSpPr>
        <p:spPr>
          <a:xfrm>
            <a:off x="4381500" y="4762500"/>
            <a:ext cx="3048000" cy="247650"/>
          </a:xfrm>
          <a:prstGeom prst="rect">
            <a:avLst/>
          </a:prstGeom>
          <a:noFill/>
        </p:spPr>
        <p:txBody>
          <a:bodyPr wrap="none" anchor="ctr">
            <a:noAutofit/>
          </a:bodyPr>
          <a:lstStyle/>
          <a:p>
            <a:pPr algn="l"/>
            <a:r>
              <a:rPr b="1" sz="1350" noProof="1">
                <a:solidFill>
                  <a:srgbClr val="1E293B"/>
                </a:solidFill>
                <a:latin typeface="QuattrocentoSans"/>
                <a:ea typeface="MiSans"/>
              </a:rPr>
              <a:t>局限性</a:t>
            </a:r>
          </a:p>
        </p:txBody>
      </p:sp>
      <p:sp>
        <p:nvSpPr>
          <p:cNvPr id="31" name="dsl:card2-body3"/>
          <p:cNvSpPr txBox="1"/>
          <p:nvPr/>
        </p:nvSpPr>
        <p:spPr>
          <a:xfrm>
            <a:off x="4381500" y="5048250"/>
            <a:ext cx="3048000" cy="7620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RDA路径不敏感；BERT语义噪声；Source识别建议参考后续技术</a:t>
            </a:r>
          </a:p>
        </p:txBody>
      </p:sp>
      <p:sp>
        <p:nvSpPr>
          <p:cNvPr id="32" name="dsl:card3-bg"/>
          <p:cNvSpPr/>
          <p:nvPr/>
        </p:nvSpPr>
        <p:spPr>
          <a:xfrm>
            <a:off x="7810500" y="1143000"/>
            <a:ext cx="3429000" cy="4953000"/>
          </a:xfrm>
          <a:prstGeom prst="roundRect">
            <a:avLst>
              <a:gd name="adj" fmla="val 6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sl:card3-accent"/>
          <p:cNvSpPr/>
          <p:nvPr/>
        </p:nvSpPr>
        <p:spPr>
          <a:xfrm>
            <a:off x="8001000" y="1333500"/>
            <a:ext cx="571500" cy="381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dsl:card3-title"/>
          <p:cNvSpPr txBox="1"/>
          <p:nvPr/>
        </p:nvSpPr>
        <p:spPr>
          <a:xfrm>
            <a:off x="8001000" y="1485900"/>
            <a:ext cx="3048000" cy="342900"/>
          </a:xfrm>
          <a:prstGeom prst="rect">
            <a:avLst/>
          </a:prstGeom>
          <a:noFill/>
        </p:spPr>
        <p:txBody>
          <a:bodyPr wrap="none" anchor="ctr">
            <a:noAutofit/>
          </a:bodyPr>
          <a:lstStyle/>
          <a:p>
            <a:pPr algn="l"/>
            <a:r>
              <a:rPr b="1" sz="1800" noProof="1">
                <a:solidFill>
                  <a:srgbClr val="1E293B"/>
                </a:solidFill>
                <a:latin typeface="QuattrocentoSans"/>
                <a:ea typeface="MiSans"/>
              </a:rPr>
              <a:t>LARA</a:t>
            </a:r>
          </a:p>
        </p:txBody>
      </p:sp>
      <p:sp>
        <p:nvSpPr>
          <p:cNvPr id="35" name="dsl:card3-conf|s=$caption"/>
          <p:cNvSpPr txBox="1"/>
          <p:nvPr/>
        </p:nvSpPr>
        <p:spPr>
          <a:xfrm>
            <a:off x="8001000" y="1866900"/>
            <a:ext cx="1905000" cy="20955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USENIX Security 2024</a:t>
            </a:r>
          </a:p>
        </p:txBody>
      </p:sp>
      <p:sp>
        <p:nvSpPr>
          <p:cNvPr id="36" name="dsl:card3-line"/>
          <p:cNvSpPr/>
          <p:nvPr/>
        </p:nvSpPr>
        <p:spPr>
          <a:xfrm>
            <a:off x="8001000" y="2171700"/>
            <a:ext cx="3048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dsl:card3-sub1"/>
          <p:cNvSpPr txBox="1"/>
          <p:nvPr/>
        </p:nvSpPr>
        <p:spPr>
          <a:xfrm>
            <a:off x="8001000" y="2286000"/>
            <a:ext cx="3048000" cy="247650"/>
          </a:xfrm>
          <a:prstGeom prst="rect">
            <a:avLst/>
          </a:prstGeom>
          <a:noFill/>
        </p:spPr>
        <p:txBody>
          <a:bodyPr wrap="none" anchor="ctr">
            <a:noAutofit/>
          </a:bodyPr>
          <a:lstStyle/>
          <a:p>
            <a:pPr algn="l"/>
            <a:r>
              <a:rPr b="1" sz="1350" noProof="1">
                <a:solidFill>
                  <a:srgbClr val="1E293B"/>
                </a:solidFill>
                <a:latin typeface="QuattrocentoSans"/>
                <a:ea typeface="MiSans"/>
              </a:rPr>
              <a:t>核心贡献</a:t>
            </a:r>
          </a:p>
        </p:txBody>
      </p:sp>
      <p:sp>
        <p:nvSpPr>
          <p:cNvPr id="38" name="dsl:card3-body1"/>
          <p:cNvSpPr txBox="1"/>
          <p:nvPr/>
        </p:nvSpPr>
        <p:spPr>
          <a:xfrm>
            <a:off x="8001000" y="2571750"/>
            <a:ext cx="3048000" cy="11430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融合URI-Key结构化建模与LLM代码语义理解，将输入划分为URI和Key映射，通过模式匹配与LLM交叉验证识别隐藏输入。</a:t>
            </a:r>
          </a:p>
        </p:txBody>
      </p:sp>
      <p:sp>
        <p:nvSpPr>
          <p:cNvPr id="39" name="dsl:card3-sub2"/>
          <p:cNvSpPr txBox="1"/>
          <p:nvPr/>
        </p:nvSpPr>
        <p:spPr>
          <a:xfrm>
            <a:off x="8001000" y="3810000"/>
            <a:ext cx="3048000" cy="247650"/>
          </a:xfrm>
          <a:prstGeom prst="rect">
            <a:avLst/>
          </a:prstGeom>
          <a:noFill/>
        </p:spPr>
        <p:txBody>
          <a:bodyPr wrap="none" anchor="ctr">
            <a:noAutofit/>
          </a:bodyPr>
          <a:lstStyle/>
          <a:p>
            <a:pPr algn="l"/>
            <a:r>
              <a:rPr b="1" sz="1350" noProof="1">
                <a:solidFill>
                  <a:srgbClr val="1E293B"/>
                </a:solidFill>
                <a:latin typeface="QuattrocentoSans"/>
                <a:ea typeface="MiSans"/>
              </a:rPr>
              <a:t>关键数据</a:t>
            </a:r>
          </a:p>
        </p:txBody>
      </p:sp>
      <p:sp>
        <p:nvSpPr>
          <p:cNvPr id="40" name="dsl:card3-body2"/>
          <p:cNvSpPr txBox="1"/>
          <p:nvPr/>
        </p:nvSpPr>
        <p:spPr>
          <a:xfrm>
            <a:off x="8001000" y="4095750"/>
            <a:ext cx="3048000" cy="5715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203设备 | URI/Key 5.4/4.7x | 556漏洞 | 245 0-day | 162 CVE</a:t>
            </a:r>
          </a:p>
        </p:txBody>
      </p:sp>
      <p:sp>
        <p:nvSpPr>
          <p:cNvPr id="41" name="dsl:card3-sub3"/>
          <p:cNvSpPr txBox="1"/>
          <p:nvPr/>
        </p:nvSpPr>
        <p:spPr>
          <a:xfrm>
            <a:off x="8001000" y="4762500"/>
            <a:ext cx="3048000" cy="247650"/>
          </a:xfrm>
          <a:prstGeom prst="rect">
            <a:avLst/>
          </a:prstGeom>
          <a:noFill/>
        </p:spPr>
        <p:txBody>
          <a:bodyPr wrap="none" anchor="ctr">
            <a:noAutofit/>
          </a:bodyPr>
          <a:lstStyle/>
          <a:p>
            <a:pPr algn="l"/>
            <a:r>
              <a:rPr b="1" sz="1350" noProof="1">
                <a:solidFill>
                  <a:srgbClr val="1E293B"/>
                </a:solidFill>
                <a:latin typeface="QuattrocentoSans"/>
                <a:ea typeface="MiSans"/>
              </a:rPr>
              <a:t>局限性</a:t>
            </a:r>
          </a:p>
        </p:txBody>
      </p:sp>
      <p:sp>
        <p:nvSpPr>
          <p:cNvPr id="42" name="dsl:card3-body3"/>
          <p:cNvSpPr txBox="1"/>
          <p:nvPr/>
        </p:nvSpPr>
        <p:spPr>
          <a:xfrm>
            <a:off x="8001000" y="5048250"/>
            <a:ext cx="3048000" cy="7620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LLM成本与稳定性；依赖反编译代码质量</a:t>
            </a:r>
          </a:p>
        </p:txBody>
      </p:sp>
      <p:sp>
        <p:nvSpPr>
          <p:cNvPr id="43" name="dsl:evo-bg"/>
          <p:cNvSpPr/>
          <p:nvPr/>
        </p:nvSpPr>
        <p:spPr>
          <a:xfrm>
            <a:off x="571500" y="6153150"/>
            <a:ext cx="11049000" cy="3810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dsl:evo-text"/>
          <p:cNvSpPr txBox="1"/>
          <p:nvPr/>
        </p:nvSpPr>
        <p:spPr>
          <a:xfrm>
            <a:off x="762000" y="6153150"/>
            <a:ext cx="10668000" cy="381000"/>
          </a:xfrm>
          <a:prstGeom prst="rect">
            <a:avLst/>
          </a:prstGeom>
          <a:noFill/>
        </p:spPr>
        <p:txBody>
          <a:bodyPr wrap="none" anchor="ctr">
            <a:noAutofit/>
          </a:bodyPr>
          <a:lstStyle/>
          <a:p>
            <a:pPr algn="ctr"/>
            <a:r>
              <a:rPr sz="1200" noProof="1">
                <a:solidFill>
                  <a:srgbClr val="1E293B"/>
                </a:solidFill>
                <a:latin typeface="QuattrocentoSans"/>
                <a:ea typeface="MiSans"/>
              </a:rPr>
              <a:t>技术演进路径：</a:t>
            </a:r>
            <a:r>
              <a:rPr b="1" sz="1200" noProof="1">
                <a:solidFill>
                  <a:srgbClr val="1E293B"/>
                </a:solidFill>
                <a:latin typeface="QuattrocentoSans"/>
                <a:ea typeface="MiSans"/>
              </a:rPr>
              <a:t>硬编码精确匹配</a:t>
            </a:r>
            <a:r>
              <a:rPr sz="1200" noProof="1">
                <a:solidFill>
                  <a:srgbClr val="1E293B"/>
                </a:solidFill>
                <a:latin typeface="QuattrocentoSans"/>
                <a:ea typeface="MiSans"/>
              </a:rPr>
              <a:t>  →  </a:t>
            </a:r>
            <a:r>
              <a:rPr b="1" sz="1200" noProof="1">
                <a:solidFill>
                  <a:srgbClr val="1E293B"/>
                </a:solidFill>
                <a:latin typeface="QuattrocentoSans"/>
                <a:ea typeface="MiSans"/>
              </a:rPr>
              <a:t>模糊匹配（编辑距离 + BERT）</a:t>
            </a:r>
            <a:r>
              <a:rPr sz="1200" noProof="1">
                <a:solidFill>
                  <a:srgbClr val="1E293B"/>
                </a:solidFill>
                <a:latin typeface="QuattrocentoSans"/>
                <a:ea typeface="MiSans"/>
              </a:rPr>
              <a:t>  →  </a:t>
            </a:r>
            <a:r>
              <a:rPr b="1" sz="1200" noProof="1">
                <a:solidFill>
                  <a:srgbClr val="1E293B"/>
                </a:solidFill>
                <a:latin typeface="QuattrocentoSans"/>
                <a:ea typeface="MiSans"/>
              </a:rPr>
              <a:t>LLM 语义理解（结构化 URI-Key 建模）</a:t>
            </a:r>
          </a:p>
        </p:txBody>
      </p:sp>
      <p:sp>
        <p:nvSpPr>
          <p:cNvPr id="45" name="dsl:footer-left|s=$caption"/>
          <p:cNvSpPr txBox="1"/>
          <p:nvPr/>
        </p:nvSpPr>
        <p:spPr>
          <a:xfrm>
            <a:off x="571500" y="6572250"/>
            <a:ext cx="3810000" cy="1905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网络设备Web服务安全研究</a:t>
            </a:r>
          </a:p>
        </p:txBody>
      </p:sp>
      <p:sp>
        <p:nvSpPr>
          <p:cNvPr id="46" name="dsl:footer-right|s=$caption"/>
          <p:cNvSpPr txBox="1"/>
          <p:nvPr/>
        </p:nvSpPr>
        <p:spPr>
          <a:xfrm>
            <a:off x="10477500" y="6572250"/>
            <a:ext cx="1143000" cy="190500"/>
          </a:xfrm>
          <a:prstGeom prst="rect">
            <a:avLst/>
          </a:prstGeom>
          <a:noFill/>
        </p:spPr>
        <p:txBody>
          <a:bodyPr wrap="none" anchor="ctr">
            <a:noAutofit/>
          </a:bodyPr>
          <a:lstStyle/>
          <a:p>
            <a:pPr algn="r">
              <a:lnSpc>
                <a:spcPct val="140000"/>
              </a:lnSpc>
            </a:pPr>
            <a:r>
              <a:rPr sz="1050" noProof="1">
                <a:solidFill>
                  <a:srgbClr val="64748B"/>
                </a:solidFill>
                <a:latin typeface="QuattrocentoSans"/>
                <a:ea typeface="MiSans"/>
              </a:rPr>
              <a:t>11 / 37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293B"/>
        </a:solidFill>
        <a:effectLst/>
      </p:bgPr>
    </p:bg>
    <p:spTree>
      <p:nvGrpSpPr>
        <p:cNvPr id="1" name=""/>
        <p:cNvGrpSpPr/>
        <p:nvPr/>
      </p:nvGrpSpPr>
      <p:grpSpPr/>
      <p:sp>
        <p:nvSpPr>
          <p:cNvPr id="2" name="dsl:right-panel"/>
          <p:cNvSpPr/>
          <p:nvPr/>
        </p:nvSpPr>
        <p:spPr>
          <a:xfrm>
            <a:off x="8124825" y="0"/>
            <a:ext cx="4067175" cy="6858000"/>
          </a:xfrm>
          <a:prstGeom prst="rect">
            <a:avLst/>
          </a:prstGeom>
          <a:gradFill rotWithShape="1">
            <a:gsLst>
              <a:gs pos="0">
                <a:srgbClr val="1E293B"/>
              </a:gs>
              <a:gs pos="100000">
                <a:srgbClr val="0F172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ch-num|s=$chapterNum"/>
          <p:cNvSpPr txBox="1"/>
          <p:nvPr/>
        </p:nvSpPr>
        <p:spPr>
          <a:xfrm>
            <a:off x="571500" y="1333500"/>
            <a:ext cx="4762500" cy="1524000"/>
          </a:xfrm>
          <a:prstGeom prst="rect">
            <a:avLst/>
          </a:prstGeom>
          <a:noFill/>
        </p:spPr>
        <p:txBody>
          <a:bodyPr wrap="none" anchor="ctr">
            <a:noAutofit/>
          </a:bodyPr>
          <a:lstStyle/>
          <a:p>
            <a:pPr algn="l">
              <a:lnSpc>
                <a:spcPct val="100000"/>
              </a:lnSpc>
            </a:pPr>
            <a:r>
              <a:rPr sz="9000" noProof="1">
                <a:solidFill>
                  <a:srgbClr val="FFFFFF">
                    <a:alpha val="12549"/>
                  </a:srgbClr>
                </a:solidFill>
                <a:latin typeface="QuattrocentoSans"/>
                <a:ea typeface="MiSans"/>
              </a:rPr>
              <a:t>02</a:t>
            </a:r>
          </a:p>
        </p:txBody>
      </p:sp>
      <p:sp>
        <p:nvSpPr>
          <p:cNvPr id="4" name="dsl:accent-line"/>
          <p:cNvSpPr/>
          <p:nvPr/>
        </p:nvSpPr>
        <p:spPr>
          <a:xfrm>
            <a:off x="571500" y="3048000"/>
            <a:ext cx="571500" cy="381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sl:ch-title|s=$chapterTitle"/>
          <p:cNvSpPr txBox="1"/>
          <p:nvPr/>
        </p:nvSpPr>
        <p:spPr>
          <a:xfrm>
            <a:off x="571500" y="3238500"/>
            <a:ext cx="7048500" cy="457200"/>
          </a:xfrm>
          <a:prstGeom prst="rect">
            <a:avLst/>
          </a:prstGeom>
          <a:noFill/>
        </p:spPr>
        <p:txBody>
          <a:bodyPr wrap="none" anchor="ctr">
            <a:noAutofit/>
          </a:bodyPr>
          <a:lstStyle/>
          <a:p>
            <a:pPr algn="l">
              <a:lnSpc>
                <a:spcPct val="120000"/>
              </a:lnSpc>
            </a:pPr>
            <a:r>
              <a:rPr sz="2700" noProof="1">
                <a:solidFill>
                  <a:srgbClr val="FFFFFF"/>
                </a:solidFill>
                <a:latin typeface="QuattrocentoSans"/>
                <a:ea typeface="MiSans"/>
              </a:rPr>
              <a:t>复杂后端数据流（Propagation）</a:t>
            </a:r>
          </a:p>
        </p:txBody>
      </p:sp>
      <p:sp>
        <p:nvSpPr>
          <p:cNvPr id="6" name="dsl:ch-subtitle|s=$chapterSubtitle"/>
          <p:cNvSpPr txBox="1"/>
          <p:nvPr/>
        </p:nvSpPr>
        <p:spPr>
          <a:xfrm>
            <a:off x="571500" y="3810000"/>
            <a:ext cx="7048500" cy="304800"/>
          </a:xfrm>
          <a:prstGeom prst="rect">
            <a:avLst/>
          </a:prstGeom>
          <a:noFill/>
        </p:spPr>
        <p:txBody>
          <a:bodyPr wrap="none" anchor="ctr">
            <a:noAutofit/>
          </a:bodyPr>
          <a:lstStyle/>
          <a:p>
            <a:pPr algn="l">
              <a:lnSpc>
                <a:spcPct val="140000"/>
              </a:lnSpc>
            </a:pPr>
            <a:r>
              <a:rPr sz="1500" noProof="1">
                <a:solidFill>
                  <a:srgbClr val="CBD5E1"/>
                </a:solidFill>
                <a:latin typeface="QuattrocentoSans"/>
                <a:ea typeface="MiSans"/>
              </a:rPr>
              <a:t>从单体分析到跨边界追踪</a:t>
            </a:r>
          </a:p>
        </p:txBody>
      </p:sp>
      <p:sp>
        <p:nvSpPr>
          <p:cNvPr id="7" name="dsl:ch-intro"/>
          <p:cNvSpPr txBox="1"/>
          <p:nvPr/>
        </p:nvSpPr>
        <p:spPr>
          <a:xfrm>
            <a:off x="571500" y="4381500"/>
            <a:ext cx="7048500" cy="952500"/>
          </a:xfrm>
          <a:prstGeom prst="rect">
            <a:avLst/>
          </a:prstGeom>
          <a:noFill/>
        </p:spPr>
        <p:txBody>
          <a:bodyPr wrap="square" anchor="t">
            <a:noAutofit/>
          </a:bodyPr>
          <a:lstStyle/>
          <a:p>
            <a:pPr algn="l">
              <a:lnSpc>
                <a:spcPct val="160000"/>
              </a:lnSpc>
            </a:pPr>
            <a:r>
              <a:rPr sz="1350" noProof="1">
                <a:solidFill>
                  <a:srgbClr val="CBD5E1"/>
                </a:solidFill>
                <a:latin typeface="QuattrocentoSans"/>
                <a:ea typeface="MiSans"/>
              </a:rPr>
              <a:t>核心痛点：即便定位输入点后，数据在后端往往不是被单一程序处理。现代固件高度解耦，数据流追踪面临规模爆炸与路径截断。</a:t>
            </a:r>
          </a:p>
          <a:p>
            <a:pPr algn="l">
              <a:lnSpc>
                <a:spcPct val="160000"/>
              </a:lnSpc>
            </a:pPr>
            <a:r>
              <a:rPr sz="1350" noProof="1">
                <a:solidFill>
                  <a:srgbClr val="CBD5E1"/>
                </a:solidFill>
                <a:latin typeface="QuattrocentoSans"/>
                <a:ea typeface="MiSans"/>
              </a:rPr>
              <a:t>技术演进：跨进程建模 → Sink-to-Source + 富表达式 → RDA + AIL 底层优化</a:t>
            </a:r>
          </a:p>
        </p:txBody>
      </p:sp>
      <p:sp>
        <p:nvSpPr>
          <p:cNvPr id="8" name="dsl:ch-papers"/>
          <p:cNvSpPr txBox="1"/>
          <p:nvPr/>
        </p:nvSpPr>
        <p:spPr>
          <a:xfrm>
            <a:off x="571500" y="5715000"/>
            <a:ext cx="7048500" cy="571500"/>
          </a:xfrm>
          <a:prstGeom prst="rect">
            <a:avLst/>
          </a:prstGeom>
          <a:noFill/>
        </p:spPr>
        <p:txBody>
          <a:bodyPr wrap="square" anchor="t">
            <a:noAutofit/>
          </a:bodyPr>
          <a:lstStyle/>
          <a:p>
            <a:pPr algn="l">
              <a:lnSpc>
                <a:spcPct val="160000"/>
              </a:lnSpc>
            </a:pPr>
            <a:r>
              <a:rPr sz="1050" noProof="1">
                <a:solidFill>
                  <a:srgbClr val="94A3B8"/>
                </a:solidFill>
                <a:latin typeface="QuattrocentoSans"/>
                <a:ea typeface="MiSans"/>
              </a:rPr>
              <a:t>KARONTE (IEEE S&amp;P 2020)  →  MangoDFA (USENIX Security 2024)  →  OctopusTaint (ACM CCS 2024)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dsl:nav-bg"/>
          <p:cNvSpPr/>
          <p:nvPr/>
        </p:nvSpPr>
        <p:spPr>
          <a:xfrm>
            <a:off x="0" y="0"/>
            <a:ext cx="12192000" cy="381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
          <p:cNvSpPr/>
          <p:nvPr/>
        </p:nvSpPr>
        <p:spPr>
          <a:xfrm>
            <a:off x="3048000" y="0"/>
            <a:ext cx="3048000" cy="3810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t1|s=$nav"/>
          <p:cNvSpPr txBox="1"/>
          <p:nvPr/>
        </p:nvSpPr>
        <p:spPr>
          <a:xfrm>
            <a:off x="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维度一: Source</a:t>
            </a:r>
          </a:p>
        </p:txBody>
      </p:sp>
      <p:sp>
        <p:nvSpPr>
          <p:cNvPr id="5" name="dsl:nav-t2|s=$nav"/>
          <p:cNvSpPr txBox="1"/>
          <p:nvPr/>
        </p:nvSpPr>
        <p:spPr>
          <a:xfrm>
            <a:off x="3048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维度二: Propagation</a:t>
            </a:r>
          </a:p>
        </p:txBody>
      </p:sp>
      <p:sp>
        <p:nvSpPr>
          <p:cNvPr id="6" name="dsl:nav-t3|s=$nav"/>
          <p:cNvSpPr txBox="1"/>
          <p:nvPr/>
        </p:nvSpPr>
        <p:spPr>
          <a:xfrm>
            <a:off x="6096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维度三: Sink</a:t>
            </a:r>
          </a:p>
        </p:txBody>
      </p:sp>
      <p:sp>
        <p:nvSpPr>
          <p:cNvPr id="7" name="dsl:nav-t4|s=$nav"/>
          <p:cNvSpPr txBox="1"/>
          <p:nvPr/>
        </p:nvSpPr>
        <p:spPr>
          <a:xfrm>
            <a:off x="9144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维度四: Verification</a:t>
            </a:r>
          </a:p>
        </p:txBody>
      </p:sp>
      <p:sp>
        <p:nvSpPr>
          <p:cNvPr id="8" name="dsl:nav-line"/>
          <p:cNvSpPr/>
          <p:nvPr/>
        </p:nvSpPr>
        <p:spPr>
          <a:xfrm>
            <a:off x="0" y="381000"/>
            <a:ext cx="12192000" cy="1905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page-title|s=$title"/>
          <p:cNvSpPr txBox="1"/>
          <p:nvPr/>
        </p:nvSpPr>
        <p:spPr>
          <a:xfrm>
            <a:off x="571500" y="514350"/>
            <a:ext cx="8382000" cy="381000"/>
          </a:xfrm>
          <a:prstGeom prst="rect">
            <a:avLst/>
          </a:prstGeom>
          <a:noFill/>
        </p:spPr>
        <p:txBody>
          <a:bodyPr wrap="none" anchor="ctr">
            <a:noAutofit/>
          </a:bodyPr>
          <a:lstStyle/>
          <a:p>
            <a:pPr algn="l">
              <a:lnSpc>
                <a:spcPct val="130000"/>
              </a:lnSpc>
            </a:pPr>
            <a:r>
              <a:rPr sz="2100" noProof="1">
                <a:solidFill>
                  <a:srgbClr val="1E293B"/>
                </a:solidFill>
                <a:latin typeface="QuattrocentoSans"/>
                <a:ea typeface="MiSans"/>
              </a:rPr>
              <a:t>KARONTE — 多二进制交互与BDG建模</a:t>
            </a:r>
          </a:p>
        </p:txBody>
      </p:sp>
      <p:sp>
        <p:nvSpPr>
          <p:cNvPr id="10" name="dsl:badge-bg"/>
          <p:cNvSpPr/>
          <p:nvPr/>
        </p:nvSpPr>
        <p:spPr>
          <a:xfrm>
            <a:off x="10287000" y="552450"/>
            <a:ext cx="1333500" cy="266700"/>
          </a:xfrm>
          <a:prstGeom prst="roundRect">
            <a:avLst>
              <a:gd name="adj" fmla="val 8000"/>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badge-text|s=$badge"/>
          <p:cNvSpPr txBox="1"/>
          <p:nvPr/>
        </p:nvSpPr>
        <p:spPr>
          <a:xfrm>
            <a:off x="10287000" y="552450"/>
            <a:ext cx="1333500" cy="2667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IEEE S&amp;P 2020</a:t>
            </a:r>
          </a:p>
        </p:txBody>
      </p:sp>
      <p:sp>
        <p:nvSpPr>
          <p:cNvPr id="12" name="dsl:left-bar-1"/>
          <p:cNvSpPr/>
          <p:nvPr/>
        </p:nvSpPr>
        <p:spPr>
          <a:xfrm>
            <a:off x="5715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left-subtitle-1|s=$subtitle"/>
          <p:cNvSpPr txBox="1"/>
          <p:nvPr/>
        </p:nvSpPr>
        <p:spPr>
          <a:xfrm>
            <a:off x="6858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内容摘要</a:t>
            </a:r>
          </a:p>
        </p:txBody>
      </p:sp>
      <p:sp>
        <p:nvSpPr>
          <p:cNvPr id="14" name="dsl:left-body-1|s=$body"/>
          <p:cNvSpPr txBox="1"/>
          <p:nvPr/>
        </p:nvSpPr>
        <p:spPr>
          <a:xfrm>
            <a:off x="571500" y="1352550"/>
            <a:ext cx="3429000" cy="18097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面向多二进制固件交互的跨进程数据流建模与漏洞检测。将跨进程通信抽象为数据键上的Setter/Getter关系，构建二进制依赖图（BDG）并进行跨二进制污点传播。</a:t>
            </a:r>
          </a:p>
        </p:txBody>
      </p:sp>
      <p:sp>
        <p:nvSpPr>
          <p:cNvPr id="15" name="dsl:left-bar-2"/>
          <p:cNvSpPr/>
          <p:nvPr/>
        </p:nvSpPr>
        <p:spPr>
          <a:xfrm>
            <a:off x="571500" y="3314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left-subtitle-2|s=$subtitle"/>
          <p:cNvSpPr txBox="1"/>
          <p:nvPr/>
        </p:nvSpPr>
        <p:spPr>
          <a:xfrm>
            <a:off x="685800" y="3295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研究背景</a:t>
            </a:r>
          </a:p>
        </p:txBody>
      </p:sp>
      <p:sp>
        <p:nvSpPr>
          <p:cNvPr id="17" name="dsl:left-body-2|s=$body"/>
          <p:cNvSpPr txBox="1"/>
          <p:nvPr/>
        </p:nvSpPr>
        <p:spPr>
          <a:xfrm>
            <a:off x="571500" y="3638550"/>
            <a:ext cx="3429000" cy="21907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IoT固件漏洞常跨多个二进制传播。攻击者通过Web入口注入数据，但漏洞实际触发在深层组件。单二进制分析无法捕获通过环境变量、文件、Socket等IPC传递的攻击输入。</a:t>
            </a:r>
          </a:p>
        </p:txBody>
      </p:sp>
      <p:sp>
        <p:nvSpPr>
          <p:cNvPr id="18" name="dsl:mid-bar-1"/>
          <p:cNvSpPr/>
          <p:nvPr/>
        </p:nvSpPr>
        <p:spPr>
          <a:xfrm>
            <a:off x="41910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mid-subtitle-1|s=$subtitle"/>
          <p:cNvSpPr txBox="1"/>
          <p:nvPr/>
        </p:nvSpPr>
        <p:spPr>
          <a:xfrm>
            <a:off x="43053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核心洞察</a:t>
            </a:r>
          </a:p>
        </p:txBody>
      </p:sp>
      <p:sp>
        <p:nvSpPr>
          <p:cNvPr id="20" name="dsl:mid-body-1|s=$body"/>
          <p:cNvSpPr txBox="1"/>
          <p:nvPr/>
        </p:nvSpPr>
        <p:spPr>
          <a:xfrm>
            <a:off x="4191000" y="1352550"/>
            <a:ext cx="3429000" cy="23812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尽管固件架构复杂，二进制文件之间的通信必然依赖有限的IPC范式。任何跨进程通信均依赖特定的"数据键"（环境变量名、文件路径等）。通过静态提取数据键及其操作语义，可重构组件间数据依赖关系。</a:t>
            </a:r>
          </a:p>
        </p:txBody>
      </p:sp>
      <p:sp>
        <p:nvSpPr>
          <p:cNvPr id="21" name="dsl:mid-bar-2"/>
          <p:cNvSpPr/>
          <p:nvPr/>
        </p:nvSpPr>
        <p:spPr>
          <a:xfrm>
            <a:off x="4191000" y="38100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mid-subtitle-2|s=$subtitle"/>
          <p:cNvSpPr txBox="1"/>
          <p:nvPr/>
        </p:nvSpPr>
        <p:spPr>
          <a:xfrm>
            <a:off x="4305300" y="37909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解决方案</a:t>
            </a:r>
          </a:p>
        </p:txBody>
      </p:sp>
      <p:sp>
        <p:nvSpPr>
          <p:cNvPr id="23" name="dsl:mid-body-2|s=$body"/>
          <p:cNvSpPr txBox="1"/>
          <p:nvPr/>
        </p:nvSpPr>
        <p:spPr>
          <a:xfrm>
            <a:off x="4191000" y="4133850"/>
            <a:ext cx="3429000" cy="23812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1. 边界二进制与CPF：识别暴露二进制，抽象IPC机制提取数据键。</a:t>
            </a:r>
          </a:p>
          <a:p>
            <a:pPr algn="l">
              <a:lnSpc>
                <a:spcPct val="160000"/>
              </a:lnSpc>
            </a:pPr>
            <a:r>
              <a:rPr sz="1350" noProof="1">
                <a:solidFill>
                  <a:srgbClr val="0F172A"/>
                </a:solidFill>
                <a:latin typeface="QuattrocentoSans"/>
                <a:ea typeface="MiSans"/>
              </a:rPr>
              <a:t>2. BDG构建与污点分析：跨二进制约束感知的静态污点传播。</a:t>
            </a:r>
          </a:p>
          <a:p>
            <a:pPr algn="l">
              <a:lnSpc>
                <a:spcPct val="160000"/>
              </a:lnSpc>
            </a:pPr>
            <a:r>
              <a:rPr sz="1350" noProof="1">
                <a:solidFill>
                  <a:srgbClr val="0F172A"/>
                </a:solidFill>
                <a:latin typeface="QuattrocentoSans"/>
                <a:ea typeface="MiSans"/>
              </a:rPr>
              <a:t>3. 不安全交互检测：评估安全违规并输出漏洞警报。</a:t>
            </a:r>
          </a:p>
        </p:txBody>
      </p:sp>
      <p:sp>
        <p:nvSpPr>
          <p:cNvPr id="24" name="dsl:right-bar"/>
          <p:cNvSpPr/>
          <p:nvPr/>
        </p:nvSpPr>
        <p:spPr>
          <a:xfrm>
            <a:off x="78105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right-subtitle|s=$subtitle"/>
          <p:cNvSpPr txBox="1"/>
          <p:nvPr/>
        </p:nvSpPr>
        <p:spPr>
          <a:xfrm>
            <a:off x="79248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关键数据</a:t>
            </a:r>
          </a:p>
        </p:txBody>
      </p:sp>
      <p:sp>
        <p:nvSpPr>
          <p:cNvPr id="26" name="dsl:card1-bg"/>
          <p:cNvSpPr/>
          <p:nvPr/>
        </p:nvSpPr>
        <p:spPr>
          <a:xfrm>
            <a:off x="8001000" y="1428750"/>
            <a:ext cx="3238500" cy="1143000"/>
          </a:xfrm>
          <a:prstGeom prst="roundRect">
            <a:avLst>
              <a:gd name="adj" fmla="val 8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card1-num|s=$kpi"/>
          <p:cNvSpPr txBox="1"/>
          <p:nvPr/>
        </p:nvSpPr>
        <p:spPr>
          <a:xfrm>
            <a:off x="8191500" y="1571625"/>
            <a:ext cx="2857500" cy="400050"/>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53</a:t>
            </a:r>
          </a:p>
        </p:txBody>
      </p:sp>
      <p:sp>
        <p:nvSpPr>
          <p:cNvPr id="28" name="dsl:card1-label|s=$caption"/>
          <p:cNvSpPr txBox="1"/>
          <p:nvPr/>
        </p:nvSpPr>
        <p:spPr>
          <a:xfrm>
            <a:off x="8191500" y="2047875"/>
            <a:ext cx="2857500" cy="2286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固件样本</a:t>
            </a:r>
          </a:p>
        </p:txBody>
      </p:sp>
      <p:sp>
        <p:nvSpPr>
          <p:cNvPr id="29" name="dsl:card2-bg"/>
          <p:cNvSpPr/>
          <p:nvPr/>
        </p:nvSpPr>
        <p:spPr>
          <a:xfrm>
            <a:off x="8001000" y="2762250"/>
            <a:ext cx="3238500" cy="1143000"/>
          </a:xfrm>
          <a:prstGeom prst="roundRect">
            <a:avLst>
              <a:gd name="adj" fmla="val 8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sl:card2-num|s=$kpi"/>
          <p:cNvSpPr txBox="1"/>
          <p:nvPr/>
        </p:nvSpPr>
        <p:spPr>
          <a:xfrm>
            <a:off x="8191500" y="2905125"/>
            <a:ext cx="2857500" cy="400050"/>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46</a:t>
            </a:r>
          </a:p>
        </p:txBody>
      </p:sp>
      <p:sp>
        <p:nvSpPr>
          <p:cNvPr id="31" name="dsl:card2-label|s=$caption"/>
          <p:cNvSpPr txBox="1"/>
          <p:nvPr/>
        </p:nvSpPr>
        <p:spPr>
          <a:xfrm>
            <a:off x="8191500" y="3381375"/>
            <a:ext cx="2857500" cy="2286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0-day 漏洞</a:t>
            </a:r>
          </a:p>
        </p:txBody>
      </p:sp>
      <p:sp>
        <p:nvSpPr>
          <p:cNvPr id="32" name="dsl:card3-bg"/>
          <p:cNvSpPr/>
          <p:nvPr/>
        </p:nvSpPr>
        <p:spPr>
          <a:xfrm>
            <a:off x="8001000" y="4095750"/>
            <a:ext cx="3238500" cy="1143000"/>
          </a:xfrm>
          <a:prstGeom prst="roundRect">
            <a:avLst>
              <a:gd name="adj" fmla="val 8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sl:card3-num|s=$kpi"/>
          <p:cNvSpPr txBox="1"/>
          <p:nvPr/>
        </p:nvSpPr>
        <p:spPr>
          <a:xfrm>
            <a:off x="8191500" y="4238625"/>
            <a:ext cx="2857500" cy="400050"/>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722 → 2</a:t>
            </a:r>
          </a:p>
        </p:txBody>
      </p:sp>
      <p:sp>
        <p:nvSpPr>
          <p:cNvPr id="34" name="dsl:card3-label|s=$caption"/>
          <p:cNvSpPr txBox="1"/>
          <p:nvPr/>
        </p:nvSpPr>
        <p:spPr>
          <a:xfrm>
            <a:off x="8191500" y="4714875"/>
            <a:ext cx="2857500" cy="2286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平均告警数（降低两个数量级）</a:t>
            </a:r>
          </a:p>
        </p:txBody>
      </p:sp>
      <p:sp>
        <p:nvSpPr>
          <p:cNvPr id="35" name="dsl:footer-left|s=$caption"/>
          <p:cNvSpPr txBox="1"/>
          <p:nvPr/>
        </p:nvSpPr>
        <p:spPr>
          <a:xfrm>
            <a:off x="571500" y="6572250"/>
            <a:ext cx="3810000" cy="1905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网络设备Web服务安全研究</a:t>
            </a:r>
          </a:p>
        </p:txBody>
      </p:sp>
      <p:sp>
        <p:nvSpPr>
          <p:cNvPr id="36" name="dsl:footer-right|s=$caption"/>
          <p:cNvSpPr txBox="1"/>
          <p:nvPr/>
        </p:nvSpPr>
        <p:spPr>
          <a:xfrm>
            <a:off x="10477500" y="6572250"/>
            <a:ext cx="1143000" cy="190500"/>
          </a:xfrm>
          <a:prstGeom prst="rect">
            <a:avLst/>
          </a:prstGeom>
          <a:noFill/>
        </p:spPr>
        <p:txBody>
          <a:bodyPr wrap="none" anchor="ctr">
            <a:noAutofit/>
          </a:bodyPr>
          <a:lstStyle/>
          <a:p>
            <a:pPr algn="r">
              <a:lnSpc>
                <a:spcPct val="140000"/>
              </a:lnSpc>
            </a:pPr>
            <a:r>
              <a:rPr sz="1050" noProof="1">
                <a:solidFill>
                  <a:srgbClr val="64748B"/>
                </a:solidFill>
                <a:latin typeface="QuattrocentoSans"/>
                <a:ea typeface="MiSans"/>
              </a:rPr>
              <a:t>13 / 37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dsl:nav-bg"/>
          <p:cNvSpPr/>
          <p:nvPr/>
        </p:nvSpPr>
        <p:spPr>
          <a:xfrm>
            <a:off x="0" y="0"/>
            <a:ext cx="12192000" cy="381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
          <p:cNvSpPr/>
          <p:nvPr/>
        </p:nvSpPr>
        <p:spPr>
          <a:xfrm>
            <a:off x="3048000" y="0"/>
            <a:ext cx="3048000" cy="3810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t1|s=$nav"/>
          <p:cNvSpPr txBox="1"/>
          <p:nvPr/>
        </p:nvSpPr>
        <p:spPr>
          <a:xfrm>
            <a:off x="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维度一: Source</a:t>
            </a:r>
          </a:p>
        </p:txBody>
      </p:sp>
      <p:sp>
        <p:nvSpPr>
          <p:cNvPr id="5" name="dsl:nav-t2|s=$nav"/>
          <p:cNvSpPr txBox="1"/>
          <p:nvPr/>
        </p:nvSpPr>
        <p:spPr>
          <a:xfrm>
            <a:off x="3048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维度二: Propagation</a:t>
            </a:r>
          </a:p>
        </p:txBody>
      </p:sp>
      <p:sp>
        <p:nvSpPr>
          <p:cNvPr id="6" name="dsl:nav-t3|s=$nav"/>
          <p:cNvSpPr txBox="1"/>
          <p:nvPr/>
        </p:nvSpPr>
        <p:spPr>
          <a:xfrm>
            <a:off x="6096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维度三: Sink</a:t>
            </a:r>
          </a:p>
        </p:txBody>
      </p:sp>
      <p:sp>
        <p:nvSpPr>
          <p:cNvPr id="7" name="dsl:nav-t4|s=$nav"/>
          <p:cNvSpPr txBox="1"/>
          <p:nvPr/>
        </p:nvSpPr>
        <p:spPr>
          <a:xfrm>
            <a:off x="9144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维度四: Verification</a:t>
            </a:r>
          </a:p>
        </p:txBody>
      </p:sp>
      <p:sp>
        <p:nvSpPr>
          <p:cNvPr id="8" name="dsl:nav-line"/>
          <p:cNvSpPr/>
          <p:nvPr/>
        </p:nvSpPr>
        <p:spPr>
          <a:xfrm>
            <a:off x="0" y="381000"/>
            <a:ext cx="12192000" cy="1905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page-title|s=$title"/>
          <p:cNvSpPr txBox="1"/>
          <p:nvPr/>
        </p:nvSpPr>
        <p:spPr>
          <a:xfrm>
            <a:off x="571500" y="514350"/>
            <a:ext cx="8382000" cy="381000"/>
          </a:xfrm>
          <a:prstGeom prst="rect">
            <a:avLst/>
          </a:prstGeom>
          <a:noFill/>
        </p:spPr>
        <p:txBody>
          <a:bodyPr wrap="none" anchor="ctr">
            <a:noAutofit/>
          </a:bodyPr>
          <a:lstStyle/>
          <a:p>
            <a:pPr algn="l">
              <a:lnSpc>
                <a:spcPct val="130000"/>
              </a:lnSpc>
            </a:pPr>
            <a:r>
              <a:rPr sz="2100" noProof="1">
                <a:solidFill>
                  <a:srgbClr val="1E293B"/>
                </a:solidFill>
                <a:latin typeface="QuattrocentoSans"/>
                <a:ea typeface="MiSans"/>
              </a:rPr>
              <a:t>KARONTE — 实验结果与文章评价</a:t>
            </a:r>
          </a:p>
        </p:txBody>
      </p:sp>
      <p:sp>
        <p:nvSpPr>
          <p:cNvPr id="10" name="dsl:badge-bg"/>
          <p:cNvSpPr/>
          <p:nvPr/>
        </p:nvSpPr>
        <p:spPr>
          <a:xfrm>
            <a:off x="10287000" y="552450"/>
            <a:ext cx="1333500" cy="266700"/>
          </a:xfrm>
          <a:prstGeom prst="roundRect">
            <a:avLst>
              <a:gd name="adj" fmla="val 8000"/>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badge-text|s=$badge"/>
          <p:cNvSpPr txBox="1"/>
          <p:nvPr/>
        </p:nvSpPr>
        <p:spPr>
          <a:xfrm>
            <a:off x="10287000" y="552450"/>
            <a:ext cx="1333500" cy="2667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IEEE S&amp;P 2020</a:t>
            </a:r>
          </a:p>
        </p:txBody>
      </p:sp>
      <p:sp>
        <p:nvSpPr>
          <p:cNvPr id="12" name="dsl:results-bar"/>
          <p:cNvSpPr/>
          <p:nvPr/>
        </p:nvSpPr>
        <p:spPr>
          <a:xfrm>
            <a:off x="5715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results-subtitle|s=$subtitle"/>
          <p:cNvSpPr txBox="1"/>
          <p:nvPr/>
        </p:nvSpPr>
        <p:spPr>
          <a:xfrm>
            <a:off x="6858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实验结果</a:t>
            </a:r>
          </a:p>
        </p:txBody>
      </p:sp>
      <p:graphicFrame>
        <p:nvGraphicFramePr>
          <p:cNvPr id="14" name="dsl:results-table"/>
          <p:cNvGraphicFramePr>
            <a:graphicFrameLocks noGrp="1"/>
          </p:cNvGraphicFramePr>
          <p:nvPr/>
        </p:nvGraphicFramePr>
        <p:xfrm>
          <a:off x="571500" y="1409700"/>
          <a:ext cx="5715000" cy="1905000"/>
        </p:xfrm>
        <a:graphic>
          <a:graphicData uri="http://schemas.openxmlformats.org/drawingml/2006/table">
            <a:tbl>
              <a:tblPr firstRow="0" bandRow="0" lastRow="0" firstCol="0" lastCol="0" bandCol="0">
                <a:tableStyleId>{2D5ABB26-0587-4C30-8999-92F81FD0307C}</a:tableStyleId>
              </a:tblPr>
              <a:tblGrid>
                <a:gridCol w="2857500"/>
                <a:gridCol w="2857500"/>
              </a:tblGrid>
              <a:tr h="304800">
                <a:tc>
                  <a:txBody>
                    <a:bodyPr wrap="square" anchor="ctr">
                      <a:noAutofit/>
                    </a:bodyPr>
                    <a:lstStyle/>
                    <a:p>
                      <a:pPr algn="ctr"/>
                      <a:r>
                        <a:rPr sz="1200" noProof="1" b="1">
                          <a:solidFill>
                            <a:srgbClr val="FFFFFF"/>
                          </a:solidFill>
                          <a:latin typeface="QuattrocentoSans"/>
                          <a:ea typeface="MiSans"/>
                        </a:rPr>
                        <a:t>评估指标</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1E293B"/>
                    </a:solidFill>
                  </a:tcPr>
                </a:tc>
                <a:tc>
                  <a:txBody>
                    <a:bodyPr wrap="square" anchor="ctr">
                      <a:noAutofit/>
                    </a:bodyPr>
                    <a:lstStyle/>
                    <a:p>
                      <a:pPr algn="ctr"/>
                      <a:r>
                        <a:rPr sz="1200" noProof="1" b="1">
                          <a:solidFill>
                            <a:srgbClr val="FFFFFF"/>
                          </a:solidFill>
                          <a:latin typeface="QuattrocentoSans"/>
                          <a:ea typeface="MiSans"/>
                        </a:rPr>
                        <a:t>数值</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1E293B"/>
                    </a:solidFill>
                  </a:tcPr>
                </a:tc>
              </a:tr>
              <a:tr h="400050">
                <a:tc>
                  <a:txBody>
                    <a:bodyPr wrap="square" anchor="ctr">
                      <a:noAutofit/>
                    </a:bodyPr>
                    <a:lstStyle/>
                    <a:p>
                      <a:pPr algn="ctr"/>
                      <a:r>
                        <a:rPr sz="1200" noProof="1">
                          <a:solidFill>
                            <a:srgbClr val="0F172A"/>
                          </a:solidFill>
                          <a:latin typeface="QuattrocentoSans"/>
                          <a:ea typeface="MiSans"/>
                        </a:rPr>
                        <a:t>固件样本</a:t>
                      </a:r>
                    </a:p>
                  </a:txBody>
                  <a:tcPr marL="91440" marR="91440" marT="0" marB="0" anchor="ctr">
                    <a:solidFill>
                      <a:srgbClr val="FFFFFF"/>
                    </a:solidFill>
                  </a:tcPr>
                </a:tc>
                <a:tc>
                  <a:txBody>
                    <a:bodyPr wrap="square" anchor="ctr">
                      <a:noAutofit/>
                    </a:bodyPr>
                    <a:lstStyle/>
                    <a:p>
                      <a:pPr algn="ctr"/>
                      <a:r>
                        <a:rPr sz="1200" noProof="1">
                          <a:solidFill>
                            <a:srgbClr val="0F172A"/>
                          </a:solidFill>
                          <a:latin typeface="QuattrocentoSans"/>
                          <a:ea typeface="MiSans"/>
                        </a:rPr>
                        <a:t>53 个</a:t>
                      </a:r>
                    </a:p>
                  </a:txBody>
                  <a:tcPr marL="91440" marR="91440" marT="0" marB="0" anchor="ctr">
                    <a:solidFill>
                      <a:srgbClr val="FFFFFF"/>
                    </a:solidFill>
                  </a:tcPr>
                </a:tc>
              </a:tr>
              <a:tr h="400050">
                <a:tc>
                  <a:txBody>
                    <a:bodyPr wrap="square" anchor="ctr">
                      <a:noAutofit/>
                    </a:bodyPr>
                    <a:lstStyle/>
                    <a:p>
                      <a:pPr algn="ctr"/>
                      <a:r>
                        <a:rPr sz="1200" noProof="1">
                          <a:solidFill>
                            <a:srgbClr val="0F172A"/>
                          </a:solidFill>
                          <a:latin typeface="QuattrocentoSans"/>
                          <a:ea typeface="MiSans"/>
                        </a:rPr>
                        <a:t>0-day 漏洞</a:t>
                      </a:r>
                    </a:p>
                  </a:txBody>
                  <a:tcPr marL="91440" marR="91440" marT="0" marB="0" anchor="ctr">
                    <a:solidFill>
                      <a:srgbClr val="F1F5F9"/>
                    </a:solidFill>
                  </a:tcPr>
                </a:tc>
                <a:tc>
                  <a:txBody>
                    <a:bodyPr wrap="square" anchor="ctr">
                      <a:noAutofit/>
                    </a:bodyPr>
                    <a:lstStyle/>
                    <a:p>
                      <a:pPr algn="ctr"/>
                      <a:r>
                        <a:rPr sz="1200" noProof="1">
                          <a:solidFill>
                            <a:srgbClr val="0F172A"/>
                          </a:solidFill>
                          <a:latin typeface="QuattrocentoSans"/>
                          <a:ea typeface="MiSans"/>
                        </a:rPr>
                        <a:t>46 个</a:t>
                      </a:r>
                    </a:p>
                  </a:txBody>
                  <a:tcPr marL="91440" marR="91440" marT="0" marB="0" anchor="ctr">
                    <a:solidFill>
                      <a:srgbClr val="F1F5F9"/>
                    </a:solidFill>
                  </a:tcPr>
                </a:tc>
              </a:tr>
              <a:tr h="400050">
                <a:tc>
                  <a:txBody>
                    <a:bodyPr wrap="square" anchor="ctr">
                      <a:noAutofit/>
                    </a:bodyPr>
                    <a:lstStyle/>
                    <a:p>
                      <a:pPr algn="ctr"/>
                      <a:r>
                        <a:rPr sz="1200" noProof="1">
                          <a:solidFill>
                            <a:srgbClr val="0F172A"/>
                          </a:solidFill>
                          <a:latin typeface="QuattrocentoSans"/>
                          <a:ea typeface="MiSans"/>
                        </a:rPr>
                        <a:t>平均告警数（传统）</a:t>
                      </a:r>
                    </a:p>
                  </a:txBody>
                  <a:tcPr marL="91440" marR="91440" marT="0" marB="0" anchor="ctr">
                    <a:solidFill>
                      <a:srgbClr val="FFFFFF"/>
                    </a:solidFill>
                  </a:tcPr>
                </a:tc>
                <a:tc>
                  <a:txBody>
                    <a:bodyPr wrap="square" anchor="ctr">
                      <a:noAutofit/>
                    </a:bodyPr>
                    <a:lstStyle/>
                    <a:p>
                      <a:pPr algn="ctr"/>
                      <a:r>
                        <a:rPr sz="1200" noProof="1">
                          <a:solidFill>
                            <a:srgbClr val="0F172A"/>
                          </a:solidFill>
                          <a:latin typeface="QuattrocentoSans"/>
                          <a:ea typeface="MiSans"/>
                        </a:rPr>
                        <a:t>722 个</a:t>
                      </a:r>
                    </a:p>
                  </a:txBody>
                  <a:tcPr marL="91440" marR="91440" marT="0" marB="0" anchor="ctr">
                    <a:solidFill>
                      <a:srgbClr val="FFFFFF"/>
                    </a:solidFill>
                  </a:tcPr>
                </a:tc>
              </a:tr>
              <a:tr h="400050">
                <a:tc>
                  <a:txBody>
                    <a:bodyPr wrap="square" anchor="ctr">
                      <a:noAutofit/>
                    </a:bodyPr>
                    <a:lstStyle/>
                    <a:p>
                      <a:pPr algn="ctr"/>
                      <a:r>
                        <a:rPr sz="1200" noProof="1">
                          <a:solidFill>
                            <a:srgbClr val="0F172A"/>
                          </a:solidFill>
                          <a:latin typeface="QuattrocentoSans"/>
                          <a:ea typeface="MiSans"/>
                        </a:rPr>
                        <a:t>平均告警数（KARONTE）</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F1F5F9"/>
                    </a:solidFill>
                  </a:tcPr>
                </a:tc>
                <a:tc>
                  <a:txBody>
                    <a:bodyPr wrap="square" anchor="ctr">
                      <a:noAutofit/>
                    </a:bodyPr>
                    <a:lstStyle/>
                    <a:p>
                      <a:pPr algn="ctr"/>
                      <a:r>
                        <a:rPr sz="1200" noProof="1">
                          <a:solidFill>
                            <a:srgbClr val="0F172A"/>
                          </a:solidFill>
                          <a:latin typeface="QuattrocentoSans"/>
                          <a:ea typeface="MiSans"/>
                        </a:rPr>
                        <a:t>2 个</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F1F5F9"/>
                    </a:solidFill>
                  </a:tcPr>
                </a:tc>
              </a:tr>
            </a:tbl>
          </a:graphicData>
        </a:graphic>
      </p:graphicFrame>
      <p:sp>
        <p:nvSpPr>
          <p:cNvPr id="15" name="dsl:results-note|s=$body"/>
          <p:cNvSpPr txBox="1"/>
          <p:nvPr/>
        </p:nvSpPr>
        <p:spPr>
          <a:xfrm>
            <a:off x="6667500" y="1409700"/>
            <a:ext cx="4953000" cy="1905000"/>
          </a:xfrm>
          <a:prstGeom prst="rect">
            <a:avLst/>
          </a:prstGeom>
          <a:noFill/>
        </p:spPr>
        <p:txBody>
          <a:bodyPr wrap="square" anchor="t">
            <a:noAutofit/>
          </a:bodyPr>
          <a:lstStyle/>
          <a:p>
            <a:pPr algn="l">
              <a:lnSpc>
                <a:spcPct val="160000"/>
              </a:lnSpc>
            </a:pPr>
            <a:r>
              <a:rPr b="1" sz="1350" noProof="1">
                <a:solidFill>
                  <a:srgbClr val="0F172A"/>
                </a:solidFill>
                <a:latin typeface="QuattrocentoSans"/>
                <a:ea typeface="MiSans"/>
              </a:rPr>
              <a:t>与现有方法对比</a:t>
            </a:r>
          </a:p>
          <a:p>
            <a:pPr algn="l">
              <a:lnSpc>
                <a:spcPct val="160000"/>
              </a:lnSpc>
            </a:pPr>
            <a:r>
              <a:rPr sz="1350" noProof="1">
                <a:solidFill>
                  <a:srgbClr val="0F172A"/>
                </a:solidFill>
                <a:latin typeface="QuattrocentoSans"/>
                <a:ea typeface="MiSans"/>
              </a:rPr>
              <a:t>传统单二进制静态分析不考虑跨组件交互，导致误报极高。KARONTE将平均告警从722个降至2个，警报总数降低两个数量级（20,931 → 74），解决了静态分析的误报瓶颈。</a:t>
            </a:r>
          </a:p>
        </p:txBody>
      </p:sp>
      <p:sp>
        <p:nvSpPr>
          <p:cNvPr id="16" name="dsl:eval-bar"/>
          <p:cNvSpPr/>
          <p:nvPr/>
        </p:nvSpPr>
        <p:spPr>
          <a:xfrm>
            <a:off x="571500" y="352425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eval-subtitle|s=$subtitle"/>
          <p:cNvSpPr txBox="1"/>
          <p:nvPr/>
        </p:nvSpPr>
        <p:spPr>
          <a:xfrm>
            <a:off x="685800" y="350520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文章评价</a:t>
            </a:r>
          </a:p>
        </p:txBody>
      </p:sp>
      <p:sp>
        <p:nvSpPr>
          <p:cNvPr id="18" name="dsl:eval1-bar"/>
          <p:cNvSpPr/>
          <p:nvPr/>
        </p:nvSpPr>
        <p:spPr>
          <a:xfrm>
            <a:off x="571500" y="3924300"/>
            <a:ext cx="38100" cy="2286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eval1-subtitle"/>
          <p:cNvSpPr txBox="1"/>
          <p:nvPr/>
        </p:nvSpPr>
        <p:spPr>
          <a:xfrm>
            <a:off x="685800" y="3905250"/>
            <a:ext cx="3314700" cy="266700"/>
          </a:xfrm>
          <a:prstGeom prst="rect">
            <a:avLst/>
          </a:prstGeom>
          <a:noFill/>
        </p:spPr>
        <p:txBody>
          <a:bodyPr wrap="none" anchor="ctr">
            <a:noAutofit/>
          </a:bodyPr>
          <a:lstStyle/>
          <a:p>
            <a:pPr algn="l"/>
            <a:r>
              <a:rPr b="1" sz="1350" noProof="1">
                <a:solidFill>
                  <a:srgbClr val="059669"/>
                </a:solidFill>
                <a:latin typeface="QuattrocentoSans"/>
                <a:ea typeface="MiSans"/>
              </a:rPr>
              <a:t>优势</a:t>
            </a:r>
          </a:p>
        </p:txBody>
      </p:sp>
      <p:sp>
        <p:nvSpPr>
          <p:cNvPr id="20" name="dsl:eval1-body|s=$body"/>
          <p:cNvSpPr txBox="1"/>
          <p:nvPr/>
        </p:nvSpPr>
        <p:spPr>
          <a:xfrm>
            <a:off x="571500" y="4248150"/>
            <a:ext cx="3429000" cy="209550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奠定了多二进制IPC数据流抽象的基础，是后续跨组件固件分析的重要基础设计。通过BDG建模将跨进程通信形式化，首次系统解决了多二进制固件中的数据流追踪问题。</a:t>
            </a:r>
          </a:p>
        </p:txBody>
      </p:sp>
      <p:sp>
        <p:nvSpPr>
          <p:cNvPr id="21" name="dsl:eval2-bar"/>
          <p:cNvSpPr/>
          <p:nvPr/>
        </p:nvSpPr>
        <p:spPr>
          <a:xfrm>
            <a:off x="4191000" y="3924300"/>
            <a:ext cx="38100" cy="2286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eval2-subtitle"/>
          <p:cNvSpPr txBox="1"/>
          <p:nvPr/>
        </p:nvSpPr>
        <p:spPr>
          <a:xfrm>
            <a:off x="4305300" y="3905250"/>
            <a:ext cx="3314700" cy="266700"/>
          </a:xfrm>
          <a:prstGeom prst="rect">
            <a:avLst/>
          </a:prstGeom>
          <a:noFill/>
        </p:spPr>
        <p:txBody>
          <a:bodyPr wrap="none" anchor="ctr">
            <a:noAutofit/>
          </a:bodyPr>
          <a:lstStyle/>
          <a:p>
            <a:pPr algn="l"/>
            <a:r>
              <a:rPr b="1" sz="1350" noProof="1">
                <a:solidFill>
                  <a:srgbClr val="DC2626"/>
                </a:solidFill>
                <a:latin typeface="QuattrocentoSans"/>
                <a:ea typeface="MiSans"/>
              </a:rPr>
              <a:t>局限</a:t>
            </a:r>
          </a:p>
        </p:txBody>
      </p:sp>
      <p:sp>
        <p:nvSpPr>
          <p:cNvPr id="23" name="dsl:eval2-body|s=$body"/>
          <p:cNvSpPr txBox="1"/>
          <p:nvPr/>
        </p:nvSpPr>
        <p:spPr>
          <a:xfrm>
            <a:off x="4191000" y="4248150"/>
            <a:ext cx="3429000" cy="209550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① 符号执行开销重，难以支撑大规模固件扫描；② 边界二进制过滤策略会遗漏内部组件漏洞；③ 通信范式覆盖不全时，BDG会出现断裂，导致跨组件路径丢失。</a:t>
            </a:r>
          </a:p>
        </p:txBody>
      </p:sp>
      <p:sp>
        <p:nvSpPr>
          <p:cNvPr id="24" name="dsl:eval3-bar"/>
          <p:cNvSpPr/>
          <p:nvPr/>
        </p:nvSpPr>
        <p:spPr>
          <a:xfrm>
            <a:off x="7810500" y="3924300"/>
            <a:ext cx="38100" cy="228600"/>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eval3-subtitle"/>
          <p:cNvSpPr txBox="1"/>
          <p:nvPr/>
        </p:nvSpPr>
        <p:spPr>
          <a:xfrm>
            <a:off x="7924800" y="3905250"/>
            <a:ext cx="3314700" cy="266700"/>
          </a:xfrm>
          <a:prstGeom prst="rect">
            <a:avLst/>
          </a:prstGeom>
          <a:noFill/>
        </p:spPr>
        <p:txBody>
          <a:bodyPr wrap="none" anchor="ctr">
            <a:noAutofit/>
          </a:bodyPr>
          <a:lstStyle/>
          <a:p>
            <a:pPr algn="l"/>
            <a:r>
              <a:rPr b="1" sz="1350" noProof="1">
                <a:solidFill>
                  <a:srgbClr val="64748B"/>
                </a:solidFill>
                <a:latin typeface="QuattrocentoSans"/>
                <a:ea typeface="MiSans"/>
              </a:rPr>
              <a:t>商业化</a:t>
            </a:r>
          </a:p>
        </p:txBody>
      </p:sp>
      <p:sp>
        <p:nvSpPr>
          <p:cNvPr id="26" name="dsl:eval3-body|s=$body"/>
          <p:cNvSpPr txBox="1"/>
          <p:nvPr/>
        </p:nvSpPr>
        <p:spPr>
          <a:xfrm>
            <a:off x="7810500" y="4248150"/>
            <a:ext cx="3429000" cy="209550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依赖建模完备性与符号执行开销，仅适合高价值样本的离线分析，不适合作为批量商用扫描主引擎。</a:t>
            </a:r>
          </a:p>
        </p:txBody>
      </p:sp>
      <p:sp>
        <p:nvSpPr>
          <p:cNvPr id="27" name="dsl:footer-left|s=$caption"/>
          <p:cNvSpPr txBox="1"/>
          <p:nvPr/>
        </p:nvSpPr>
        <p:spPr>
          <a:xfrm>
            <a:off x="571500" y="6572250"/>
            <a:ext cx="3810000" cy="1905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网络设备Web服务安全研究</a:t>
            </a:r>
          </a:p>
        </p:txBody>
      </p:sp>
      <p:sp>
        <p:nvSpPr>
          <p:cNvPr id="28" name="dsl:footer-right|s=$caption"/>
          <p:cNvSpPr txBox="1"/>
          <p:nvPr/>
        </p:nvSpPr>
        <p:spPr>
          <a:xfrm>
            <a:off x="10477500" y="6572250"/>
            <a:ext cx="1143000" cy="190500"/>
          </a:xfrm>
          <a:prstGeom prst="rect">
            <a:avLst/>
          </a:prstGeom>
          <a:noFill/>
        </p:spPr>
        <p:txBody>
          <a:bodyPr wrap="none" anchor="ctr">
            <a:noAutofit/>
          </a:bodyPr>
          <a:lstStyle/>
          <a:p>
            <a:pPr algn="r">
              <a:lnSpc>
                <a:spcPct val="140000"/>
              </a:lnSpc>
            </a:pPr>
            <a:r>
              <a:rPr sz="1050" noProof="1">
                <a:solidFill>
                  <a:srgbClr val="64748B"/>
                </a:solidFill>
                <a:latin typeface="QuattrocentoSans"/>
                <a:ea typeface="MiSans"/>
              </a:rPr>
              <a:t>14 / 37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dsl:nav-bg"/>
          <p:cNvSpPr/>
          <p:nvPr/>
        </p:nvSpPr>
        <p:spPr>
          <a:xfrm>
            <a:off x="0" y="0"/>
            <a:ext cx="12192000" cy="381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
          <p:cNvSpPr/>
          <p:nvPr/>
        </p:nvSpPr>
        <p:spPr>
          <a:xfrm>
            <a:off x="3048000" y="0"/>
            <a:ext cx="3048000" cy="3810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t1|s=$nav"/>
          <p:cNvSpPr txBox="1"/>
          <p:nvPr/>
        </p:nvSpPr>
        <p:spPr>
          <a:xfrm>
            <a:off x="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维度一: Source</a:t>
            </a:r>
          </a:p>
        </p:txBody>
      </p:sp>
      <p:sp>
        <p:nvSpPr>
          <p:cNvPr id="5" name="dsl:nav-t2|s=$nav"/>
          <p:cNvSpPr txBox="1"/>
          <p:nvPr/>
        </p:nvSpPr>
        <p:spPr>
          <a:xfrm>
            <a:off x="3048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维度二: Propagation</a:t>
            </a:r>
          </a:p>
        </p:txBody>
      </p:sp>
      <p:sp>
        <p:nvSpPr>
          <p:cNvPr id="6" name="dsl:nav-t3|s=$nav"/>
          <p:cNvSpPr txBox="1"/>
          <p:nvPr/>
        </p:nvSpPr>
        <p:spPr>
          <a:xfrm>
            <a:off x="6096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维度三: Sink</a:t>
            </a:r>
          </a:p>
        </p:txBody>
      </p:sp>
      <p:sp>
        <p:nvSpPr>
          <p:cNvPr id="7" name="dsl:nav-t4|s=$nav"/>
          <p:cNvSpPr txBox="1"/>
          <p:nvPr/>
        </p:nvSpPr>
        <p:spPr>
          <a:xfrm>
            <a:off x="9144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维度四: Verification</a:t>
            </a:r>
          </a:p>
        </p:txBody>
      </p:sp>
      <p:sp>
        <p:nvSpPr>
          <p:cNvPr id="8" name="dsl:nav-line"/>
          <p:cNvSpPr/>
          <p:nvPr/>
        </p:nvSpPr>
        <p:spPr>
          <a:xfrm>
            <a:off x="0" y="381000"/>
            <a:ext cx="12192000" cy="1905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page-title|s=$title"/>
          <p:cNvSpPr txBox="1"/>
          <p:nvPr/>
        </p:nvSpPr>
        <p:spPr>
          <a:xfrm>
            <a:off x="571500" y="514350"/>
            <a:ext cx="8382000" cy="381000"/>
          </a:xfrm>
          <a:prstGeom prst="rect">
            <a:avLst/>
          </a:prstGeom>
          <a:noFill/>
        </p:spPr>
        <p:txBody>
          <a:bodyPr wrap="none" anchor="ctr">
            <a:noAutofit/>
          </a:bodyPr>
          <a:lstStyle/>
          <a:p>
            <a:pPr algn="l">
              <a:lnSpc>
                <a:spcPct val="130000"/>
              </a:lnSpc>
            </a:pPr>
            <a:r>
              <a:rPr sz="2100" noProof="1">
                <a:solidFill>
                  <a:srgbClr val="1E293B"/>
                </a:solidFill>
                <a:latin typeface="QuattrocentoSans"/>
                <a:ea typeface="MiSans"/>
              </a:rPr>
              <a:t>MangoDFA — Sink-to-Source与富表达式模型</a:t>
            </a:r>
          </a:p>
        </p:txBody>
      </p:sp>
      <p:sp>
        <p:nvSpPr>
          <p:cNvPr id="10" name="dsl:badge-bg"/>
          <p:cNvSpPr/>
          <p:nvPr/>
        </p:nvSpPr>
        <p:spPr>
          <a:xfrm>
            <a:off x="10001250" y="552450"/>
            <a:ext cx="1619250" cy="266700"/>
          </a:xfrm>
          <a:prstGeom prst="roundRect">
            <a:avLst>
              <a:gd name="adj" fmla="val 8000"/>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badge-text|s=$badge"/>
          <p:cNvSpPr txBox="1"/>
          <p:nvPr/>
        </p:nvSpPr>
        <p:spPr>
          <a:xfrm>
            <a:off x="10001250" y="552450"/>
            <a:ext cx="1619250" cy="2667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USENIX Security 2024</a:t>
            </a:r>
          </a:p>
        </p:txBody>
      </p:sp>
      <p:sp>
        <p:nvSpPr>
          <p:cNvPr id="12" name="dsl:left-bar-1"/>
          <p:cNvSpPr/>
          <p:nvPr/>
        </p:nvSpPr>
        <p:spPr>
          <a:xfrm>
            <a:off x="5715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left-subtitle-1|s=$subtitle"/>
          <p:cNvSpPr txBox="1"/>
          <p:nvPr/>
        </p:nvSpPr>
        <p:spPr>
          <a:xfrm>
            <a:off x="6858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内容摘要</a:t>
            </a:r>
          </a:p>
        </p:txBody>
      </p:sp>
      <p:sp>
        <p:nvSpPr>
          <p:cNvPr id="14" name="dsl:left-body-1|s=$body"/>
          <p:cNvSpPr txBox="1"/>
          <p:nvPr/>
        </p:nvSpPr>
        <p:spPr>
          <a:xfrm>
            <a:off x="571500" y="1352550"/>
            <a:ext cx="3429000" cy="18097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面向二进制固件服务的可扩展Sink-to-Source数据流分析。抛弃布尔污点模型，用混合值域与富表达式记录数据历史，从Sink反向追溯可控Source，通过TruPoCs筛选真实漏洞候选。</a:t>
            </a:r>
          </a:p>
        </p:txBody>
      </p:sp>
      <p:sp>
        <p:nvSpPr>
          <p:cNvPr id="15" name="dsl:left-bar-2"/>
          <p:cNvSpPr/>
          <p:nvPr/>
        </p:nvSpPr>
        <p:spPr>
          <a:xfrm>
            <a:off x="571500" y="3314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left-subtitle-2|s=$subtitle"/>
          <p:cNvSpPr txBox="1"/>
          <p:nvPr/>
        </p:nvSpPr>
        <p:spPr>
          <a:xfrm>
            <a:off x="685800" y="3295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研究背景</a:t>
            </a:r>
          </a:p>
        </p:txBody>
      </p:sp>
      <p:sp>
        <p:nvSpPr>
          <p:cNvPr id="17" name="dsl:left-body-2|s=$body"/>
          <p:cNvSpPr txBox="1"/>
          <p:nvPr/>
        </p:nvSpPr>
        <p:spPr>
          <a:xfrm>
            <a:off x="571500" y="3638550"/>
            <a:ext cx="3429000" cy="21907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现有工具为提升可扩展性主动放弃绝大多数二进制分析，导致严重漏报。传统布尔污点模型只能标记"是否被污染"，无法推理数据具体构成，面对复杂字符串处理产生大量误报。</a:t>
            </a:r>
          </a:p>
        </p:txBody>
      </p:sp>
      <p:sp>
        <p:nvSpPr>
          <p:cNvPr id="18" name="dsl:mid-bar-1"/>
          <p:cNvSpPr/>
          <p:nvPr/>
        </p:nvSpPr>
        <p:spPr>
          <a:xfrm>
            <a:off x="41910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mid-subtitle-1|s=$subtitle"/>
          <p:cNvSpPr txBox="1"/>
          <p:nvPr/>
        </p:nvSpPr>
        <p:spPr>
          <a:xfrm>
            <a:off x="43053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核心洞察</a:t>
            </a:r>
          </a:p>
        </p:txBody>
      </p:sp>
      <p:sp>
        <p:nvSpPr>
          <p:cNvPr id="20" name="dsl:mid-body-1|s=$body"/>
          <p:cNvSpPr txBox="1"/>
          <p:nvPr/>
        </p:nvSpPr>
        <p:spPr>
          <a:xfrm>
            <a:off x="4191000" y="1352550"/>
            <a:ext cx="3429000" cy="23812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全固件覆盖优于边界过滤；污点型漏洞不能只看"是否到达Sink"；从Sink反向追踪比正向传播更适合大规模分析；跨二进制传播可通过环境变量/NVRAM的Setter-Getter关系轻量拼接。</a:t>
            </a:r>
          </a:p>
        </p:txBody>
      </p:sp>
      <p:sp>
        <p:nvSpPr>
          <p:cNvPr id="21" name="dsl:mid-bar-2"/>
          <p:cNvSpPr/>
          <p:nvPr/>
        </p:nvSpPr>
        <p:spPr>
          <a:xfrm>
            <a:off x="4191000" y="38100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mid-subtitle-2|s=$subtitle"/>
          <p:cNvSpPr txBox="1"/>
          <p:nvPr/>
        </p:nvSpPr>
        <p:spPr>
          <a:xfrm>
            <a:off x="4305300" y="37909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解决方案</a:t>
            </a:r>
          </a:p>
        </p:txBody>
      </p:sp>
      <p:sp>
        <p:nvSpPr>
          <p:cNvPr id="23" name="dsl:mid-body-2|s=$body"/>
          <p:cNvSpPr txBox="1"/>
          <p:nvPr/>
        </p:nvSpPr>
        <p:spPr>
          <a:xfrm>
            <a:off x="4191000" y="4133850"/>
            <a:ext cx="3429000" cy="23812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1. 富表达式与Sink-to-Source：记录变量历史，从敏感函数逆向追溯。</a:t>
            </a:r>
          </a:p>
          <a:p>
            <a:pPr algn="l">
              <a:lnSpc>
                <a:spcPct val="160000"/>
              </a:lnSpc>
            </a:pPr>
            <a:r>
              <a:rPr sz="1350" noProof="1">
                <a:solidFill>
                  <a:srgbClr val="0F172A"/>
                </a:solidFill>
                <a:latin typeface="QuattrocentoSans"/>
                <a:ea typeface="MiSans"/>
              </a:rPr>
              <a:t>2. Assumed Nonimpact：跳过无关函数，规避路径爆炸。</a:t>
            </a:r>
          </a:p>
          <a:p>
            <a:pPr algn="l">
              <a:lnSpc>
                <a:spcPct val="160000"/>
              </a:lnSpc>
            </a:pPr>
            <a:r>
              <a:rPr sz="1350" noProof="1">
                <a:solidFill>
                  <a:srgbClr val="0F172A"/>
                </a:solidFill>
                <a:latin typeface="QuattrocentoSans"/>
                <a:ea typeface="MiSans"/>
              </a:rPr>
              <a:t>3. TruPoCs：确认外部可控性，降低人工验证成本。</a:t>
            </a:r>
          </a:p>
        </p:txBody>
      </p:sp>
      <p:sp>
        <p:nvSpPr>
          <p:cNvPr id="24" name="dsl:right-bar"/>
          <p:cNvSpPr/>
          <p:nvPr/>
        </p:nvSpPr>
        <p:spPr>
          <a:xfrm>
            <a:off x="78105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right-subtitle|s=$subtitle"/>
          <p:cNvSpPr txBox="1"/>
          <p:nvPr/>
        </p:nvSpPr>
        <p:spPr>
          <a:xfrm>
            <a:off x="79248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关键数据</a:t>
            </a:r>
          </a:p>
        </p:txBody>
      </p:sp>
      <p:sp>
        <p:nvSpPr>
          <p:cNvPr id="26" name="dsl:card1-bg"/>
          <p:cNvSpPr/>
          <p:nvPr/>
        </p:nvSpPr>
        <p:spPr>
          <a:xfrm>
            <a:off x="8001000" y="1428750"/>
            <a:ext cx="3238500" cy="1143000"/>
          </a:xfrm>
          <a:prstGeom prst="roundRect">
            <a:avLst>
              <a:gd name="adj" fmla="val 8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card1-num|s=$kpi"/>
          <p:cNvSpPr txBox="1"/>
          <p:nvPr/>
        </p:nvSpPr>
        <p:spPr>
          <a:xfrm>
            <a:off x="8191500" y="1571625"/>
            <a:ext cx="2857500" cy="400050"/>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770,374</a:t>
            </a:r>
          </a:p>
        </p:txBody>
      </p:sp>
      <p:sp>
        <p:nvSpPr>
          <p:cNvPr id="28" name="dsl:card1-label|s=$caption"/>
          <p:cNvSpPr txBox="1"/>
          <p:nvPr/>
        </p:nvSpPr>
        <p:spPr>
          <a:xfrm>
            <a:off x="8191500" y="2047875"/>
            <a:ext cx="2857500" cy="2286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分析二进制数（大规模数据集）</a:t>
            </a:r>
          </a:p>
        </p:txBody>
      </p:sp>
      <p:sp>
        <p:nvSpPr>
          <p:cNvPr id="29" name="dsl:card2-bg"/>
          <p:cNvSpPr/>
          <p:nvPr/>
        </p:nvSpPr>
        <p:spPr>
          <a:xfrm>
            <a:off x="8001000" y="2762250"/>
            <a:ext cx="3238500" cy="1143000"/>
          </a:xfrm>
          <a:prstGeom prst="roundRect">
            <a:avLst>
              <a:gd name="adj" fmla="val 8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sl:card2-num|s=$kpi"/>
          <p:cNvSpPr txBox="1"/>
          <p:nvPr/>
        </p:nvSpPr>
        <p:spPr>
          <a:xfrm>
            <a:off x="8191500" y="2905125"/>
            <a:ext cx="2857500" cy="400050"/>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10,834</a:t>
            </a:r>
          </a:p>
        </p:txBody>
      </p:sp>
      <p:sp>
        <p:nvSpPr>
          <p:cNvPr id="31" name="dsl:card2-label|s=$caption"/>
          <p:cNvSpPr txBox="1"/>
          <p:nvPr/>
        </p:nvSpPr>
        <p:spPr>
          <a:xfrm>
            <a:off x="8191500" y="3381375"/>
            <a:ext cx="2857500" cy="2286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TruPoCs 发现</a:t>
            </a:r>
          </a:p>
        </p:txBody>
      </p:sp>
      <p:sp>
        <p:nvSpPr>
          <p:cNvPr id="32" name="dsl:card3-bg"/>
          <p:cNvSpPr/>
          <p:nvPr/>
        </p:nvSpPr>
        <p:spPr>
          <a:xfrm>
            <a:off x="8001000" y="4095750"/>
            <a:ext cx="3238500" cy="1143000"/>
          </a:xfrm>
          <a:prstGeom prst="roundRect">
            <a:avLst>
              <a:gd name="adj" fmla="val 8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sl:card3-num|s=$kpi"/>
          <p:cNvSpPr txBox="1"/>
          <p:nvPr/>
        </p:nvSpPr>
        <p:spPr>
          <a:xfrm>
            <a:off x="8191500" y="4238625"/>
            <a:ext cx="2857500" cy="400050"/>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38.12s</a:t>
            </a:r>
          </a:p>
        </p:txBody>
      </p:sp>
      <p:sp>
        <p:nvSpPr>
          <p:cNvPr id="34" name="dsl:card3-label|s=$caption"/>
          <p:cNvSpPr txBox="1"/>
          <p:nvPr/>
        </p:nvSpPr>
        <p:spPr>
          <a:xfrm>
            <a:off x="8191500" y="4714875"/>
            <a:ext cx="2857500" cy="2286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平均单二进制分析时间</a:t>
            </a:r>
          </a:p>
        </p:txBody>
      </p:sp>
      <p:sp>
        <p:nvSpPr>
          <p:cNvPr id="35" name="dsl:footer-left|s=$caption"/>
          <p:cNvSpPr txBox="1"/>
          <p:nvPr/>
        </p:nvSpPr>
        <p:spPr>
          <a:xfrm>
            <a:off x="571500" y="6572250"/>
            <a:ext cx="3810000" cy="1905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网络设备Web服务安全研究</a:t>
            </a:r>
          </a:p>
        </p:txBody>
      </p:sp>
      <p:sp>
        <p:nvSpPr>
          <p:cNvPr id="36" name="dsl:footer-right|s=$caption"/>
          <p:cNvSpPr txBox="1"/>
          <p:nvPr/>
        </p:nvSpPr>
        <p:spPr>
          <a:xfrm>
            <a:off x="10477500" y="6572250"/>
            <a:ext cx="1143000" cy="190500"/>
          </a:xfrm>
          <a:prstGeom prst="rect">
            <a:avLst/>
          </a:prstGeom>
          <a:noFill/>
        </p:spPr>
        <p:txBody>
          <a:bodyPr wrap="none" anchor="ctr">
            <a:noAutofit/>
          </a:bodyPr>
          <a:lstStyle/>
          <a:p>
            <a:pPr algn="r">
              <a:lnSpc>
                <a:spcPct val="140000"/>
              </a:lnSpc>
            </a:pPr>
            <a:r>
              <a:rPr sz="1050" noProof="1">
                <a:solidFill>
                  <a:srgbClr val="64748B"/>
                </a:solidFill>
                <a:latin typeface="QuattrocentoSans"/>
                <a:ea typeface="MiSans"/>
              </a:rPr>
              <a:t>15 / 37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dsl:nav-bg"/>
          <p:cNvSpPr/>
          <p:nvPr/>
        </p:nvSpPr>
        <p:spPr>
          <a:xfrm>
            <a:off x="0" y="0"/>
            <a:ext cx="12192000" cy="381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
          <p:cNvSpPr/>
          <p:nvPr/>
        </p:nvSpPr>
        <p:spPr>
          <a:xfrm>
            <a:off x="3048000" y="0"/>
            <a:ext cx="3048000" cy="3810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t1|s=$nav"/>
          <p:cNvSpPr txBox="1"/>
          <p:nvPr/>
        </p:nvSpPr>
        <p:spPr>
          <a:xfrm>
            <a:off x="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维度一: Source</a:t>
            </a:r>
          </a:p>
        </p:txBody>
      </p:sp>
      <p:sp>
        <p:nvSpPr>
          <p:cNvPr id="5" name="dsl:nav-t2|s=$nav"/>
          <p:cNvSpPr txBox="1"/>
          <p:nvPr/>
        </p:nvSpPr>
        <p:spPr>
          <a:xfrm>
            <a:off x="3048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维度二: Propagation</a:t>
            </a:r>
          </a:p>
        </p:txBody>
      </p:sp>
      <p:sp>
        <p:nvSpPr>
          <p:cNvPr id="6" name="dsl:nav-t3|s=$nav"/>
          <p:cNvSpPr txBox="1"/>
          <p:nvPr/>
        </p:nvSpPr>
        <p:spPr>
          <a:xfrm>
            <a:off x="6096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维度三: Sink</a:t>
            </a:r>
          </a:p>
        </p:txBody>
      </p:sp>
      <p:sp>
        <p:nvSpPr>
          <p:cNvPr id="7" name="dsl:nav-t4|s=$nav"/>
          <p:cNvSpPr txBox="1"/>
          <p:nvPr/>
        </p:nvSpPr>
        <p:spPr>
          <a:xfrm>
            <a:off x="9144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维度四: Verification</a:t>
            </a:r>
          </a:p>
        </p:txBody>
      </p:sp>
      <p:sp>
        <p:nvSpPr>
          <p:cNvPr id="8" name="dsl:nav-line"/>
          <p:cNvSpPr/>
          <p:nvPr/>
        </p:nvSpPr>
        <p:spPr>
          <a:xfrm>
            <a:off x="0" y="381000"/>
            <a:ext cx="12192000" cy="1905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page-title|s=$title"/>
          <p:cNvSpPr txBox="1"/>
          <p:nvPr/>
        </p:nvSpPr>
        <p:spPr>
          <a:xfrm>
            <a:off x="571500" y="514350"/>
            <a:ext cx="8382000" cy="381000"/>
          </a:xfrm>
          <a:prstGeom prst="rect">
            <a:avLst/>
          </a:prstGeom>
          <a:noFill/>
        </p:spPr>
        <p:txBody>
          <a:bodyPr wrap="none" anchor="ctr">
            <a:noAutofit/>
          </a:bodyPr>
          <a:lstStyle/>
          <a:p>
            <a:pPr algn="l">
              <a:lnSpc>
                <a:spcPct val="130000"/>
              </a:lnSpc>
            </a:pPr>
            <a:r>
              <a:rPr sz="2100" noProof="1">
                <a:solidFill>
                  <a:srgbClr val="1E293B"/>
                </a:solidFill>
                <a:latin typeface="QuattrocentoSans"/>
                <a:ea typeface="MiSans"/>
              </a:rPr>
              <a:t>MangoDFA — 实验结果与文章评价</a:t>
            </a:r>
          </a:p>
        </p:txBody>
      </p:sp>
      <p:sp>
        <p:nvSpPr>
          <p:cNvPr id="10" name="dsl:badge-bg"/>
          <p:cNvSpPr/>
          <p:nvPr/>
        </p:nvSpPr>
        <p:spPr>
          <a:xfrm>
            <a:off x="10001250" y="552450"/>
            <a:ext cx="1619250" cy="266700"/>
          </a:xfrm>
          <a:prstGeom prst="roundRect">
            <a:avLst>
              <a:gd name="adj" fmla="val 8000"/>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badge-text|s=$badge"/>
          <p:cNvSpPr txBox="1"/>
          <p:nvPr/>
        </p:nvSpPr>
        <p:spPr>
          <a:xfrm>
            <a:off x="10001250" y="552450"/>
            <a:ext cx="1619250" cy="2667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USENIX Security 2024</a:t>
            </a:r>
          </a:p>
        </p:txBody>
      </p:sp>
      <p:sp>
        <p:nvSpPr>
          <p:cNvPr id="12" name="dsl:results-bar"/>
          <p:cNvSpPr/>
          <p:nvPr/>
        </p:nvSpPr>
        <p:spPr>
          <a:xfrm>
            <a:off x="5715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results-subtitle|s=$subtitle"/>
          <p:cNvSpPr txBox="1"/>
          <p:nvPr/>
        </p:nvSpPr>
        <p:spPr>
          <a:xfrm>
            <a:off x="6858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实验结果</a:t>
            </a:r>
          </a:p>
        </p:txBody>
      </p:sp>
      <p:graphicFrame>
        <p:nvGraphicFramePr>
          <p:cNvPr id="14" name="dsl:results-table"/>
          <p:cNvGraphicFramePr>
            <a:graphicFrameLocks noGrp="1"/>
          </p:cNvGraphicFramePr>
          <p:nvPr/>
        </p:nvGraphicFramePr>
        <p:xfrm>
          <a:off x="571500" y="1409700"/>
          <a:ext cx="5715000" cy="2286000"/>
        </p:xfrm>
        <a:graphic>
          <a:graphicData uri="http://schemas.openxmlformats.org/drawingml/2006/table">
            <a:tbl>
              <a:tblPr firstRow="0" bandRow="0" lastRow="0" firstCol="0" lastCol="0" bandCol="0">
                <a:tableStyleId>{2D5ABB26-0587-4C30-8999-92F81FD0307C}</a:tableStyleId>
              </a:tblPr>
              <a:tblGrid>
                <a:gridCol w="2857500"/>
                <a:gridCol w="2857500"/>
              </a:tblGrid>
              <a:tr h="342900">
                <a:tc>
                  <a:txBody>
                    <a:bodyPr wrap="square" anchor="ctr">
                      <a:noAutofit/>
                    </a:bodyPr>
                    <a:lstStyle/>
                    <a:p>
                      <a:pPr algn="ctr"/>
                      <a:r>
                        <a:rPr sz="1200" noProof="1" b="1">
                          <a:solidFill>
                            <a:srgbClr val="FFFFFF"/>
                          </a:solidFill>
                          <a:latin typeface="QuattrocentoSans"/>
                          <a:ea typeface="MiSans"/>
                        </a:rPr>
                        <a:t>评估指标</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1E293B"/>
                    </a:solidFill>
                  </a:tcPr>
                </a:tc>
                <a:tc>
                  <a:txBody>
                    <a:bodyPr wrap="square" anchor="ctr">
                      <a:noAutofit/>
                    </a:bodyPr>
                    <a:lstStyle/>
                    <a:p>
                      <a:pPr algn="ctr"/>
                      <a:r>
                        <a:rPr sz="1200" noProof="1" b="1">
                          <a:solidFill>
                            <a:srgbClr val="FFFFFF"/>
                          </a:solidFill>
                          <a:latin typeface="QuattrocentoSans"/>
                          <a:ea typeface="MiSans"/>
                        </a:rPr>
                        <a:t>数值</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1E293B"/>
                    </a:solidFill>
                  </a:tcPr>
                </a:tc>
              </a:tr>
              <a:tr h="388620">
                <a:tc>
                  <a:txBody>
                    <a:bodyPr wrap="square" anchor="ctr">
                      <a:noAutofit/>
                    </a:bodyPr>
                    <a:lstStyle/>
                    <a:p>
                      <a:pPr algn="ctr"/>
                      <a:r>
                        <a:rPr sz="1200" noProof="1">
                          <a:solidFill>
                            <a:srgbClr val="0F172A"/>
                          </a:solidFill>
                          <a:latin typeface="QuattrocentoSans"/>
                          <a:ea typeface="MiSans"/>
                        </a:rPr>
                        <a:t>固件 / 二进制</a:t>
                      </a:r>
                    </a:p>
                  </a:txBody>
                  <a:tcPr marL="91440" marR="91440" marT="0" marB="0" anchor="ctr">
                    <a:solidFill>
                      <a:srgbClr val="FFFFFF"/>
                    </a:solidFill>
                  </a:tcPr>
                </a:tc>
                <a:tc>
                  <a:txBody>
                    <a:bodyPr wrap="square" anchor="ctr">
                      <a:noAutofit/>
                    </a:bodyPr>
                    <a:lstStyle/>
                    <a:p>
                      <a:pPr algn="ctr"/>
                      <a:r>
                        <a:rPr sz="1200" noProof="1">
                          <a:solidFill>
                            <a:srgbClr val="0F172A"/>
                          </a:solidFill>
                          <a:latin typeface="QuattrocentoSans"/>
                          <a:ea typeface="MiSans"/>
                        </a:rPr>
                        <a:t>49 / 6,920</a:t>
                      </a:r>
                    </a:p>
                  </a:txBody>
                  <a:tcPr marL="91440" marR="91440" marT="0" marB="0" anchor="ctr">
                    <a:solidFill>
                      <a:srgbClr val="FFFFFF"/>
                    </a:solidFill>
                  </a:tcPr>
                </a:tc>
              </a:tr>
              <a:tr h="388620">
                <a:tc>
                  <a:txBody>
                    <a:bodyPr wrap="square" anchor="ctr">
                      <a:noAutofit/>
                    </a:bodyPr>
                    <a:lstStyle/>
                    <a:p>
                      <a:pPr algn="ctr"/>
                      <a:r>
                        <a:rPr sz="1200" noProof="1">
                          <a:solidFill>
                            <a:srgbClr val="0F172A"/>
                          </a:solidFill>
                          <a:latin typeface="QuattrocentoSans"/>
                          <a:ea typeface="MiSans"/>
                        </a:rPr>
                        <a:t>大规模数据集</a:t>
                      </a:r>
                    </a:p>
                  </a:txBody>
                  <a:tcPr marL="91440" marR="91440" marT="0" marB="0" anchor="ctr">
                    <a:solidFill>
                      <a:srgbClr val="F1F5F9"/>
                    </a:solidFill>
                  </a:tcPr>
                </a:tc>
                <a:tc>
                  <a:txBody>
                    <a:bodyPr wrap="square" anchor="ctr">
                      <a:noAutofit/>
                    </a:bodyPr>
                    <a:lstStyle/>
                    <a:p>
                      <a:pPr algn="ctr"/>
                      <a:r>
                        <a:rPr sz="1200" noProof="1">
                          <a:solidFill>
                            <a:srgbClr val="0F172A"/>
                          </a:solidFill>
                          <a:latin typeface="QuattrocentoSans"/>
                          <a:ea typeface="MiSans"/>
                        </a:rPr>
                        <a:t>770,374 二进制</a:t>
                      </a:r>
                    </a:p>
                  </a:txBody>
                  <a:tcPr marL="91440" marR="91440" marT="0" marB="0" anchor="ctr">
                    <a:solidFill>
                      <a:srgbClr val="F1F5F9"/>
                    </a:solidFill>
                  </a:tcPr>
                </a:tc>
              </a:tr>
              <a:tr h="388620">
                <a:tc>
                  <a:txBody>
                    <a:bodyPr wrap="square" anchor="ctr">
                      <a:noAutofit/>
                    </a:bodyPr>
                    <a:lstStyle/>
                    <a:p>
                      <a:pPr algn="ctr"/>
                      <a:r>
                        <a:rPr sz="1200" noProof="1">
                          <a:solidFill>
                            <a:srgbClr val="0F172A"/>
                          </a:solidFill>
                          <a:latin typeface="QuattrocentoSans"/>
                          <a:ea typeface="MiSans"/>
                        </a:rPr>
                        <a:t>TruPoCs</a:t>
                      </a:r>
                    </a:p>
                  </a:txBody>
                  <a:tcPr marL="91440" marR="91440" marT="0" marB="0" anchor="ctr">
                    <a:solidFill>
                      <a:srgbClr val="FFFFFF"/>
                    </a:solidFill>
                  </a:tcPr>
                </a:tc>
                <a:tc>
                  <a:txBody>
                    <a:bodyPr wrap="square" anchor="ctr">
                      <a:noAutofit/>
                    </a:bodyPr>
                    <a:lstStyle/>
                    <a:p>
                      <a:pPr algn="ctr"/>
                      <a:r>
                        <a:rPr sz="1200" noProof="1">
                          <a:solidFill>
                            <a:srgbClr val="0F172A"/>
                          </a:solidFill>
                          <a:latin typeface="QuattrocentoSans"/>
                          <a:ea typeface="MiSans"/>
                        </a:rPr>
                        <a:t>10,834 个</a:t>
                      </a:r>
                    </a:p>
                  </a:txBody>
                  <a:tcPr marL="91440" marR="91440" marT="0" marB="0" anchor="ctr">
                    <a:solidFill>
                      <a:srgbClr val="FFFFFF"/>
                    </a:solidFill>
                  </a:tcPr>
                </a:tc>
              </a:tr>
              <a:tr h="388620">
                <a:tc>
                  <a:txBody>
                    <a:bodyPr wrap="square" anchor="ctr">
                      <a:noAutofit/>
                    </a:bodyPr>
                    <a:lstStyle/>
                    <a:p>
                      <a:pPr algn="ctr"/>
                      <a:r>
                        <a:rPr sz="1200" noProof="1">
                          <a:solidFill>
                            <a:srgbClr val="0F172A"/>
                          </a:solidFill>
                          <a:latin typeface="QuattrocentoSans"/>
                          <a:ea typeface="MiSans"/>
                        </a:rPr>
                        <a:t>TPR</a:t>
                      </a:r>
                    </a:p>
                  </a:txBody>
                  <a:tcPr marL="91440" marR="91440" marT="0" marB="0" anchor="ctr">
                    <a:solidFill>
                      <a:srgbClr val="F1F5F9"/>
                    </a:solidFill>
                  </a:tcPr>
                </a:tc>
                <a:tc>
                  <a:txBody>
                    <a:bodyPr wrap="square" anchor="ctr">
                      <a:noAutofit/>
                    </a:bodyPr>
                    <a:lstStyle/>
                    <a:p>
                      <a:pPr algn="ctr"/>
                      <a:r>
                        <a:rPr sz="1200" noProof="1">
                          <a:solidFill>
                            <a:srgbClr val="0F172A"/>
                          </a:solidFill>
                          <a:latin typeface="QuattrocentoSans"/>
                          <a:ea typeface="MiSans"/>
                        </a:rPr>
                        <a:t>57%</a:t>
                      </a:r>
                    </a:p>
                  </a:txBody>
                  <a:tcPr marL="91440" marR="91440" marT="0" marB="0" anchor="ctr">
                    <a:solidFill>
                      <a:srgbClr val="F1F5F9"/>
                    </a:solidFill>
                  </a:tcPr>
                </a:tc>
              </a:tr>
              <a:tr h="388620">
                <a:tc>
                  <a:txBody>
                    <a:bodyPr wrap="square" anchor="ctr">
                      <a:noAutofit/>
                    </a:bodyPr>
                    <a:lstStyle/>
                    <a:p>
                      <a:pPr algn="ctr"/>
                      <a:r>
                        <a:rPr sz="1200" noProof="1">
                          <a:solidFill>
                            <a:srgbClr val="0F172A"/>
                          </a:solidFill>
                          <a:latin typeface="QuattrocentoSans"/>
                          <a:ea typeface="MiSans"/>
                        </a:rPr>
                        <a:t>平均分析时间</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FFFFFF"/>
                    </a:solidFill>
                  </a:tcPr>
                </a:tc>
                <a:tc>
                  <a:txBody>
                    <a:bodyPr wrap="square" anchor="ctr">
                      <a:noAutofit/>
                    </a:bodyPr>
                    <a:lstStyle/>
                    <a:p>
                      <a:pPr algn="ctr"/>
                      <a:r>
                        <a:rPr sz="1200" noProof="1">
                          <a:solidFill>
                            <a:srgbClr val="0F172A"/>
                          </a:solidFill>
                          <a:latin typeface="QuattrocentoSans"/>
                          <a:ea typeface="MiSans"/>
                        </a:rPr>
                        <a:t>38.12 秒/二进制</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FFFFFF"/>
                    </a:solidFill>
                  </a:tcPr>
                </a:tc>
              </a:tr>
            </a:tbl>
          </a:graphicData>
        </a:graphic>
      </p:graphicFrame>
      <p:sp>
        <p:nvSpPr>
          <p:cNvPr id="15" name="dsl:results-note|s=$body"/>
          <p:cNvSpPr txBox="1"/>
          <p:nvPr/>
        </p:nvSpPr>
        <p:spPr>
          <a:xfrm>
            <a:off x="6667500" y="1409700"/>
            <a:ext cx="4953000" cy="2286000"/>
          </a:xfrm>
          <a:prstGeom prst="rect">
            <a:avLst/>
          </a:prstGeom>
          <a:noFill/>
        </p:spPr>
        <p:txBody>
          <a:bodyPr wrap="square" anchor="t">
            <a:noAutofit/>
          </a:bodyPr>
          <a:lstStyle/>
          <a:p>
            <a:pPr algn="l">
              <a:lnSpc>
                <a:spcPct val="160000"/>
              </a:lnSpc>
            </a:pPr>
            <a:r>
              <a:rPr b="1" sz="1350" noProof="1">
                <a:solidFill>
                  <a:srgbClr val="0F172A"/>
                </a:solidFill>
                <a:latin typeface="QuattrocentoSans"/>
                <a:ea typeface="MiSans"/>
              </a:rPr>
              <a:t>与现有方法对比</a:t>
            </a:r>
          </a:p>
          <a:p>
            <a:pPr algn="l">
              <a:lnSpc>
                <a:spcPct val="160000"/>
              </a:lnSpc>
            </a:pPr>
            <a:r>
              <a:rPr sz="1350" noProof="1">
                <a:solidFill>
                  <a:srgbClr val="0F172A"/>
                </a:solidFill>
                <a:latin typeface="QuattrocentoSans"/>
                <a:ea typeface="MiSans"/>
              </a:rPr>
              <a:t>SaTC分析数量仅为MangoDFA的1/27。SaTC和KARONTE因过度依赖边界二进制过滤导致系统性漏报。MangoDFA覆盖全二进制，成功捕获深层后利用攻击面。</a:t>
            </a:r>
          </a:p>
        </p:txBody>
      </p:sp>
      <p:sp>
        <p:nvSpPr>
          <p:cNvPr id="16" name="dsl:eval-bar"/>
          <p:cNvSpPr/>
          <p:nvPr/>
        </p:nvSpPr>
        <p:spPr>
          <a:xfrm>
            <a:off x="571500" y="390525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eval-subtitle|s=$subtitle"/>
          <p:cNvSpPr txBox="1"/>
          <p:nvPr/>
        </p:nvSpPr>
        <p:spPr>
          <a:xfrm>
            <a:off x="685800" y="388620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文章评价</a:t>
            </a:r>
          </a:p>
        </p:txBody>
      </p:sp>
      <p:sp>
        <p:nvSpPr>
          <p:cNvPr id="18" name="dsl:eval1-bar"/>
          <p:cNvSpPr/>
          <p:nvPr/>
        </p:nvSpPr>
        <p:spPr>
          <a:xfrm>
            <a:off x="571500" y="4305300"/>
            <a:ext cx="38100" cy="2286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eval1-subtitle"/>
          <p:cNvSpPr txBox="1"/>
          <p:nvPr/>
        </p:nvSpPr>
        <p:spPr>
          <a:xfrm>
            <a:off x="685800" y="4286250"/>
            <a:ext cx="3314700" cy="266700"/>
          </a:xfrm>
          <a:prstGeom prst="rect">
            <a:avLst/>
          </a:prstGeom>
          <a:noFill/>
        </p:spPr>
        <p:txBody>
          <a:bodyPr wrap="none" anchor="ctr">
            <a:noAutofit/>
          </a:bodyPr>
          <a:lstStyle/>
          <a:p>
            <a:pPr algn="l"/>
            <a:r>
              <a:rPr b="1" sz="1350" noProof="1">
                <a:solidFill>
                  <a:srgbClr val="059669"/>
                </a:solidFill>
                <a:latin typeface="QuattrocentoSans"/>
                <a:ea typeface="MiSans"/>
              </a:rPr>
              <a:t>优势</a:t>
            </a:r>
          </a:p>
        </p:txBody>
      </p:sp>
      <p:sp>
        <p:nvSpPr>
          <p:cNvPr id="20" name="dsl:eval1-body|s=$body"/>
          <p:cNvSpPr txBox="1"/>
          <p:nvPr/>
        </p:nvSpPr>
        <p:spPr>
          <a:xfrm>
            <a:off x="571500" y="4629150"/>
            <a:ext cx="3429000" cy="171450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全固件所有二进制覆盖，用Sink-to-Source与富表达式控制规模，解决了边界过滤导致的系统性漏报。大规模扫描能力突出。</a:t>
            </a:r>
          </a:p>
        </p:txBody>
      </p:sp>
      <p:sp>
        <p:nvSpPr>
          <p:cNvPr id="21" name="dsl:eval2-bar"/>
          <p:cNvSpPr/>
          <p:nvPr/>
        </p:nvSpPr>
        <p:spPr>
          <a:xfrm>
            <a:off x="4191000" y="4305300"/>
            <a:ext cx="38100" cy="2286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eval2-subtitle"/>
          <p:cNvSpPr txBox="1"/>
          <p:nvPr/>
        </p:nvSpPr>
        <p:spPr>
          <a:xfrm>
            <a:off x="4305300" y="4286250"/>
            <a:ext cx="3314700" cy="266700"/>
          </a:xfrm>
          <a:prstGeom prst="rect">
            <a:avLst/>
          </a:prstGeom>
          <a:noFill/>
        </p:spPr>
        <p:txBody>
          <a:bodyPr wrap="none" anchor="ctr">
            <a:noAutofit/>
          </a:bodyPr>
          <a:lstStyle/>
          <a:p>
            <a:pPr algn="l"/>
            <a:r>
              <a:rPr b="1" sz="1350" noProof="1">
                <a:solidFill>
                  <a:srgbClr val="DC2626"/>
                </a:solidFill>
                <a:latin typeface="QuattrocentoSans"/>
                <a:ea typeface="MiSans"/>
              </a:rPr>
              <a:t>局限</a:t>
            </a:r>
          </a:p>
        </p:txBody>
      </p:sp>
      <p:sp>
        <p:nvSpPr>
          <p:cNvPr id="23" name="dsl:eval2-body|s=$body"/>
          <p:cNvSpPr txBox="1"/>
          <p:nvPr/>
        </p:nvSpPr>
        <p:spPr>
          <a:xfrm>
            <a:off x="4191000" y="4629150"/>
            <a:ext cx="3429000" cy="171450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TruPoC仍是静态漏洞候选，不等于真实PoC。漏洞类型偏命令注入和缓冲区溢出，对复杂业务逻辑漏洞覆盖有限。大规模输出需配套去重和风险排序。</a:t>
            </a:r>
          </a:p>
        </p:txBody>
      </p:sp>
      <p:sp>
        <p:nvSpPr>
          <p:cNvPr id="24" name="dsl:eval3-bar"/>
          <p:cNvSpPr/>
          <p:nvPr/>
        </p:nvSpPr>
        <p:spPr>
          <a:xfrm>
            <a:off x="7810500" y="4305300"/>
            <a:ext cx="38100" cy="228600"/>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eval3-subtitle"/>
          <p:cNvSpPr txBox="1"/>
          <p:nvPr/>
        </p:nvSpPr>
        <p:spPr>
          <a:xfrm>
            <a:off x="7924800" y="4286250"/>
            <a:ext cx="3314700" cy="266700"/>
          </a:xfrm>
          <a:prstGeom prst="rect">
            <a:avLst/>
          </a:prstGeom>
          <a:noFill/>
        </p:spPr>
        <p:txBody>
          <a:bodyPr wrap="none" anchor="ctr">
            <a:noAutofit/>
          </a:bodyPr>
          <a:lstStyle/>
          <a:p>
            <a:pPr algn="l"/>
            <a:r>
              <a:rPr b="1" sz="1350" noProof="1">
                <a:solidFill>
                  <a:srgbClr val="64748B"/>
                </a:solidFill>
                <a:latin typeface="QuattrocentoSans"/>
                <a:ea typeface="MiSans"/>
              </a:rPr>
              <a:t>商业化</a:t>
            </a:r>
          </a:p>
        </p:txBody>
      </p:sp>
      <p:sp>
        <p:nvSpPr>
          <p:cNvPr id="26" name="dsl:eval3-body|s=$body"/>
          <p:cNvSpPr txBox="1"/>
          <p:nvPr/>
        </p:nvSpPr>
        <p:spPr>
          <a:xfrm>
            <a:off x="7810500" y="4629150"/>
            <a:ext cx="3429000" cy="171450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适合云端批量固件和供应链安全扫描。需配套去重、风险排序和动态验证，否则告警运营成本偏高。</a:t>
            </a:r>
          </a:p>
        </p:txBody>
      </p:sp>
      <p:sp>
        <p:nvSpPr>
          <p:cNvPr id="27" name="dsl:footer-left|s=$caption"/>
          <p:cNvSpPr txBox="1"/>
          <p:nvPr/>
        </p:nvSpPr>
        <p:spPr>
          <a:xfrm>
            <a:off x="571500" y="6572250"/>
            <a:ext cx="3810000" cy="1905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网络设备Web服务安全研究</a:t>
            </a:r>
          </a:p>
        </p:txBody>
      </p:sp>
      <p:sp>
        <p:nvSpPr>
          <p:cNvPr id="28" name="dsl:footer-right|s=$caption"/>
          <p:cNvSpPr txBox="1"/>
          <p:nvPr/>
        </p:nvSpPr>
        <p:spPr>
          <a:xfrm>
            <a:off x="10477500" y="6572250"/>
            <a:ext cx="1143000" cy="190500"/>
          </a:xfrm>
          <a:prstGeom prst="rect">
            <a:avLst/>
          </a:prstGeom>
          <a:noFill/>
        </p:spPr>
        <p:txBody>
          <a:bodyPr wrap="none" anchor="ctr">
            <a:noAutofit/>
          </a:bodyPr>
          <a:lstStyle/>
          <a:p>
            <a:pPr algn="r">
              <a:lnSpc>
                <a:spcPct val="140000"/>
              </a:lnSpc>
            </a:pPr>
            <a:r>
              <a:rPr sz="1050" noProof="1">
                <a:solidFill>
                  <a:srgbClr val="64748B"/>
                </a:solidFill>
                <a:latin typeface="QuattrocentoSans"/>
                <a:ea typeface="MiSans"/>
              </a:rPr>
              <a:t>16 / 37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dsl:nav-bg"/>
          <p:cNvSpPr/>
          <p:nvPr/>
        </p:nvSpPr>
        <p:spPr>
          <a:xfrm>
            <a:off x="0" y="0"/>
            <a:ext cx="12192000" cy="381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
          <p:cNvSpPr/>
          <p:nvPr/>
        </p:nvSpPr>
        <p:spPr>
          <a:xfrm>
            <a:off x="3048000" y="0"/>
            <a:ext cx="3048000" cy="3810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t1|s=$nav"/>
          <p:cNvSpPr txBox="1"/>
          <p:nvPr/>
        </p:nvSpPr>
        <p:spPr>
          <a:xfrm>
            <a:off x="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维度一: Source</a:t>
            </a:r>
          </a:p>
        </p:txBody>
      </p:sp>
      <p:sp>
        <p:nvSpPr>
          <p:cNvPr id="5" name="dsl:nav-t2|s=$nav"/>
          <p:cNvSpPr txBox="1"/>
          <p:nvPr/>
        </p:nvSpPr>
        <p:spPr>
          <a:xfrm>
            <a:off x="3048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维度二: Propagation</a:t>
            </a:r>
          </a:p>
        </p:txBody>
      </p:sp>
      <p:sp>
        <p:nvSpPr>
          <p:cNvPr id="6" name="dsl:nav-t3|s=$nav"/>
          <p:cNvSpPr txBox="1"/>
          <p:nvPr/>
        </p:nvSpPr>
        <p:spPr>
          <a:xfrm>
            <a:off x="6096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维度三: Sink</a:t>
            </a:r>
          </a:p>
        </p:txBody>
      </p:sp>
      <p:sp>
        <p:nvSpPr>
          <p:cNvPr id="7" name="dsl:nav-t4|s=$nav"/>
          <p:cNvSpPr txBox="1"/>
          <p:nvPr/>
        </p:nvSpPr>
        <p:spPr>
          <a:xfrm>
            <a:off x="9144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维度四: Verification</a:t>
            </a:r>
          </a:p>
        </p:txBody>
      </p:sp>
      <p:sp>
        <p:nvSpPr>
          <p:cNvPr id="8" name="dsl:nav-line"/>
          <p:cNvSpPr/>
          <p:nvPr/>
        </p:nvSpPr>
        <p:spPr>
          <a:xfrm>
            <a:off x="0" y="381000"/>
            <a:ext cx="12192000" cy="1905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page-title|s=$title"/>
          <p:cNvSpPr txBox="1"/>
          <p:nvPr/>
        </p:nvSpPr>
        <p:spPr>
          <a:xfrm>
            <a:off x="571500" y="514350"/>
            <a:ext cx="8572500" cy="381000"/>
          </a:xfrm>
          <a:prstGeom prst="rect">
            <a:avLst/>
          </a:prstGeom>
          <a:noFill/>
        </p:spPr>
        <p:txBody>
          <a:bodyPr wrap="none" anchor="ctr">
            <a:noAutofit/>
          </a:bodyPr>
          <a:lstStyle/>
          <a:p>
            <a:pPr algn="l">
              <a:lnSpc>
                <a:spcPct val="130000"/>
              </a:lnSpc>
            </a:pPr>
            <a:r>
              <a:rPr sz="2100" noProof="1">
                <a:solidFill>
                  <a:srgbClr val="1E293B"/>
                </a:solidFill>
                <a:latin typeface="QuattrocentoSans"/>
                <a:ea typeface="MiSans"/>
              </a:rPr>
              <a:t>OctopusTaint — RDA+AIL的污点回溯与净化检查</a:t>
            </a:r>
          </a:p>
        </p:txBody>
      </p:sp>
      <p:sp>
        <p:nvSpPr>
          <p:cNvPr id="10" name="dsl:badge-bg"/>
          <p:cNvSpPr/>
          <p:nvPr/>
        </p:nvSpPr>
        <p:spPr>
          <a:xfrm>
            <a:off x="10096500" y="552450"/>
            <a:ext cx="1333500" cy="266700"/>
          </a:xfrm>
          <a:prstGeom prst="roundRect">
            <a:avLst>
              <a:gd name="adj" fmla="val 8000"/>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badge-text|s=$badge"/>
          <p:cNvSpPr txBox="1"/>
          <p:nvPr/>
        </p:nvSpPr>
        <p:spPr>
          <a:xfrm>
            <a:off x="10096500" y="552450"/>
            <a:ext cx="1333500" cy="2667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ACM CCS 2024</a:t>
            </a:r>
          </a:p>
        </p:txBody>
      </p:sp>
      <p:sp>
        <p:nvSpPr>
          <p:cNvPr id="12" name="dsl:left-bar-1"/>
          <p:cNvSpPr/>
          <p:nvPr/>
        </p:nvSpPr>
        <p:spPr>
          <a:xfrm>
            <a:off x="5715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left-subtitle-1|s=$subtitle"/>
          <p:cNvSpPr txBox="1"/>
          <p:nvPr/>
        </p:nvSpPr>
        <p:spPr>
          <a:xfrm>
            <a:off x="6858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内容摘要</a:t>
            </a:r>
          </a:p>
        </p:txBody>
      </p:sp>
      <p:sp>
        <p:nvSpPr>
          <p:cNvPr id="14" name="dsl:left-body-1|s=$body"/>
          <p:cNvSpPr txBox="1"/>
          <p:nvPr/>
        </p:nvSpPr>
        <p:spPr>
          <a:xfrm>
            <a:off x="571500" y="1352550"/>
            <a:ext cx="3429000" cy="18097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结合增强RDA、净化检查与跨边界传播建模的固件污点分析框架。以AIL中间表示恢复变量语义，基于数据流图从Sink反向回溯Source，加入净化语义检查、NVRAM路径拼接与新污点源发现。</a:t>
            </a:r>
          </a:p>
        </p:txBody>
      </p:sp>
      <p:sp>
        <p:nvSpPr>
          <p:cNvPr id="15" name="dsl:left-bar-2"/>
          <p:cNvSpPr/>
          <p:nvPr/>
        </p:nvSpPr>
        <p:spPr>
          <a:xfrm>
            <a:off x="571500" y="3314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left-subtitle-2|s=$subtitle"/>
          <p:cNvSpPr txBox="1"/>
          <p:nvPr/>
        </p:nvSpPr>
        <p:spPr>
          <a:xfrm>
            <a:off x="685800" y="3295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研究背景</a:t>
            </a:r>
          </a:p>
        </p:txBody>
      </p:sp>
      <p:sp>
        <p:nvSpPr>
          <p:cNvPr id="17" name="dsl:left-body-2|s=$body"/>
          <p:cNvSpPr txBox="1"/>
          <p:nvPr/>
        </p:nvSpPr>
        <p:spPr>
          <a:xfrm>
            <a:off x="571500" y="3638550"/>
            <a:ext cx="3429000" cy="21907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动态符号执行性能瓶颈严重；盲目污点追踪忽略中间安全校验导致高误报；间接调用与非标准输入源在传统分析中严重遗漏，导致漏报。</a:t>
            </a:r>
          </a:p>
        </p:txBody>
      </p:sp>
      <p:sp>
        <p:nvSpPr>
          <p:cNvPr id="18" name="dsl:mid-bar-1"/>
          <p:cNvSpPr/>
          <p:nvPr/>
        </p:nvSpPr>
        <p:spPr>
          <a:xfrm>
            <a:off x="41910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mid-subtitle-1|s=$subtitle"/>
          <p:cNvSpPr txBox="1"/>
          <p:nvPr/>
        </p:nvSpPr>
        <p:spPr>
          <a:xfrm>
            <a:off x="43053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核心洞察</a:t>
            </a:r>
          </a:p>
        </p:txBody>
      </p:sp>
      <p:sp>
        <p:nvSpPr>
          <p:cNvPr id="20" name="dsl:mid-body-1|s=$body"/>
          <p:cNvSpPr txBox="1"/>
          <p:nvPr/>
        </p:nvSpPr>
        <p:spPr>
          <a:xfrm>
            <a:off x="4191000" y="1352550"/>
            <a:ext cx="3429000" cy="23812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弃用动态符号执行，引入AIL增强的RDA。VEX-IR提升为AIL中间语言，解决栈变量精确处理难题。自汇聚点向源点逆向回溯，仅关注与Sink相关路径。细粒度净化语义检查主动剔除安全路径。</a:t>
            </a:r>
          </a:p>
        </p:txBody>
      </p:sp>
      <p:sp>
        <p:nvSpPr>
          <p:cNvPr id="21" name="dsl:mid-bar-2"/>
          <p:cNvSpPr/>
          <p:nvPr/>
        </p:nvSpPr>
        <p:spPr>
          <a:xfrm>
            <a:off x="4191000" y="38100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mid-subtitle-2|s=$subtitle"/>
          <p:cNvSpPr txBox="1"/>
          <p:nvPr/>
        </p:nvSpPr>
        <p:spPr>
          <a:xfrm>
            <a:off x="4305300" y="37909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解决方案</a:t>
            </a:r>
          </a:p>
        </p:txBody>
      </p:sp>
      <p:sp>
        <p:nvSpPr>
          <p:cNvPr id="23" name="dsl:mid-body-2|s=$body"/>
          <p:cNvSpPr txBox="1"/>
          <p:nvPr/>
        </p:nvSpPr>
        <p:spPr>
          <a:xfrm>
            <a:off x="4191000" y="4133850"/>
            <a:ext cx="3429000" cy="23812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1. AIL与Sink-to-Source：VEX-IR提升为AIL，自底向上搜索。</a:t>
            </a:r>
          </a:p>
          <a:p>
            <a:pPr algn="l">
              <a:lnSpc>
                <a:spcPct val="160000"/>
              </a:lnSpc>
            </a:pPr>
            <a:r>
              <a:rPr sz="1350" noProof="1">
                <a:solidFill>
                  <a:srgbClr val="0F172A"/>
                </a:solidFill>
                <a:latin typeface="QuattrocentoSans"/>
                <a:ea typeface="MiSans"/>
              </a:rPr>
              <a:t>2. 净化检查：评估路径条件，剔除已净化安全路径。</a:t>
            </a:r>
          </a:p>
          <a:p>
            <a:pPr algn="l">
              <a:lnSpc>
                <a:spcPct val="160000"/>
              </a:lnSpc>
            </a:pPr>
            <a:r>
              <a:rPr sz="1350" noProof="1">
                <a:solidFill>
                  <a:srgbClr val="0F172A"/>
                </a:solidFill>
                <a:latin typeface="QuattrocentoSans"/>
                <a:ea typeface="MiSans"/>
              </a:rPr>
              <a:t>3. 跨边界追踪：NVRAM路径拼接与新污点源发现。</a:t>
            </a:r>
          </a:p>
        </p:txBody>
      </p:sp>
      <p:sp>
        <p:nvSpPr>
          <p:cNvPr id="24" name="dsl:right-bar"/>
          <p:cNvSpPr/>
          <p:nvPr/>
        </p:nvSpPr>
        <p:spPr>
          <a:xfrm>
            <a:off x="78105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right-subtitle|s=$subtitle"/>
          <p:cNvSpPr txBox="1"/>
          <p:nvPr/>
        </p:nvSpPr>
        <p:spPr>
          <a:xfrm>
            <a:off x="79248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关键数据</a:t>
            </a:r>
          </a:p>
        </p:txBody>
      </p:sp>
      <p:sp>
        <p:nvSpPr>
          <p:cNvPr id="26" name="dsl:card1-bg"/>
          <p:cNvSpPr/>
          <p:nvPr/>
        </p:nvSpPr>
        <p:spPr>
          <a:xfrm>
            <a:off x="8001000" y="1428750"/>
            <a:ext cx="3238500" cy="1143000"/>
          </a:xfrm>
          <a:prstGeom prst="roundRect">
            <a:avLst>
              <a:gd name="adj" fmla="val 8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card1-num|s=$kpi"/>
          <p:cNvSpPr txBox="1"/>
          <p:nvPr/>
        </p:nvSpPr>
        <p:spPr>
          <a:xfrm>
            <a:off x="8191500" y="1571625"/>
            <a:ext cx="2857500" cy="400050"/>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49</a:t>
            </a:r>
          </a:p>
        </p:txBody>
      </p:sp>
      <p:sp>
        <p:nvSpPr>
          <p:cNvPr id="28" name="dsl:card1-label|s=$caption"/>
          <p:cNvSpPr txBox="1"/>
          <p:nvPr/>
        </p:nvSpPr>
        <p:spPr>
          <a:xfrm>
            <a:off x="8191500" y="2047875"/>
            <a:ext cx="2857500" cy="2286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0-day 漏洞验证</a:t>
            </a:r>
          </a:p>
        </p:txBody>
      </p:sp>
      <p:sp>
        <p:nvSpPr>
          <p:cNvPr id="29" name="dsl:card2-bg"/>
          <p:cNvSpPr/>
          <p:nvPr/>
        </p:nvSpPr>
        <p:spPr>
          <a:xfrm>
            <a:off x="8001000" y="2762250"/>
            <a:ext cx="3238500" cy="1143000"/>
          </a:xfrm>
          <a:prstGeom prst="roundRect">
            <a:avLst>
              <a:gd name="adj" fmla="val 8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sl:card2-num|s=$kpi"/>
          <p:cNvSpPr txBox="1"/>
          <p:nvPr/>
        </p:nvSpPr>
        <p:spPr>
          <a:xfrm>
            <a:off x="8191500" y="2905125"/>
            <a:ext cx="2857500" cy="400050"/>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1,542</a:t>
            </a:r>
          </a:p>
        </p:txBody>
      </p:sp>
      <p:sp>
        <p:nvSpPr>
          <p:cNvPr id="31" name="dsl:card2-label|s=$caption"/>
          <p:cNvSpPr txBox="1"/>
          <p:nvPr/>
        </p:nvSpPr>
        <p:spPr>
          <a:xfrm>
            <a:off x="8191500" y="3381375"/>
            <a:ext cx="2857500" cy="2286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固件大规模数据集</a:t>
            </a:r>
          </a:p>
        </p:txBody>
      </p:sp>
      <p:sp>
        <p:nvSpPr>
          <p:cNvPr id="32" name="dsl:card3-bg"/>
          <p:cNvSpPr/>
          <p:nvPr/>
        </p:nvSpPr>
        <p:spPr>
          <a:xfrm>
            <a:off x="8001000" y="4095750"/>
            <a:ext cx="3238500" cy="1143000"/>
          </a:xfrm>
          <a:prstGeom prst="roundRect">
            <a:avLst>
              <a:gd name="adj" fmla="val 8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sl:card3-num|s=$kpi"/>
          <p:cNvSpPr txBox="1"/>
          <p:nvPr/>
        </p:nvSpPr>
        <p:spPr>
          <a:xfrm>
            <a:off x="8191500" y="4238625"/>
            <a:ext cx="2857500" cy="400050"/>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83%</a:t>
            </a:r>
          </a:p>
        </p:txBody>
      </p:sp>
      <p:sp>
        <p:nvSpPr>
          <p:cNvPr id="34" name="dsl:card3-label|s=$caption"/>
          <p:cNvSpPr txBox="1"/>
          <p:nvPr/>
        </p:nvSpPr>
        <p:spPr>
          <a:xfrm>
            <a:off x="8191500" y="4714875"/>
            <a:ext cx="2857500" cy="2286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复杂间接调用场景召回率</a:t>
            </a:r>
          </a:p>
        </p:txBody>
      </p:sp>
      <p:sp>
        <p:nvSpPr>
          <p:cNvPr id="35" name="dsl:footer-left|s=$caption"/>
          <p:cNvSpPr txBox="1"/>
          <p:nvPr/>
        </p:nvSpPr>
        <p:spPr>
          <a:xfrm>
            <a:off x="571500" y="6572250"/>
            <a:ext cx="3810000" cy="1905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网络设备Web服务安全研究</a:t>
            </a:r>
          </a:p>
        </p:txBody>
      </p:sp>
      <p:sp>
        <p:nvSpPr>
          <p:cNvPr id="36" name="dsl:footer-right|s=$caption"/>
          <p:cNvSpPr txBox="1"/>
          <p:nvPr/>
        </p:nvSpPr>
        <p:spPr>
          <a:xfrm>
            <a:off x="10477500" y="6572250"/>
            <a:ext cx="1143000" cy="190500"/>
          </a:xfrm>
          <a:prstGeom prst="rect">
            <a:avLst/>
          </a:prstGeom>
          <a:noFill/>
        </p:spPr>
        <p:txBody>
          <a:bodyPr wrap="none" anchor="ctr">
            <a:noAutofit/>
          </a:bodyPr>
          <a:lstStyle/>
          <a:p>
            <a:pPr algn="r">
              <a:lnSpc>
                <a:spcPct val="140000"/>
              </a:lnSpc>
            </a:pPr>
            <a:r>
              <a:rPr sz="1050" noProof="1">
                <a:solidFill>
                  <a:srgbClr val="64748B"/>
                </a:solidFill>
                <a:latin typeface="QuattrocentoSans"/>
                <a:ea typeface="MiSans"/>
              </a:rPr>
              <a:t>17 / 37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dsl:nav-bg"/>
          <p:cNvSpPr/>
          <p:nvPr/>
        </p:nvSpPr>
        <p:spPr>
          <a:xfrm>
            <a:off x="0" y="0"/>
            <a:ext cx="12192000" cy="381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
          <p:cNvSpPr/>
          <p:nvPr/>
        </p:nvSpPr>
        <p:spPr>
          <a:xfrm>
            <a:off x="3048000" y="0"/>
            <a:ext cx="3048000" cy="3810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t1|s=$nav"/>
          <p:cNvSpPr txBox="1"/>
          <p:nvPr/>
        </p:nvSpPr>
        <p:spPr>
          <a:xfrm>
            <a:off x="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维度一: Source</a:t>
            </a:r>
          </a:p>
        </p:txBody>
      </p:sp>
      <p:sp>
        <p:nvSpPr>
          <p:cNvPr id="5" name="dsl:nav-t2|s=$nav"/>
          <p:cNvSpPr txBox="1"/>
          <p:nvPr/>
        </p:nvSpPr>
        <p:spPr>
          <a:xfrm>
            <a:off x="3048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维度二: Propagation</a:t>
            </a:r>
          </a:p>
        </p:txBody>
      </p:sp>
      <p:sp>
        <p:nvSpPr>
          <p:cNvPr id="6" name="dsl:nav-t3|s=$nav"/>
          <p:cNvSpPr txBox="1"/>
          <p:nvPr/>
        </p:nvSpPr>
        <p:spPr>
          <a:xfrm>
            <a:off x="6096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维度三: Sink</a:t>
            </a:r>
          </a:p>
        </p:txBody>
      </p:sp>
      <p:sp>
        <p:nvSpPr>
          <p:cNvPr id="7" name="dsl:nav-t4|s=$nav"/>
          <p:cNvSpPr txBox="1"/>
          <p:nvPr/>
        </p:nvSpPr>
        <p:spPr>
          <a:xfrm>
            <a:off x="9144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维度四: Verification</a:t>
            </a:r>
          </a:p>
        </p:txBody>
      </p:sp>
      <p:sp>
        <p:nvSpPr>
          <p:cNvPr id="8" name="dsl:nav-line"/>
          <p:cNvSpPr/>
          <p:nvPr/>
        </p:nvSpPr>
        <p:spPr>
          <a:xfrm>
            <a:off x="0" y="381000"/>
            <a:ext cx="12192000" cy="1905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page-title|s=$title"/>
          <p:cNvSpPr txBox="1"/>
          <p:nvPr/>
        </p:nvSpPr>
        <p:spPr>
          <a:xfrm>
            <a:off x="571500" y="514350"/>
            <a:ext cx="8382000" cy="381000"/>
          </a:xfrm>
          <a:prstGeom prst="rect">
            <a:avLst/>
          </a:prstGeom>
          <a:noFill/>
        </p:spPr>
        <p:txBody>
          <a:bodyPr wrap="none" anchor="ctr">
            <a:noAutofit/>
          </a:bodyPr>
          <a:lstStyle/>
          <a:p>
            <a:pPr algn="l">
              <a:lnSpc>
                <a:spcPct val="130000"/>
              </a:lnSpc>
            </a:pPr>
            <a:r>
              <a:rPr sz="2100" noProof="1">
                <a:solidFill>
                  <a:srgbClr val="1E293B"/>
                </a:solidFill>
                <a:latin typeface="QuattrocentoSans"/>
                <a:ea typeface="MiSans"/>
              </a:rPr>
              <a:t>OctopusTaint — 实验结果与文章评价</a:t>
            </a:r>
          </a:p>
        </p:txBody>
      </p:sp>
      <p:sp>
        <p:nvSpPr>
          <p:cNvPr id="10" name="dsl:badge-bg"/>
          <p:cNvSpPr/>
          <p:nvPr/>
        </p:nvSpPr>
        <p:spPr>
          <a:xfrm>
            <a:off x="10096500" y="552450"/>
            <a:ext cx="1333500" cy="266700"/>
          </a:xfrm>
          <a:prstGeom prst="roundRect">
            <a:avLst>
              <a:gd name="adj" fmla="val 8000"/>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badge-text|s=$badge"/>
          <p:cNvSpPr txBox="1"/>
          <p:nvPr/>
        </p:nvSpPr>
        <p:spPr>
          <a:xfrm>
            <a:off x="10096500" y="552450"/>
            <a:ext cx="1333500" cy="2667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ACM CCS 2024</a:t>
            </a:r>
          </a:p>
        </p:txBody>
      </p:sp>
      <p:sp>
        <p:nvSpPr>
          <p:cNvPr id="12" name="dsl:results-bar"/>
          <p:cNvSpPr/>
          <p:nvPr/>
        </p:nvSpPr>
        <p:spPr>
          <a:xfrm>
            <a:off x="5715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results-subtitle|s=$subtitle"/>
          <p:cNvSpPr txBox="1"/>
          <p:nvPr/>
        </p:nvSpPr>
        <p:spPr>
          <a:xfrm>
            <a:off x="6858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实验结果</a:t>
            </a:r>
          </a:p>
        </p:txBody>
      </p:sp>
      <p:graphicFrame>
        <p:nvGraphicFramePr>
          <p:cNvPr id="14" name="dsl:results-table"/>
          <p:cNvGraphicFramePr>
            <a:graphicFrameLocks noGrp="1"/>
          </p:cNvGraphicFramePr>
          <p:nvPr/>
        </p:nvGraphicFramePr>
        <p:xfrm>
          <a:off x="571500" y="1409700"/>
          <a:ext cx="5715000" cy="2286000"/>
        </p:xfrm>
        <a:graphic>
          <a:graphicData uri="http://schemas.openxmlformats.org/drawingml/2006/table">
            <a:tbl>
              <a:tblPr firstRow="0" bandRow="0" lastRow="0" firstCol="0" lastCol="0" bandCol="0">
                <a:tableStyleId>{2D5ABB26-0587-4C30-8999-92F81FD0307C}</a:tableStyleId>
              </a:tblPr>
              <a:tblGrid>
                <a:gridCol w="2857500"/>
                <a:gridCol w="2857500"/>
              </a:tblGrid>
              <a:tr h="342900">
                <a:tc>
                  <a:txBody>
                    <a:bodyPr wrap="square" anchor="ctr">
                      <a:noAutofit/>
                    </a:bodyPr>
                    <a:lstStyle/>
                    <a:p>
                      <a:pPr algn="ctr"/>
                      <a:r>
                        <a:rPr sz="1200" noProof="1" b="1">
                          <a:solidFill>
                            <a:srgbClr val="FFFFFF"/>
                          </a:solidFill>
                          <a:latin typeface="QuattrocentoSans"/>
                          <a:ea typeface="MiSans"/>
                        </a:rPr>
                        <a:t>评估指标</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1E293B"/>
                    </a:solidFill>
                  </a:tcPr>
                </a:tc>
                <a:tc>
                  <a:txBody>
                    <a:bodyPr wrap="square" anchor="ctr">
                      <a:noAutofit/>
                    </a:bodyPr>
                    <a:lstStyle/>
                    <a:p>
                      <a:pPr algn="ctr"/>
                      <a:r>
                        <a:rPr sz="1200" noProof="1" b="1">
                          <a:solidFill>
                            <a:srgbClr val="FFFFFF"/>
                          </a:solidFill>
                          <a:latin typeface="QuattrocentoSans"/>
                          <a:ea typeface="MiSans"/>
                        </a:rPr>
                        <a:t>数值</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1E293B"/>
                    </a:solidFill>
                  </a:tcPr>
                </a:tc>
              </a:tr>
              <a:tr h="388620">
                <a:tc>
                  <a:txBody>
                    <a:bodyPr wrap="square" anchor="ctr">
                      <a:noAutofit/>
                    </a:bodyPr>
                    <a:lstStyle/>
                    <a:p>
                      <a:pPr algn="ctr"/>
                      <a:r>
                        <a:rPr sz="1200" noProof="1">
                          <a:solidFill>
                            <a:srgbClr val="0F172A"/>
                          </a:solidFill>
                          <a:latin typeface="QuattrocentoSans"/>
                          <a:ea typeface="MiSans"/>
                        </a:rPr>
                        <a:t>0-day 漏洞验证</a:t>
                      </a:r>
                    </a:p>
                  </a:txBody>
                  <a:tcPr marL="91440" marR="91440" marT="0" marB="0" anchor="ctr">
                    <a:solidFill>
                      <a:srgbClr val="FFFFFF"/>
                    </a:solidFill>
                  </a:tcPr>
                </a:tc>
                <a:tc>
                  <a:txBody>
                    <a:bodyPr wrap="square" anchor="ctr">
                      <a:noAutofit/>
                    </a:bodyPr>
                    <a:lstStyle/>
                    <a:p>
                      <a:pPr algn="ctr"/>
                      <a:r>
                        <a:rPr sz="1200" noProof="1">
                          <a:solidFill>
                            <a:srgbClr val="0F172A"/>
                          </a:solidFill>
                          <a:latin typeface="QuattrocentoSans"/>
                          <a:ea typeface="MiSans"/>
                        </a:rPr>
                        <a:t>49 个</a:t>
                      </a:r>
                    </a:p>
                  </a:txBody>
                  <a:tcPr marL="91440" marR="91440" marT="0" marB="0" anchor="ctr">
                    <a:solidFill>
                      <a:srgbClr val="FFFFFF"/>
                    </a:solidFill>
                  </a:tcPr>
                </a:tc>
              </a:tr>
              <a:tr h="388620">
                <a:tc>
                  <a:txBody>
                    <a:bodyPr wrap="square" anchor="ctr">
                      <a:noAutofit/>
                    </a:bodyPr>
                    <a:lstStyle/>
                    <a:p>
                      <a:pPr algn="ctr"/>
                      <a:r>
                        <a:rPr sz="1200" noProof="1">
                          <a:solidFill>
                            <a:srgbClr val="0F172A"/>
                          </a:solidFill>
                          <a:latin typeface="QuattrocentoSans"/>
                          <a:ea typeface="MiSans"/>
                        </a:rPr>
                        <a:t>大规模固件数据集</a:t>
                      </a:r>
                    </a:p>
                  </a:txBody>
                  <a:tcPr marL="91440" marR="91440" marT="0" marB="0" anchor="ctr">
                    <a:solidFill>
                      <a:srgbClr val="F1F5F9"/>
                    </a:solidFill>
                  </a:tcPr>
                </a:tc>
                <a:tc>
                  <a:txBody>
                    <a:bodyPr wrap="square" anchor="ctr">
                      <a:noAutofit/>
                    </a:bodyPr>
                    <a:lstStyle/>
                    <a:p>
                      <a:pPr algn="ctr"/>
                      <a:r>
                        <a:rPr sz="1200" noProof="1">
                          <a:solidFill>
                            <a:srgbClr val="0F172A"/>
                          </a:solidFill>
                          <a:latin typeface="QuattrocentoSans"/>
                          <a:ea typeface="MiSans"/>
                        </a:rPr>
                        <a:t>1,542 个</a:t>
                      </a:r>
                    </a:p>
                  </a:txBody>
                  <a:tcPr marL="91440" marR="91440" marT="0" marB="0" anchor="ctr">
                    <a:solidFill>
                      <a:srgbClr val="F1F5F9"/>
                    </a:solidFill>
                  </a:tcPr>
                </a:tc>
              </a:tr>
              <a:tr h="388620">
                <a:tc>
                  <a:txBody>
                    <a:bodyPr wrap="square" anchor="ctr">
                      <a:noAutofit/>
                    </a:bodyPr>
                    <a:lstStyle/>
                    <a:p>
                      <a:pPr algn="ctr"/>
                      <a:r>
                        <a:rPr sz="1200" noProof="1">
                          <a:solidFill>
                            <a:srgbClr val="0F172A"/>
                          </a:solidFill>
                          <a:latin typeface="QuattrocentoSans"/>
                          <a:ea typeface="MiSans"/>
                        </a:rPr>
                        <a:t>对比 SaTC 速度</a:t>
                      </a:r>
                    </a:p>
                  </a:txBody>
                  <a:tcPr marL="91440" marR="91440" marT="0" marB="0" anchor="ctr">
                    <a:solidFill>
                      <a:srgbClr val="FFFFFF"/>
                    </a:solidFill>
                  </a:tcPr>
                </a:tc>
                <a:tc>
                  <a:txBody>
                    <a:bodyPr wrap="square" anchor="ctr">
                      <a:noAutofit/>
                    </a:bodyPr>
                    <a:lstStyle/>
                    <a:p>
                      <a:pPr algn="ctr"/>
                      <a:r>
                        <a:rPr sz="1200" noProof="1">
                          <a:solidFill>
                            <a:srgbClr val="0F172A"/>
                          </a:solidFill>
                          <a:latin typeface="QuattrocentoSans"/>
                          <a:ea typeface="MiSans"/>
                        </a:rPr>
                        <a:t>快 24%</a:t>
                      </a:r>
                    </a:p>
                  </a:txBody>
                  <a:tcPr marL="91440" marR="91440" marT="0" marB="0" anchor="ctr">
                    <a:solidFill>
                      <a:srgbClr val="FFFFFF"/>
                    </a:solidFill>
                  </a:tcPr>
                </a:tc>
              </a:tr>
              <a:tr h="388620">
                <a:tc>
                  <a:txBody>
                    <a:bodyPr wrap="square" anchor="ctr">
                      <a:noAutofit/>
                    </a:bodyPr>
                    <a:lstStyle/>
                    <a:p>
                      <a:pPr algn="ctr"/>
                      <a:r>
                        <a:rPr sz="1200" noProof="1">
                          <a:solidFill>
                            <a:srgbClr val="0F172A"/>
                          </a:solidFill>
                          <a:latin typeface="QuattrocentoSans"/>
                          <a:ea typeface="MiSans"/>
                        </a:rPr>
                        <a:t>复杂间接调用召回率</a:t>
                      </a:r>
                    </a:p>
                  </a:txBody>
                  <a:tcPr marL="91440" marR="91440" marT="0" marB="0" anchor="ctr">
                    <a:solidFill>
                      <a:srgbClr val="F1F5F9"/>
                    </a:solidFill>
                  </a:tcPr>
                </a:tc>
                <a:tc>
                  <a:txBody>
                    <a:bodyPr wrap="square" anchor="ctr">
                      <a:noAutofit/>
                    </a:bodyPr>
                    <a:lstStyle/>
                    <a:p>
                      <a:pPr algn="ctr"/>
                      <a:r>
                        <a:rPr sz="1200" noProof="1">
                          <a:solidFill>
                            <a:srgbClr val="0F172A"/>
                          </a:solidFill>
                          <a:latin typeface="QuattrocentoSans"/>
                          <a:ea typeface="MiSans"/>
                        </a:rPr>
                        <a:t>83%</a:t>
                      </a:r>
                    </a:p>
                  </a:txBody>
                  <a:tcPr marL="91440" marR="91440" marT="0" marB="0" anchor="ctr">
                    <a:solidFill>
                      <a:srgbClr val="F1F5F9"/>
                    </a:solidFill>
                  </a:tcPr>
                </a:tc>
              </a:tr>
              <a:tr h="388620">
                <a:tc>
                  <a:txBody>
                    <a:bodyPr wrap="square" anchor="ctr">
                      <a:noAutofit/>
                    </a:bodyPr>
                    <a:lstStyle/>
                    <a:p>
                      <a:pPr algn="ctr"/>
                      <a:r>
                        <a:rPr sz="1200" noProof="1">
                          <a:solidFill>
                            <a:srgbClr val="0F172A"/>
                          </a:solidFill>
                          <a:latin typeface="QuattrocentoSans"/>
                          <a:ea typeface="MiSans"/>
                        </a:rPr>
                        <a:t>高危警告过滤</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FFFFFF"/>
                    </a:solidFill>
                  </a:tcPr>
                </a:tc>
                <a:tc>
                  <a:txBody>
                    <a:bodyPr wrap="square" anchor="ctr">
                      <a:noAutofit/>
                    </a:bodyPr>
                    <a:lstStyle/>
                    <a:p>
                      <a:pPr algn="ctr"/>
                      <a:r>
                        <a:rPr sz="1200" noProof="1">
                          <a:solidFill>
                            <a:srgbClr val="0F172A"/>
                          </a:solidFill>
                          <a:latin typeface="QuattrocentoSans"/>
                          <a:ea typeface="MiSans"/>
                        </a:rPr>
                        <a:t>109 个</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FFFFFF"/>
                    </a:solidFill>
                  </a:tcPr>
                </a:tc>
              </a:tr>
            </a:tbl>
          </a:graphicData>
        </a:graphic>
      </p:graphicFrame>
      <p:sp>
        <p:nvSpPr>
          <p:cNvPr id="15" name="dsl:results-note|s=$body"/>
          <p:cNvSpPr txBox="1"/>
          <p:nvPr/>
        </p:nvSpPr>
        <p:spPr>
          <a:xfrm>
            <a:off x="6667500" y="1409700"/>
            <a:ext cx="4953000" cy="2286000"/>
          </a:xfrm>
          <a:prstGeom prst="rect">
            <a:avLst/>
          </a:prstGeom>
          <a:noFill/>
        </p:spPr>
        <p:txBody>
          <a:bodyPr wrap="square" anchor="t">
            <a:noAutofit/>
          </a:bodyPr>
          <a:lstStyle/>
          <a:p>
            <a:pPr algn="l">
              <a:lnSpc>
                <a:spcPct val="160000"/>
              </a:lnSpc>
            </a:pPr>
            <a:r>
              <a:rPr b="1" sz="1350" noProof="1">
                <a:solidFill>
                  <a:srgbClr val="0F172A"/>
                </a:solidFill>
                <a:latin typeface="QuattrocentoSans"/>
                <a:ea typeface="MiSans"/>
              </a:rPr>
              <a:t>与现有方法对比</a:t>
            </a:r>
          </a:p>
          <a:p>
            <a:pPr algn="l">
              <a:lnSpc>
                <a:spcPct val="160000"/>
              </a:lnSpc>
            </a:pPr>
            <a:r>
              <a:rPr sz="1350" noProof="1">
                <a:solidFill>
                  <a:srgbClr val="0F172A"/>
                </a:solidFill>
                <a:latin typeface="QuattrocentoSans"/>
                <a:ea typeface="MiSans"/>
              </a:rPr>
              <a:t>同为基于RDA的工具，MangoDFA在复杂间接调用和超多参数格式化场景下召回率仅16%。OctopusTaint凭借AIL优化和底层修复，召回率高达83%。净化检查成功识别了320个已被净化的误报汇聚点。</a:t>
            </a:r>
          </a:p>
        </p:txBody>
      </p:sp>
      <p:sp>
        <p:nvSpPr>
          <p:cNvPr id="16" name="dsl:eval-bar"/>
          <p:cNvSpPr/>
          <p:nvPr/>
        </p:nvSpPr>
        <p:spPr>
          <a:xfrm>
            <a:off x="571500" y="390525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eval-subtitle|s=$subtitle"/>
          <p:cNvSpPr txBox="1"/>
          <p:nvPr/>
        </p:nvSpPr>
        <p:spPr>
          <a:xfrm>
            <a:off x="685800" y="388620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文章评价</a:t>
            </a:r>
          </a:p>
        </p:txBody>
      </p:sp>
      <p:sp>
        <p:nvSpPr>
          <p:cNvPr id="18" name="dsl:eval1-bar"/>
          <p:cNvSpPr/>
          <p:nvPr/>
        </p:nvSpPr>
        <p:spPr>
          <a:xfrm>
            <a:off x="571500" y="4305300"/>
            <a:ext cx="38100" cy="2286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eval1-subtitle"/>
          <p:cNvSpPr txBox="1"/>
          <p:nvPr/>
        </p:nvSpPr>
        <p:spPr>
          <a:xfrm>
            <a:off x="685800" y="4286250"/>
            <a:ext cx="3314700" cy="266700"/>
          </a:xfrm>
          <a:prstGeom prst="rect">
            <a:avLst/>
          </a:prstGeom>
          <a:noFill/>
        </p:spPr>
        <p:txBody>
          <a:bodyPr wrap="none" anchor="ctr">
            <a:noAutofit/>
          </a:bodyPr>
          <a:lstStyle/>
          <a:p>
            <a:pPr algn="l"/>
            <a:r>
              <a:rPr b="1" sz="1350" noProof="1">
                <a:solidFill>
                  <a:srgbClr val="059669"/>
                </a:solidFill>
                <a:latin typeface="QuattrocentoSans"/>
                <a:ea typeface="MiSans"/>
              </a:rPr>
              <a:t>优势</a:t>
            </a:r>
          </a:p>
        </p:txBody>
      </p:sp>
      <p:sp>
        <p:nvSpPr>
          <p:cNvPr id="20" name="dsl:eval1-body|s=$body"/>
          <p:cNvSpPr txBox="1"/>
          <p:nvPr/>
        </p:nvSpPr>
        <p:spPr>
          <a:xfrm>
            <a:off x="571500" y="4629150"/>
            <a:ext cx="3429000" cy="171450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误报来源处理极为细致。AIL底层优化、净化检查、NVRAM路径拼接、新污点源发现与间接调用解析形成完整链条，专门解决了真实固件中最常见的误报/漏报来源。</a:t>
            </a:r>
          </a:p>
        </p:txBody>
      </p:sp>
      <p:sp>
        <p:nvSpPr>
          <p:cNvPr id="21" name="dsl:eval2-bar"/>
          <p:cNvSpPr/>
          <p:nvPr/>
        </p:nvSpPr>
        <p:spPr>
          <a:xfrm>
            <a:off x="4191000" y="4305300"/>
            <a:ext cx="38100" cy="2286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eval2-subtitle"/>
          <p:cNvSpPr txBox="1"/>
          <p:nvPr/>
        </p:nvSpPr>
        <p:spPr>
          <a:xfrm>
            <a:off x="4305300" y="4286250"/>
            <a:ext cx="3314700" cy="266700"/>
          </a:xfrm>
          <a:prstGeom prst="rect">
            <a:avLst/>
          </a:prstGeom>
          <a:noFill/>
        </p:spPr>
        <p:txBody>
          <a:bodyPr wrap="none" anchor="ctr">
            <a:noAutofit/>
          </a:bodyPr>
          <a:lstStyle/>
          <a:p>
            <a:pPr algn="l"/>
            <a:r>
              <a:rPr b="1" sz="1350" noProof="1">
                <a:solidFill>
                  <a:srgbClr val="DC2626"/>
                </a:solidFill>
                <a:latin typeface="QuattrocentoSans"/>
                <a:ea typeface="MiSans"/>
              </a:rPr>
              <a:t>局限</a:t>
            </a:r>
          </a:p>
        </p:txBody>
      </p:sp>
      <p:sp>
        <p:nvSpPr>
          <p:cNvPr id="23" name="dsl:eval2-body|s=$body"/>
          <p:cNvSpPr txBox="1"/>
          <p:nvPr/>
        </p:nvSpPr>
        <p:spPr>
          <a:xfrm>
            <a:off x="4191000" y="4629150"/>
            <a:ext cx="3429000" cy="171450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依赖angr、AIL、DDG等底层框架质量，若反编译或DDG构建失败则整个分析失效。对固件架构和反编译质量要求较高。</a:t>
            </a:r>
          </a:p>
        </p:txBody>
      </p:sp>
      <p:sp>
        <p:nvSpPr>
          <p:cNvPr id="24" name="dsl:eval3-bar"/>
          <p:cNvSpPr/>
          <p:nvPr/>
        </p:nvSpPr>
        <p:spPr>
          <a:xfrm>
            <a:off x="7810500" y="4305300"/>
            <a:ext cx="38100" cy="228600"/>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eval3-subtitle"/>
          <p:cNvSpPr txBox="1"/>
          <p:nvPr/>
        </p:nvSpPr>
        <p:spPr>
          <a:xfrm>
            <a:off x="7924800" y="4286250"/>
            <a:ext cx="3314700" cy="266700"/>
          </a:xfrm>
          <a:prstGeom prst="rect">
            <a:avLst/>
          </a:prstGeom>
          <a:noFill/>
        </p:spPr>
        <p:txBody>
          <a:bodyPr wrap="none" anchor="ctr">
            <a:noAutofit/>
          </a:bodyPr>
          <a:lstStyle/>
          <a:p>
            <a:pPr algn="l"/>
            <a:r>
              <a:rPr b="1" sz="1350" noProof="1">
                <a:solidFill>
                  <a:srgbClr val="64748B"/>
                </a:solidFill>
                <a:latin typeface="QuattrocentoSans"/>
                <a:ea typeface="MiSans"/>
              </a:rPr>
              <a:t>商业化</a:t>
            </a:r>
          </a:p>
        </p:txBody>
      </p:sp>
      <p:sp>
        <p:nvSpPr>
          <p:cNvPr id="26" name="dsl:eval3-body|s=$body"/>
          <p:cNvSpPr txBox="1"/>
          <p:nvPr/>
        </p:nvSpPr>
        <p:spPr>
          <a:xfrm>
            <a:off x="7810500" y="4629150"/>
            <a:ext cx="3429000" cy="171450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适合高精度静态分析后端、大型设备厂商内部安全平台。可作为现有供应链扫描引擎的精度增强模块。</a:t>
            </a:r>
          </a:p>
        </p:txBody>
      </p:sp>
      <p:sp>
        <p:nvSpPr>
          <p:cNvPr id="27" name="dsl:footer-left|s=$caption"/>
          <p:cNvSpPr txBox="1"/>
          <p:nvPr/>
        </p:nvSpPr>
        <p:spPr>
          <a:xfrm>
            <a:off x="571500" y="6572250"/>
            <a:ext cx="3810000" cy="1905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网络设备Web服务安全研究</a:t>
            </a:r>
          </a:p>
        </p:txBody>
      </p:sp>
      <p:sp>
        <p:nvSpPr>
          <p:cNvPr id="28" name="dsl:footer-right|s=$caption"/>
          <p:cNvSpPr txBox="1"/>
          <p:nvPr/>
        </p:nvSpPr>
        <p:spPr>
          <a:xfrm>
            <a:off x="10477500" y="6572250"/>
            <a:ext cx="1143000" cy="190500"/>
          </a:xfrm>
          <a:prstGeom prst="rect">
            <a:avLst/>
          </a:prstGeom>
          <a:noFill/>
        </p:spPr>
        <p:txBody>
          <a:bodyPr wrap="none" anchor="ctr">
            <a:noAutofit/>
          </a:bodyPr>
          <a:lstStyle/>
          <a:p>
            <a:pPr algn="r">
              <a:lnSpc>
                <a:spcPct val="140000"/>
              </a:lnSpc>
            </a:pPr>
            <a:r>
              <a:rPr sz="1050" noProof="1">
                <a:solidFill>
                  <a:srgbClr val="64748B"/>
                </a:solidFill>
                <a:latin typeface="QuattrocentoSans"/>
                <a:ea typeface="MiSans"/>
              </a:rPr>
              <a:t>18 / 37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dsl:nav-bg"/>
          <p:cNvSpPr/>
          <p:nvPr/>
        </p:nvSpPr>
        <p:spPr>
          <a:xfrm>
            <a:off x="0" y="0"/>
            <a:ext cx="12192000" cy="381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
          <p:cNvSpPr/>
          <p:nvPr/>
        </p:nvSpPr>
        <p:spPr>
          <a:xfrm>
            <a:off x="3048000" y="0"/>
            <a:ext cx="3048000" cy="3810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t1|s=$nav"/>
          <p:cNvSpPr txBox="1"/>
          <p:nvPr/>
        </p:nvSpPr>
        <p:spPr>
          <a:xfrm>
            <a:off x="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维度一: Source</a:t>
            </a:r>
          </a:p>
        </p:txBody>
      </p:sp>
      <p:sp>
        <p:nvSpPr>
          <p:cNvPr id="5" name="dsl:nav-t2|s=$nav"/>
          <p:cNvSpPr txBox="1"/>
          <p:nvPr/>
        </p:nvSpPr>
        <p:spPr>
          <a:xfrm>
            <a:off x="3048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维度二: Propagation</a:t>
            </a:r>
          </a:p>
        </p:txBody>
      </p:sp>
      <p:sp>
        <p:nvSpPr>
          <p:cNvPr id="6" name="dsl:nav-t3|s=$nav"/>
          <p:cNvSpPr txBox="1"/>
          <p:nvPr/>
        </p:nvSpPr>
        <p:spPr>
          <a:xfrm>
            <a:off x="6096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维度三: Sink</a:t>
            </a:r>
          </a:p>
        </p:txBody>
      </p:sp>
      <p:sp>
        <p:nvSpPr>
          <p:cNvPr id="7" name="dsl:nav-t4|s=$nav"/>
          <p:cNvSpPr txBox="1"/>
          <p:nvPr/>
        </p:nvSpPr>
        <p:spPr>
          <a:xfrm>
            <a:off x="9144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维度四: Verification</a:t>
            </a:r>
          </a:p>
        </p:txBody>
      </p:sp>
      <p:sp>
        <p:nvSpPr>
          <p:cNvPr id="8" name="dsl:nav-line"/>
          <p:cNvSpPr/>
          <p:nvPr/>
        </p:nvSpPr>
        <p:spPr>
          <a:xfrm>
            <a:off x="0" y="381000"/>
            <a:ext cx="12192000" cy="1905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page-title|s=$title"/>
          <p:cNvSpPr txBox="1"/>
          <p:nvPr/>
        </p:nvSpPr>
        <p:spPr>
          <a:xfrm>
            <a:off x="571500" y="514350"/>
            <a:ext cx="11049000" cy="381000"/>
          </a:xfrm>
          <a:prstGeom prst="rect">
            <a:avLst/>
          </a:prstGeom>
          <a:noFill/>
        </p:spPr>
        <p:txBody>
          <a:bodyPr wrap="none" anchor="ctr">
            <a:noAutofit/>
          </a:bodyPr>
          <a:lstStyle/>
          <a:p>
            <a:pPr algn="l">
              <a:lnSpc>
                <a:spcPct val="130000"/>
              </a:lnSpc>
            </a:pPr>
            <a:r>
              <a:rPr sz="2100" noProof="1">
                <a:solidFill>
                  <a:srgbClr val="1E293B"/>
                </a:solidFill>
                <a:latin typeface="QuattrocentoSans"/>
                <a:ea typeface="MiSans"/>
              </a:rPr>
              <a:t>维度二总结：Propagation 技术演进</a:t>
            </a:r>
          </a:p>
        </p:txBody>
      </p:sp>
      <p:sp>
        <p:nvSpPr>
          <p:cNvPr id="10" name="dsl:card1-bg"/>
          <p:cNvSpPr/>
          <p:nvPr/>
        </p:nvSpPr>
        <p:spPr>
          <a:xfrm>
            <a:off x="571500" y="1143000"/>
            <a:ext cx="3429000" cy="4953000"/>
          </a:xfrm>
          <a:prstGeom prst="roundRect">
            <a:avLst>
              <a:gd name="adj" fmla="val 6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card1-accent"/>
          <p:cNvSpPr/>
          <p:nvPr/>
        </p:nvSpPr>
        <p:spPr>
          <a:xfrm>
            <a:off x="762000" y="1333500"/>
            <a:ext cx="571500" cy="381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l:card1-title"/>
          <p:cNvSpPr txBox="1"/>
          <p:nvPr/>
        </p:nvSpPr>
        <p:spPr>
          <a:xfrm>
            <a:off x="762000" y="1485900"/>
            <a:ext cx="3048000" cy="342900"/>
          </a:xfrm>
          <a:prstGeom prst="rect">
            <a:avLst/>
          </a:prstGeom>
          <a:noFill/>
        </p:spPr>
        <p:txBody>
          <a:bodyPr wrap="none" anchor="ctr">
            <a:noAutofit/>
          </a:bodyPr>
          <a:lstStyle/>
          <a:p>
            <a:pPr algn="l"/>
            <a:r>
              <a:rPr b="1" sz="1800" noProof="1">
                <a:solidFill>
                  <a:srgbClr val="1E293B"/>
                </a:solidFill>
                <a:latin typeface="QuattrocentoSans"/>
                <a:ea typeface="MiSans"/>
              </a:rPr>
              <a:t>KARONTE</a:t>
            </a:r>
          </a:p>
        </p:txBody>
      </p:sp>
      <p:sp>
        <p:nvSpPr>
          <p:cNvPr id="13" name="dsl:card1-conf|s=$caption"/>
          <p:cNvSpPr txBox="1"/>
          <p:nvPr/>
        </p:nvSpPr>
        <p:spPr>
          <a:xfrm>
            <a:off x="762000" y="1866900"/>
            <a:ext cx="1905000" cy="20955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IEEE S&amp;P 2020</a:t>
            </a:r>
          </a:p>
        </p:txBody>
      </p:sp>
      <p:sp>
        <p:nvSpPr>
          <p:cNvPr id="14" name="dsl:card1-line"/>
          <p:cNvSpPr/>
          <p:nvPr/>
        </p:nvSpPr>
        <p:spPr>
          <a:xfrm>
            <a:off x="762000" y="2171700"/>
            <a:ext cx="3048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l:card1-sub1"/>
          <p:cNvSpPr txBox="1"/>
          <p:nvPr/>
        </p:nvSpPr>
        <p:spPr>
          <a:xfrm>
            <a:off x="762000" y="2286000"/>
            <a:ext cx="3048000" cy="247650"/>
          </a:xfrm>
          <a:prstGeom prst="rect">
            <a:avLst/>
          </a:prstGeom>
          <a:noFill/>
        </p:spPr>
        <p:txBody>
          <a:bodyPr wrap="none" anchor="ctr">
            <a:noAutofit/>
          </a:bodyPr>
          <a:lstStyle/>
          <a:p>
            <a:pPr algn="l"/>
            <a:r>
              <a:rPr b="1" sz="1350" noProof="1">
                <a:solidFill>
                  <a:srgbClr val="1E293B"/>
                </a:solidFill>
                <a:latin typeface="QuattrocentoSans"/>
                <a:ea typeface="MiSans"/>
              </a:rPr>
              <a:t>核心贡献</a:t>
            </a:r>
          </a:p>
        </p:txBody>
      </p:sp>
      <p:sp>
        <p:nvSpPr>
          <p:cNvPr id="16" name="dsl:card1-body1"/>
          <p:cNvSpPr txBox="1"/>
          <p:nvPr/>
        </p:nvSpPr>
        <p:spPr>
          <a:xfrm>
            <a:off x="762000" y="2571750"/>
            <a:ext cx="3048000" cy="11430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首次提出多二进制IPC数据流抽象。通过BDG建模与跨进程污点分析，将固件分散程序连接为全局数据流网络，使跨进程漏洞可被静态分析捕获。</a:t>
            </a:r>
          </a:p>
        </p:txBody>
      </p:sp>
      <p:sp>
        <p:nvSpPr>
          <p:cNvPr id="17" name="dsl:card1-sub2"/>
          <p:cNvSpPr txBox="1"/>
          <p:nvPr/>
        </p:nvSpPr>
        <p:spPr>
          <a:xfrm>
            <a:off x="762000" y="3810000"/>
            <a:ext cx="3048000" cy="247650"/>
          </a:xfrm>
          <a:prstGeom prst="rect">
            <a:avLst/>
          </a:prstGeom>
          <a:noFill/>
        </p:spPr>
        <p:txBody>
          <a:bodyPr wrap="none" anchor="ctr">
            <a:noAutofit/>
          </a:bodyPr>
          <a:lstStyle/>
          <a:p>
            <a:pPr algn="l"/>
            <a:r>
              <a:rPr b="1" sz="1350" noProof="1">
                <a:solidFill>
                  <a:srgbClr val="1E293B"/>
                </a:solidFill>
                <a:latin typeface="QuattrocentoSans"/>
                <a:ea typeface="MiSans"/>
              </a:rPr>
              <a:t>关键数据</a:t>
            </a:r>
          </a:p>
        </p:txBody>
      </p:sp>
      <p:sp>
        <p:nvSpPr>
          <p:cNvPr id="18" name="dsl:card1-body2"/>
          <p:cNvSpPr txBox="1"/>
          <p:nvPr/>
        </p:nvSpPr>
        <p:spPr>
          <a:xfrm>
            <a:off x="762000" y="4095750"/>
            <a:ext cx="3048000" cy="5715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53固件 | 46 0-day | 告警722→2</a:t>
            </a:r>
          </a:p>
        </p:txBody>
      </p:sp>
      <p:sp>
        <p:nvSpPr>
          <p:cNvPr id="19" name="dsl:card1-sub3"/>
          <p:cNvSpPr txBox="1"/>
          <p:nvPr/>
        </p:nvSpPr>
        <p:spPr>
          <a:xfrm>
            <a:off x="762000" y="4762500"/>
            <a:ext cx="3048000" cy="247650"/>
          </a:xfrm>
          <a:prstGeom prst="rect">
            <a:avLst/>
          </a:prstGeom>
          <a:noFill/>
        </p:spPr>
        <p:txBody>
          <a:bodyPr wrap="none" anchor="ctr">
            <a:noAutofit/>
          </a:bodyPr>
          <a:lstStyle/>
          <a:p>
            <a:pPr algn="l"/>
            <a:r>
              <a:rPr b="1" sz="1350" noProof="1">
                <a:solidFill>
                  <a:srgbClr val="1E293B"/>
                </a:solidFill>
                <a:latin typeface="QuattrocentoSans"/>
                <a:ea typeface="MiSans"/>
              </a:rPr>
              <a:t>局限性</a:t>
            </a:r>
          </a:p>
        </p:txBody>
      </p:sp>
      <p:sp>
        <p:nvSpPr>
          <p:cNvPr id="20" name="dsl:card1-body3"/>
          <p:cNvSpPr txBox="1"/>
          <p:nvPr/>
        </p:nvSpPr>
        <p:spPr>
          <a:xfrm>
            <a:off x="762000" y="5048250"/>
            <a:ext cx="3048000" cy="7620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符号执行开销重；边界二进制过滤漏报；CPF覆盖不全导致BDG断裂</a:t>
            </a:r>
          </a:p>
        </p:txBody>
      </p:sp>
      <p:sp>
        <p:nvSpPr>
          <p:cNvPr id="21" name="dsl:card2-bg"/>
          <p:cNvSpPr/>
          <p:nvPr/>
        </p:nvSpPr>
        <p:spPr>
          <a:xfrm>
            <a:off x="4191000" y="1143000"/>
            <a:ext cx="3429000" cy="4953000"/>
          </a:xfrm>
          <a:prstGeom prst="roundRect">
            <a:avLst>
              <a:gd name="adj" fmla="val 6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card2-accent"/>
          <p:cNvSpPr/>
          <p:nvPr/>
        </p:nvSpPr>
        <p:spPr>
          <a:xfrm>
            <a:off x="4381500" y="1333500"/>
            <a:ext cx="571500" cy="381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l:card2-title"/>
          <p:cNvSpPr txBox="1"/>
          <p:nvPr/>
        </p:nvSpPr>
        <p:spPr>
          <a:xfrm>
            <a:off x="4381500" y="1485900"/>
            <a:ext cx="3048000" cy="342900"/>
          </a:xfrm>
          <a:prstGeom prst="rect">
            <a:avLst/>
          </a:prstGeom>
          <a:noFill/>
        </p:spPr>
        <p:txBody>
          <a:bodyPr wrap="none" anchor="ctr">
            <a:noAutofit/>
          </a:bodyPr>
          <a:lstStyle/>
          <a:p>
            <a:pPr algn="l"/>
            <a:r>
              <a:rPr b="1" sz="1800" noProof="1">
                <a:solidFill>
                  <a:srgbClr val="1E293B"/>
                </a:solidFill>
                <a:latin typeface="QuattrocentoSans"/>
                <a:ea typeface="MiSans"/>
              </a:rPr>
              <a:t>MangoDFA</a:t>
            </a:r>
          </a:p>
        </p:txBody>
      </p:sp>
      <p:sp>
        <p:nvSpPr>
          <p:cNvPr id="24" name="dsl:card2-conf|s=$caption"/>
          <p:cNvSpPr txBox="1"/>
          <p:nvPr/>
        </p:nvSpPr>
        <p:spPr>
          <a:xfrm>
            <a:off x="4381500" y="1866900"/>
            <a:ext cx="1905000" cy="20955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USENIX Security 2024</a:t>
            </a:r>
          </a:p>
        </p:txBody>
      </p:sp>
      <p:sp>
        <p:nvSpPr>
          <p:cNvPr id="25" name="dsl:card2-line"/>
          <p:cNvSpPr/>
          <p:nvPr/>
        </p:nvSpPr>
        <p:spPr>
          <a:xfrm>
            <a:off x="4381500" y="2171700"/>
            <a:ext cx="3048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l:card2-sub1"/>
          <p:cNvSpPr txBox="1"/>
          <p:nvPr/>
        </p:nvSpPr>
        <p:spPr>
          <a:xfrm>
            <a:off x="4381500" y="2286000"/>
            <a:ext cx="3048000" cy="247650"/>
          </a:xfrm>
          <a:prstGeom prst="rect">
            <a:avLst/>
          </a:prstGeom>
          <a:noFill/>
        </p:spPr>
        <p:txBody>
          <a:bodyPr wrap="none" anchor="ctr">
            <a:noAutofit/>
          </a:bodyPr>
          <a:lstStyle/>
          <a:p>
            <a:pPr algn="l"/>
            <a:r>
              <a:rPr b="1" sz="1350" noProof="1">
                <a:solidFill>
                  <a:srgbClr val="1E293B"/>
                </a:solidFill>
                <a:latin typeface="QuattrocentoSans"/>
                <a:ea typeface="MiSans"/>
              </a:rPr>
              <a:t>核心贡献</a:t>
            </a:r>
          </a:p>
        </p:txBody>
      </p:sp>
      <p:sp>
        <p:nvSpPr>
          <p:cNvPr id="27" name="dsl:card2-body1"/>
          <p:cNvSpPr txBox="1"/>
          <p:nvPr/>
        </p:nvSpPr>
        <p:spPr>
          <a:xfrm>
            <a:off x="4381500" y="2571750"/>
            <a:ext cx="3048000" cy="11430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富表达式混合值域、Sink-to-Source反向分析与Assumed Nonimpact策略，实现全固件覆盖的大规模污点分析，解决边界过滤导致的系统性漏报。</a:t>
            </a:r>
          </a:p>
        </p:txBody>
      </p:sp>
      <p:sp>
        <p:nvSpPr>
          <p:cNvPr id="28" name="dsl:card2-sub2"/>
          <p:cNvSpPr txBox="1"/>
          <p:nvPr/>
        </p:nvSpPr>
        <p:spPr>
          <a:xfrm>
            <a:off x="4381500" y="3810000"/>
            <a:ext cx="3048000" cy="247650"/>
          </a:xfrm>
          <a:prstGeom prst="rect">
            <a:avLst/>
          </a:prstGeom>
          <a:noFill/>
        </p:spPr>
        <p:txBody>
          <a:bodyPr wrap="none" anchor="ctr">
            <a:noAutofit/>
          </a:bodyPr>
          <a:lstStyle/>
          <a:p>
            <a:pPr algn="l"/>
            <a:r>
              <a:rPr b="1" sz="1350" noProof="1">
                <a:solidFill>
                  <a:srgbClr val="1E293B"/>
                </a:solidFill>
                <a:latin typeface="QuattrocentoSans"/>
                <a:ea typeface="MiSans"/>
              </a:rPr>
              <a:t>关键数据</a:t>
            </a:r>
          </a:p>
        </p:txBody>
      </p:sp>
      <p:sp>
        <p:nvSpPr>
          <p:cNvPr id="29" name="dsl:card2-body2"/>
          <p:cNvSpPr txBox="1"/>
          <p:nvPr/>
        </p:nvSpPr>
        <p:spPr>
          <a:xfrm>
            <a:off x="4381500" y="4095750"/>
            <a:ext cx="3048000" cy="5715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770,374二进制 | 10,834 TruPoCs | 38.12s/个</a:t>
            </a:r>
          </a:p>
        </p:txBody>
      </p:sp>
      <p:sp>
        <p:nvSpPr>
          <p:cNvPr id="30" name="dsl:card2-sub3"/>
          <p:cNvSpPr txBox="1"/>
          <p:nvPr/>
        </p:nvSpPr>
        <p:spPr>
          <a:xfrm>
            <a:off x="4381500" y="4762500"/>
            <a:ext cx="3048000" cy="247650"/>
          </a:xfrm>
          <a:prstGeom prst="rect">
            <a:avLst/>
          </a:prstGeom>
          <a:noFill/>
        </p:spPr>
        <p:txBody>
          <a:bodyPr wrap="none" anchor="ctr">
            <a:noAutofit/>
          </a:bodyPr>
          <a:lstStyle/>
          <a:p>
            <a:pPr algn="l"/>
            <a:r>
              <a:rPr b="1" sz="1350" noProof="1">
                <a:solidFill>
                  <a:srgbClr val="1E293B"/>
                </a:solidFill>
                <a:latin typeface="QuattrocentoSans"/>
                <a:ea typeface="MiSans"/>
              </a:rPr>
              <a:t>局限性</a:t>
            </a:r>
          </a:p>
        </p:txBody>
      </p:sp>
      <p:sp>
        <p:nvSpPr>
          <p:cNvPr id="31" name="dsl:card2-body3"/>
          <p:cNvSpPr txBox="1"/>
          <p:nvPr/>
        </p:nvSpPr>
        <p:spPr>
          <a:xfrm>
            <a:off x="4381500" y="5048250"/>
            <a:ext cx="3048000" cy="7620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TruPoC≠真实PoC；复杂业务逻辑覆盖有限；告警需配套去重排序</a:t>
            </a:r>
          </a:p>
        </p:txBody>
      </p:sp>
      <p:sp>
        <p:nvSpPr>
          <p:cNvPr id="32" name="dsl:card3-bg"/>
          <p:cNvSpPr/>
          <p:nvPr/>
        </p:nvSpPr>
        <p:spPr>
          <a:xfrm>
            <a:off x="7810500" y="1143000"/>
            <a:ext cx="3429000" cy="4953000"/>
          </a:xfrm>
          <a:prstGeom prst="roundRect">
            <a:avLst>
              <a:gd name="adj" fmla="val 6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sl:card3-accent"/>
          <p:cNvSpPr/>
          <p:nvPr/>
        </p:nvSpPr>
        <p:spPr>
          <a:xfrm>
            <a:off x="8001000" y="1333500"/>
            <a:ext cx="571500" cy="381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dsl:card3-title"/>
          <p:cNvSpPr txBox="1"/>
          <p:nvPr/>
        </p:nvSpPr>
        <p:spPr>
          <a:xfrm>
            <a:off x="8001000" y="1485900"/>
            <a:ext cx="3048000" cy="342900"/>
          </a:xfrm>
          <a:prstGeom prst="rect">
            <a:avLst/>
          </a:prstGeom>
          <a:noFill/>
        </p:spPr>
        <p:txBody>
          <a:bodyPr wrap="none" anchor="ctr">
            <a:noAutofit/>
          </a:bodyPr>
          <a:lstStyle/>
          <a:p>
            <a:pPr algn="l"/>
            <a:r>
              <a:rPr b="1" sz="1800" noProof="1">
                <a:solidFill>
                  <a:srgbClr val="1E293B"/>
                </a:solidFill>
                <a:latin typeface="QuattrocentoSans"/>
                <a:ea typeface="MiSans"/>
              </a:rPr>
              <a:t>OctopusTaint</a:t>
            </a:r>
          </a:p>
        </p:txBody>
      </p:sp>
      <p:sp>
        <p:nvSpPr>
          <p:cNvPr id="35" name="dsl:card3-conf|s=$caption"/>
          <p:cNvSpPr txBox="1"/>
          <p:nvPr/>
        </p:nvSpPr>
        <p:spPr>
          <a:xfrm>
            <a:off x="8001000" y="1866900"/>
            <a:ext cx="1905000" cy="20955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ACM CCS 2024</a:t>
            </a:r>
          </a:p>
        </p:txBody>
      </p:sp>
      <p:sp>
        <p:nvSpPr>
          <p:cNvPr id="36" name="dsl:card3-line"/>
          <p:cNvSpPr/>
          <p:nvPr/>
        </p:nvSpPr>
        <p:spPr>
          <a:xfrm>
            <a:off x="8001000" y="2171700"/>
            <a:ext cx="3048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dsl:card3-sub1"/>
          <p:cNvSpPr txBox="1"/>
          <p:nvPr/>
        </p:nvSpPr>
        <p:spPr>
          <a:xfrm>
            <a:off x="8001000" y="2286000"/>
            <a:ext cx="3048000" cy="247650"/>
          </a:xfrm>
          <a:prstGeom prst="rect">
            <a:avLst/>
          </a:prstGeom>
          <a:noFill/>
        </p:spPr>
        <p:txBody>
          <a:bodyPr wrap="none" anchor="ctr">
            <a:noAutofit/>
          </a:bodyPr>
          <a:lstStyle/>
          <a:p>
            <a:pPr algn="l"/>
            <a:r>
              <a:rPr b="1" sz="1350" noProof="1">
                <a:solidFill>
                  <a:srgbClr val="1E293B"/>
                </a:solidFill>
                <a:latin typeface="QuattrocentoSans"/>
                <a:ea typeface="MiSans"/>
              </a:rPr>
              <a:t>核心贡献</a:t>
            </a:r>
          </a:p>
        </p:txBody>
      </p:sp>
      <p:sp>
        <p:nvSpPr>
          <p:cNvPr id="38" name="dsl:card3-body1"/>
          <p:cNvSpPr txBox="1"/>
          <p:nvPr/>
        </p:nvSpPr>
        <p:spPr>
          <a:xfrm>
            <a:off x="8001000" y="2571750"/>
            <a:ext cx="3048000" cy="11430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AIL增强RDA、净化检查、NVRAM路径拼接与新污点源发现，形成底层到上层的完整误报/漏报处理链条，召回率远高于同类RDA工具。</a:t>
            </a:r>
          </a:p>
        </p:txBody>
      </p:sp>
      <p:sp>
        <p:nvSpPr>
          <p:cNvPr id="39" name="dsl:card3-sub2"/>
          <p:cNvSpPr txBox="1"/>
          <p:nvPr/>
        </p:nvSpPr>
        <p:spPr>
          <a:xfrm>
            <a:off x="8001000" y="3810000"/>
            <a:ext cx="3048000" cy="247650"/>
          </a:xfrm>
          <a:prstGeom prst="rect">
            <a:avLst/>
          </a:prstGeom>
          <a:noFill/>
        </p:spPr>
        <p:txBody>
          <a:bodyPr wrap="none" anchor="ctr">
            <a:noAutofit/>
          </a:bodyPr>
          <a:lstStyle/>
          <a:p>
            <a:pPr algn="l"/>
            <a:r>
              <a:rPr b="1" sz="1350" noProof="1">
                <a:solidFill>
                  <a:srgbClr val="1E293B"/>
                </a:solidFill>
                <a:latin typeface="QuattrocentoSans"/>
                <a:ea typeface="MiSans"/>
              </a:rPr>
              <a:t>关键数据</a:t>
            </a:r>
          </a:p>
        </p:txBody>
      </p:sp>
      <p:sp>
        <p:nvSpPr>
          <p:cNvPr id="40" name="dsl:card3-body2"/>
          <p:cNvSpPr txBox="1"/>
          <p:nvPr/>
        </p:nvSpPr>
        <p:spPr>
          <a:xfrm>
            <a:off x="8001000" y="4095750"/>
            <a:ext cx="3048000" cy="5715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49 0-day | 1,542固件 | 快24% | 召回83%</a:t>
            </a:r>
          </a:p>
        </p:txBody>
      </p:sp>
      <p:sp>
        <p:nvSpPr>
          <p:cNvPr id="41" name="dsl:card3-sub3"/>
          <p:cNvSpPr txBox="1"/>
          <p:nvPr/>
        </p:nvSpPr>
        <p:spPr>
          <a:xfrm>
            <a:off x="8001000" y="4762500"/>
            <a:ext cx="3048000" cy="247650"/>
          </a:xfrm>
          <a:prstGeom prst="rect">
            <a:avLst/>
          </a:prstGeom>
          <a:noFill/>
        </p:spPr>
        <p:txBody>
          <a:bodyPr wrap="none" anchor="ctr">
            <a:noAutofit/>
          </a:bodyPr>
          <a:lstStyle/>
          <a:p>
            <a:pPr algn="l"/>
            <a:r>
              <a:rPr b="1" sz="1350" noProof="1">
                <a:solidFill>
                  <a:srgbClr val="1E293B"/>
                </a:solidFill>
                <a:latin typeface="QuattrocentoSans"/>
                <a:ea typeface="MiSans"/>
              </a:rPr>
              <a:t>局限性</a:t>
            </a:r>
          </a:p>
        </p:txBody>
      </p:sp>
      <p:sp>
        <p:nvSpPr>
          <p:cNvPr id="42" name="dsl:card3-body3"/>
          <p:cNvSpPr txBox="1"/>
          <p:nvPr/>
        </p:nvSpPr>
        <p:spPr>
          <a:xfrm>
            <a:off x="8001000" y="5048250"/>
            <a:ext cx="3048000" cy="7620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依赖angr/AIL/DDG底层质量；对反编译和中间表示质量要求高</a:t>
            </a:r>
          </a:p>
        </p:txBody>
      </p:sp>
      <p:sp>
        <p:nvSpPr>
          <p:cNvPr id="43" name="dsl:evo-bg"/>
          <p:cNvSpPr/>
          <p:nvPr/>
        </p:nvSpPr>
        <p:spPr>
          <a:xfrm>
            <a:off x="571500" y="6153150"/>
            <a:ext cx="11049000" cy="3810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dsl:evo-text"/>
          <p:cNvSpPr txBox="1"/>
          <p:nvPr/>
        </p:nvSpPr>
        <p:spPr>
          <a:xfrm>
            <a:off x="762000" y="6153150"/>
            <a:ext cx="10668000" cy="381000"/>
          </a:xfrm>
          <a:prstGeom prst="rect">
            <a:avLst/>
          </a:prstGeom>
          <a:noFill/>
        </p:spPr>
        <p:txBody>
          <a:bodyPr wrap="none" anchor="ctr">
            <a:noAutofit/>
          </a:bodyPr>
          <a:lstStyle/>
          <a:p>
            <a:pPr algn="ctr"/>
            <a:r>
              <a:rPr sz="1200" noProof="1">
                <a:solidFill>
                  <a:srgbClr val="1E293B"/>
                </a:solidFill>
                <a:latin typeface="QuattrocentoSans"/>
                <a:ea typeface="MiSans"/>
              </a:rPr>
              <a:t>技术演进路径：</a:t>
            </a:r>
            <a:r>
              <a:rPr b="1" sz="1200" noProof="1">
                <a:solidFill>
                  <a:srgbClr val="1E293B"/>
                </a:solidFill>
                <a:latin typeface="QuattrocentoSans"/>
                <a:ea typeface="MiSans"/>
              </a:rPr>
              <a:t>多二进制IPC建模（BDG）</a:t>
            </a:r>
            <a:r>
              <a:rPr sz="1200" noProof="1">
                <a:solidFill>
                  <a:srgbClr val="1E293B"/>
                </a:solidFill>
                <a:latin typeface="QuattrocentoSans"/>
                <a:ea typeface="MiSans"/>
              </a:rPr>
              <a:t>  →  </a:t>
            </a:r>
            <a:r>
              <a:rPr b="1" sz="1200" noProof="1">
                <a:solidFill>
                  <a:srgbClr val="1E293B"/>
                </a:solidFill>
                <a:latin typeface="QuattrocentoSans"/>
                <a:ea typeface="MiSans"/>
              </a:rPr>
              <a:t>Sink-to-Source + 富表达式（全固件覆盖）</a:t>
            </a:r>
            <a:r>
              <a:rPr sz="1200" noProof="1">
                <a:solidFill>
                  <a:srgbClr val="1E293B"/>
                </a:solidFill>
                <a:latin typeface="QuattrocentoSans"/>
                <a:ea typeface="MiSans"/>
              </a:rPr>
              <a:t>  →  </a:t>
            </a:r>
            <a:r>
              <a:rPr b="1" sz="1200" noProof="1">
                <a:solidFill>
                  <a:srgbClr val="1E293B"/>
                </a:solidFill>
                <a:latin typeface="QuattrocentoSans"/>
                <a:ea typeface="MiSans"/>
              </a:rPr>
              <a:t>RDA + AIL 底层优化（高精度召回）</a:t>
            </a:r>
          </a:p>
        </p:txBody>
      </p:sp>
      <p:sp>
        <p:nvSpPr>
          <p:cNvPr id="45" name="dsl:footer-left|s=$caption"/>
          <p:cNvSpPr txBox="1"/>
          <p:nvPr/>
        </p:nvSpPr>
        <p:spPr>
          <a:xfrm>
            <a:off x="571500" y="6572250"/>
            <a:ext cx="3810000" cy="1905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网络设备Web服务安全研究</a:t>
            </a:r>
          </a:p>
        </p:txBody>
      </p:sp>
      <p:sp>
        <p:nvSpPr>
          <p:cNvPr id="46" name="dsl:footer-right|s=$caption"/>
          <p:cNvSpPr txBox="1"/>
          <p:nvPr/>
        </p:nvSpPr>
        <p:spPr>
          <a:xfrm>
            <a:off x="10477500" y="6572250"/>
            <a:ext cx="1143000" cy="190500"/>
          </a:xfrm>
          <a:prstGeom prst="rect">
            <a:avLst/>
          </a:prstGeom>
          <a:noFill/>
        </p:spPr>
        <p:txBody>
          <a:bodyPr wrap="none" anchor="ctr">
            <a:noAutofit/>
          </a:bodyPr>
          <a:lstStyle/>
          <a:p>
            <a:pPr algn="r">
              <a:lnSpc>
                <a:spcPct val="140000"/>
              </a:lnSpc>
            </a:pPr>
            <a:r>
              <a:rPr sz="1050" noProof="1">
                <a:solidFill>
                  <a:srgbClr val="64748B"/>
                </a:solidFill>
                <a:latin typeface="QuattrocentoSans"/>
                <a:ea typeface="MiSans"/>
              </a:rPr>
              <a:t>19 / 37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E293B"/>
        </a:solidFill>
        <a:effectLst/>
      </p:bgPr>
    </p:bg>
    <p:spTree>
      <p:nvGrpSpPr>
        <p:cNvPr id="1" name=""/>
        <p:cNvGrpSpPr/>
        <p:nvPr/>
      </p:nvGrpSpPr>
      <p:grpSpPr/>
      <p:sp>
        <p:nvSpPr>
          <p:cNvPr id="2" name="dsl:right-panel"/>
          <p:cNvSpPr/>
          <p:nvPr/>
        </p:nvSpPr>
        <p:spPr>
          <a:xfrm>
            <a:off x="8124825" y="0"/>
            <a:ext cx="4067175" cy="6858000"/>
          </a:xfrm>
          <a:prstGeom prst="rect">
            <a:avLst/>
          </a:prstGeom>
          <a:gradFill rotWithShape="1">
            <a:gsLst>
              <a:gs pos="0">
                <a:srgbClr val="1E293B"/>
              </a:gs>
              <a:gs pos="100000">
                <a:srgbClr val="0F172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ch-num|s=$chapterNum"/>
          <p:cNvSpPr txBox="1"/>
          <p:nvPr/>
        </p:nvSpPr>
        <p:spPr>
          <a:xfrm>
            <a:off x="571500" y="1333500"/>
            <a:ext cx="4762500" cy="1524000"/>
          </a:xfrm>
          <a:prstGeom prst="rect">
            <a:avLst/>
          </a:prstGeom>
          <a:noFill/>
        </p:spPr>
        <p:txBody>
          <a:bodyPr wrap="none" anchor="ctr">
            <a:noAutofit/>
          </a:bodyPr>
          <a:lstStyle/>
          <a:p>
            <a:pPr algn="l">
              <a:lnSpc>
                <a:spcPct val="100000"/>
              </a:lnSpc>
            </a:pPr>
            <a:r>
              <a:rPr sz="9000" noProof="1">
                <a:solidFill>
                  <a:srgbClr val="FFFFFF">
                    <a:alpha val="12549"/>
                  </a:srgbClr>
                </a:solidFill>
                <a:latin typeface="QuattrocentoSans"/>
                <a:ea typeface="MiSans"/>
              </a:rPr>
              <a:t>03</a:t>
            </a:r>
          </a:p>
        </p:txBody>
      </p:sp>
      <p:sp>
        <p:nvSpPr>
          <p:cNvPr id="4" name="dsl:accent-line"/>
          <p:cNvSpPr/>
          <p:nvPr/>
        </p:nvSpPr>
        <p:spPr>
          <a:xfrm>
            <a:off x="571500" y="3048000"/>
            <a:ext cx="571500" cy="381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sl:ch-title|s=$chapterTitle"/>
          <p:cNvSpPr txBox="1"/>
          <p:nvPr/>
        </p:nvSpPr>
        <p:spPr>
          <a:xfrm>
            <a:off x="571500" y="3238500"/>
            <a:ext cx="7048500" cy="457200"/>
          </a:xfrm>
          <a:prstGeom prst="rect">
            <a:avLst/>
          </a:prstGeom>
          <a:noFill/>
        </p:spPr>
        <p:txBody>
          <a:bodyPr wrap="none" anchor="ctr">
            <a:noAutofit/>
          </a:bodyPr>
          <a:lstStyle/>
          <a:p>
            <a:pPr algn="l">
              <a:lnSpc>
                <a:spcPct val="120000"/>
              </a:lnSpc>
            </a:pPr>
            <a:r>
              <a:rPr sz="2700" noProof="1">
                <a:solidFill>
                  <a:srgbClr val="FFFFFF"/>
                </a:solidFill>
                <a:latin typeface="QuattrocentoSans"/>
                <a:ea typeface="MiSans"/>
              </a:rPr>
              <a:t>隐藏接口发现（Sink）</a:t>
            </a:r>
          </a:p>
        </p:txBody>
      </p:sp>
      <p:sp>
        <p:nvSpPr>
          <p:cNvPr id="6" name="dsl:ch-subtitle|s=$chapterSubtitle"/>
          <p:cNvSpPr txBox="1"/>
          <p:nvPr/>
        </p:nvSpPr>
        <p:spPr>
          <a:xfrm>
            <a:off x="571500" y="3810000"/>
            <a:ext cx="7048500" cy="304800"/>
          </a:xfrm>
          <a:prstGeom prst="rect">
            <a:avLst/>
          </a:prstGeom>
          <a:noFill/>
        </p:spPr>
        <p:txBody>
          <a:bodyPr wrap="none" anchor="ctr">
            <a:noAutofit/>
          </a:bodyPr>
          <a:lstStyle/>
          <a:p>
            <a:pPr algn="l">
              <a:lnSpc>
                <a:spcPct val="140000"/>
              </a:lnSpc>
            </a:pPr>
            <a:r>
              <a:rPr sz="1500" noProof="1">
                <a:solidFill>
                  <a:srgbClr val="CBD5E1"/>
                </a:solidFill>
                <a:latin typeface="QuattrocentoSans"/>
                <a:ea typeface="MiSans"/>
              </a:rPr>
              <a:t>从盲测到智能推断</a:t>
            </a:r>
          </a:p>
        </p:txBody>
      </p:sp>
      <p:sp>
        <p:nvSpPr>
          <p:cNvPr id="7" name="dsl:ch-intro"/>
          <p:cNvSpPr txBox="1"/>
          <p:nvPr/>
        </p:nvSpPr>
        <p:spPr>
          <a:xfrm>
            <a:off x="571500" y="4381500"/>
            <a:ext cx="7048500" cy="952500"/>
          </a:xfrm>
          <a:prstGeom prst="rect">
            <a:avLst/>
          </a:prstGeom>
          <a:noFill/>
        </p:spPr>
        <p:txBody>
          <a:bodyPr wrap="square" anchor="t">
            <a:noAutofit/>
          </a:bodyPr>
          <a:lstStyle/>
          <a:p>
            <a:pPr algn="l">
              <a:lnSpc>
                <a:spcPct val="160000"/>
              </a:lnSpc>
            </a:pPr>
            <a:r>
              <a:rPr sz="1350" noProof="1">
                <a:solidFill>
                  <a:srgbClr val="CBD5E1"/>
                </a:solidFill>
                <a:latin typeface="QuattrocentoSans"/>
                <a:ea typeface="MiSans"/>
              </a:rPr>
              <a:t>核心痛点：IoT设备往往包含大量因历史遗留或调试所需的隐藏Web接口，无文档、无入口、无认证，成为重大安全隐患。</a:t>
            </a:r>
          </a:p>
          <a:p>
            <a:pPr algn="l">
              <a:lnSpc>
                <a:spcPct val="160000"/>
              </a:lnSpc>
            </a:pPr>
            <a:r>
              <a:rPr sz="1350" noProof="1">
                <a:solidFill>
                  <a:srgbClr val="CBD5E1"/>
                </a:solidFill>
                <a:latin typeface="QuattrocentoSans"/>
                <a:ea typeface="MiSans"/>
              </a:rPr>
              <a:t>技术演进：静态解析与盲测 → 路由分析与LLM推断 → 多语言接口规格恢复</a:t>
            </a:r>
          </a:p>
        </p:txBody>
      </p:sp>
      <p:sp>
        <p:nvSpPr>
          <p:cNvPr id="8" name="dsl:ch-papers"/>
          <p:cNvSpPr txBox="1"/>
          <p:nvPr/>
        </p:nvSpPr>
        <p:spPr>
          <a:xfrm>
            <a:off x="571500" y="5715000"/>
            <a:ext cx="7048500" cy="571500"/>
          </a:xfrm>
          <a:prstGeom prst="rect">
            <a:avLst/>
          </a:prstGeom>
          <a:noFill/>
        </p:spPr>
        <p:txBody>
          <a:bodyPr wrap="square" anchor="t">
            <a:noAutofit/>
          </a:bodyPr>
          <a:lstStyle/>
          <a:p>
            <a:pPr algn="l">
              <a:lnSpc>
                <a:spcPct val="160000"/>
              </a:lnSpc>
            </a:pPr>
            <a:r>
              <a:rPr sz="1050" noProof="1">
                <a:solidFill>
                  <a:srgbClr val="94A3B8"/>
                </a:solidFill>
                <a:latin typeface="QuattrocentoSans"/>
                <a:ea typeface="MiSans"/>
              </a:rPr>
              <a:t>IoTScope (WWW 2022)  →  EAGLEYE (NDSS 2025)  →  PANGOLIN (USENIX Security 2026)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dsl:nav-bg"/>
          <p:cNvSpPr/>
          <p:nvPr/>
        </p:nvSpPr>
        <p:spPr>
          <a:xfrm>
            <a:off x="0" y="0"/>
            <a:ext cx="12192000" cy="381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
          <p:cNvSpPr/>
          <p:nvPr/>
        </p:nvSpPr>
        <p:spPr>
          <a:xfrm>
            <a:off x="6096000" y="0"/>
            <a:ext cx="3048000" cy="3810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t1|s=$nav"/>
          <p:cNvSpPr txBox="1"/>
          <p:nvPr/>
        </p:nvSpPr>
        <p:spPr>
          <a:xfrm>
            <a:off x="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维度一: Source</a:t>
            </a:r>
          </a:p>
        </p:txBody>
      </p:sp>
      <p:sp>
        <p:nvSpPr>
          <p:cNvPr id="5" name="dsl:nav-t2|s=$nav"/>
          <p:cNvSpPr txBox="1"/>
          <p:nvPr/>
        </p:nvSpPr>
        <p:spPr>
          <a:xfrm>
            <a:off x="3048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维度二: Propagation</a:t>
            </a:r>
          </a:p>
        </p:txBody>
      </p:sp>
      <p:sp>
        <p:nvSpPr>
          <p:cNvPr id="6" name="dsl:nav-t3|s=$nav"/>
          <p:cNvSpPr txBox="1"/>
          <p:nvPr/>
        </p:nvSpPr>
        <p:spPr>
          <a:xfrm>
            <a:off x="6096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维度三: Sink</a:t>
            </a:r>
          </a:p>
        </p:txBody>
      </p:sp>
      <p:sp>
        <p:nvSpPr>
          <p:cNvPr id="7" name="dsl:nav-t4|s=$nav"/>
          <p:cNvSpPr txBox="1"/>
          <p:nvPr/>
        </p:nvSpPr>
        <p:spPr>
          <a:xfrm>
            <a:off x="9144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维度四: Verification</a:t>
            </a:r>
          </a:p>
        </p:txBody>
      </p:sp>
      <p:sp>
        <p:nvSpPr>
          <p:cNvPr id="8" name="dsl:nav-line"/>
          <p:cNvSpPr/>
          <p:nvPr/>
        </p:nvSpPr>
        <p:spPr>
          <a:xfrm>
            <a:off x="0" y="381000"/>
            <a:ext cx="12192000" cy="1905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page-title|s=$title"/>
          <p:cNvSpPr txBox="1"/>
          <p:nvPr/>
        </p:nvSpPr>
        <p:spPr>
          <a:xfrm>
            <a:off x="571500" y="514350"/>
            <a:ext cx="8382000" cy="381000"/>
          </a:xfrm>
          <a:prstGeom prst="rect">
            <a:avLst/>
          </a:prstGeom>
          <a:noFill/>
        </p:spPr>
        <p:txBody>
          <a:bodyPr wrap="none" anchor="ctr">
            <a:noAutofit/>
          </a:bodyPr>
          <a:lstStyle/>
          <a:p>
            <a:pPr algn="l">
              <a:lnSpc>
                <a:spcPct val="130000"/>
              </a:lnSpc>
            </a:pPr>
            <a:r>
              <a:rPr sz="2100" noProof="1">
                <a:solidFill>
                  <a:srgbClr val="1E293B"/>
                </a:solidFill>
                <a:latin typeface="QuattrocentoSans"/>
                <a:ea typeface="MiSans"/>
              </a:rPr>
              <a:t>IoTScope — 静态枚举与黑盒验证隐藏接口</a:t>
            </a:r>
          </a:p>
        </p:txBody>
      </p:sp>
      <p:sp>
        <p:nvSpPr>
          <p:cNvPr id="10" name="dsl:badge-bg"/>
          <p:cNvSpPr/>
          <p:nvPr/>
        </p:nvSpPr>
        <p:spPr>
          <a:xfrm>
            <a:off x="10001250" y="552450"/>
            <a:ext cx="1619250" cy="266700"/>
          </a:xfrm>
          <a:prstGeom prst="roundRect">
            <a:avLst>
              <a:gd name="adj" fmla="val 8000"/>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badge-text|s=$badge"/>
          <p:cNvSpPr txBox="1"/>
          <p:nvPr/>
        </p:nvSpPr>
        <p:spPr>
          <a:xfrm>
            <a:off x="10001250" y="552450"/>
            <a:ext cx="1619250" cy="2667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WWW 2022</a:t>
            </a:r>
          </a:p>
        </p:txBody>
      </p:sp>
      <p:sp>
        <p:nvSpPr>
          <p:cNvPr id="12" name="dsl:left-bar-1"/>
          <p:cNvSpPr/>
          <p:nvPr/>
        </p:nvSpPr>
        <p:spPr>
          <a:xfrm>
            <a:off x="5715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left-subtitle-1|s=$subtitle"/>
          <p:cNvSpPr txBox="1"/>
          <p:nvPr/>
        </p:nvSpPr>
        <p:spPr>
          <a:xfrm>
            <a:off x="6858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内容摘要</a:t>
            </a:r>
          </a:p>
        </p:txBody>
      </p:sp>
      <p:sp>
        <p:nvSpPr>
          <p:cNvPr id="14" name="dsl:left-body-1|s=$body"/>
          <p:cNvSpPr txBox="1"/>
          <p:nvPr/>
        </p:nvSpPr>
        <p:spPr>
          <a:xfrm>
            <a:off x="571500" y="1352550"/>
            <a:ext cx="3429000" cy="18097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面向IoT隐藏接口的静态枚举与黑盒验证框架。从固件提取路径构造候选URL，通过双子请求和响应聚类识别未保护接口，结合参数差分和敏感关键词确认配置修改与信息泄露漏洞。</a:t>
            </a:r>
          </a:p>
        </p:txBody>
      </p:sp>
      <p:sp>
        <p:nvSpPr>
          <p:cNvPr id="15" name="dsl:left-bar-2"/>
          <p:cNvSpPr/>
          <p:nvPr/>
        </p:nvSpPr>
        <p:spPr>
          <a:xfrm>
            <a:off x="571500" y="3314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left-subtitle-2|s=$subtitle"/>
          <p:cNvSpPr txBox="1"/>
          <p:nvPr/>
        </p:nvSpPr>
        <p:spPr>
          <a:xfrm>
            <a:off x="685800" y="3295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研究背景</a:t>
            </a:r>
          </a:p>
        </p:txBody>
      </p:sp>
      <p:sp>
        <p:nvSpPr>
          <p:cNvPr id="17" name="dsl:left-body-2|s=$body"/>
          <p:cNvSpPr txBox="1"/>
          <p:nvPr/>
        </p:nvSpPr>
        <p:spPr>
          <a:xfrm>
            <a:off x="571500" y="3638550"/>
            <a:ext cx="3429000" cy="21907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传统工具缺乏Web接口访问控制检测。核心挑战：①接口枚举困难——形态多样且硬编码；②未保护接口识别困难——服务器不遵守标准状态码；③隐藏属性判定困难——触发不崩溃，缺乏反馈信号。</a:t>
            </a:r>
          </a:p>
        </p:txBody>
      </p:sp>
      <p:sp>
        <p:nvSpPr>
          <p:cNvPr id="18" name="dsl:mid-bar-1"/>
          <p:cNvSpPr/>
          <p:nvPr/>
        </p:nvSpPr>
        <p:spPr>
          <a:xfrm>
            <a:off x="41910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mid-subtitle-1|s=$subtitle"/>
          <p:cNvSpPr txBox="1"/>
          <p:nvPr/>
        </p:nvSpPr>
        <p:spPr>
          <a:xfrm>
            <a:off x="43053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核心洞察</a:t>
            </a:r>
          </a:p>
        </p:txBody>
      </p:sp>
      <p:sp>
        <p:nvSpPr>
          <p:cNvPr id="20" name="dsl:mid-body-1|s=$body"/>
          <p:cNvSpPr txBox="1"/>
          <p:nvPr/>
        </p:nvSpPr>
        <p:spPr>
          <a:xfrm>
            <a:off x="4191000" y="1352550"/>
            <a:ext cx="3429000" cy="23812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①隐藏接口残留在固件或二进制中，可静态提取底层线索生成候选URL；②发现URL不等于安全问题，关键在判断匿名用户能否访问配置或敏感信息；③HTTP状态码不可靠，需用响应内容相似度聚类过滤伪404；④配置修改类通过带参/无参差分确认，信息泄露类通过敏感关键词匹配。</a:t>
            </a:r>
          </a:p>
        </p:txBody>
      </p:sp>
      <p:sp>
        <p:nvSpPr>
          <p:cNvPr id="21" name="dsl:mid-bar-2"/>
          <p:cNvSpPr/>
          <p:nvPr/>
        </p:nvSpPr>
        <p:spPr>
          <a:xfrm>
            <a:off x="4191000" y="38100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mid-subtitle-2|s=$subtitle"/>
          <p:cNvSpPr txBox="1"/>
          <p:nvPr/>
        </p:nvSpPr>
        <p:spPr>
          <a:xfrm>
            <a:off x="4305300" y="37909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解决方案</a:t>
            </a:r>
          </a:p>
        </p:txBody>
      </p:sp>
      <p:sp>
        <p:nvSpPr>
          <p:cNvPr id="23" name="dsl:mid-body-2|s=$body"/>
          <p:cNvSpPr txBox="1"/>
          <p:nvPr/>
        </p:nvSpPr>
        <p:spPr>
          <a:xfrm>
            <a:off x="4191000" y="4133850"/>
            <a:ext cx="3429000" cy="23812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1. 接口枚举：从固件提取路径与文件名，交叉组合构造候选URL（平均6.2万/固件）。2. 双子请求：发送带认证与无认证请求，响应差异大则受保护。3. 响应聚类：基于字符串相似度分组，剔除多数派无效路径。4. 精准判定：配置修改类通过参数差分测试，信息泄露类通过敏感关键词匹配。</a:t>
            </a:r>
          </a:p>
        </p:txBody>
      </p:sp>
      <p:sp>
        <p:nvSpPr>
          <p:cNvPr id="24" name="dsl:right-bar"/>
          <p:cNvSpPr/>
          <p:nvPr/>
        </p:nvSpPr>
        <p:spPr>
          <a:xfrm>
            <a:off x="78105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right-subtitle|s=$subtitle"/>
          <p:cNvSpPr txBox="1"/>
          <p:nvPr/>
        </p:nvSpPr>
        <p:spPr>
          <a:xfrm>
            <a:off x="79248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关键数据</a:t>
            </a:r>
          </a:p>
        </p:txBody>
      </p:sp>
      <p:sp>
        <p:nvSpPr>
          <p:cNvPr id="26" name="dsl:card1-bg"/>
          <p:cNvSpPr/>
          <p:nvPr/>
        </p:nvSpPr>
        <p:spPr>
          <a:xfrm>
            <a:off x="8001000" y="1428750"/>
            <a:ext cx="3238500" cy="1143000"/>
          </a:xfrm>
          <a:prstGeom prst="roundRect">
            <a:avLst>
              <a:gd name="adj" fmla="val 8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card1-num|s=$kpi"/>
          <p:cNvSpPr txBox="1"/>
          <p:nvPr/>
        </p:nvSpPr>
        <p:spPr>
          <a:xfrm>
            <a:off x="8191500" y="1571625"/>
            <a:ext cx="2857500" cy="400050"/>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17</a:t>
            </a:r>
          </a:p>
        </p:txBody>
      </p:sp>
      <p:sp>
        <p:nvSpPr>
          <p:cNvPr id="28" name="dsl:card1-label|s=$caption"/>
          <p:cNvSpPr txBox="1"/>
          <p:nvPr/>
        </p:nvSpPr>
        <p:spPr>
          <a:xfrm>
            <a:off x="8191500" y="2047875"/>
            <a:ext cx="2857500" cy="2286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台真实设备</a:t>
            </a:r>
          </a:p>
        </p:txBody>
      </p:sp>
      <p:sp>
        <p:nvSpPr>
          <p:cNvPr id="29" name="dsl:card2-bg"/>
          <p:cNvSpPr/>
          <p:nvPr/>
        </p:nvSpPr>
        <p:spPr>
          <a:xfrm>
            <a:off x="8001000" y="2762250"/>
            <a:ext cx="3238500" cy="1143000"/>
          </a:xfrm>
          <a:prstGeom prst="roundRect">
            <a:avLst>
              <a:gd name="adj" fmla="val 8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sl:card2-num|s=$kpi"/>
          <p:cNvSpPr txBox="1"/>
          <p:nvPr/>
        </p:nvSpPr>
        <p:spPr>
          <a:xfrm>
            <a:off x="8191500" y="2905125"/>
            <a:ext cx="2857500" cy="400050"/>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44</a:t>
            </a:r>
          </a:p>
        </p:txBody>
      </p:sp>
      <p:sp>
        <p:nvSpPr>
          <p:cNvPr id="31" name="dsl:card2-label|s=$caption"/>
          <p:cNvSpPr txBox="1"/>
          <p:nvPr/>
        </p:nvSpPr>
        <p:spPr>
          <a:xfrm>
            <a:off x="8191500" y="3381375"/>
            <a:ext cx="2857500" cy="2286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个漏洞</a:t>
            </a:r>
          </a:p>
        </p:txBody>
      </p:sp>
      <p:sp>
        <p:nvSpPr>
          <p:cNvPr id="32" name="dsl:card3-bg"/>
          <p:cNvSpPr/>
          <p:nvPr/>
        </p:nvSpPr>
        <p:spPr>
          <a:xfrm>
            <a:off x="8001000" y="4095750"/>
            <a:ext cx="3238500" cy="1143000"/>
          </a:xfrm>
          <a:prstGeom prst="roundRect">
            <a:avLst>
              <a:gd name="adj" fmla="val 8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sl:card3-num|s=$kpi"/>
          <p:cNvSpPr txBox="1"/>
          <p:nvPr/>
        </p:nvSpPr>
        <p:spPr>
          <a:xfrm>
            <a:off x="8191500" y="4238625"/>
            <a:ext cx="2857500" cy="400050"/>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43</a:t>
            </a:r>
          </a:p>
        </p:txBody>
      </p:sp>
      <p:sp>
        <p:nvSpPr>
          <p:cNvPr id="34" name="dsl:card3-label|s=$caption"/>
          <p:cNvSpPr txBox="1"/>
          <p:nvPr/>
        </p:nvSpPr>
        <p:spPr>
          <a:xfrm>
            <a:off x="8191500" y="4714875"/>
            <a:ext cx="2857500" cy="2286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个未知漏洞</a:t>
            </a:r>
          </a:p>
        </p:txBody>
      </p:sp>
      <p:sp>
        <p:nvSpPr>
          <p:cNvPr id="35" name="dsl:footer-left|s=$caption"/>
          <p:cNvSpPr txBox="1"/>
          <p:nvPr/>
        </p:nvSpPr>
        <p:spPr>
          <a:xfrm>
            <a:off x="571500" y="6572250"/>
            <a:ext cx="3810000" cy="1905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网络设备Web服务安全研究</a:t>
            </a:r>
          </a:p>
        </p:txBody>
      </p:sp>
      <p:sp>
        <p:nvSpPr>
          <p:cNvPr id="36" name="dsl:footer-right|s=$caption"/>
          <p:cNvSpPr txBox="1"/>
          <p:nvPr/>
        </p:nvSpPr>
        <p:spPr>
          <a:xfrm>
            <a:off x="10477500" y="6572250"/>
            <a:ext cx="1143000" cy="190500"/>
          </a:xfrm>
          <a:prstGeom prst="rect">
            <a:avLst/>
          </a:prstGeom>
          <a:noFill/>
        </p:spPr>
        <p:txBody>
          <a:bodyPr wrap="none" anchor="ctr">
            <a:noAutofit/>
          </a:bodyPr>
          <a:lstStyle/>
          <a:p>
            <a:pPr algn="r">
              <a:lnSpc>
                <a:spcPct val="140000"/>
              </a:lnSpc>
            </a:pPr>
            <a:r>
              <a:rPr sz="1050" noProof="1">
                <a:solidFill>
                  <a:srgbClr val="64748B"/>
                </a:solidFill>
                <a:latin typeface="QuattrocentoSans"/>
                <a:ea typeface="MiSans"/>
              </a:rPr>
              <a:t>21 / 37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dsl:nav-bg"/>
          <p:cNvSpPr/>
          <p:nvPr/>
        </p:nvSpPr>
        <p:spPr>
          <a:xfrm>
            <a:off x="0" y="0"/>
            <a:ext cx="12192000" cy="381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
          <p:cNvSpPr/>
          <p:nvPr/>
        </p:nvSpPr>
        <p:spPr>
          <a:xfrm>
            <a:off x="6096000" y="0"/>
            <a:ext cx="3048000" cy="3810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t1|s=$nav"/>
          <p:cNvSpPr txBox="1"/>
          <p:nvPr/>
        </p:nvSpPr>
        <p:spPr>
          <a:xfrm>
            <a:off x="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维度一: Source</a:t>
            </a:r>
          </a:p>
        </p:txBody>
      </p:sp>
      <p:sp>
        <p:nvSpPr>
          <p:cNvPr id="5" name="dsl:nav-t2|s=$nav"/>
          <p:cNvSpPr txBox="1"/>
          <p:nvPr/>
        </p:nvSpPr>
        <p:spPr>
          <a:xfrm>
            <a:off x="3048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维度二: Propagation</a:t>
            </a:r>
          </a:p>
        </p:txBody>
      </p:sp>
      <p:sp>
        <p:nvSpPr>
          <p:cNvPr id="6" name="dsl:nav-t3|s=$nav"/>
          <p:cNvSpPr txBox="1"/>
          <p:nvPr/>
        </p:nvSpPr>
        <p:spPr>
          <a:xfrm>
            <a:off x="6096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维度三: Sink</a:t>
            </a:r>
          </a:p>
        </p:txBody>
      </p:sp>
      <p:sp>
        <p:nvSpPr>
          <p:cNvPr id="7" name="dsl:nav-t4|s=$nav"/>
          <p:cNvSpPr txBox="1"/>
          <p:nvPr/>
        </p:nvSpPr>
        <p:spPr>
          <a:xfrm>
            <a:off x="9144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维度四: Verification</a:t>
            </a:r>
          </a:p>
        </p:txBody>
      </p:sp>
      <p:sp>
        <p:nvSpPr>
          <p:cNvPr id="8" name="dsl:nav-line"/>
          <p:cNvSpPr/>
          <p:nvPr/>
        </p:nvSpPr>
        <p:spPr>
          <a:xfrm>
            <a:off x="0" y="381000"/>
            <a:ext cx="12192000" cy="1905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page-title|s=$title"/>
          <p:cNvSpPr txBox="1"/>
          <p:nvPr/>
        </p:nvSpPr>
        <p:spPr>
          <a:xfrm>
            <a:off x="571500" y="514350"/>
            <a:ext cx="8382000" cy="381000"/>
          </a:xfrm>
          <a:prstGeom prst="rect">
            <a:avLst/>
          </a:prstGeom>
          <a:noFill/>
        </p:spPr>
        <p:txBody>
          <a:bodyPr wrap="none" anchor="ctr">
            <a:noAutofit/>
          </a:bodyPr>
          <a:lstStyle/>
          <a:p>
            <a:pPr algn="l">
              <a:lnSpc>
                <a:spcPct val="130000"/>
              </a:lnSpc>
            </a:pPr>
            <a:r>
              <a:rPr sz="2100" noProof="1">
                <a:solidFill>
                  <a:srgbClr val="1E293B"/>
                </a:solidFill>
                <a:latin typeface="QuattrocentoSans"/>
                <a:ea typeface="MiSans"/>
              </a:rPr>
              <a:t>IoTScope — 实验结果与文章评价</a:t>
            </a:r>
          </a:p>
        </p:txBody>
      </p:sp>
      <p:sp>
        <p:nvSpPr>
          <p:cNvPr id="10" name="dsl:badge-bg"/>
          <p:cNvSpPr/>
          <p:nvPr/>
        </p:nvSpPr>
        <p:spPr>
          <a:xfrm>
            <a:off x="10001250" y="552450"/>
            <a:ext cx="1619250" cy="266700"/>
          </a:xfrm>
          <a:prstGeom prst="roundRect">
            <a:avLst>
              <a:gd name="adj" fmla="val 8000"/>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badge-text|s=$badge"/>
          <p:cNvSpPr txBox="1"/>
          <p:nvPr/>
        </p:nvSpPr>
        <p:spPr>
          <a:xfrm>
            <a:off x="10001250" y="552450"/>
            <a:ext cx="1619250" cy="2667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WWW 2022</a:t>
            </a:r>
          </a:p>
        </p:txBody>
      </p:sp>
      <p:sp>
        <p:nvSpPr>
          <p:cNvPr id="12" name="dsl:results-bar"/>
          <p:cNvSpPr/>
          <p:nvPr/>
        </p:nvSpPr>
        <p:spPr>
          <a:xfrm>
            <a:off x="5715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results-subtitle|s=$subtitle"/>
          <p:cNvSpPr txBox="1"/>
          <p:nvPr/>
        </p:nvSpPr>
        <p:spPr>
          <a:xfrm>
            <a:off x="6858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实验结果</a:t>
            </a:r>
          </a:p>
        </p:txBody>
      </p:sp>
      <p:graphicFrame>
        <p:nvGraphicFramePr>
          <p:cNvPr id="14" name="dsl:results-table"/>
          <p:cNvGraphicFramePr>
            <a:graphicFrameLocks noGrp="1"/>
          </p:cNvGraphicFramePr>
          <p:nvPr/>
        </p:nvGraphicFramePr>
        <p:xfrm>
          <a:off x="571500" y="1409700"/>
          <a:ext cx="5715000" cy="2286000"/>
        </p:xfrm>
        <a:graphic>
          <a:graphicData uri="http://schemas.openxmlformats.org/drawingml/2006/table">
            <a:tbl>
              <a:tblPr firstRow="0" bandRow="0" lastRow="0" firstCol="0" lastCol="0" bandCol="0">
                <a:tableStyleId>{2D5ABB26-0587-4C30-8999-92F81FD0307C}</a:tableStyleId>
              </a:tblPr>
              <a:tblGrid>
                <a:gridCol w="2857500"/>
                <a:gridCol w="2857500"/>
              </a:tblGrid>
              <a:tr h="342900">
                <a:tc>
                  <a:txBody>
                    <a:bodyPr wrap="square" anchor="ctr">
                      <a:noAutofit/>
                    </a:bodyPr>
                    <a:lstStyle/>
                    <a:p>
                      <a:pPr algn="ctr"/>
                      <a:r>
                        <a:rPr sz="1200" noProof="1" b="1">
                          <a:solidFill>
                            <a:srgbClr val="FFFFFF"/>
                          </a:solidFill>
                          <a:latin typeface="QuattrocentoSans"/>
                          <a:ea typeface="MiSans"/>
                        </a:rPr>
                        <a:t>评估指标</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1E293B"/>
                    </a:solidFill>
                  </a:tcPr>
                </a:tc>
                <a:tc>
                  <a:txBody>
                    <a:bodyPr wrap="square" anchor="ctr">
                      <a:noAutofit/>
                    </a:bodyPr>
                    <a:lstStyle/>
                    <a:p>
                      <a:pPr algn="ctr"/>
                      <a:r>
                        <a:rPr sz="1200" noProof="1" b="1">
                          <a:solidFill>
                            <a:srgbClr val="FFFFFF"/>
                          </a:solidFill>
                          <a:latin typeface="QuattrocentoSans"/>
                          <a:ea typeface="MiSans"/>
                        </a:rPr>
                        <a:t>数值</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1E293B"/>
                    </a:solidFill>
                  </a:tcPr>
                </a:tc>
              </a:tr>
              <a:tr h="388620">
                <a:tc>
                  <a:txBody>
                    <a:bodyPr wrap="square" anchor="ctr">
                      <a:noAutofit/>
                    </a:bodyPr>
                    <a:lstStyle/>
                    <a:p>
                      <a:pPr algn="ctr"/>
                      <a:r>
                        <a:rPr sz="1200" noProof="1">
                          <a:solidFill>
                            <a:srgbClr val="0F172A"/>
                          </a:solidFill>
                          <a:latin typeface="QuattrocentoSans"/>
                          <a:ea typeface="MiSans"/>
                        </a:rPr>
                        <a:t>测试规模</a:t>
                      </a:r>
                    </a:p>
                  </a:txBody>
                  <a:tcPr marL="91440" marR="91440" marT="0" marB="0" anchor="ctr">
                    <a:solidFill>
                      <a:srgbClr val="FFFFFF"/>
                    </a:solidFill>
                  </a:tcPr>
                </a:tc>
                <a:tc>
                  <a:txBody>
                    <a:bodyPr wrap="square" anchor="ctr">
                      <a:noAutofit/>
                    </a:bodyPr>
                    <a:lstStyle/>
                    <a:p>
                      <a:pPr algn="ctr"/>
                      <a:r>
                        <a:rPr sz="1200" noProof="1">
                          <a:solidFill>
                            <a:srgbClr val="0F172A"/>
                          </a:solidFill>
                          <a:latin typeface="QuattrocentoSans"/>
                          <a:ea typeface="MiSans"/>
                        </a:rPr>
                        <a:t>11个厂商17款设备</a:t>
                      </a:r>
                    </a:p>
                  </a:txBody>
                  <a:tcPr marL="91440" marR="91440" marT="0" marB="0" anchor="ctr">
                    <a:solidFill>
                      <a:srgbClr val="FFFFFF"/>
                    </a:solidFill>
                  </a:tcPr>
                </a:tc>
              </a:tr>
              <a:tr h="388620">
                <a:tc>
                  <a:txBody>
                    <a:bodyPr wrap="square" anchor="ctr">
                      <a:noAutofit/>
                    </a:bodyPr>
                    <a:lstStyle/>
                    <a:p>
                      <a:pPr algn="ctr"/>
                      <a:r>
                        <a:rPr sz="1200" noProof="1">
                          <a:solidFill>
                            <a:srgbClr val="0F172A"/>
                          </a:solidFill>
                          <a:latin typeface="QuattrocentoSans"/>
                          <a:ea typeface="MiSans"/>
                        </a:rPr>
                        <a:t>漏洞总数</a:t>
                      </a:r>
                    </a:p>
                  </a:txBody>
                  <a:tcPr marL="91440" marR="91440" marT="0" marB="0" anchor="ctr">
                    <a:solidFill>
                      <a:srgbClr val="F1F5F9"/>
                    </a:solidFill>
                  </a:tcPr>
                </a:tc>
                <a:tc>
                  <a:txBody>
                    <a:bodyPr wrap="square" anchor="ctr">
                      <a:noAutofit/>
                    </a:bodyPr>
                    <a:lstStyle/>
                    <a:p>
                      <a:pPr algn="ctr"/>
                      <a:r>
                        <a:rPr sz="1200" noProof="1">
                          <a:solidFill>
                            <a:srgbClr val="0F172A"/>
                          </a:solidFill>
                          <a:latin typeface="QuattrocentoSans"/>
                          <a:ea typeface="MiSans"/>
                        </a:rPr>
                        <a:t>44个（20配置+24泄露）</a:t>
                      </a:r>
                    </a:p>
                  </a:txBody>
                  <a:tcPr marL="91440" marR="91440" marT="0" marB="0" anchor="ctr">
                    <a:solidFill>
                      <a:srgbClr val="F1F5F9"/>
                    </a:solidFill>
                  </a:tcPr>
                </a:tc>
              </a:tr>
              <a:tr h="388620">
                <a:tc>
                  <a:txBody>
                    <a:bodyPr wrap="square" anchor="ctr">
                      <a:noAutofit/>
                    </a:bodyPr>
                    <a:lstStyle/>
                    <a:p>
                      <a:pPr algn="ctr"/>
                      <a:r>
                        <a:rPr sz="1200" noProof="1">
                          <a:solidFill>
                            <a:srgbClr val="0F172A"/>
                          </a:solidFill>
                          <a:latin typeface="QuattrocentoSans"/>
                          <a:ea typeface="MiSans"/>
                        </a:rPr>
                        <a:t>未知漏洞</a:t>
                      </a:r>
                    </a:p>
                  </a:txBody>
                  <a:tcPr marL="91440" marR="91440" marT="0" marB="0" anchor="ctr">
                    <a:solidFill>
                      <a:srgbClr val="FFFFFF"/>
                    </a:solidFill>
                  </a:tcPr>
                </a:tc>
                <a:tc>
                  <a:txBody>
                    <a:bodyPr wrap="square" anchor="ctr">
                      <a:noAutofit/>
                    </a:bodyPr>
                    <a:lstStyle/>
                    <a:p>
                      <a:pPr algn="ctr"/>
                      <a:r>
                        <a:rPr sz="1200" noProof="1">
                          <a:solidFill>
                            <a:srgbClr val="0F172A"/>
                          </a:solidFill>
                          <a:latin typeface="QuattrocentoSans"/>
                          <a:ea typeface="MiSans"/>
                        </a:rPr>
                        <a:t>43个</a:t>
                      </a:r>
                    </a:p>
                  </a:txBody>
                  <a:tcPr marL="91440" marR="91440" marT="0" marB="0" anchor="ctr">
                    <a:solidFill>
                      <a:srgbClr val="FFFFFF"/>
                    </a:solidFill>
                  </a:tcPr>
                </a:tc>
              </a:tr>
              <a:tr h="388620">
                <a:tc>
                  <a:txBody>
                    <a:bodyPr wrap="square" anchor="ctr">
                      <a:noAutofit/>
                    </a:bodyPr>
                    <a:lstStyle/>
                    <a:p>
                      <a:pPr algn="ctr"/>
                      <a:r>
                        <a:rPr sz="1200" noProof="1">
                          <a:solidFill>
                            <a:srgbClr val="0F172A"/>
                          </a:solidFill>
                          <a:latin typeface="QuattrocentoSans"/>
                          <a:ea typeface="MiSans"/>
                        </a:rPr>
                        <a:t>CVE编号</a:t>
                      </a:r>
                    </a:p>
                  </a:txBody>
                  <a:tcPr marL="91440" marR="91440" marT="0" marB="0" anchor="ctr">
                    <a:solidFill>
                      <a:srgbClr val="F1F5F9"/>
                    </a:solidFill>
                  </a:tcPr>
                </a:tc>
                <a:tc>
                  <a:txBody>
                    <a:bodyPr wrap="square" anchor="ctr">
                      <a:noAutofit/>
                    </a:bodyPr>
                    <a:lstStyle/>
                    <a:p>
                      <a:pPr algn="ctr"/>
                      <a:r>
                        <a:rPr sz="1200" noProof="1">
                          <a:solidFill>
                            <a:srgbClr val="0F172A"/>
                          </a:solidFill>
                          <a:latin typeface="QuattrocentoSans"/>
                          <a:ea typeface="MiSans"/>
                        </a:rPr>
                        <a:t>8个</a:t>
                      </a:r>
                    </a:p>
                  </a:txBody>
                  <a:tcPr marL="91440" marR="91440" marT="0" marB="0" anchor="ctr">
                    <a:solidFill>
                      <a:srgbClr val="F1F5F9"/>
                    </a:solidFill>
                  </a:tcPr>
                </a:tc>
              </a:tr>
              <a:tr h="388620">
                <a:tc>
                  <a:txBody>
                    <a:bodyPr wrap="square" anchor="ctr">
                      <a:noAutofit/>
                    </a:bodyPr>
                    <a:lstStyle/>
                    <a:p>
                      <a:pPr algn="ctr"/>
                      <a:r>
                        <a:rPr sz="1200" noProof="1">
                          <a:solidFill>
                            <a:srgbClr val="0F172A"/>
                          </a:solidFill>
                          <a:latin typeface="QuattrocentoSans"/>
                          <a:ea typeface="MiSans"/>
                        </a:rPr>
                        <a:t>处理效率</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FFFFFF"/>
                    </a:solidFill>
                  </a:tcPr>
                </a:tc>
                <a:tc>
                  <a:txBody>
                    <a:bodyPr wrap="square" anchor="ctr">
                      <a:noAutofit/>
                    </a:bodyPr>
                    <a:lstStyle/>
                    <a:p>
                      <a:pPr algn="ctr"/>
                      <a:r>
                        <a:rPr sz="1200" noProof="1">
                          <a:solidFill>
                            <a:srgbClr val="0F172A"/>
                          </a:solidFill>
                          <a:latin typeface="QuattrocentoSans"/>
                          <a:ea typeface="MiSans"/>
                        </a:rPr>
                        <a:t>47分钟/6.2万请求</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FFFFFF"/>
                    </a:solidFill>
                  </a:tcPr>
                </a:tc>
              </a:tr>
            </a:tbl>
          </a:graphicData>
        </a:graphic>
      </p:graphicFrame>
      <p:sp>
        <p:nvSpPr>
          <p:cNvPr id="15" name="dsl:results-note|s=$body"/>
          <p:cNvSpPr txBox="1"/>
          <p:nvPr/>
        </p:nvSpPr>
        <p:spPr>
          <a:xfrm>
            <a:off x="6667500" y="1409700"/>
            <a:ext cx="4953000" cy="2286000"/>
          </a:xfrm>
          <a:prstGeom prst="rect">
            <a:avLst/>
          </a:prstGeom>
          <a:noFill/>
        </p:spPr>
        <p:txBody>
          <a:bodyPr wrap="square" anchor="t">
            <a:noAutofit/>
          </a:bodyPr>
          <a:lstStyle/>
          <a:p>
            <a:pPr algn="l">
              <a:lnSpc>
                <a:spcPct val="160000"/>
              </a:lnSpc>
            </a:pPr>
            <a:r>
              <a:rPr b="1" sz="1350" noProof="1">
                <a:solidFill>
                  <a:srgbClr val="0F172A"/>
                </a:solidFill>
                <a:latin typeface="QuattrocentoSans"/>
                <a:ea typeface="MiSans"/>
              </a:rPr>
              <a:t>与现有方法对比</a:t>
            </a:r>
          </a:p>
          <a:p>
            <a:pPr algn="l">
              <a:lnSpc>
                <a:spcPct val="160000"/>
              </a:lnSpc>
            </a:pPr>
            <a:r>
              <a:rPr sz="1350" noProof="1">
                <a:solidFill>
                  <a:srgbClr val="0F172A"/>
                </a:solidFill>
                <a:latin typeface="QuattrocentoSans"/>
                <a:ea typeface="MiSans"/>
              </a:rPr>
              <a:t>首个通过黑盒验证确认未授权隐藏接口的技术。所有漏洞均获厂商确认并获批8个CVE编号，涵盖配置修改和信息泄露两类。</a:t>
            </a:r>
          </a:p>
        </p:txBody>
      </p:sp>
      <p:sp>
        <p:nvSpPr>
          <p:cNvPr id="16" name="dsl:eval-bar"/>
          <p:cNvSpPr/>
          <p:nvPr/>
        </p:nvSpPr>
        <p:spPr>
          <a:xfrm>
            <a:off x="571500" y="390525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eval-subtitle|s=$subtitle"/>
          <p:cNvSpPr txBox="1"/>
          <p:nvPr/>
        </p:nvSpPr>
        <p:spPr>
          <a:xfrm>
            <a:off x="685800" y="388620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文章评价</a:t>
            </a:r>
          </a:p>
        </p:txBody>
      </p:sp>
      <p:sp>
        <p:nvSpPr>
          <p:cNvPr id="18" name="dsl:eval1-bar"/>
          <p:cNvSpPr/>
          <p:nvPr/>
        </p:nvSpPr>
        <p:spPr>
          <a:xfrm>
            <a:off x="571500" y="4305300"/>
            <a:ext cx="38100" cy="2286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eval1-subtitle"/>
          <p:cNvSpPr txBox="1"/>
          <p:nvPr/>
        </p:nvSpPr>
        <p:spPr>
          <a:xfrm>
            <a:off x="685800" y="4286250"/>
            <a:ext cx="3314700" cy="266700"/>
          </a:xfrm>
          <a:prstGeom prst="rect">
            <a:avLst/>
          </a:prstGeom>
          <a:noFill/>
        </p:spPr>
        <p:txBody>
          <a:bodyPr wrap="none" anchor="ctr">
            <a:noAutofit/>
          </a:bodyPr>
          <a:lstStyle/>
          <a:p>
            <a:pPr algn="l"/>
            <a:r>
              <a:rPr b="1" sz="1350" noProof="1">
                <a:solidFill>
                  <a:srgbClr val="059669"/>
                </a:solidFill>
                <a:latin typeface="QuattrocentoSans"/>
                <a:ea typeface="MiSans"/>
              </a:rPr>
              <a:t>优势</a:t>
            </a:r>
          </a:p>
        </p:txBody>
      </p:sp>
      <p:sp>
        <p:nvSpPr>
          <p:cNvPr id="20" name="dsl:eval1-body|s=$body"/>
          <p:cNvSpPr txBox="1"/>
          <p:nvPr/>
        </p:nvSpPr>
        <p:spPr>
          <a:xfrm>
            <a:off x="571500" y="4629150"/>
            <a:ext cx="3429000" cy="171450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首个通过黑盒验证确认未授权隐藏接口的技术。将隐藏接口发现转化为认证前后响应是否等价的黑盒判定问题，工程可落地。</a:t>
            </a:r>
          </a:p>
        </p:txBody>
      </p:sp>
      <p:sp>
        <p:nvSpPr>
          <p:cNvPr id="21" name="dsl:eval2-bar"/>
          <p:cNvSpPr/>
          <p:nvPr/>
        </p:nvSpPr>
        <p:spPr>
          <a:xfrm>
            <a:off x="4191000" y="4305300"/>
            <a:ext cx="38100" cy="2286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eval2-subtitle"/>
          <p:cNvSpPr txBox="1"/>
          <p:nvPr/>
        </p:nvSpPr>
        <p:spPr>
          <a:xfrm>
            <a:off x="4305300" y="4286250"/>
            <a:ext cx="3314700" cy="266700"/>
          </a:xfrm>
          <a:prstGeom prst="rect">
            <a:avLst/>
          </a:prstGeom>
          <a:noFill/>
        </p:spPr>
        <p:txBody>
          <a:bodyPr wrap="none" anchor="ctr">
            <a:noAutofit/>
          </a:bodyPr>
          <a:lstStyle/>
          <a:p>
            <a:pPr algn="l"/>
            <a:r>
              <a:rPr b="1" sz="1350" noProof="1">
                <a:solidFill>
                  <a:srgbClr val="DC2626"/>
                </a:solidFill>
                <a:latin typeface="QuattrocentoSans"/>
                <a:ea typeface="MiSans"/>
              </a:rPr>
              <a:t>局限</a:t>
            </a:r>
          </a:p>
        </p:txBody>
      </p:sp>
      <p:sp>
        <p:nvSpPr>
          <p:cNvPr id="23" name="dsl:eval2-body|s=$body"/>
          <p:cNvSpPr txBox="1"/>
          <p:nvPr/>
        </p:nvSpPr>
        <p:spPr>
          <a:xfrm>
            <a:off x="4191000" y="4629150"/>
            <a:ext cx="3429000" cy="171450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①枚举方式偏暴力，平均6.2万请求/设备；②主要覆盖URL型未授权接口，对认证后隐藏功能和复杂状态接口能力不足。</a:t>
            </a:r>
          </a:p>
        </p:txBody>
      </p:sp>
      <p:sp>
        <p:nvSpPr>
          <p:cNvPr id="24" name="dsl:eval3-bar"/>
          <p:cNvSpPr/>
          <p:nvPr/>
        </p:nvSpPr>
        <p:spPr>
          <a:xfrm>
            <a:off x="7810500" y="4305300"/>
            <a:ext cx="38100" cy="228600"/>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eval3-subtitle"/>
          <p:cNvSpPr txBox="1"/>
          <p:nvPr/>
        </p:nvSpPr>
        <p:spPr>
          <a:xfrm>
            <a:off x="7924800" y="4286250"/>
            <a:ext cx="3314700" cy="266700"/>
          </a:xfrm>
          <a:prstGeom prst="rect">
            <a:avLst/>
          </a:prstGeom>
          <a:noFill/>
        </p:spPr>
        <p:txBody>
          <a:bodyPr wrap="none" anchor="ctr">
            <a:noAutofit/>
          </a:bodyPr>
          <a:lstStyle/>
          <a:p>
            <a:pPr algn="l"/>
            <a:r>
              <a:rPr b="1" sz="1350" noProof="1">
                <a:solidFill>
                  <a:srgbClr val="64748B"/>
                </a:solidFill>
                <a:latin typeface="QuattrocentoSans"/>
                <a:ea typeface="MiSans"/>
              </a:rPr>
              <a:t>商业化</a:t>
            </a:r>
          </a:p>
        </p:txBody>
      </p:sp>
      <p:sp>
        <p:nvSpPr>
          <p:cNvPr id="26" name="dsl:eval3-body|s=$body"/>
          <p:cNvSpPr txBox="1"/>
          <p:nvPr/>
        </p:nvSpPr>
        <p:spPr>
          <a:xfrm>
            <a:off x="7810500" y="4629150"/>
            <a:ext cx="3429000" cy="171450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商业化使用需严格授权、隔离网络和限速，不适合直接做互联网暴露面扫描。需做好法律合规与授权边界管理。</a:t>
            </a:r>
          </a:p>
        </p:txBody>
      </p:sp>
      <p:sp>
        <p:nvSpPr>
          <p:cNvPr id="27" name="dsl:footer-left|s=$caption"/>
          <p:cNvSpPr txBox="1"/>
          <p:nvPr/>
        </p:nvSpPr>
        <p:spPr>
          <a:xfrm>
            <a:off x="571500" y="6572250"/>
            <a:ext cx="3810000" cy="1905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网络设备Web服务安全研究</a:t>
            </a:r>
          </a:p>
        </p:txBody>
      </p:sp>
      <p:sp>
        <p:nvSpPr>
          <p:cNvPr id="28" name="dsl:footer-right|s=$caption"/>
          <p:cNvSpPr txBox="1"/>
          <p:nvPr/>
        </p:nvSpPr>
        <p:spPr>
          <a:xfrm>
            <a:off x="10477500" y="6572250"/>
            <a:ext cx="1143000" cy="190500"/>
          </a:xfrm>
          <a:prstGeom prst="rect">
            <a:avLst/>
          </a:prstGeom>
          <a:noFill/>
        </p:spPr>
        <p:txBody>
          <a:bodyPr wrap="none" anchor="ctr">
            <a:noAutofit/>
          </a:bodyPr>
          <a:lstStyle/>
          <a:p>
            <a:pPr algn="r">
              <a:lnSpc>
                <a:spcPct val="140000"/>
              </a:lnSpc>
            </a:pPr>
            <a:r>
              <a:rPr sz="1050" noProof="1">
                <a:solidFill>
                  <a:srgbClr val="64748B"/>
                </a:solidFill>
                <a:latin typeface="QuattrocentoSans"/>
                <a:ea typeface="MiSans"/>
              </a:rPr>
              <a:t>22 / 37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dsl:nav-bg"/>
          <p:cNvSpPr/>
          <p:nvPr/>
        </p:nvSpPr>
        <p:spPr>
          <a:xfrm>
            <a:off x="0" y="0"/>
            <a:ext cx="12192000" cy="381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
          <p:cNvSpPr/>
          <p:nvPr/>
        </p:nvSpPr>
        <p:spPr>
          <a:xfrm>
            <a:off x="6096000" y="0"/>
            <a:ext cx="3048000" cy="3810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t1|s=$nav"/>
          <p:cNvSpPr txBox="1"/>
          <p:nvPr/>
        </p:nvSpPr>
        <p:spPr>
          <a:xfrm>
            <a:off x="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维度一: Source</a:t>
            </a:r>
          </a:p>
        </p:txBody>
      </p:sp>
      <p:sp>
        <p:nvSpPr>
          <p:cNvPr id="5" name="dsl:nav-t2|s=$nav"/>
          <p:cNvSpPr txBox="1"/>
          <p:nvPr/>
        </p:nvSpPr>
        <p:spPr>
          <a:xfrm>
            <a:off x="3048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维度二: Propagation</a:t>
            </a:r>
          </a:p>
        </p:txBody>
      </p:sp>
      <p:sp>
        <p:nvSpPr>
          <p:cNvPr id="6" name="dsl:nav-t3|s=$nav"/>
          <p:cNvSpPr txBox="1"/>
          <p:nvPr/>
        </p:nvSpPr>
        <p:spPr>
          <a:xfrm>
            <a:off x="6096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维度三: Sink</a:t>
            </a:r>
          </a:p>
        </p:txBody>
      </p:sp>
      <p:sp>
        <p:nvSpPr>
          <p:cNvPr id="7" name="dsl:nav-t4|s=$nav"/>
          <p:cNvSpPr txBox="1"/>
          <p:nvPr/>
        </p:nvSpPr>
        <p:spPr>
          <a:xfrm>
            <a:off x="9144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维度四: Verification</a:t>
            </a:r>
          </a:p>
        </p:txBody>
      </p:sp>
      <p:sp>
        <p:nvSpPr>
          <p:cNvPr id="8" name="dsl:nav-line"/>
          <p:cNvSpPr/>
          <p:nvPr/>
        </p:nvSpPr>
        <p:spPr>
          <a:xfrm>
            <a:off x="0" y="381000"/>
            <a:ext cx="12192000" cy="1905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page-title|s=$title"/>
          <p:cNvSpPr txBox="1"/>
          <p:nvPr/>
        </p:nvSpPr>
        <p:spPr>
          <a:xfrm>
            <a:off x="571500" y="514350"/>
            <a:ext cx="8382000" cy="381000"/>
          </a:xfrm>
          <a:prstGeom prst="rect">
            <a:avLst/>
          </a:prstGeom>
          <a:noFill/>
        </p:spPr>
        <p:txBody>
          <a:bodyPr wrap="none" anchor="ctr">
            <a:noAutofit/>
          </a:bodyPr>
          <a:lstStyle/>
          <a:p>
            <a:pPr algn="l">
              <a:lnSpc>
                <a:spcPct val="130000"/>
              </a:lnSpc>
            </a:pPr>
            <a:r>
              <a:rPr sz="2100" noProof="1">
                <a:solidFill>
                  <a:srgbClr val="1E293B"/>
                </a:solidFill>
                <a:latin typeface="QuattrocentoSans"/>
                <a:ea typeface="MiSans"/>
              </a:rPr>
              <a:t>EAGLEYE — 路由Token推断与LLM模式学习</a:t>
            </a:r>
          </a:p>
        </p:txBody>
      </p:sp>
      <p:sp>
        <p:nvSpPr>
          <p:cNvPr id="10" name="dsl:badge-bg"/>
          <p:cNvSpPr/>
          <p:nvPr/>
        </p:nvSpPr>
        <p:spPr>
          <a:xfrm>
            <a:off x="10001250" y="552450"/>
            <a:ext cx="1619250" cy="266700"/>
          </a:xfrm>
          <a:prstGeom prst="roundRect">
            <a:avLst>
              <a:gd name="adj" fmla="val 8000"/>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badge-text|s=$badge"/>
          <p:cNvSpPr txBox="1"/>
          <p:nvPr/>
        </p:nvSpPr>
        <p:spPr>
          <a:xfrm>
            <a:off x="10001250" y="552450"/>
            <a:ext cx="1619250" cy="2667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NDSS 2025</a:t>
            </a:r>
          </a:p>
        </p:txBody>
      </p:sp>
      <p:sp>
        <p:nvSpPr>
          <p:cNvPr id="12" name="dsl:left-bar-1"/>
          <p:cNvSpPr/>
          <p:nvPr/>
        </p:nvSpPr>
        <p:spPr>
          <a:xfrm>
            <a:off x="5715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left-subtitle-1|s=$subtitle"/>
          <p:cNvSpPr txBox="1"/>
          <p:nvPr/>
        </p:nvSpPr>
        <p:spPr>
          <a:xfrm>
            <a:off x="6858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内容摘要</a:t>
            </a:r>
          </a:p>
        </p:txBody>
      </p:sp>
      <p:sp>
        <p:nvSpPr>
          <p:cNvPr id="14" name="dsl:left-body-1|s=$body"/>
          <p:cNvSpPr txBox="1"/>
          <p:nvPr/>
        </p:nvSpPr>
        <p:spPr>
          <a:xfrm>
            <a:off x="571500" y="1352550"/>
            <a:ext cx="3429000" cy="18097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基于路由Token推断的IoT隐藏接口发现框架。分析公开请求识别路由Token，利用LLM从固件代码推断隐藏Token，指导定向Fuzzing。在13台设备发现79个隐藏接口，是IoTScope的25倍。</a:t>
            </a:r>
          </a:p>
        </p:txBody>
      </p:sp>
      <p:sp>
        <p:nvSpPr>
          <p:cNvPr id="15" name="dsl:left-bar-2"/>
          <p:cNvSpPr/>
          <p:nvPr/>
        </p:nvSpPr>
        <p:spPr>
          <a:xfrm>
            <a:off x="571500" y="3314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left-subtitle-2|s=$subtitle"/>
          <p:cNvSpPr txBox="1"/>
          <p:nvPr/>
        </p:nvSpPr>
        <p:spPr>
          <a:xfrm>
            <a:off x="685800" y="3295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研究背景</a:t>
            </a:r>
          </a:p>
        </p:txBody>
      </p:sp>
      <p:sp>
        <p:nvSpPr>
          <p:cNvPr id="17" name="dsl:left-body-2|s=$body"/>
          <p:cNvSpPr txBox="1"/>
          <p:nvPr/>
        </p:nvSpPr>
        <p:spPr>
          <a:xfrm>
            <a:off x="571500" y="3638550"/>
            <a:ext cx="3429000" cy="21907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现有扫描器存在Frontend Bias，假设所有后端接口在前端有迹可循，但隐藏接口在HTML/JS中零引用。静态分析难以定义Source和Sink，缺乏明确代码模式。Fuzzing因接口未知无法设定目标，随机变异难触发特定路径。</a:t>
            </a:r>
          </a:p>
        </p:txBody>
      </p:sp>
      <p:sp>
        <p:nvSpPr>
          <p:cNvPr id="18" name="dsl:mid-bar-1"/>
          <p:cNvSpPr/>
          <p:nvPr/>
        </p:nvSpPr>
        <p:spPr>
          <a:xfrm>
            <a:off x="41910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mid-subtitle-1|s=$subtitle"/>
          <p:cNvSpPr txBox="1"/>
          <p:nvPr/>
        </p:nvSpPr>
        <p:spPr>
          <a:xfrm>
            <a:off x="43053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核心洞察</a:t>
            </a:r>
          </a:p>
        </p:txBody>
      </p:sp>
      <p:sp>
        <p:nvSpPr>
          <p:cNvPr id="20" name="dsl:mid-body-1|s=$body"/>
          <p:cNvSpPr txBox="1"/>
          <p:nvPr/>
        </p:nvSpPr>
        <p:spPr>
          <a:xfrm>
            <a:off x="4191000" y="1352550"/>
            <a:ext cx="3429000" cy="23812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公开接口与隐藏接口共享同一套底层路由机制。将寻找隐藏接口转化为寻找隐藏路由Token问题，覆盖URI、Header、Body、Query中的Token。通过分析公开请求中的路由Token，利用LLM模式学习能力推断隐藏Token，显著压缩搜索空间。</a:t>
            </a:r>
          </a:p>
        </p:txBody>
      </p:sp>
      <p:sp>
        <p:nvSpPr>
          <p:cNvPr id="21" name="dsl:mid-bar-2"/>
          <p:cNvSpPr/>
          <p:nvPr/>
        </p:nvSpPr>
        <p:spPr>
          <a:xfrm>
            <a:off x="4191000" y="38100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mid-subtitle-2|s=$subtitle"/>
          <p:cNvSpPr txBox="1"/>
          <p:nvPr/>
        </p:nvSpPr>
        <p:spPr>
          <a:xfrm>
            <a:off x="4305300" y="37909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解决方案</a:t>
            </a:r>
          </a:p>
        </p:txBody>
      </p:sp>
      <p:sp>
        <p:nvSpPr>
          <p:cNvPr id="23" name="dsl:mid-body-2|s=$body"/>
          <p:cNvSpPr txBox="1"/>
          <p:nvPr/>
        </p:nvSpPr>
        <p:spPr>
          <a:xfrm>
            <a:off x="4191000" y="4133850"/>
            <a:ext cx="3429000" cy="23812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1. Token比对：收集公开请求，按语法结构分解，差异比对找出变化字段作为路由Token。2. LLM模式学习：提取公开Token代码上下文，让LLM分析相似特征推断隐藏Token，迭代自校正。3. 定向Fuzzing：以公开请求为模板，用隐藏路由表替换Token，处理多级依赖，从响应推断参数。</a:t>
            </a:r>
          </a:p>
        </p:txBody>
      </p:sp>
      <p:sp>
        <p:nvSpPr>
          <p:cNvPr id="24" name="dsl:right-bar"/>
          <p:cNvSpPr/>
          <p:nvPr/>
        </p:nvSpPr>
        <p:spPr>
          <a:xfrm>
            <a:off x="78105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right-subtitle|s=$subtitle"/>
          <p:cNvSpPr txBox="1"/>
          <p:nvPr/>
        </p:nvSpPr>
        <p:spPr>
          <a:xfrm>
            <a:off x="79248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关键数据</a:t>
            </a:r>
          </a:p>
        </p:txBody>
      </p:sp>
      <p:sp>
        <p:nvSpPr>
          <p:cNvPr id="26" name="dsl:card1-bg"/>
          <p:cNvSpPr/>
          <p:nvPr/>
        </p:nvSpPr>
        <p:spPr>
          <a:xfrm>
            <a:off x="8001000" y="1428750"/>
            <a:ext cx="3238500" cy="1143000"/>
          </a:xfrm>
          <a:prstGeom prst="roundRect">
            <a:avLst>
              <a:gd name="adj" fmla="val 8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card1-num|s=$kpi"/>
          <p:cNvSpPr txBox="1"/>
          <p:nvPr/>
        </p:nvSpPr>
        <p:spPr>
          <a:xfrm>
            <a:off x="8191500" y="1571625"/>
            <a:ext cx="2857500" cy="400050"/>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79</a:t>
            </a:r>
          </a:p>
        </p:txBody>
      </p:sp>
      <p:sp>
        <p:nvSpPr>
          <p:cNvPr id="28" name="dsl:card1-label|s=$caption"/>
          <p:cNvSpPr txBox="1"/>
          <p:nvPr/>
        </p:nvSpPr>
        <p:spPr>
          <a:xfrm>
            <a:off x="8191500" y="2047875"/>
            <a:ext cx="2857500" cy="2286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个隐藏接口</a:t>
            </a:r>
          </a:p>
        </p:txBody>
      </p:sp>
      <p:sp>
        <p:nvSpPr>
          <p:cNvPr id="29" name="dsl:card2-bg"/>
          <p:cNvSpPr/>
          <p:nvPr/>
        </p:nvSpPr>
        <p:spPr>
          <a:xfrm>
            <a:off x="8001000" y="2762250"/>
            <a:ext cx="3238500" cy="1143000"/>
          </a:xfrm>
          <a:prstGeom prst="roundRect">
            <a:avLst>
              <a:gd name="adj" fmla="val 8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sl:card2-num|s=$kpi"/>
          <p:cNvSpPr txBox="1"/>
          <p:nvPr/>
        </p:nvSpPr>
        <p:spPr>
          <a:xfrm>
            <a:off x="8191500" y="2905125"/>
            <a:ext cx="2857500" cy="400050"/>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25</a:t>
            </a:r>
          </a:p>
        </p:txBody>
      </p:sp>
      <p:sp>
        <p:nvSpPr>
          <p:cNvPr id="31" name="dsl:card2-label|s=$caption"/>
          <p:cNvSpPr txBox="1"/>
          <p:nvPr/>
        </p:nvSpPr>
        <p:spPr>
          <a:xfrm>
            <a:off x="8191500" y="3381375"/>
            <a:ext cx="2857500" cy="2286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倍于IoTScope</a:t>
            </a:r>
          </a:p>
        </p:txBody>
      </p:sp>
      <p:sp>
        <p:nvSpPr>
          <p:cNvPr id="32" name="dsl:card3-bg"/>
          <p:cNvSpPr/>
          <p:nvPr/>
        </p:nvSpPr>
        <p:spPr>
          <a:xfrm>
            <a:off x="8001000" y="4095750"/>
            <a:ext cx="3238500" cy="1143000"/>
          </a:xfrm>
          <a:prstGeom prst="roundRect">
            <a:avLst>
              <a:gd name="adj" fmla="val 8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sl:card3-num|s=$kpi"/>
          <p:cNvSpPr txBox="1"/>
          <p:nvPr/>
        </p:nvSpPr>
        <p:spPr>
          <a:xfrm>
            <a:off x="8191500" y="4238625"/>
            <a:ext cx="2857500" cy="400050"/>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29</a:t>
            </a:r>
          </a:p>
        </p:txBody>
      </p:sp>
      <p:sp>
        <p:nvSpPr>
          <p:cNvPr id="34" name="dsl:card3-label|s=$caption"/>
          <p:cNvSpPr txBox="1"/>
          <p:nvPr/>
        </p:nvSpPr>
        <p:spPr>
          <a:xfrm>
            <a:off x="8191500" y="4714875"/>
            <a:ext cx="2857500" cy="2286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个未知漏洞</a:t>
            </a:r>
          </a:p>
        </p:txBody>
      </p:sp>
      <p:sp>
        <p:nvSpPr>
          <p:cNvPr id="35" name="dsl:footer-left|s=$caption"/>
          <p:cNvSpPr txBox="1"/>
          <p:nvPr/>
        </p:nvSpPr>
        <p:spPr>
          <a:xfrm>
            <a:off x="571500" y="6572250"/>
            <a:ext cx="3810000" cy="1905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网络设备Web服务安全研究</a:t>
            </a:r>
          </a:p>
        </p:txBody>
      </p:sp>
      <p:sp>
        <p:nvSpPr>
          <p:cNvPr id="36" name="dsl:footer-right|s=$caption"/>
          <p:cNvSpPr txBox="1"/>
          <p:nvPr/>
        </p:nvSpPr>
        <p:spPr>
          <a:xfrm>
            <a:off x="10477500" y="6572250"/>
            <a:ext cx="1143000" cy="190500"/>
          </a:xfrm>
          <a:prstGeom prst="rect">
            <a:avLst/>
          </a:prstGeom>
          <a:noFill/>
        </p:spPr>
        <p:txBody>
          <a:bodyPr wrap="none" anchor="ctr">
            <a:noAutofit/>
          </a:bodyPr>
          <a:lstStyle/>
          <a:p>
            <a:pPr algn="r">
              <a:lnSpc>
                <a:spcPct val="140000"/>
              </a:lnSpc>
            </a:pPr>
            <a:r>
              <a:rPr sz="1050" noProof="1">
                <a:solidFill>
                  <a:srgbClr val="64748B"/>
                </a:solidFill>
                <a:latin typeface="QuattrocentoSans"/>
                <a:ea typeface="MiSans"/>
              </a:rPr>
              <a:t>23 / 37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dsl:nav-bg"/>
          <p:cNvSpPr/>
          <p:nvPr/>
        </p:nvSpPr>
        <p:spPr>
          <a:xfrm>
            <a:off x="0" y="0"/>
            <a:ext cx="12192000" cy="381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
          <p:cNvSpPr/>
          <p:nvPr/>
        </p:nvSpPr>
        <p:spPr>
          <a:xfrm>
            <a:off x="6096000" y="0"/>
            <a:ext cx="3048000" cy="3810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t1|s=$nav"/>
          <p:cNvSpPr txBox="1"/>
          <p:nvPr/>
        </p:nvSpPr>
        <p:spPr>
          <a:xfrm>
            <a:off x="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维度一: Source</a:t>
            </a:r>
          </a:p>
        </p:txBody>
      </p:sp>
      <p:sp>
        <p:nvSpPr>
          <p:cNvPr id="5" name="dsl:nav-t2|s=$nav"/>
          <p:cNvSpPr txBox="1"/>
          <p:nvPr/>
        </p:nvSpPr>
        <p:spPr>
          <a:xfrm>
            <a:off x="3048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维度二: Propagation</a:t>
            </a:r>
          </a:p>
        </p:txBody>
      </p:sp>
      <p:sp>
        <p:nvSpPr>
          <p:cNvPr id="6" name="dsl:nav-t3|s=$nav"/>
          <p:cNvSpPr txBox="1"/>
          <p:nvPr/>
        </p:nvSpPr>
        <p:spPr>
          <a:xfrm>
            <a:off x="6096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维度三: Sink</a:t>
            </a:r>
          </a:p>
        </p:txBody>
      </p:sp>
      <p:sp>
        <p:nvSpPr>
          <p:cNvPr id="7" name="dsl:nav-t4|s=$nav"/>
          <p:cNvSpPr txBox="1"/>
          <p:nvPr/>
        </p:nvSpPr>
        <p:spPr>
          <a:xfrm>
            <a:off x="9144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维度四: Verification</a:t>
            </a:r>
          </a:p>
        </p:txBody>
      </p:sp>
      <p:sp>
        <p:nvSpPr>
          <p:cNvPr id="8" name="dsl:nav-line"/>
          <p:cNvSpPr/>
          <p:nvPr/>
        </p:nvSpPr>
        <p:spPr>
          <a:xfrm>
            <a:off x="0" y="381000"/>
            <a:ext cx="12192000" cy="1905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page-title|s=$title"/>
          <p:cNvSpPr txBox="1"/>
          <p:nvPr/>
        </p:nvSpPr>
        <p:spPr>
          <a:xfrm>
            <a:off x="571500" y="514350"/>
            <a:ext cx="8382000" cy="381000"/>
          </a:xfrm>
          <a:prstGeom prst="rect">
            <a:avLst/>
          </a:prstGeom>
          <a:noFill/>
        </p:spPr>
        <p:txBody>
          <a:bodyPr wrap="none" anchor="ctr">
            <a:noAutofit/>
          </a:bodyPr>
          <a:lstStyle/>
          <a:p>
            <a:pPr algn="l">
              <a:lnSpc>
                <a:spcPct val="130000"/>
              </a:lnSpc>
            </a:pPr>
            <a:r>
              <a:rPr sz="2100" noProof="1">
                <a:solidFill>
                  <a:srgbClr val="1E293B"/>
                </a:solidFill>
                <a:latin typeface="QuattrocentoSans"/>
                <a:ea typeface="MiSans"/>
              </a:rPr>
              <a:t>EAGLEYE — 实验结果与文章评价</a:t>
            </a:r>
          </a:p>
        </p:txBody>
      </p:sp>
      <p:sp>
        <p:nvSpPr>
          <p:cNvPr id="10" name="dsl:badge-bg"/>
          <p:cNvSpPr/>
          <p:nvPr/>
        </p:nvSpPr>
        <p:spPr>
          <a:xfrm>
            <a:off x="10001250" y="552450"/>
            <a:ext cx="1619250" cy="266700"/>
          </a:xfrm>
          <a:prstGeom prst="roundRect">
            <a:avLst>
              <a:gd name="adj" fmla="val 8000"/>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badge-text|s=$badge"/>
          <p:cNvSpPr txBox="1"/>
          <p:nvPr/>
        </p:nvSpPr>
        <p:spPr>
          <a:xfrm>
            <a:off x="10001250" y="552450"/>
            <a:ext cx="1619250" cy="2667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NDSS 2025</a:t>
            </a:r>
          </a:p>
        </p:txBody>
      </p:sp>
      <p:sp>
        <p:nvSpPr>
          <p:cNvPr id="12" name="dsl:results-bar"/>
          <p:cNvSpPr/>
          <p:nvPr/>
        </p:nvSpPr>
        <p:spPr>
          <a:xfrm>
            <a:off x="5715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results-subtitle|s=$subtitle"/>
          <p:cNvSpPr txBox="1"/>
          <p:nvPr/>
        </p:nvSpPr>
        <p:spPr>
          <a:xfrm>
            <a:off x="6858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实验结果</a:t>
            </a:r>
          </a:p>
        </p:txBody>
      </p:sp>
      <p:graphicFrame>
        <p:nvGraphicFramePr>
          <p:cNvPr id="14" name="dsl:results-table"/>
          <p:cNvGraphicFramePr>
            <a:graphicFrameLocks noGrp="1"/>
          </p:cNvGraphicFramePr>
          <p:nvPr/>
        </p:nvGraphicFramePr>
        <p:xfrm>
          <a:off x="571500" y="1409700"/>
          <a:ext cx="5715000" cy="2286000"/>
        </p:xfrm>
        <a:graphic>
          <a:graphicData uri="http://schemas.openxmlformats.org/drawingml/2006/table">
            <a:tbl>
              <a:tblPr firstRow="0" bandRow="0" lastRow="0" firstCol="0" lastCol="0" bandCol="0">
                <a:tableStyleId>{2D5ABB26-0587-4C30-8999-92F81FD0307C}</a:tableStyleId>
              </a:tblPr>
              <a:tblGrid>
                <a:gridCol w="2857500"/>
                <a:gridCol w="2857500"/>
              </a:tblGrid>
              <a:tr h="342900">
                <a:tc>
                  <a:txBody>
                    <a:bodyPr wrap="square" anchor="ctr">
                      <a:noAutofit/>
                    </a:bodyPr>
                    <a:lstStyle/>
                    <a:p>
                      <a:pPr algn="ctr"/>
                      <a:r>
                        <a:rPr sz="1200" noProof="1" b="1">
                          <a:solidFill>
                            <a:srgbClr val="FFFFFF"/>
                          </a:solidFill>
                          <a:latin typeface="QuattrocentoSans"/>
                          <a:ea typeface="MiSans"/>
                        </a:rPr>
                        <a:t>评估指标</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1E293B"/>
                    </a:solidFill>
                  </a:tcPr>
                </a:tc>
                <a:tc>
                  <a:txBody>
                    <a:bodyPr wrap="square" anchor="ctr">
                      <a:noAutofit/>
                    </a:bodyPr>
                    <a:lstStyle/>
                    <a:p>
                      <a:pPr algn="ctr"/>
                      <a:r>
                        <a:rPr sz="1200" noProof="1" b="1">
                          <a:solidFill>
                            <a:srgbClr val="FFFFFF"/>
                          </a:solidFill>
                          <a:latin typeface="QuattrocentoSans"/>
                          <a:ea typeface="MiSans"/>
                        </a:rPr>
                        <a:t>数值</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1E293B"/>
                    </a:solidFill>
                  </a:tcPr>
                </a:tc>
              </a:tr>
              <a:tr h="388620">
                <a:tc>
                  <a:txBody>
                    <a:bodyPr wrap="square" anchor="ctr">
                      <a:noAutofit/>
                    </a:bodyPr>
                    <a:lstStyle/>
                    <a:p>
                      <a:pPr algn="ctr"/>
                      <a:r>
                        <a:rPr sz="1200" noProof="1">
                          <a:solidFill>
                            <a:srgbClr val="0F172A"/>
                          </a:solidFill>
                          <a:latin typeface="QuattrocentoSans"/>
                          <a:ea typeface="MiSans"/>
                        </a:rPr>
                        <a:t>测试设备</a:t>
                      </a:r>
                    </a:p>
                  </a:txBody>
                  <a:tcPr marL="91440" marR="91440" marT="0" marB="0" anchor="ctr">
                    <a:solidFill>
                      <a:srgbClr val="FFFFFF"/>
                    </a:solidFill>
                  </a:tcPr>
                </a:tc>
                <a:tc>
                  <a:txBody>
                    <a:bodyPr wrap="square" anchor="ctr">
                      <a:noAutofit/>
                    </a:bodyPr>
                    <a:lstStyle/>
                    <a:p>
                      <a:pPr algn="ctr"/>
                      <a:r>
                        <a:rPr sz="1200" noProof="1">
                          <a:solidFill>
                            <a:srgbClr val="0F172A"/>
                          </a:solidFill>
                          <a:latin typeface="QuattrocentoSans"/>
                          <a:ea typeface="MiSans"/>
                        </a:rPr>
                        <a:t>13款</a:t>
                      </a:r>
                    </a:p>
                  </a:txBody>
                  <a:tcPr marL="91440" marR="91440" marT="0" marB="0" anchor="ctr">
                    <a:solidFill>
                      <a:srgbClr val="FFFFFF"/>
                    </a:solidFill>
                  </a:tcPr>
                </a:tc>
              </a:tr>
              <a:tr h="388620">
                <a:tc>
                  <a:txBody>
                    <a:bodyPr wrap="square" anchor="ctr">
                      <a:noAutofit/>
                    </a:bodyPr>
                    <a:lstStyle/>
                    <a:p>
                      <a:pPr algn="ctr"/>
                      <a:r>
                        <a:rPr sz="1200" noProof="1">
                          <a:solidFill>
                            <a:srgbClr val="0F172A"/>
                          </a:solidFill>
                          <a:latin typeface="QuattrocentoSans"/>
                          <a:ea typeface="MiSans"/>
                        </a:rPr>
                        <a:t>隐藏接口</a:t>
                      </a:r>
                    </a:p>
                  </a:txBody>
                  <a:tcPr marL="91440" marR="91440" marT="0" marB="0" anchor="ctr">
                    <a:solidFill>
                      <a:srgbClr val="F1F5F9"/>
                    </a:solidFill>
                  </a:tcPr>
                </a:tc>
                <a:tc>
                  <a:txBody>
                    <a:bodyPr wrap="square" anchor="ctr">
                      <a:noAutofit/>
                    </a:bodyPr>
                    <a:lstStyle/>
                    <a:p>
                      <a:pPr algn="ctr"/>
                      <a:r>
                        <a:rPr sz="1200" noProof="1">
                          <a:solidFill>
                            <a:srgbClr val="0F172A"/>
                          </a:solidFill>
                          <a:latin typeface="QuattrocentoSans"/>
                          <a:ea typeface="MiSans"/>
                        </a:rPr>
                        <a:t>79个（27绕过+52认证）</a:t>
                      </a:r>
                    </a:p>
                  </a:txBody>
                  <a:tcPr marL="91440" marR="91440" marT="0" marB="0" anchor="ctr">
                    <a:solidFill>
                      <a:srgbClr val="F1F5F9"/>
                    </a:solidFill>
                  </a:tcPr>
                </a:tc>
              </a:tr>
              <a:tr h="388620">
                <a:tc>
                  <a:txBody>
                    <a:bodyPr wrap="square" anchor="ctr">
                      <a:noAutofit/>
                    </a:bodyPr>
                    <a:lstStyle/>
                    <a:p>
                      <a:pPr algn="ctr"/>
                      <a:r>
                        <a:rPr sz="1200" noProof="1">
                          <a:solidFill>
                            <a:srgbClr val="0F172A"/>
                          </a:solidFill>
                          <a:latin typeface="QuattrocentoSans"/>
                          <a:ea typeface="MiSans"/>
                        </a:rPr>
                        <a:t>误报率</a:t>
                      </a:r>
                    </a:p>
                  </a:txBody>
                  <a:tcPr marL="91440" marR="91440" marT="0" marB="0" anchor="ctr">
                    <a:solidFill>
                      <a:srgbClr val="FFFFFF"/>
                    </a:solidFill>
                  </a:tcPr>
                </a:tc>
                <a:tc>
                  <a:txBody>
                    <a:bodyPr wrap="square" anchor="ctr">
                      <a:noAutofit/>
                    </a:bodyPr>
                    <a:lstStyle/>
                    <a:p>
                      <a:pPr algn="ctr"/>
                      <a:r>
                        <a:rPr sz="1200" noProof="1">
                          <a:solidFill>
                            <a:srgbClr val="0F172A"/>
                          </a:solidFill>
                          <a:latin typeface="QuattrocentoSans"/>
                          <a:ea typeface="MiSans"/>
                        </a:rPr>
                        <a:t>0</a:t>
                      </a:r>
                    </a:p>
                  </a:txBody>
                  <a:tcPr marL="91440" marR="91440" marT="0" marB="0" anchor="ctr">
                    <a:solidFill>
                      <a:srgbClr val="FFFFFF"/>
                    </a:solidFill>
                  </a:tcPr>
                </a:tc>
              </a:tr>
              <a:tr h="388620">
                <a:tc>
                  <a:txBody>
                    <a:bodyPr wrap="square" anchor="ctr">
                      <a:noAutofit/>
                    </a:bodyPr>
                    <a:lstStyle/>
                    <a:p>
                      <a:pPr algn="ctr"/>
                      <a:r>
                        <a:rPr sz="1200" noProof="1">
                          <a:solidFill>
                            <a:srgbClr val="0F172A"/>
                          </a:solidFill>
                          <a:latin typeface="QuattrocentoSans"/>
                          <a:ea typeface="MiSans"/>
                        </a:rPr>
                        <a:t>未知漏洞</a:t>
                      </a:r>
                    </a:p>
                  </a:txBody>
                  <a:tcPr marL="91440" marR="91440" marT="0" marB="0" anchor="ctr">
                    <a:solidFill>
                      <a:srgbClr val="F1F5F9"/>
                    </a:solidFill>
                  </a:tcPr>
                </a:tc>
                <a:tc>
                  <a:txBody>
                    <a:bodyPr wrap="square" anchor="ctr">
                      <a:noAutofit/>
                    </a:bodyPr>
                    <a:lstStyle/>
                    <a:p>
                      <a:pPr algn="ctr"/>
                      <a:r>
                        <a:rPr sz="1200" noProof="1">
                          <a:solidFill>
                            <a:srgbClr val="0F172A"/>
                          </a:solidFill>
                          <a:latin typeface="QuattrocentoSans"/>
                          <a:ea typeface="MiSans"/>
                        </a:rPr>
                        <a:t>29个</a:t>
                      </a:r>
                    </a:p>
                  </a:txBody>
                  <a:tcPr marL="91440" marR="91440" marT="0" marB="0" anchor="ctr">
                    <a:solidFill>
                      <a:srgbClr val="F1F5F9"/>
                    </a:solidFill>
                  </a:tcPr>
                </a:tc>
              </a:tr>
              <a:tr h="388620">
                <a:tc>
                  <a:txBody>
                    <a:bodyPr wrap="square" anchor="ctr">
                      <a:noAutofit/>
                    </a:bodyPr>
                    <a:lstStyle/>
                    <a:p>
                      <a:pPr algn="ctr"/>
                      <a:r>
                        <a:rPr sz="1200" noProof="1">
                          <a:solidFill>
                            <a:srgbClr val="0F172A"/>
                          </a:solidFill>
                          <a:latin typeface="QuattrocentoSans"/>
                          <a:ea typeface="MiSans"/>
                        </a:rPr>
                        <a:t>CVE编号</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FFFFFF"/>
                    </a:solidFill>
                  </a:tcPr>
                </a:tc>
                <a:tc>
                  <a:txBody>
                    <a:bodyPr wrap="square" anchor="ctr">
                      <a:noAutofit/>
                    </a:bodyPr>
                    <a:lstStyle/>
                    <a:p>
                      <a:pPr algn="ctr"/>
                      <a:r>
                        <a:rPr sz="1200" noProof="1">
                          <a:solidFill>
                            <a:srgbClr val="0F172A"/>
                          </a:solidFill>
                          <a:latin typeface="QuattrocentoSans"/>
                          <a:ea typeface="MiSans"/>
                        </a:rPr>
                        <a:t>7个</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FFFFFF"/>
                    </a:solidFill>
                  </a:tcPr>
                </a:tc>
              </a:tr>
            </a:tbl>
          </a:graphicData>
        </a:graphic>
      </p:graphicFrame>
      <p:sp>
        <p:nvSpPr>
          <p:cNvPr id="15" name="dsl:results-note|s=$body"/>
          <p:cNvSpPr txBox="1"/>
          <p:nvPr/>
        </p:nvSpPr>
        <p:spPr>
          <a:xfrm>
            <a:off x="6667500" y="1409700"/>
            <a:ext cx="4953000" cy="2286000"/>
          </a:xfrm>
          <a:prstGeom prst="rect">
            <a:avLst/>
          </a:prstGeom>
          <a:noFill/>
        </p:spPr>
        <p:txBody>
          <a:bodyPr wrap="square" anchor="t">
            <a:noAutofit/>
          </a:bodyPr>
          <a:lstStyle/>
          <a:p>
            <a:pPr algn="l">
              <a:lnSpc>
                <a:spcPct val="160000"/>
              </a:lnSpc>
            </a:pPr>
            <a:r>
              <a:rPr b="1" sz="1350" noProof="1">
                <a:solidFill>
                  <a:srgbClr val="0F172A"/>
                </a:solidFill>
                <a:latin typeface="QuattrocentoSans"/>
                <a:ea typeface="MiSans"/>
              </a:rPr>
              <a:t>与现有方法对比</a:t>
            </a:r>
          </a:p>
          <a:p>
            <a:pPr algn="l">
              <a:lnSpc>
                <a:spcPct val="160000"/>
              </a:lnSpc>
            </a:pPr>
            <a:r>
              <a:rPr sz="1350" noProof="1">
                <a:solidFill>
                  <a:srgbClr val="0F172A"/>
                </a:solidFill>
                <a:latin typeface="QuattrocentoSans"/>
                <a:ea typeface="MiSans"/>
              </a:rPr>
              <a:t>覆盖Header、Body及认证后接口，是IoTScope的25倍。经人工验证零误报，发现后门、XSS、命令注入和信息泄露等漏洞。</a:t>
            </a:r>
          </a:p>
        </p:txBody>
      </p:sp>
      <p:sp>
        <p:nvSpPr>
          <p:cNvPr id="16" name="dsl:eval-bar"/>
          <p:cNvSpPr/>
          <p:nvPr/>
        </p:nvSpPr>
        <p:spPr>
          <a:xfrm>
            <a:off x="571500" y="390525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eval-subtitle|s=$subtitle"/>
          <p:cNvSpPr txBox="1"/>
          <p:nvPr/>
        </p:nvSpPr>
        <p:spPr>
          <a:xfrm>
            <a:off x="685800" y="388620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文章评价</a:t>
            </a:r>
          </a:p>
        </p:txBody>
      </p:sp>
      <p:sp>
        <p:nvSpPr>
          <p:cNvPr id="18" name="dsl:eval1-bar"/>
          <p:cNvSpPr/>
          <p:nvPr/>
        </p:nvSpPr>
        <p:spPr>
          <a:xfrm>
            <a:off x="571500" y="4305300"/>
            <a:ext cx="38100" cy="2286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eval1-subtitle"/>
          <p:cNvSpPr txBox="1"/>
          <p:nvPr/>
        </p:nvSpPr>
        <p:spPr>
          <a:xfrm>
            <a:off x="685800" y="4286250"/>
            <a:ext cx="3314700" cy="266700"/>
          </a:xfrm>
          <a:prstGeom prst="rect">
            <a:avLst/>
          </a:prstGeom>
          <a:noFill/>
        </p:spPr>
        <p:txBody>
          <a:bodyPr wrap="none" anchor="ctr">
            <a:noAutofit/>
          </a:bodyPr>
          <a:lstStyle/>
          <a:p>
            <a:pPr algn="l"/>
            <a:r>
              <a:rPr b="1" sz="1350" noProof="1">
                <a:solidFill>
                  <a:srgbClr val="059669"/>
                </a:solidFill>
                <a:latin typeface="QuattrocentoSans"/>
                <a:ea typeface="MiSans"/>
              </a:rPr>
              <a:t>优势</a:t>
            </a:r>
          </a:p>
        </p:txBody>
      </p:sp>
      <p:sp>
        <p:nvSpPr>
          <p:cNvPr id="20" name="dsl:eval1-body|s=$body"/>
          <p:cNvSpPr txBox="1"/>
          <p:nvPr/>
        </p:nvSpPr>
        <p:spPr>
          <a:xfrm>
            <a:off x="571500" y="4629150"/>
            <a:ext cx="3429000" cy="171450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把隐藏接口从URL枚举提升到路由Token推断，覆盖Header/Body/认证后接口，问题建模明显优于IoTScope。</a:t>
            </a:r>
          </a:p>
        </p:txBody>
      </p:sp>
      <p:sp>
        <p:nvSpPr>
          <p:cNvPr id="21" name="dsl:eval2-bar"/>
          <p:cNvSpPr/>
          <p:nvPr/>
        </p:nvSpPr>
        <p:spPr>
          <a:xfrm>
            <a:off x="4191000" y="4305300"/>
            <a:ext cx="38100" cy="2286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eval2-subtitle"/>
          <p:cNvSpPr txBox="1"/>
          <p:nvPr/>
        </p:nvSpPr>
        <p:spPr>
          <a:xfrm>
            <a:off x="4305300" y="4286250"/>
            <a:ext cx="3314700" cy="266700"/>
          </a:xfrm>
          <a:prstGeom prst="rect">
            <a:avLst/>
          </a:prstGeom>
          <a:noFill/>
        </p:spPr>
        <p:txBody>
          <a:bodyPr wrap="none" anchor="ctr">
            <a:noAutofit/>
          </a:bodyPr>
          <a:lstStyle/>
          <a:p>
            <a:pPr algn="l"/>
            <a:r>
              <a:rPr b="1" sz="1350" noProof="1">
                <a:solidFill>
                  <a:srgbClr val="DC2626"/>
                </a:solidFill>
                <a:latin typeface="QuattrocentoSans"/>
                <a:ea typeface="MiSans"/>
              </a:rPr>
              <a:t>局限</a:t>
            </a:r>
          </a:p>
        </p:txBody>
      </p:sp>
      <p:sp>
        <p:nvSpPr>
          <p:cNvPr id="23" name="dsl:eval2-body|s=$body"/>
          <p:cNvSpPr txBox="1"/>
          <p:nvPr/>
        </p:nvSpPr>
        <p:spPr>
          <a:xfrm>
            <a:off x="4191000" y="4629150"/>
            <a:ext cx="3429000" cy="171450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需要公开请求样本和较好的反编译上下文；LLM推断token仍可能受提示和设备差异影响，反馈闭环成本不低。</a:t>
            </a:r>
          </a:p>
        </p:txBody>
      </p:sp>
      <p:sp>
        <p:nvSpPr>
          <p:cNvPr id="24" name="dsl:eval3-bar"/>
          <p:cNvSpPr/>
          <p:nvPr/>
        </p:nvSpPr>
        <p:spPr>
          <a:xfrm>
            <a:off x="7810500" y="4305300"/>
            <a:ext cx="38100" cy="228600"/>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eval3-subtitle"/>
          <p:cNvSpPr txBox="1"/>
          <p:nvPr/>
        </p:nvSpPr>
        <p:spPr>
          <a:xfrm>
            <a:off x="7924800" y="4286250"/>
            <a:ext cx="3314700" cy="266700"/>
          </a:xfrm>
          <a:prstGeom prst="rect">
            <a:avLst/>
          </a:prstGeom>
          <a:noFill/>
        </p:spPr>
        <p:txBody>
          <a:bodyPr wrap="none" anchor="ctr">
            <a:noAutofit/>
          </a:bodyPr>
          <a:lstStyle/>
          <a:p>
            <a:pPr algn="l"/>
            <a:r>
              <a:rPr b="1" sz="1350" noProof="1">
                <a:solidFill>
                  <a:srgbClr val="64748B"/>
                </a:solidFill>
                <a:latin typeface="QuattrocentoSans"/>
                <a:ea typeface="MiSans"/>
              </a:rPr>
              <a:t>商业化</a:t>
            </a:r>
          </a:p>
        </p:txBody>
      </p:sp>
      <p:sp>
        <p:nvSpPr>
          <p:cNvPr id="26" name="dsl:eval3-body|s=$body"/>
          <p:cNvSpPr txBox="1"/>
          <p:nvPr/>
        </p:nvSpPr>
        <p:spPr>
          <a:xfrm>
            <a:off x="7810500" y="4629150"/>
            <a:ext cx="3429000" cy="171450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可用于厂商内部排查隐藏接口，作为通用商用工具会受设备交互样本、认证状态和LLM成本限制。</a:t>
            </a:r>
          </a:p>
        </p:txBody>
      </p:sp>
      <p:sp>
        <p:nvSpPr>
          <p:cNvPr id="27" name="dsl:footer-left|s=$caption"/>
          <p:cNvSpPr txBox="1"/>
          <p:nvPr/>
        </p:nvSpPr>
        <p:spPr>
          <a:xfrm>
            <a:off x="571500" y="6572250"/>
            <a:ext cx="3810000" cy="1905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网络设备Web服务安全研究</a:t>
            </a:r>
          </a:p>
        </p:txBody>
      </p:sp>
      <p:sp>
        <p:nvSpPr>
          <p:cNvPr id="28" name="dsl:footer-right|s=$caption"/>
          <p:cNvSpPr txBox="1"/>
          <p:nvPr/>
        </p:nvSpPr>
        <p:spPr>
          <a:xfrm>
            <a:off x="10477500" y="6572250"/>
            <a:ext cx="1143000" cy="190500"/>
          </a:xfrm>
          <a:prstGeom prst="rect">
            <a:avLst/>
          </a:prstGeom>
          <a:noFill/>
        </p:spPr>
        <p:txBody>
          <a:bodyPr wrap="none" anchor="ctr">
            <a:noAutofit/>
          </a:bodyPr>
          <a:lstStyle/>
          <a:p>
            <a:pPr algn="r">
              <a:lnSpc>
                <a:spcPct val="140000"/>
              </a:lnSpc>
            </a:pPr>
            <a:r>
              <a:rPr sz="1050" noProof="1">
                <a:solidFill>
                  <a:srgbClr val="64748B"/>
                </a:solidFill>
                <a:latin typeface="QuattrocentoSans"/>
                <a:ea typeface="MiSans"/>
              </a:rPr>
              <a:t>24 / 37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dsl:nav-bg"/>
          <p:cNvSpPr/>
          <p:nvPr/>
        </p:nvSpPr>
        <p:spPr>
          <a:xfrm>
            <a:off x="0" y="0"/>
            <a:ext cx="12192000" cy="381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
          <p:cNvSpPr/>
          <p:nvPr/>
        </p:nvSpPr>
        <p:spPr>
          <a:xfrm>
            <a:off x="6096000" y="0"/>
            <a:ext cx="3048000" cy="3810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t1|s=$nav"/>
          <p:cNvSpPr txBox="1"/>
          <p:nvPr/>
        </p:nvSpPr>
        <p:spPr>
          <a:xfrm>
            <a:off x="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维度一: Source</a:t>
            </a:r>
          </a:p>
        </p:txBody>
      </p:sp>
      <p:sp>
        <p:nvSpPr>
          <p:cNvPr id="5" name="dsl:nav-t2|s=$nav"/>
          <p:cNvSpPr txBox="1"/>
          <p:nvPr/>
        </p:nvSpPr>
        <p:spPr>
          <a:xfrm>
            <a:off x="3048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维度二: Propagation</a:t>
            </a:r>
          </a:p>
        </p:txBody>
      </p:sp>
      <p:sp>
        <p:nvSpPr>
          <p:cNvPr id="6" name="dsl:nav-t3|s=$nav"/>
          <p:cNvSpPr txBox="1"/>
          <p:nvPr/>
        </p:nvSpPr>
        <p:spPr>
          <a:xfrm>
            <a:off x="6096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维度三: Sink</a:t>
            </a:r>
          </a:p>
        </p:txBody>
      </p:sp>
      <p:sp>
        <p:nvSpPr>
          <p:cNvPr id="7" name="dsl:nav-t4|s=$nav"/>
          <p:cNvSpPr txBox="1"/>
          <p:nvPr/>
        </p:nvSpPr>
        <p:spPr>
          <a:xfrm>
            <a:off x="9144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维度四: Verification</a:t>
            </a:r>
          </a:p>
        </p:txBody>
      </p:sp>
      <p:sp>
        <p:nvSpPr>
          <p:cNvPr id="8" name="dsl:nav-line"/>
          <p:cNvSpPr/>
          <p:nvPr/>
        </p:nvSpPr>
        <p:spPr>
          <a:xfrm>
            <a:off x="0" y="381000"/>
            <a:ext cx="12192000" cy="1905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page-title|s=$title"/>
          <p:cNvSpPr txBox="1"/>
          <p:nvPr/>
        </p:nvSpPr>
        <p:spPr>
          <a:xfrm>
            <a:off x="571500" y="514350"/>
            <a:ext cx="8382000" cy="381000"/>
          </a:xfrm>
          <a:prstGeom prst="rect">
            <a:avLst/>
          </a:prstGeom>
          <a:noFill/>
        </p:spPr>
        <p:txBody>
          <a:bodyPr wrap="none" anchor="ctr">
            <a:noAutofit/>
          </a:bodyPr>
          <a:lstStyle/>
          <a:p>
            <a:pPr algn="l">
              <a:lnSpc>
                <a:spcPct val="130000"/>
              </a:lnSpc>
            </a:pPr>
            <a:r>
              <a:rPr sz="2100" noProof="1">
                <a:solidFill>
                  <a:srgbClr val="1E293B"/>
                </a:solidFill>
                <a:latin typeface="QuattrocentoSans"/>
                <a:ea typeface="MiSans"/>
              </a:rPr>
              <a:t>PANGOLIN — 多语言接口规格恢复与语义Fuzzing</a:t>
            </a:r>
          </a:p>
        </p:txBody>
      </p:sp>
      <p:sp>
        <p:nvSpPr>
          <p:cNvPr id="10" name="dsl:badge-bg"/>
          <p:cNvSpPr/>
          <p:nvPr/>
        </p:nvSpPr>
        <p:spPr>
          <a:xfrm>
            <a:off x="10001250" y="552450"/>
            <a:ext cx="1619250" cy="266700"/>
          </a:xfrm>
          <a:prstGeom prst="roundRect">
            <a:avLst>
              <a:gd name="adj" fmla="val 8000"/>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badge-text|s=$badge"/>
          <p:cNvSpPr txBox="1"/>
          <p:nvPr/>
        </p:nvSpPr>
        <p:spPr>
          <a:xfrm>
            <a:off x="10001250" y="552450"/>
            <a:ext cx="1619250" cy="2667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USENIX Security 2026</a:t>
            </a:r>
          </a:p>
        </p:txBody>
      </p:sp>
      <p:sp>
        <p:nvSpPr>
          <p:cNvPr id="12" name="dsl:left-bar-1"/>
          <p:cNvSpPr/>
          <p:nvPr/>
        </p:nvSpPr>
        <p:spPr>
          <a:xfrm>
            <a:off x="5715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left-subtitle-1|s=$subtitle"/>
          <p:cNvSpPr txBox="1"/>
          <p:nvPr/>
        </p:nvSpPr>
        <p:spPr>
          <a:xfrm>
            <a:off x="6858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内容摘要</a:t>
            </a:r>
          </a:p>
        </p:txBody>
      </p:sp>
      <p:sp>
        <p:nvSpPr>
          <p:cNvPr id="14" name="dsl:left-body-1|s=$body"/>
          <p:cNvSpPr txBox="1"/>
          <p:nvPr/>
        </p:nvSpPr>
        <p:spPr>
          <a:xfrm>
            <a:off x="571500" y="1352550"/>
            <a:ext cx="3429000" cy="18097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LLM驱动的多语言IoT固件Fuzzing框架。分析API分发和跨语言调用链恢复入口映射与参数规格，结合设备响应进行语义感知Fuzzing。12台设备发现68个未知漏洞，是LABRADOR的2.96倍。</a:t>
            </a:r>
          </a:p>
        </p:txBody>
      </p:sp>
      <p:sp>
        <p:nvSpPr>
          <p:cNvPr id="15" name="dsl:left-bar-2"/>
          <p:cNvSpPr/>
          <p:nvPr/>
        </p:nvSpPr>
        <p:spPr>
          <a:xfrm>
            <a:off x="571500" y="3314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left-subtitle-2|s=$subtitle"/>
          <p:cNvSpPr txBox="1"/>
          <p:nvPr/>
        </p:nvSpPr>
        <p:spPr>
          <a:xfrm>
            <a:off x="685800" y="3295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研究背景</a:t>
            </a:r>
          </a:p>
        </p:txBody>
      </p:sp>
      <p:sp>
        <p:nvSpPr>
          <p:cNvPr id="17" name="dsl:left-body-2|s=$body"/>
          <p:cNvSpPr txBox="1"/>
          <p:nvPr/>
        </p:nvSpPr>
        <p:spPr>
          <a:xfrm>
            <a:off x="571500" y="3638550"/>
            <a:ext cx="3429000" cy="21907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现代IoT固件Web后端采用C/C++、Lua、Python混合架构，参数以JSON、字典、列表、结构体等层级形式跨语言传递。EAGLEYE已能推断隐藏接口，但仅发现路由Token仍不够，必须恢复接口分发方式和参数解析逻辑才能触发深层路径。</a:t>
            </a:r>
          </a:p>
        </p:txBody>
      </p:sp>
      <p:sp>
        <p:nvSpPr>
          <p:cNvPr id="18" name="dsl:mid-bar-1"/>
          <p:cNvSpPr/>
          <p:nvPr/>
        </p:nvSpPr>
        <p:spPr>
          <a:xfrm>
            <a:off x="41910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mid-subtitle-1|s=$subtitle"/>
          <p:cNvSpPr txBox="1"/>
          <p:nvPr/>
        </p:nvSpPr>
        <p:spPr>
          <a:xfrm>
            <a:off x="43053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核心洞察</a:t>
            </a:r>
          </a:p>
        </p:txBody>
      </p:sp>
      <p:sp>
        <p:nvSpPr>
          <p:cNvPr id="20" name="dsl:mid-body-1|s=$body"/>
          <p:cNvSpPr txBox="1"/>
          <p:nvPr/>
        </p:nvSpPr>
        <p:spPr>
          <a:xfrm>
            <a:off x="4191000" y="1352550"/>
            <a:ext cx="3429000" cy="23812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①公开与隐藏接口共享后端分发逻辑，复用同一套dispatch函数和注册表；②接口有效性依赖参数规格，URL只是入口，真正决定深层逻辑的是参数名、位置、类型、层级和约束；③LLM能理解跨语言代码语义但可能产生错误规格，设备响应中的缺参数、格式错误等信息可反向修正。</a:t>
            </a:r>
          </a:p>
        </p:txBody>
      </p:sp>
      <p:sp>
        <p:nvSpPr>
          <p:cNvPr id="21" name="dsl:mid-bar-2"/>
          <p:cNvSpPr/>
          <p:nvPr/>
        </p:nvSpPr>
        <p:spPr>
          <a:xfrm>
            <a:off x="4191000" y="38100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mid-subtitle-2|s=$subtitle"/>
          <p:cNvSpPr txBox="1"/>
          <p:nvPr/>
        </p:nvSpPr>
        <p:spPr>
          <a:xfrm>
            <a:off x="4305300" y="37909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解决方案</a:t>
            </a:r>
          </a:p>
        </p:txBody>
      </p:sp>
      <p:sp>
        <p:nvSpPr>
          <p:cNvPr id="23" name="dsl:mid-body-2|s=$body"/>
          <p:cNvSpPr txBox="1"/>
          <p:nvPr/>
        </p:nvSpPr>
        <p:spPr>
          <a:xfrm>
            <a:off x="4191000" y="4133850"/>
            <a:ext cx="3429000" cy="23812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1. 预处理：脚本切片，二进制反汇编回填上下文。2. 入口映射：定位dispatch函数，构建树结构路径，LLM恢复入口。3. MCG：构建多语言调用图，恢复参数位置、数据结构、语义约束。4. 语义Fuzzing：根据响应反馈修正参数规格，按后端语义驱动变异。</a:t>
            </a:r>
          </a:p>
        </p:txBody>
      </p:sp>
      <p:sp>
        <p:nvSpPr>
          <p:cNvPr id="24" name="dsl:right-bar"/>
          <p:cNvSpPr/>
          <p:nvPr/>
        </p:nvSpPr>
        <p:spPr>
          <a:xfrm>
            <a:off x="78105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right-subtitle|s=$subtitle"/>
          <p:cNvSpPr txBox="1"/>
          <p:nvPr/>
        </p:nvSpPr>
        <p:spPr>
          <a:xfrm>
            <a:off x="79248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关键数据</a:t>
            </a:r>
          </a:p>
        </p:txBody>
      </p:sp>
      <p:sp>
        <p:nvSpPr>
          <p:cNvPr id="26" name="dsl:card1-bg"/>
          <p:cNvSpPr/>
          <p:nvPr/>
        </p:nvSpPr>
        <p:spPr>
          <a:xfrm>
            <a:off x="8001000" y="1428750"/>
            <a:ext cx="3238500" cy="1143000"/>
          </a:xfrm>
          <a:prstGeom prst="roundRect">
            <a:avLst>
              <a:gd name="adj" fmla="val 8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card1-num|s=$kpi"/>
          <p:cNvSpPr txBox="1"/>
          <p:nvPr/>
        </p:nvSpPr>
        <p:spPr>
          <a:xfrm>
            <a:off x="8191500" y="1571625"/>
            <a:ext cx="2857500" cy="400050"/>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68</a:t>
            </a:r>
          </a:p>
        </p:txBody>
      </p:sp>
      <p:sp>
        <p:nvSpPr>
          <p:cNvPr id="28" name="dsl:card1-label|s=$caption"/>
          <p:cNvSpPr txBox="1"/>
          <p:nvPr/>
        </p:nvSpPr>
        <p:spPr>
          <a:xfrm>
            <a:off x="8191500" y="2047875"/>
            <a:ext cx="2857500" cy="2286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个未知漏洞</a:t>
            </a:r>
          </a:p>
        </p:txBody>
      </p:sp>
      <p:sp>
        <p:nvSpPr>
          <p:cNvPr id="29" name="dsl:card2-bg"/>
          <p:cNvSpPr/>
          <p:nvPr/>
        </p:nvSpPr>
        <p:spPr>
          <a:xfrm>
            <a:off x="8001000" y="2762250"/>
            <a:ext cx="3238500" cy="1143000"/>
          </a:xfrm>
          <a:prstGeom prst="roundRect">
            <a:avLst>
              <a:gd name="adj" fmla="val 8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sl:card2-num|s=$kpi"/>
          <p:cNvSpPr txBox="1"/>
          <p:nvPr/>
        </p:nvSpPr>
        <p:spPr>
          <a:xfrm>
            <a:off x="8191500" y="2905125"/>
            <a:ext cx="2857500" cy="400050"/>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2.96</a:t>
            </a:r>
          </a:p>
        </p:txBody>
      </p:sp>
      <p:sp>
        <p:nvSpPr>
          <p:cNvPr id="31" name="dsl:card2-label|s=$caption"/>
          <p:cNvSpPr txBox="1"/>
          <p:nvPr/>
        </p:nvSpPr>
        <p:spPr>
          <a:xfrm>
            <a:off x="8191500" y="3381375"/>
            <a:ext cx="2857500" cy="2286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倍于LABRADOR</a:t>
            </a:r>
          </a:p>
        </p:txBody>
      </p:sp>
      <p:sp>
        <p:nvSpPr>
          <p:cNvPr id="32" name="dsl:card3-bg"/>
          <p:cNvSpPr/>
          <p:nvPr/>
        </p:nvSpPr>
        <p:spPr>
          <a:xfrm>
            <a:off x="8001000" y="4095750"/>
            <a:ext cx="3238500" cy="1143000"/>
          </a:xfrm>
          <a:prstGeom prst="roundRect">
            <a:avLst>
              <a:gd name="adj" fmla="val 8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sl:card3-num|s=$kpi"/>
          <p:cNvSpPr txBox="1"/>
          <p:nvPr/>
        </p:nvSpPr>
        <p:spPr>
          <a:xfrm>
            <a:off x="8191500" y="4238625"/>
            <a:ext cx="2857500" cy="400050"/>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45</a:t>
            </a:r>
          </a:p>
        </p:txBody>
      </p:sp>
      <p:sp>
        <p:nvSpPr>
          <p:cNvPr id="34" name="dsl:card3-label|s=$caption"/>
          <p:cNvSpPr txBox="1"/>
          <p:nvPr/>
        </p:nvSpPr>
        <p:spPr>
          <a:xfrm>
            <a:off x="8191500" y="4714875"/>
            <a:ext cx="2857500" cy="2286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个隐藏接口漏洞</a:t>
            </a:r>
          </a:p>
        </p:txBody>
      </p:sp>
      <p:sp>
        <p:nvSpPr>
          <p:cNvPr id="35" name="dsl:footer-left|s=$caption"/>
          <p:cNvSpPr txBox="1"/>
          <p:nvPr/>
        </p:nvSpPr>
        <p:spPr>
          <a:xfrm>
            <a:off x="571500" y="6572250"/>
            <a:ext cx="3810000" cy="1905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网络设备Web服务安全研究</a:t>
            </a:r>
          </a:p>
        </p:txBody>
      </p:sp>
      <p:sp>
        <p:nvSpPr>
          <p:cNvPr id="36" name="dsl:footer-right|s=$caption"/>
          <p:cNvSpPr txBox="1"/>
          <p:nvPr/>
        </p:nvSpPr>
        <p:spPr>
          <a:xfrm>
            <a:off x="10477500" y="6572250"/>
            <a:ext cx="1143000" cy="190500"/>
          </a:xfrm>
          <a:prstGeom prst="rect">
            <a:avLst/>
          </a:prstGeom>
          <a:noFill/>
        </p:spPr>
        <p:txBody>
          <a:bodyPr wrap="none" anchor="ctr">
            <a:noAutofit/>
          </a:bodyPr>
          <a:lstStyle/>
          <a:p>
            <a:pPr algn="r">
              <a:lnSpc>
                <a:spcPct val="140000"/>
              </a:lnSpc>
            </a:pPr>
            <a:r>
              <a:rPr sz="1050" noProof="1">
                <a:solidFill>
                  <a:srgbClr val="64748B"/>
                </a:solidFill>
                <a:latin typeface="QuattrocentoSans"/>
                <a:ea typeface="MiSans"/>
              </a:rPr>
              <a:t>25 / 37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dsl:nav-bg"/>
          <p:cNvSpPr/>
          <p:nvPr/>
        </p:nvSpPr>
        <p:spPr>
          <a:xfrm>
            <a:off x="0" y="0"/>
            <a:ext cx="12192000" cy="381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
          <p:cNvSpPr/>
          <p:nvPr/>
        </p:nvSpPr>
        <p:spPr>
          <a:xfrm>
            <a:off x="6096000" y="0"/>
            <a:ext cx="3048000" cy="3810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t1|s=$nav"/>
          <p:cNvSpPr txBox="1"/>
          <p:nvPr/>
        </p:nvSpPr>
        <p:spPr>
          <a:xfrm>
            <a:off x="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维度一: Source</a:t>
            </a:r>
          </a:p>
        </p:txBody>
      </p:sp>
      <p:sp>
        <p:nvSpPr>
          <p:cNvPr id="5" name="dsl:nav-t2|s=$nav"/>
          <p:cNvSpPr txBox="1"/>
          <p:nvPr/>
        </p:nvSpPr>
        <p:spPr>
          <a:xfrm>
            <a:off x="3048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维度二: Propagation</a:t>
            </a:r>
          </a:p>
        </p:txBody>
      </p:sp>
      <p:sp>
        <p:nvSpPr>
          <p:cNvPr id="6" name="dsl:nav-t3|s=$nav"/>
          <p:cNvSpPr txBox="1"/>
          <p:nvPr/>
        </p:nvSpPr>
        <p:spPr>
          <a:xfrm>
            <a:off x="6096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维度三: Sink</a:t>
            </a:r>
          </a:p>
        </p:txBody>
      </p:sp>
      <p:sp>
        <p:nvSpPr>
          <p:cNvPr id="7" name="dsl:nav-t4|s=$nav"/>
          <p:cNvSpPr txBox="1"/>
          <p:nvPr/>
        </p:nvSpPr>
        <p:spPr>
          <a:xfrm>
            <a:off x="9144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维度四: Verification</a:t>
            </a:r>
          </a:p>
        </p:txBody>
      </p:sp>
      <p:sp>
        <p:nvSpPr>
          <p:cNvPr id="8" name="dsl:nav-line"/>
          <p:cNvSpPr/>
          <p:nvPr/>
        </p:nvSpPr>
        <p:spPr>
          <a:xfrm>
            <a:off x="0" y="381000"/>
            <a:ext cx="12192000" cy="1905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page-title|s=$title"/>
          <p:cNvSpPr txBox="1"/>
          <p:nvPr/>
        </p:nvSpPr>
        <p:spPr>
          <a:xfrm>
            <a:off x="571500" y="514350"/>
            <a:ext cx="8382000" cy="381000"/>
          </a:xfrm>
          <a:prstGeom prst="rect">
            <a:avLst/>
          </a:prstGeom>
          <a:noFill/>
        </p:spPr>
        <p:txBody>
          <a:bodyPr wrap="none" anchor="ctr">
            <a:noAutofit/>
          </a:bodyPr>
          <a:lstStyle/>
          <a:p>
            <a:pPr algn="l">
              <a:lnSpc>
                <a:spcPct val="130000"/>
              </a:lnSpc>
            </a:pPr>
            <a:r>
              <a:rPr sz="2100" noProof="1">
                <a:solidFill>
                  <a:srgbClr val="1E293B"/>
                </a:solidFill>
                <a:latin typeface="QuattrocentoSans"/>
                <a:ea typeface="MiSans"/>
              </a:rPr>
              <a:t>PANGOLIN — 实验结果与文章评价</a:t>
            </a:r>
          </a:p>
        </p:txBody>
      </p:sp>
      <p:sp>
        <p:nvSpPr>
          <p:cNvPr id="10" name="dsl:badge-bg"/>
          <p:cNvSpPr/>
          <p:nvPr/>
        </p:nvSpPr>
        <p:spPr>
          <a:xfrm>
            <a:off x="10001250" y="552450"/>
            <a:ext cx="1619250" cy="266700"/>
          </a:xfrm>
          <a:prstGeom prst="roundRect">
            <a:avLst>
              <a:gd name="adj" fmla="val 8000"/>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badge-text|s=$badge"/>
          <p:cNvSpPr txBox="1"/>
          <p:nvPr/>
        </p:nvSpPr>
        <p:spPr>
          <a:xfrm>
            <a:off x="10001250" y="552450"/>
            <a:ext cx="1619250" cy="2667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USENIX Security 2026</a:t>
            </a:r>
          </a:p>
        </p:txBody>
      </p:sp>
      <p:sp>
        <p:nvSpPr>
          <p:cNvPr id="12" name="dsl:results-bar"/>
          <p:cNvSpPr/>
          <p:nvPr/>
        </p:nvSpPr>
        <p:spPr>
          <a:xfrm>
            <a:off x="5715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results-subtitle|s=$subtitle"/>
          <p:cNvSpPr txBox="1"/>
          <p:nvPr/>
        </p:nvSpPr>
        <p:spPr>
          <a:xfrm>
            <a:off x="6858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实验结果</a:t>
            </a:r>
          </a:p>
        </p:txBody>
      </p:sp>
      <p:graphicFrame>
        <p:nvGraphicFramePr>
          <p:cNvPr id="14" name="dsl:results-table"/>
          <p:cNvGraphicFramePr>
            <a:graphicFrameLocks noGrp="1"/>
          </p:cNvGraphicFramePr>
          <p:nvPr/>
        </p:nvGraphicFramePr>
        <p:xfrm>
          <a:off x="571500" y="1409700"/>
          <a:ext cx="5715000" cy="2286000"/>
        </p:xfrm>
        <a:graphic>
          <a:graphicData uri="http://schemas.openxmlformats.org/drawingml/2006/table">
            <a:tbl>
              <a:tblPr firstRow="0" bandRow="0" lastRow="0" firstCol="0" lastCol="0" bandCol="0">
                <a:tableStyleId>{2D5ABB26-0587-4C30-8999-92F81FD0307C}</a:tableStyleId>
              </a:tblPr>
              <a:tblGrid>
                <a:gridCol w="2857500"/>
                <a:gridCol w="2857500"/>
              </a:tblGrid>
              <a:tr h="342900">
                <a:tc>
                  <a:txBody>
                    <a:bodyPr wrap="square" anchor="ctr">
                      <a:noAutofit/>
                    </a:bodyPr>
                    <a:lstStyle/>
                    <a:p>
                      <a:pPr algn="ctr"/>
                      <a:r>
                        <a:rPr sz="1200" noProof="1" b="1">
                          <a:solidFill>
                            <a:srgbClr val="FFFFFF"/>
                          </a:solidFill>
                          <a:latin typeface="QuattrocentoSans"/>
                          <a:ea typeface="MiSans"/>
                        </a:rPr>
                        <a:t>评估指标</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1E293B"/>
                    </a:solidFill>
                  </a:tcPr>
                </a:tc>
                <a:tc>
                  <a:txBody>
                    <a:bodyPr wrap="square" anchor="ctr">
                      <a:noAutofit/>
                    </a:bodyPr>
                    <a:lstStyle/>
                    <a:p>
                      <a:pPr algn="ctr"/>
                      <a:r>
                        <a:rPr sz="1200" noProof="1" b="1">
                          <a:solidFill>
                            <a:srgbClr val="FFFFFF"/>
                          </a:solidFill>
                          <a:latin typeface="QuattrocentoSans"/>
                          <a:ea typeface="MiSans"/>
                        </a:rPr>
                        <a:t>数值</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1E293B"/>
                    </a:solidFill>
                  </a:tcPr>
                </a:tc>
              </a:tr>
              <a:tr h="388620">
                <a:tc>
                  <a:txBody>
                    <a:bodyPr wrap="square" anchor="ctr">
                      <a:noAutofit/>
                    </a:bodyPr>
                    <a:lstStyle/>
                    <a:p>
                      <a:pPr algn="ctr"/>
                      <a:r>
                        <a:rPr sz="1200" noProof="1">
                          <a:solidFill>
                            <a:srgbClr val="0F172A"/>
                          </a:solidFill>
                          <a:latin typeface="QuattrocentoSans"/>
                          <a:ea typeface="MiSans"/>
                        </a:rPr>
                        <a:t>测试设备</a:t>
                      </a:r>
                    </a:p>
                  </a:txBody>
                  <a:tcPr marL="91440" marR="91440" marT="0" marB="0" anchor="ctr">
                    <a:solidFill>
                      <a:srgbClr val="FFFFFF"/>
                    </a:solidFill>
                  </a:tcPr>
                </a:tc>
                <a:tc>
                  <a:txBody>
                    <a:bodyPr wrap="square" anchor="ctr">
                      <a:noAutofit/>
                    </a:bodyPr>
                    <a:lstStyle/>
                    <a:p>
                      <a:pPr algn="ctr"/>
                      <a:r>
                        <a:rPr sz="1200" noProof="1">
                          <a:solidFill>
                            <a:srgbClr val="0F172A"/>
                          </a:solidFill>
                          <a:latin typeface="QuattrocentoSans"/>
                          <a:ea typeface="MiSans"/>
                        </a:rPr>
                        <a:t>12台</a:t>
                      </a:r>
                    </a:p>
                  </a:txBody>
                  <a:tcPr marL="91440" marR="91440" marT="0" marB="0" anchor="ctr">
                    <a:solidFill>
                      <a:srgbClr val="FFFFFF"/>
                    </a:solidFill>
                  </a:tcPr>
                </a:tc>
              </a:tr>
              <a:tr h="388620">
                <a:tc>
                  <a:txBody>
                    <a:bodyPr wrap="square" anchor="ctr">
                      <a:noAutofit/>
                    </a:bodyPr>
                    <a:lstStyle/>
                    <a:p>
                      <a:pPr algn="ctr"/>
                      <a:r>
                        <a:rPr sz="1200" noProof="1">
                          <a:solidFill>
                            <a:srgbClr val="0F172A"/>
                          </a:solidFill>
                          <a:latin typeface="QuattrocentoSans"/>
                          <a:ea typeface="MiSans"/>
                        </a:rPr>
                        <a:t>后端接口</a:t>
                      </a:r>
                    </a:p>
                  </a:txBody>
                  <a:tcPr marL="91440" marR="91440" marT="0" marB="0" anchor="ctr">
                    <a:solidFill>
                      <a:srgbClr val="F1F5F9"/>
                    </a:solidFill>
                  </a:tcPr>
                </a:tc>
                <a:tc>
                  <a:txBody>
                    <a:bodyPr wrap="square" anchor="ctr">
                      <a:noAutofit/>
                    </a:bodyPr>
                    <a:lstStyle/>
                    <a:p>
                      <a:pPr algn="ctr"/>
                      <a:r>
                        <a:rPr sz="1200" noProof="1">
                          <a:solidFill>
                            <a:srgbClr val="0F172A"/>
                          </a:solidFill>
                          <a:latin typeface="QuattrocentoSans"/>
                          <a:ea typeface="MiSans"/>
                        </a:rPr>
                        <a:t>2,856个</a:t>
                      </a:r>
                    </a:p>
                  </a:txBody>
                  <a:tcPr marL="91440" marR="91440" marT="0" marB="0" anchor="ctr">
                    <a:solidFill>
                      <a:srgbClr val="F1F5F9"/>
                    </a:solidFill>
                  </a:tcPr>
                </a:tc>
              </a:tr>
              <a:tr h="388620">
                <a:tc>
                  <a:txBody>
                    <a:bodyPr wrap="square" anchor="ctr">
                      <a:noAutofit/>
                    </a:bodyPr>
                    <a:lstStyle/>
                    <a:p>
                      <a:pPr algn="ctr"/>
                      <a:r>
                        <a:rPr sz="1200" noProof="1">
                          <a:solidFill>
                            <a:srgbClr val="0F172A"/>
                          </a:solidFill>
                          <a:latin typeface="QuattrocentoSans"/>
                          <a:ea typeface="MiSans"/>
                        </a:rPr>
                        <a:t>未暴露接口</a:t>
                      </a:r>
                    </a:p>
                  </a:txBody>
                  <a:tcPr marL="91440" marR="91440" marT="0" marB="0" anchor="ctr">
                    <a:solidFill>
                      <a:srgbClr val="FFFFFF"/>
                    </a:solidFill>
                  </a:tcPr>
                </a:tc>
                <a:tc>
                  <a:txBody>
                    <a:bodyPr wrap="square" anchor="ctr">
                      <a:noAutofit/>
                    </a:bodyPr>
                    <a:lstStyle/>
                    <a:p>
                      <a:pPr algn="ctr"/>
                      <a:r>
                        <a:rPr sz="1200" noProof="1">
                          <a:solidFill>
                            <a:srgbClr val="0F172A"/>
                          </a:solidFill>
                          <a:latin typeface="QuattrocentoSans"/>
                          <a:ea typeface="MiSans"/>
                        </a:rPr>
                        <a:t>1,793个</a:t>
                      </a:r>
                    </a:p>
                  </a:txBody>
                  <a:tcPr marL="91440" marR="91440" marT="0" marB="0" anchor="ctr">
                    <a:solidFill>
                      <a:srgbClr val="FFFFFF"/>
                    </a:solidFill>
                  </a:tcPr>
                </a:tc>
              </a:tr>
              <a:tr h="388620">
                <a:tc>
                  <a:txBody>
                    <a:bodyPr wrap="square" anchor="ctr">
                      <a:noAutofit/>
                    </a:bodyPr>
                    <a:lstStyle/>
                    <a:p>
                      <a:pPr algn="ctr"/>
                      <a:r>
                        <a:rPr sz="1200" noProof="1">
                          <a:solidFill>
                            <a:srgbClr val="0F172A"/>
                          </a:solidFill>
                          <a:latin typeface="QuattrocentoSans"/>
                          <a:ea typeface="MiSans"/>
                        </a:rPr>
                        <a:t>未知漏洞</a:t>
                      </a:r>
                    </a:p>
                  </a:txBody>
                  <a:tcPr marL="91440" marR="91440" marT="0" marB="0" anchor="ctr">
                    <a:solidFill>
                      <a:srgbClr val="F1F5F9"/>
                    </a:solidFill>
                  </a:tcPr>
                </a:tc>
                <a:tc>
                  <a:txBody>
                    <a:bodyPr wrap="square" anchor="ctr">
                      <a:noAutofit/>
                    </a:bodyPr>
                    <a:lstStyle/>
                    <a:p>
                      <a:pPr algn="ctr"/>
                      <a:r>
                        <a:rPr sz="1200" noProof="1">
                          <a:solidFill>
                            <a:srgbClr val="0F172A"/>
                          </a:solidFill>
                          <a:latin typeface="QuattrocentoSans"/>
                          <a:ea typeface="MiSans"/>
                        </a:rPr>
                        <a:t>68个</a:t>
                      </a:r>
                    </a:p>
                  </a:txBody>
                  <a:tcPr marL="91440" marR="91440" marT="0" marB="0" anchor="ctr">
                    <a:solidFill>
                      <a:srgbClr val="F1F5F9"/>
                    </a:solidFill>
                  </a:tcPr>
                </a:tc>
              </a:tr>
              <a:tr h="388620">
                <a:tc>
                  <a:txBody>
                    <a:bodyPr wrap="square" anchor="ctr">
                      <a:noAutofit/>
                    </a:bodyPr>
                    <a:lstStyle/>
                    <a:p>
                      <a:pPr algn="ctr"/>
                      <a:r>
                        <a:rPr sz="1200" noProof="1">
                          <a:solidFill>
                            <a:srgbClr val="0F172A"/>
                          </a:solidFill>
                          <a:latin typeface="QuattrocentoSans"/>
                          <a:ea typeface="MiSans"/>
                        </a:rPr>
                        <a:t>CVE编号</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FFFFFF"/>
                    </a:solidFill>
                  </a:tcPr>
                </a:tc>
                <a:tc>
                  <a:txBody>
                    <a:bodyPr wrap="square" anchor="ctr">
                      <a:noAutofit/>
                    </a:bodyPr>
                    <a:lstStyle/>
                    <a:p>
                      <a:pPr algn="ctr"/>
                      <a:r>
                        <a:rPr sz="1200" noProof="1">
                          <a:solidFill>
                            <a:srgbClr val="0F172A"/>
                          </a:solidFill>
                          <a:latin typeface="QuattrocentoSans"/>
                          <a:ea typeface="MiSans"/>
                        </a:rPr>
                        <a:t>31个</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FFFFFF"/>
                    </a:solidFill>
                  </a:tcPr>
                </a:tc>
              </a:tr>
            </a:tbl>
          </a:graphicData>
        </a:graphic>
      </p:graphicFrame>
      <p:sp>
        <p:nvSpPr>
          <p:cNvPr id="15" name="dsl:results-note|s=$body"/>
          <p:cNvSpPr txBox="1"/>
          <p:nvPr/>
        </p:nvSpPr>
        <p:spPr>
          <a:xfrm>
            <a:off x="6667500" y="1409700"/>
            <a:ext cx="4953000" cy="2286000"/>
          </a:xfrm>
          <a:prstGeom prst="rect">
            <a:avLst/>
          </a:prstGeom>
          <a:noFill/>
        </p:spPr>
        <p:txBody>
          <a:bodyPr wrap="square" anchor="t">
            <a:noAutofit/>
          </a:bodyPr>
          <a:lstStyle/>
          <a:p>
            <a:pPr algn="l">
              <a:lnSpc>
                <a:spcPct val="160000"/>
              </a:lnSpc>
            </a:pPr>
            <a:r>
              <a:rPr b="1" sz="1350" noProof="1">
                <a:solidFill>
                  <a:srgbClr val="0F172A"/>
                </a:solidFill>
                <a:latin typeface="QuattrocentoSans"/>
                <a:ea typeface="MiSans"/>
              </a:rPr>
              <a:t>与现有方法对比</a:t>
            </a:r>
          </a:p>
          <a:p>
            <a:pPr algn="l">
              <a:lnSpc>
                <a:spcPct val="160000"/>
              </a:lnSpc>
            </a:pPr>
            <a:r>
              <a:rPr sz="1350" noProof="1">
                <a:solidFill>
                  <a:srgbClr val="0F172A"/>
                </a:solidFill>
                <a:latin typeface="QuattrocentoSans"/>
                <a:ea typeface="MiSans"/>
              </a:rPr>
              <a:t>45个漏洞位于隐藏接口中，EAGLEYE仅发现4个。覆盖命令注入、XSS、信息泄露、拒绝服务和任意文件操作等类型。</a:t>
            </a:r>
          </a:p>
        </p:txBody>
      </p:sp>
      <p:sp>
        <p:nvSpPr>
          <p:cNvPr id="16" name="dsl:eval-bar"/>
          <p:cNvSpPr/>
          <p:nvPr/>
        </p:nvSpPr>
        <p:spPr>
          <a:xfrm>
            <a:off x="571500" y="390525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eval-subtitle|s=$subtitle"/>
          <p:cNvSpPr txBox="1"/>
          <p:nvPr/>
        </p:nvSpPr>
        <p:spPr>
          <a:xfrm>
            <a:off x="685800" y="388620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文章评价</a:t>
            </a:r>
          </a:p>
        </p:txBody>
      </p:sp>
      <p:sp>
        <p:nvSpPr>
          <p:cNvPr id="18" name="dsl:eval1-bar"/>
          <p:cNvSpPr/>
          <p:nvPr/>
        </p:nvSpPr>
        <p:spPr>
          <a:xfrm>
            <a:off x="571500" y="4305300"/>
            <a:ext cx="38100" cy="2286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eval1-subtitle"/>
          <p:cNvSpPr txBox="1"/>
          <p:nvPr/>
        </p:nvSpPr>
        <p:spPr>
          <a:xfrm>
            <a:off x="685800" y="4286250"/>
            <a:ext cx="3314700" cy="266700"/>
          </a:xfrm>
          <a:prstGeom prst="rect">
            <a:avLst/>
          </a:prstGeom>
          <a:noFill/>
        </p:spPr>
        <p:txBody>
          <a:bodyPr wrap="none" anchor="ctr">
            <a:noAutofit/>
          </a:bodyPr>
          <a:lstStyle/>
          <a:p>
            <a:pPr algn="l"/>
            <a:r>
              <a:rPr b="1" sz="1350" noProof="1">
                <a:solidFill>
                  <a:srgbClr val="059669"/>
                </a:solidFill>
                <a:latin typeface="QuattrocentoSans"/>
                <a:ea typeface="MiSans"/>
              </a:rPr>
              <a:t>优势</a:t>
            </a:r>
          </a:p>
        </p:txBody>
      </p:sp>
      <p:sp>
        <p:nvSpPr>
          <p:cNvPr id="20" name="dsl:eval1-body|s=$body"/>
          <p:cNvSpPr txBox="1"/>
          <p:nvPr/>
        </p:nvSpPr>
        <p:spPr>
          <a:xfrm>
            <a:off x="571500" y="4629150"/>
            <a:ext cx="3429000" cy="171450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不仅找隐藏入口，还恢复参数规格和跨语言调用链，将Fuzzing从随机改请求提升为基于后端语义改请求，能触发更深层隐藏接口逻辑。</a:t>
            </a:r>
          </a:p>
        </p:txBody>
      </p:sp>
      <p:sp>
        <p:nvSpPr>
          <p:cNvPr id="21" name="dsl:eval2-bar"/>
          <p:cNvSpPr/>
          <p:nvPr/>
        </p:nvSpPr>
        <p:spPr>
          <a:xfrm>
            <a:off x="4191000" y="4305300"/>
            <a:ext cx="38100" cy="2286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eval2-subtitle"/>
          <p:cNvSpPr txBox="1"/>
          <p:nvPr/>
        </p:nvSpPr>
        <p:spPr>
          <a:xfrm>
            <a:off x="4305300" y="4286250"/>
            <a:ext cx="3314700" cy="266700"/>
          </a:xfrm>
          <a:prstGeom prst="rect">
            <a:avLst/>
          </a:prstGeom>
          <a:noFill/>
        </p:spPr>
        <p:txBody>
          <a:bodyPr wrap="none" anchor="ctr">
            <a:noAutofit/>
          </a:bodyPr>
          <a:lstStyle/>
          <a:p>
            <a:pPr algn="l"/>
            <a:r>
              <a:rPr b="1" sz="1350" noProof="1">
                <a:solidFill>
                  <a:srgbClr val="DC2626"/>
                </a:solidFill>
                <a:latin typeface="QuattrocentoSans"/>
                <a:ea typeface="MiSans"/>
              </a:rPr>
              <a:t>局限</a:t>
            </a:r>
          </a:p>
        </p:txBody>
      </p:sp>
      <p:sp>
        <p:nvSpPr>
          <p:cNvPr id="23" name="dsl:eval2-body|s=$body"/>
          <p:cNvSpPr txBox="1"/>
          <p:nvPr/>
        </p:nvSpPr>
        <p:spPr>
          <a:xfrm>
            <a:off x="4191000" y="4629150"/>
            <a:ext cx="3429000" cy="171450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依赖LLM、真实设备响应和多语言代码恢复；对无错误反馈、强状态机或响应极少的设备会失效。</a:t>
            </a:r>
          </a:p>
        </p:txBody>
      </p:sp>
      <p:sp>
        <p:nvSpPr>
          <p:cNvPr id="24" name="dsl:eval3-bar"/>
          <p:cNvSpPr/>
          <p:nvPr/>
        </p:nvSpPr>
        <p:spPr>
          <a:xfrm>
            <a:off x="7810500" y="4305300"/>
            <a:ext cx="38100" cy="228600"/>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eval3-subtitle"/>
          <p:cNvSpPr txBox="1"/>
          <p:nvPr/>
        </p:nvSpPr>
        <p:spPr>
          <a:xfrm>
            <a:off x="7924800" y="4286250"/>
            <a:ext cx="3314700" cy="266700"/>
          </a:xfrm>
          <a:prstGeom prst="rect">
            <a:avLst/>
          </a:prstGeom>
          <a:noFill/>
        </p:spPr>
        <p:txBody>
          <a:bodyPr wrap="none" anchor="ctr">
            <a:noAutofit/>
          </a:bodyPr>
          <a:lstStyle/>
          <a:p>
            <a:pPr algn="l"/>
            <a:r>
              <a:rPr b="1" sz="1350" noProof="1">
                <a:solidFill>
                  <a:srgbClr val="64748B"/>
                </a:solidFill>
                <a:latin typeface="QuattrocentoSans"/>
                <a:ea typeface="MiSans"/>
              </a:rPr>
              <a:t>商业化</a:t>
            </a:r>
          </a:p>
        </p:txBody>
      </p:sp>
      <p:sp>
        <p:nvSpPr>
          <p:cNvPr id="26" name="dsl:eval3-body|s=$body"/>
          <p:cNvSpPr txBox="1"/>
          <p:nvPr/>
        </p:nvSpPr>
        <p:spPr>
          <a:xfrm>
            <a:off x="7810500" y="4629150"/>
            <a:ext cx="3429000" cy="171450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受限于LLM成本和运营难度，仅适合高端设备安全评估服务。不适合大规模通用固件扫描产品。</a:t>
            </a:r>
          </a:p>
        </p:txBody>
      </p:sp>
      <p:sp>
        <p:nvSpPr>
          <p:cNvPr id="27" name="dsl:footer-left|s=$caption"/>
          <p:cNvSpPr txBox="1"/>
          <p:nvPr/>
        </p:nvSpPr>
        <p:spPr>
          <a:xfrm>
            <a:off x="571500" y="6572250"/>
            <a:ext cx="3810000" cy="1905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网络设备Web服务安全研究</a:t>
            </a:r>
          </a:p>
        </p:txBody>
      </p:sp>
      <p:sp>
        <p:nvSpPr>
          <p:cNvPr id="28" name="dsl:footer-right|s=$caption"/>
          <p:cNvSpPr txBox="1"/>
          <p:nvPr/>
        </p:nvSpPr>
        <p:spPr>
          <a:xfrm>
            <a:off x="10477500" y="6572250"/>
            <a:ext cx="1143000" cy="190500"/>
          </a:xfrm>
          <a:prstGeom prst="rect">
            <a:avLst/>
          </a:prstGeom>
          <a:noFill/>
        </p:spPr>
        <p:txBody>
          <a:bodyPr wrap="none" anchor="ctr">
            <a:noAutofit/>
          </a:bodyPr>
          <a:lstStyle/>
          <a:p>
            <a:pPr algn="r">
              <a:lnSpc>
                <a:spcPct val="140000"/>
              </a:lnSpc>
            </a:pPr>
            <a:r>
              <a:rPr sz="1050" noProof="1">
                <a:solidFill>
                  <a:srgbClr val="64748B"/>
                </a:solidFill>
                <a:latin typeface="QuattrocentoSans"/>
                <a:ea typeface="MiSans"/>
              </a:rPr>
              <a:t>26 / 37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dsl:nav-bg"/>
          <p:cNvSpPr/>
          <p:nvPr/>
        </p:nvSpPr>
        <p:spPr>
          <a:xfrm>
            <a:off x="0" y="0"/>
            <a:ext cx="12192000" cy="381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
          <p:cNvSpPr/>
          <p:nvPr/>
        </p:nvSpPr>
        <p:spPr>
          <a:xfrm>
            <a:off x="6096000" y="0"/>
            <a:ext cx="3048000" cy="3810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t1|s=$nav"/>
          <p:cNvSpPr txBox="1"/>
          <p:nvPr/>
        </p:nvSpPr>
        <p:spPr>
          <a:xfrm>
            <a:off x="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维度一: Source</a:t>
            </a:r>
          </a:p>
        </p:txBody>
      </p:sp>
      <p:sp>
        <p:nvSpPr>
          <p:cNvPr id="5" name="dsl:nav-t2|s=$nav"/>
          <p:cNvSpPr txBox="1"/>
          <p:nvPr/>
        </p:nvSpPr>
        <p:spPr>
          <a:xfrm>
            <a:off x="3048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维度二: Propagation</a:t>
            </a:r>
          </a:p>
        </p:txBody>
      </p:sp>
      <p:sp>
        <p:nvSpPr>
          <p:cNvPr id="6" name="dsl:nav-t3|s=$nav"/>
          <p:cNvSpPr txBox="1"/>
          <p:nvPr/>
        </p:nvSpPr>
        <p:spPr>
          <a:xfrm>
            <a:off x="6096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维度三: Sink</a:t>
            </a:r>
          </a:p>
        </p:txBody>
      </p:sp>
      <p:sp>
        <p:nvSpPr>
          <p:cNvPr id="7" name="dsl:nav-t4|s=$nav"/>
          <p:cNvSpPr txBox="1"/>
          <p:nvPr/>
        </p:nvSpPr>
        <p:spPr>
          <a:xfrm>
            <a:off x="9144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维度四: Verification</a:t>
            </a:r>
          </a:p>
        </p:txBody>
      </p:sp>
      <p:sp>
        <p:nvSpPr>
          <p:cNvPr id="8" name="dsl:nav-line"/>
          <p:cNvSpPr/>
          <p:nvPr/>
        </p:nvSpPr>
        <p:spPr>
          <a:xfrm>
            <a:off x="0" y="381000"/>
            <a:ext cx="12192000" cy="1905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page-title|s=$title"/>
          <p:cNvSpPr txBox="1"/>
          <p:nvPr/>
        </p:nvSpPr>
        <p:spPr>
          <a:xfrm>
            <a:off x="571500" y="514350"/>
            <a:ext cx="11049000" cy="381000"/>
          </a:xfrm>
          <a:prstGeom prst="rect">
            <a:avLst/>
          </a:prstGeom>
          <a:noFill/>
        </p:spPr>
        <p:txBody>
          <a:bodyPr wrap="none" anchor="ctr">
            <a:noAutofit/>
          </a:bodyPr>
          <a:lstStyle/>
          <a:p>
            <a:pPr algn="l">
              <a:lnSpc>
                <a:spcPct val="130000"/>
              </a:lnSpc>
            </a:pPr>
            <a:r>
              <a:rPr sz="2100" noProof="1">
                <a:solidFill>
                  <a:srgbClr val="1E293B"/>
                </a:solidFill>
                <a:latin typeface="QuattrocentoSans"/>
                <a:ea typeface="MiSans"/>
              </a:rPr>
              <a:t>维度三总结：Sink 发现技术演进</a:t>
            </a:r>
          </a:p>
        </p:txBody>
      </p:sp>
      <p:sp>
        <p:nvSpPr>
          <p:cNvPr id="10" name="dsl:card1-bg"/>
          <p:cNvSpPr/>
          <p:nvPr/>
        </p:nvSpPr>
        <p:spPr>
          <a:xfrm>
            <a:off x="571500" y="1143000"/>
            <a:ext cx="3429000" cy="4953000"/>
          </a:xfrm>
          <a:prstGeom prst="roundRect">
            <a:avLst>
              <a:gd name="adj" fmla="val 6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card1-accent"/>
          <p:cNvSpPr/>
          <p:nvPr/>
        </p:nvSpPr>
        <p:spPr>
          <a:xfrm>
            <a:off x="762000" y="1333500"/>
            <a:ext cx="571500" cy="381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l:card1-title"/>
          <p:cNvSpPr txBox="1"/>
          <p:nvPr/>
        </p:nvSpPr>
        <p:spPr>
          <a:xfrm>
            <a:off x="762000" y="1485900"/>
            <a:ext cx="3048000" cy="342900"/>
          </a:xfrm>
          <a:prstGeom prst="rect">
            <a:avLst/>
          </a:prstGeom>
          <a:noFill/>
        </p:spPr>
        <p:txBody>
          <a:bodyPr wrap="none" anchor="ctr">
            <a:noAutofit/>
          </a:bodyPr>
          <a:lstStyle/>
          <a:p>
            <a:pPr algn="l"/>
            <a:r>
              <a:rPr b="1" sz="1800" noProof="1">
                <a:solidFill>
                  <a:srgbClr val="1E293B"/>
                </a:solidFill>
                <a:latin typeface="QuattrocentoSans"/>
                <a:ea typeface="MiSans"/>
              </a:rPr>
              <a:t>IoTScope</a:t>
            </a:r>
          </a:p>
        </p:txBody>
      </p:sp>
      <p:sp>
        <p:nvSpPr>
          <p:cNvPr id="13" name="dsl:card1-conf|s=$caption"/>
          <p:cNvSpPr txBox="1"/>
          <p:nvPr/>
        </p:nvSpPr>
        <p:spPr>
          <a:xfrm>
            <a:off x="762000" y="1866900"/>
            <a:ext cx="1905000" cy="20955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WWW 2022</a:t>
            </a:r>
          </a:p>
        </p:txBody>
      </p:sp>
      <p:sp>
        <p:nvSpPr>
          <p:cNvPr id="14" name="dsl:card1-line"/>
          <p:cNvSpPr/>
          <p:nvPr/>
        </p:nvSpPr>
        <p:spPr>
          <a:xfrm>
            <a:off x="762000" y="2171700"/>
            <a:ext cx="3048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l:card1-sub1"/>
          <p:cNvSpPr txBox="1"/>
          <p:nvPr/>
        </p:nvSpPr>
        <p:spPr>
          <a:xfrm>
            <a:off x="762000" y="2286000"/>
            <a:ext cx="3048000" cy="247650"/>
          </a:xfrm>
          <a:prstGeom prst="rect">
            <a:avLst/>
          </a:prstGeom>
          <a:noFill/>
        </p:spPr>
        <p:txBody>
          <a:bodyPr wrap="none" anchor="ctr">
            <a:noAutofit/>
          </a:bodyPr>
          <a:lstStyle/>
          <a:p>
            <a:pPr algn="l"/>
            <a:r>
              <a:rPr b="1" sz="1350" noProof="1">
                <a:solidFill>
                  <a:srgbClr val="1E293B"/>
                </a:solidFill>
                <a:latin typeface="QuattrocentoSans"/>
                <a:ea typeface="MiSans"/>
              </a:rPr>
              <a:t>核心贡献</a:t>
            </a:r>
          </a:p>
        </p:txBody>
      </p:sp>
      <p:sp>
        <p:nvSpPr>
          <p:cNvPr id="16" name="dsl:card1-body1"/>
          <p:cNvSpPr txBox="1"/>
          <p:nvPr/>
        </p:nvSpPr>
        <p:spPr>
          <a:xfrm>
            <a:off x="762000" y="2571750"/>
            <a:ext cx="3048000" cy="11430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首次通过黑盒验证确认未授权隐藏接口。将隐藏接口发现转化为认证前后响应差异的黑盒判定问题。</a:t>
            </a:r>
          </a:p>
        </p:txBody>
      </p:sp>
      <p:sp>
        <p:nvSpPr>
          <p:cNvPr id="17" name="dsl:card1-sub2"/>
          <p:cNvSpPr txBox="1"/>
          <p:nvPr/>
        </p:nvSpPr>
        <p:spPr>
          <a:xfrm>
            <a:off x="762000" y="3810000"/>
            <a:ext cx="3048000" cy="247650"/>
          </a:xfrm>
          <a:prstGeom prst="rect">
            <a:avLst/>
          </a:prstGeom>
          <a:noFill/>
        </p:spPr>
        <p:txBody>
          <a:bodyPr wrap="none" anchor="ctr">
            <a:noAutofit/>
          </a:bodyPr>
          <a:lstStyle/>
          <a:p>
            <a:pPr algn="l"/>
            <a:r>
              <a:rPr b="1" sz="1350" noProof="1">
                <a:solidFill>
                  <a:srgbClr val="1E293B"/>
                </a:solidFill>
                <a:latin typeface="QuattrocentoSans"/>
                <a:ea typeface="MiSans"/>
              </a:rPr>
              <a:t>关键数据</a:t>
            </a:r>
          </a:p>
        </p:txBody>
      </p:sp>
      <p:sp>
        <p:nvSpPr>
          <p:cNvPr id="18" name="dsl:card1-body2"/>
          <p:cNvSpPr txBox="1"/>
          <p:nvPr/>
        </p:nvSpPr>
        <p:spPr>
          <a:xfrm>
            <a:off x="762000" y="4095750"/>
            <a:ext cx="3048000" cy="5715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17设备 | 44漏洞 | 43未知 | 8CVE</a:t>
            </a:r>
          </a:p>
        </p:txBody>
      </p:sp>
      <p:sp>
        <p:nvSpPr>
          <p:cNvPr id="19" name="dsl:card1-sub3"/>
          <p:cNvSpPr txBox="1"/>
          <p:nvPr/>
        </p:nvSpPr>
        <p:spPr>
          <a:xfrm>
            <a:off x="762000" y="4762500"/>
            <a:ext cx="3048000" cy="247650"/>
          </a:xfrm>
          <a:prstGeom prst="rect">
            <a:avLst/>
          </a:prstGeom>
          <a:noFill/>
        </p:spPr>
        <p:txBody>
          <a:bodyPr wrap="none" anchor="ctr">
            <a:noAutofit/>
          </a:bodyPr>
          <a:lstStyle/>
          <a:p>
            <a:pPr algn="l"/>
            <a:r>
              <a:rPr b="1" sz="1350" noProof="1">
                <a:solidFill>
                  <a:srgbClr val="1E293B"/>
                </a:solidFill>
                <a:latin typeface="QuattrocentoSans"/>
                <a:ea typeface="MiSans"/>
              </a:rPr>
              <a:t>局限性</a:t>
            </a:r>
          </a:p>
        </p:txBody>
      </p:sp>
      <p:sp>
        <p:nvSpPr>
          <p:cNvPr id="20" name="dsl:card1-body3"/>
          <p:cNvSpPr txBox="1"/>
          <p:nvPr/>
        </p:nvSpPr>
        <p:spPr>
          <a:xfrm>
            <a:off x="762000" y="5048250"/>
            <a:ext cx="3048000" cy="7620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暴力枚举请求量大；仅覆盖URL型未授权接口</a:t>
            </a:r>
          </a:p>
        </p:txBody>
      </p:sp>
      <p:sp>
        <p:nvSpPr>
          <p:cNvPr id="21" name="dsl:card2-bg"/>
          <p:cNvSpPr/>
          <p:nvPr/>
        </p:nvSpPr>
        <p:spPr>
          <a:xfrm>
            <a:off x="4191000" y="1143000"/>
            <a:ext cx="3429000" cy="4953000"/>
          </a:xfrm>
          <a:prstGeom prst="roundRect">
            <a:avLst>
              <a:gd name="adj" fmla="val 6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card2-accent"/>
          <p:cNvSpPr/>
          <p:nvPr/>
        </p:nvSpPr>
        <p:spPr>
          <a:xfrm>
            <a:off x="4381500" y="1333500"/>
            <a:ext cx="571500" cy="381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l:card2-title"/>
          <p:cNvSpPr txBox="1"/>
          <p:nvPr/>
        </p:nvSpPr>
        <p:spPr>
          <a:xfrm>
            <a:off x="4381500" y="1485900"/>
            <a:ext cx="3048000" cy="342900"/>
          </a:xfrm>
          <a:prstGeom prst="rect">
            <a:avLst/>
          </a:prstGeom>
          <a:noFill/>
        </p:spPr>
        <p:txBody>
          <a:bodyPr wrap="none" anchor="ctr">
            <a:noAutofit/>
          </a:bodyPr>
          <a:lstStyle/>
          <a:p>
            <a:pPr algn="l"/>
            <a:r>
              <a:rPr b="1" sz="1800" noProof="1">
                <a:solidFill>
                  <a:srgbClr val="1E293B"/>
                </a:solidFill>
                <a:latin typeface="QuattrocentoSans"/>
                <a:ea typeface="MiSans"/>
              </a:rPr>
              <a:t>EAGLEYE</a:t>
            </a:r>
          </a:p>
        </p:txBody>
      </p:sp>
      <p:sp>
        <p:nvSpPr>
          <p:cNvPr id="24" name="dsl:card2-conf|s=$caption"/>
          <p:cNvSpPr txBox="1"/>
          <p:nvPr/>
        </p:nvSpPr>
        <p:spPr>
          <a:xfrm>
            <a:off x="4381500" y="1866900"/>
            <a:ext cx="1905000" cy="20955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NDSS 2025</a:t>
            </a:r>
          </a:p>
        </p:txBody>
      </p:sp>
      <p:sp>
        <p:nvSpPr>
          <p:cNvPr id="25" name="dsl:card2-line"/>
          <p:cNvSpPr/>
          <p:nvPr/>
        </p:nvSpPr>
        <p:spPr>
          <a:xfrm>
            <a:off x="4381500" y="2171700"/>
            <a:ext cx="3048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l:card2-sub1"/>
          <p:cNvSpPr txBox="1"/>
          <p:nvPr/>
        </p:nvSpPr>
        <p:spPr>
          <a:xfrm>
            <a:off x="4381500" y="2286000"/>
            <a:ext cx="3048000" cy="247650"/>
          </a:xfrm>
          <a:prstGeom prst="rect">
            <a:avLst/>
          </a:prstGeom>
          <a:noFill/>
        </p:spPr>
        <p:txBody>
          <a:bodyPr wrap="none" anchor="ctr">
            <a:noAutofit/>
          </a:bodyPr>
          <a:lstStyle/>
          <a:p>
            <a:pPr algn="l"/>
            <a:r>
              <a:rPr b="1" sz="1350" noProof="1">
                <a:solidFill>
                  <a:srgbClr val="1E293B"/>
                </a:solidFill>
                <a:latin typeface="QuattrocentoSans"/>
                <a:ea typeface="MiSans"/>
              </a:rPr>
              <a:t>核心贡献</a:t>
            </a:r>
          </a:p>
        </p:txBody>
      </p:sp>
      <p:sp>
        <p:nvSpPr>
          <p:cNvPr id="27" name="dsl:card2-body1"/>
          <p:cNvSpPr txBox="1"/>
          <p:nvPr/>
        </p:nvSpPr>
        <p:spPr>
          <a:xfrm>
            <a:off x="4381500" y="2571750"/>
            <a:ext cx="3048000" cy="11430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从URL枚举提升到路由Token推断，利用LLM模式学习覆盖Header/Body/认证后接口。</a:t>
            </a:r>
          </a:p>
        </p:txBody>
      </p:sp>
      <p:sp>
        <p:nvSpPr>
          <p:cNvPr id="28" name="dsl:card2-sub2"/>
          <p:cNvSpPr txBox="1"/>
          <p:nvPr/>
        </p:nvSpPr>
        <p:spPr>
          <a:xfrm>
            <a:off x="4381500" y="3810000"/>
            <a:ext cx="3048000" cy="247650"/>
          </a:xfrm>
          <a:prstGeom prst="rect">
            <a:avLst/>
          </a:prstGeom>
          <a:noFill/>
        </p:spPr>
        <p:txBody>
          <a:bodyPr wrap="none" anchor="ctr">
            <a:noAutofit/>
          </a:bodyPr>
          <a:lstStyle/>
          <a:p>
            <a:pPr algn="l"/>
            <a:r>
              <a:rPr b="1" sz="1350" noProof="1">
                <a:solidFill>
                  <a:srgbClr val="1E293B"/>
                </a:solidFill>
                <a:latin typeface="QuattrocentoSans"/>
                <a:ea typeface="MiSans"/>
              </a:rPr>
              <a:t>关键数据</a:t>
            </a:r>
          </a:p>
        </p:txBody>
      </p:sp>
      <p:sp>
        <p:nvSpPr>
          <p:cNvPr id="29" name="dsl:card2-body2"/>
          <p:cNvSpPr txBox="1"/>
          <p:nvPr/>
        </p:nvSpPr>
        <p:spPr>
          <a:xfrm>
            <a:off x="4381500" y="4095750"/>
            <a:ext cx="3048000" cy="5715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13设备 | 79接口 | 29漏洞 | 7CVE</a:t>
            </a:r>
          </a:p>
        </p:txBody>
      </p:sp>
      <p:sp>
        <p:nvSpPr>
          <p:cNvPr id="30" name="dsl:card2-sub3"/>
          <p:cNvSpPr txBox="1"/>
          <p:nvPr/>
        </p:nvSpPr>
        <p:spPr>
          <a:xfrm>
            <a:off x="4381500" y="4762500"/>
            <a:ext cx="3048000" cy="247650"/>
          </a:xfrm>
          <a:prstGeom prst="rect">
            <a:avLst/>
          </a:prstGeom>
          <a:noFill/>
        </p:spPr>
        <p:txBody>
          <a:bodyPr wrap="none" anchor="ctr">
            <a:noAutofit/>
          </a:bodyPr>
          <a:lstStyle/>
          <a:p>
            <a:pPr algn="l"/>
            <a:r>
              <a:rPr b="1" sz="1350" noProof="1">
                <a:solidFill>
                  <a:srgbClr val="1E293B"/>
                </a:solidFill>
                <a:latin typeface="QuattrocentoSans"/>
                <a:ea typeface="MiSans"/>
              </a:rPr>
              <a:t>局限性</a:t>
            </a:r>
          </a:p>
        </p:txBody>
      </p:sp>
      <p:sp>
        <p:nvSpPr>
          <p:cNvPr id="31" name="dsl:card2-body3"/>
          <p:cNvSpPr txBox="1"/>
          <p:nvPr/>
        </p:nvSpPr>
        <p:spPr>
          <a:xfrm>
            <a:off x="4381500" y="5048250"/>
            <a:ext cx="3048000" cy="7620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依赖公开请求和反编译上下文；LLM反馈闭环成本高</a:t>
            </a:r>
          </a:p>
        </p:txBody>
      </p:sp>
      <p:sp>
        <p:nvSpPr>
          <p:cNvPr id="32" name="dsl:card3-bg"/>
          <p:cNvSpPr/>
          <p:nvPr/>
        </p:nvSpPr>
        <p:spPr>
          <a:xfrm>
            <a:off x="7810500" y="1143000"/>
            <a:ext cx="3429000" cy="4953000"/>
          </a:xfrm>
          <a:prstGeom prst="roundRect">
            <a:avLst>
              <a:gd name="adj" fmla="val 6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sl:card3-accent"/>
          <p:cNvSpPr/>
          <p:nvPr/>
        </p:nvSpPr>
        <p:spPr>
          <a:xfrm>
            <a:off x="8001000" y="1333500"/>
            <a:ext cx="571500" cy="381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dsl:card3-title"/>
          <p:cNvSpPr txBox="1"/>
          <p:nvPr/>
        </p:nvSpPr>
        <p:spPr>
          <a:xfrm>
            <a:off x="8001000" y="1485900"/>
            <a:ext cx="3048000" cy="342900"/>
          </a:xfrm>
          <a:prstGeom prst="rect">
            <a:avLst/>
          </a:prstGeom>
          <a:noFill/>
        </p:spPr>
        <p:txBody>
          <a:bodyPr wrap="none" anchor="ctr">
            <a:noAutofit/>
          </a:bodyPr>
          <a:lstStyle/>
          <a:p>
            <a:pPr algn="l"/>
            <a:r>
              <a:rPr b="1" sz="1800" noProof="1">
                <a:solidFill>
                  <a:srgbClr val="1E293B"/>
                </a:solidFill>
                <a:latin typeface="QuattrocentoSans"/>
                <a:ea typeface="MiSans"/>
              </a:rPr>
              <a:t>PANGOLIN</a:t>
            </a:r>
          </a:p>
        </p:txBody>
      </p:sp>
      <p:sp>
        <p:nvSpPr>
          <p:cNvPr id="35" name="dsl:card3-conf|s=$caption"/>
          <p:cNvSpPr txBox="1"/>
          <p:nvPr/>
        </p:nvSpPr>
        <p:spPr>
          <a:xfrm>
            <a:off x="8001000" y="1866900"/>
            <a:ext cx="1905000" cy="20955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USENIX Security 2026</a:t>
            </a:r>
          </a:p>
        </p:txBody>
      </p:sp>
      <p:sp>
        <p:nvSpPr>
          <p:cNvPr id="36" name="dsl:card3-line"/>
          <p:cNvSpPr/>
          <p:nvPr/>
        </p:nvSpPr>
        <p:spPr>
          <a:xfrm>
            <a:off x="8001000" y="2171700"/>
            <a:ext cx="3048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dsl:card3-sub1"/>
          <p:cNvSpPr txBox="1"/>
          <p:nvPr/>
        </p:nvSpPr>
        <p:spPr>
          <a:xfrm>
            <a:off x="8001000" y="2286000"/>
            <a:ext cx="3048000" cy="247650"/>
          </a:xfrm>
          <a:prstGeom prst="rect">
            <a:avLst/>
          </a:prstGeom>
          <a:noFill/>
        </p:spPr>
        <p:txBody>
          <a:bodyPr wrap="none" anchor="ctr">
            <a:noAutofit/>
          </a:bodyPr>
          <a:lstStyle/>
          <a:p>
            <a:pPr algn="l"/>
            <a:r>
              <a:rPr b="1" sz="1350" noProof="1">
                <a:solidFill>
                  <a:srgbClr val="1E293B"/>
                </a:solidFill>
                <a:latin typeface="QuattrocentoSans"/>
                <a:ea typeface="MiSans"/>
              </a:rPr>
              <a:t>核心贡献</a:t>
            </a:r>
          </a:p>
        </p:txBody>
      </p:sp>
      <p:sp>
        <p:nvSpPr>
          <p:cNvPr id="38" name="dsl:card3-body1"/>
          <p:cNvSpPr txBox="1"/>
          <p:nvPr/>
        </p:nvSpPr>
        <p:spPr>
          <a:xfrm>
            <a:off x="8001000" y="2571750"/>
            <a:ext cx="3048000" cy="11430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恢复参数规格和跨语言调用链，用语义感知Fuzzing触发深层隐藏接口逻辑。</a:t>
            </a:r>
          </a:p>
        </p:txBody>
      </p:sp>
      <p:sp>
        <p:nvSpPr>
          <p:cNvPr id="39" name="dsl:card3-sub2"/>
          <p:cNvSpPr txBox="1"/>
          <p:nvPr/>
        </p:nvSpPr>
        <p:spPr>
          <a:xfrm>
            <a:off x="8001000" y="3810000"/>
            <a:ext cx="3048000" cy="247650"/>
          </a:xfrm>
          <a:prstGeom prst="rect">
            <a:avLst/>
          </a:prstGeom>
          <a:noFill/>
        </p:spPr>
        <p:txBody>
          <a:bodyPr wrap="none" anchor="ctr">
            <a:noAutofit/>
          </a:bodyPr>
          <a:lstStyle/>
          <a:p>
            <a:pPr algn="l"/>
            <a:r>
              <a:rPr b="1" sz="1350" noProof="1">
                <a:solidFill>
                  <a:srgbClr val="1E293B"/>
                </a:solidFill>
                <a:latin typeface="QuattrocentoSans"/>
                <a:ea typeface="MiSans"/>
              </a:rPr>
              <a:t>关键数据</a:t>
            </a:r>
          </a:p>
        </p:txBody>
      </p:sp>
      <p:sp>
        <p:nvSpPr>
          <p:cNvPr id="40" name="dsl:card3-body2"/>
          <p:cNvSpPr txBox="1"/>
          <p:nvPr/>
        </p:nvSpPr>
        <p:spPr>
          <a:xfrm>
            <a:off x="8001000" y="4095750"/>
            <a:ext cx="3048000" cy="5715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12设备 | 68漏洞 | 45隐藏 | 31CVE</a:t>
            </a:r>
          </a:p>
        </p:txBody>
      </p:sp>
      <p:sp>
        <p:nvSpPr>
          <p:cNvPr id="41" name="dsl:card3-sub3"/>
          <p:cNvSpPr txBox="1"/>
          <p:nvPr/>
        </p:nvSpPr>
        <p:spPr>
          <a:xfrm>
            <a:off x="8001000" y="4762500"/>
            <a:ext cx="3048000" cy="247650"/>
          </a:xfrm>
          <a:prstGeom prst="rect">
            <a:avLst/>
          </a:prstGeom>
          <a:noFill/>
        </p:spPr>
        <p:txBody>
          <a:bodyPr wrap="none" anchor="ctr">
            <a:noAutofit/>
          </a:bodyPr>
          <a:lstStyle/>
          <a:p>
            <a:pPr algn="l"/>
            <a:r>
              <a:rPr b="1" sz="1350" noProof="1">
                <a:solidFill>
                  <a:srgbClr val="1E293B"/>
                </a:solidFill>
                <a:latin typeface="QuattrocentoSans"/>
                <a:ea typeface="MiSans"/>
              </a:rPr>
              <a:t>局限性</a:t>
            </a:r>
          </a:p>
        </p:txBody>
      </p:sp>
      <p:sp>
        <p:nvSpPr>
          <p:cNvPr id="42" name="dsl:card3-body3"/>
          <p:cNvSpPr txBox="1"/>
          <p:nvPr/>
        </p:nvSpPr>
        <p:spPr>
          <a:xfrm>
            <a:off x="8001000" y="5048250"/>
            <a:ext cx="3048000" cy="7620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依赖LLM设备响应；对无反馈设备失效</a:t>
            </a:r>
          </a:p>
        </p:txBody>
      </p:sp>
      <p:sp>
        <p:nvSpPr>
          <p:cNvPr id="43" name="dsl:evo-bg"/>
          <p:cNvSpPr/>
          <p:nvPr/>
        </p:nvSpPr>
        <p:spPr>
          <a:xfrm>
            <a:off x="571500" y="6153150"/>
            <a:ext cx="11049000" cy="3810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dsl:evo-text"/>
          <p:cNvSpPr txBox="1"/>
          <p:nvPr/>
        </p:nvSpPr>
        <p:spPr>
          <a:xfrm>
            <a:off x="762000" y="6153150"/>
            <a:ext cx="10668000" cy="381000"/>
          </a:xfrm>
          <a:prstGeom prst="rect">
            <a:avLst/>
          </a:prstGeom>
          <a:noFill/>
        </p:spPr>
        <p:txBody>
          <a:bodyPr wrap="none" anchor="ctr">
            <a:noAutofit/>
          </a:bodyPr>
          <a:lstStyle/>
          <a:p>
            <a:pPr algn="ctr"/>
            <a:r>
              <a:rPr sz="1200" noProof="1">
                <a:solidFill>
                  <a:srgbClr val="1E293B"/>
                </a:solidFill>
                <a:latin typeface="QuattrocentoSans"/>
                <a:ea typeface="MiSans"/>
              </a:rPr>
              <a:t>技术演进路径：</a:t>
            </a:r>
            <a:r>
              <a:rPr b="1" sz="1200" noProof="1">
                <a:solidFill>
                  <a:srgbClr val="1E293B"/>
                </a:solidFill>
                <a:latin typeface="QuattrocentoSans"/>
                <a:ea typeface="MiSans"/>
              </a:rPr>
              <a:t>暴力枚举</a:t>
            </a:r>
            <a:r>
              <a:rPr sz="1200" noProof="1">
                <a:solidFill>
                  <a:srgbClr val="1E293B"/>
                </a:solidFill>
                <a:latin typeface="QuattrocentoSans"/>
                <a:ea typeface="MiSans"/>
              </a:rPr>
              <a:t>  →  </a:t>
            </a:r>
            <a:r>
              <a:rPr b="1" sz="1200" noProof="1">
                <a:solidFill>
                  <a:srgbClr val="1E293B"/>
                </a:solidFill>
                <a:latin typeface="QuattrocentoSans"/>
                <a:ea typeface="MiSans"/>
              </a:rPr>
              <a:t>智能Token推断（LLM）</a:t>
            </a:r>
            <a:r>
              <a:rPr sz="1200" noProof="1">
                <a:solidFill>
                  <a:srgbClr val="1E293B"/>
                </a:solidFill>
                <a:latin typeface="QuattrocentoSans"/>
                <a:ea typeface="MiSans"/>
              </a:rPr>
              <a:t>  →  </a:t>
            </a:r>
            <a:r>
              <a:rPr b="1" sz="1200" noProof="1">
                <a:solidFill>
                  <a:srgbClr val="1E293B"/>
                </a:solidFill>
                <a:latin typeface="QuattrocentoSans"/>
                <a:ea typeface="MiSans"/>
              </a:rPr>
              <a:t>接口规格恢复（多语言+语义Fuzzing）</a:t>
            </a:r>
          </a:p>
        </p:txBody>
      </p:sp>
      <p:sp>
        <p:nvSpPr>
          <p:cNvPr id="45" name="dsl:footer-left|s=$caption"/>
          <p:cNvSpPr txBox="1"/>
          <p:nvPr/>
        </p:nvSpPr>
        <p:spPr>
          <a:xfrm>
            <a:off x="571500" y="6572250"/>
            <a:ext cx="3810000" cy="1905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网络设备Web服务安全研究</a:t>
            </a:r>
          </a:p>
        </p:txBody>
      </p:sp>
      <p:sp>
        <p:nvSpPr>
          <p:cNvPr id="46" name="dsl:footer-right|s=$caption"/>
          <p:cNvSpPr txBox="1"/>
          <p:nvPr/>
        </p:nvSpPr>
        <p:spPr>
          <a:xfrm>
            <a:off x="10477500" y="6572250"/>
            <a:ext cx="1143000" cy="190500"/>
          </a:xfrm>
          <a:prstGeom prst="rect">
            <a:avLst/>
          </a:prstGeom>
          <a:noFill/>
        </p:spPr>
        <p:txBody>
          <a:bodyPr wrap="none" anchor="ctr">
            <a:noAutofit/>
          </a:bodyPr>
          <a:lstStyle/>
          <a:p>
            <a:pPr algn="r">
              <a:lnSpc>
                <a:spcPct val="140000"/>
              </a:lnSpc>
            </a:pPr>
            <a:r>
              <a:rPr sz="1050" noProof="1">
                <a:solidFill>
                  <a:srgbClr val="64748B"/>
                </a:solidFill>
                <a:latin typeface="QuattrocentoSans"/>
                <a:ea typeface="MiSans"/>
              </a:rPr>
              <a:t>27 / 37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E293B"/>
        </a:solidFill>
        <a:effectLst/>
      </p:bgPr>
    </p:bg>
    <p:spTree>
      <p:nvGrpSpPr>
        <p:cNvPr id="1" name=""/>
        <p:cNvGrpSpPr/>
        <p:nvPr/>
      </p:nvGrpSpPr>
      <p:grpSpPr/>
      <p:sp>
        <p:nvSpPr>
          <p:cNvPr id="2" name="dsl:right-panel"/>
          <p:cNvSpPr/>
          <p:nvPr/>
        </p:nvSpPr>
        <p:spPr>
          <a:xfrm>
            <a:off x="8124825" y="0"/>
            <a:ext cx="4067175" cy="6858000"/>
          </a:xfrm>
          <a:prstGeom prst="rect">
            <a:avLst/>
          </a:prstGeom>
          <a:gradFill rotWithShape="1">
            <a:gsLst>
              <a:gs pos="0">
                <a:srgbClr val="1E293B"/>
              </a:gs>
              <a:gs pos="100000">
                <a:srgbClr val="0F172A"/>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ch-num|s=$chapterNum"/>
          <p:cNvSpPr txBox="1"/>
          <p:nvPr/>
        </p:nvSpPr>
        <p:spPr>
          <a:xfrm>
            <a:off x="571500" y="1333500"/>
            <a:ext cx="4762500" cy="1524000"/>
          </a:xfrm>
          <a:prstGeom prst="rect">
            <a:avLst/>
          </a:prstGeom>
          <a:noFill/>
        </p:spPr>
        <p:txBody>
          <a:bodyPr wrap="none" anchor="ctr">
            <a:noAutofit/>
          </a:bodyPr>
          <a:lstStyle/>
          <a:p>
            <a:pPr algn="l">
              <a:lnSpc>
                <a:spcPct val="100000"/>
              </a:lnSpc>
            </a:pPr>
            <a:r>
              <a:rPr sz="9000" noProof="1">
                <a:solidFill>
                  <a:srgbClr val="FFFFFF">
                    <a:alpha val="12549"/>
                  </a:srgbClr>
                </a:solidFill>
                <a:latin typeface="QuattrocentoSans"/>
                <a:ea typeface="MiSans"/>
              </a:rPr>
              <a:t>04</a:t>
            </a:r>
          </a:p>
        </p:txBody>
      </p:sp>
      <p:sp>
        <p:nvSpPr>
          <p:cNvPr id="4" name="dsl:accent-line"/>
          <p:cNvSpPr/>
          <p:nvPr/>
        </p:nvSpPr>
        <p:spPr>
          <a:xfrm>
            <a:off x="571500" y="3048000"/>
            <a:ext cx="571500" cy="381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sl:ch-title|s=$chapterTitle"/>
          <p:cNvSpPr txBox="1"/>
          <p:nvPr/>
        </p:nvSpPr>
        <p:spPr>
          <a:xfrm>
            <a:off x="571500" y="3238500"/>
            <a:ext cx="7048500" cy="457200"/>
          </a:xfrm>
          <a:prstGeom prst="rect">
            <a:avLst/>
          </a:prstGeom>
          <a:noFill/>
        </p:spPr>
        <p:txBody>
          <a:bodyPr wrap="none" anchor="ctr">
            <a:noAutofit/>
          </a:bodyPr>
          <a:lstStyle/>
          <a:p>
            <a:pPr algn="l">
              <a:lnSpc>
                <a:spcPct val="120000"/>
              </a:lnSpc>
            </a:pPr>
            <a:r>
              <a:rPr sz="2700" noProof="1">
                <a:solidFill>
                  <a:srgbClr val="FFFFFF"/>
                </a:solidFill>
                <a:latin typeface="QuattrocentoSans"/>
                <a:ea typeface="MiSans"/>
              </a:rPr>
              <a:t>漏洞验证与PoC生成（Verification）</a:t>
            </a:r>
          </a:p>
        </p:txBody>
      </p:sp>
      <p:sp>
        <p:nvSpPr>
          <p:cNvPr id="6" name="dsl:ch-subtitle|s=$chapterSubtitle"/>
          <p:cNvSpPr txBox="1"/>
          <p:nvPr/>
        </p:nvSpPr>
        <p:spPr>
          <a:xfrm>
            <a:off x="571500" y="3810000"/>
            <a:ext cx="7048500" cy="304800"/>
          </a:xfrm>
          <a:prstGeom prst="rect">
            <a:avLst/>
          </a:prstGeom>
          <a:noFill/>
        </p:spPr>
        <p:txBody>
          <a:bodyPr wrap="none" anchor="ctr">
            <a:noAutofit/>
          </a:bodyPr>
          <a:lstStyle/>
          <a:p>
            <a:pPr algn="l">
              <a:lnSpc>
                <a:spcPct val="140000"/>
              </a:lnSpc>
            </a:pPr>
            <a:r>
              <a:rPr sz="1500" noProof="1">
                <a:solidFill>
                  <a:srgbClr val="CBD5E1"/>
                </a:solidFill>
                <a:latin typeface="QuattrocentoSans"/>
                <a:ea typeface="MiSans"/>
              </a:rPr>
              <a:t>从静态告警到动态闭环</a:t>
            </a:r>
          </a:p>
        </p:txBody>
      </p:sp>
      <p:sp>
        <p:nvSpPr>
          <p:cNvPr id="7" name="dsl:ch-intro"/>
          <p:cNvSpPr txBox="1"/>
          <p:nvPr/>
        </p:nvSpPr>
        <p:spPr>
          <a:xfrm>
            <a:off x="571500" y="4381500"/>
            <a:ext cx="7048500" cy="952500"/>
          </a:xfrm>
          <a:prstGeom prst="rect">
            <a:avLst/>
          </a:prstGeom>
          <a:noFill/>
        </p:spPr>
        <p:txBody>
          <a:bodyPr wrap="square" anchor="t">
            <a:noAutofit/>
          </a:bodyPr>
          <a:lstStyle/>
          <a:p>
            <a:pPr algn="l">
              <a:lnSpc>
                <a:spcPct val="160000"/>
              </a:lnSpc>
            </a:pPr>
            <a:r>
              <a:rPr sz="1350" noProof="1">
                <a:solidFill>
                  <a:srgbClr val="CBD5E1"/>
                </a:solidFill>
                <a:latin typeface="QuattrocentoSans"/>
                <a:ea typeface="MiSans"/>
              </a:rPr>
              <a:t>核心痛点：静态污点分析产生大量告警，黑盒Fuzzing缺乏内部覆盖率指导。如何高效验证漏洞并生成PoC？</a:t>
            </a:r>
          </a:p>
          <a:p>
            <a:pPr algn="l">
              <a:lnSpc>
                <a:spcPct val="160000"/>
              </a:lnSpc>
            </a:pPr>
            <a:r>
              <a:rPr sz="1350" noProof="1">
                <a:solidFill>
                  <a:srgbClr val="CBD5E1"/>
                </a:solidFill>
                <a:latin typeface="QuattrocentoSans"/>
                <a:ea typeface="MiSans"/>
              </a:rPr>
              <a:t>技术演进：约束语义不一致性分析 → 响应反馈导向Fuzzing → 动静结合Agent自动利用</a:t>
            </a:r>
          </a:p>
        </p:txBody>
      </p:sp>
      <p:sp>
        <p:nvSpPr>
          <p:cNvPr id="8" name="dsl:ch-papers"/>
          <p:cNvSpPr txBox="1"/>
          <p:nvPr/>
        </p:nvSpPr>
        <p:spPr>
          <a:xfrm>
            <a:off x="571500" y="5715000"/>
            <a:ext cx="7048500" cy="571500"/>
          </a:xfrm>
          <a:prstGeom prst="rect">
            <a:avLst/>
          </a:prstGeom>
          <a:noFill/>
        </p:spPr>
        <p:txBody>
          <a:bodyPr wrap="square" anchor="t">
            <a:noAutofit/>
          </a:bodyPr>
          <a:lstStyle/>
          <a:p>
            <a:pPr algn="l">
              <a:lnSpc>
                <a:spcPct val="160000"/>
              </a:lnSpc>
            </a:pPr>
            <a:r>
              <a:rPr sz="1050" noProof="1">
                <a:solidFill>
                  <a:srgbClr val="94A3B8"/>
                </a:solidFill>
                <a:latin typeface="QuattrocentoSans"/>
                <a:ea typeface="MiSans"/>
              </a:rPr>
              <a:t>NÜWA (USENIX Security 2025)  →  LABRADOR (IEEE S&amp;P 2024)  →  FirmAgent (NDSS 2026)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dsl:nav-bg"/>
          <p:cNvSpPr/>
          <p:nvPr/>
        </p:nvSpPr>
        <p:spPr>
          <a:xfrm>
            <a:off x="0" y="0"/>
            <a:ext cx="12192000" cy="381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
          <p:cNvSpPr/>
          <p:nvPr/>
        </p:nvSpPr>
        <p:spPr>
          <a:xfrm>
            <a:off x="9144000" y="0"/>
            <a:ext cx="3048000" cy="3810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t1|s=$nav"/>
          <p:cNvSpPr txBox="1"/>
          <p:nvPr/>
        </p:nvSpPr>
        <p:spPr>
          <a:xfrm>
            <a:off x="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维度一: Source</a:t>
            </a:r>
          </a:p>
        </p:txBody>
      </p:sp>
      <p:sp>
        <p:nvSpPr>
          <p:cNvPr id="5" name="dsl:nav-t2|s=$nav"/>
          <p:cNvSpPr txBox="1"/>
          <p:nvPr/>
        </p:nvSpPr>
        <p:spPr>
          <a:xfrm>
            <a:off x="3048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维度二: Propagation</a:t>
            </a:r>
          </a:p>
        </p:txBody>
      </p:sp>
      <p:sp>
        <p:nvSpPr>
          <p:cNvPr id="6" name="dsl:nav-t3|s=$nav"/>
          <p:cNvSpPr txBox="1"/>
          <p:nvPr/>
        </p:nvSpPr>
        <p:spPr>
          <a:xfrm>
            <a:off x="6096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维度三: Sink</a:t>
            </a:r>
          </a:p>
        </p:txBody>
      </p:sp>
      <p:sp>
        <p:nvSpPr>
          <p:cNvPr id="7" name="dsl:nav-t4|s=$nav"/>
          <p:cNvSpPr txBox="1"/>
          <p:nvPr/>
        </p:nvSpPr>
        <p:spPr>
          <a:xfrm>
            <a:off x="9144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维度四: Verification</a:t>
            </a:r>
          </a:p>
        </p:txBody>
      </p:sp>
      <p:sp>
        <p:nvSpPr>
          <p:cNvPr id="8" name="dsl:nav-line"/>
          <p:cNvSpPr/>
          <p:nvPr/>
        </p:nvSpPr>
        <p:spPr>
          <a:xfrm>
            <a:off x="0" y="381000"/>
            <a:ext cx="12192000" cy="1905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page-title|s=$title"/>
          <p:cNvSpPr txBox="1"/>
          <p:nvPr/>
        </p:nvSpPr>
        <p:spPr>
          <a:xfrm>
            <a:off x="571500" y="514350"/>
            <a:ext cx="8382000" cy="381000"/>
          </a:xfrm>
          <a:prstGeom prst="rect">
            <a:avLst/>
          </a:prstGeom>
          <a:noFill/>
        </p:spPr>
        <p:txBody>
          <a:bodyPr wrap="none" anchor="ctr">
            <a:noAutofit/>
          </a:bodyPr>
          <a:lstStyle/>
          <a:p>
            <a:pPr algn="l">
              <a:lnSpc>
                <a:spcPct val="130000"/>
              </a:lnSpc>
            </a:pPr>
            <a:r>
              <a:rPr sz="2100" noProof="1">
                <a:solidFill>
                  <a:srgbClr val="1E293B"/>
                </a:solidFill>
                <a:latin typeface="QuattrocentoSans"/>
                <a:ea typeface="MiSans"/>
              </a:rPr>
              <a:t>NÜWA — 前后端约束语义不一致性分析</a:t>
            </a:r>
          </a:p>
        </p:txBody>
      </p:sp>
      <p:sp>
        <p:nvSpPr>
          <p:cNvPr id="10" name="dsl:badge-bg"/>
          <p:cNvSpPr/>
          <p:nvPr/>
        </p:nvSpPr>
        <p:spPr>
          <a:xfrm>
            <a:off x="10001250" y="552450"/>
            <a:ext cx="1619250" cy="266700"/>
          </a:xfrm>
          <a:prstGeom prst="roundRect">
            <a:avLst>
              <a:gd name="adj" fmla="val 8000"/>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badge-text|s=$badge"/>
          <p:cNvSpPr txBox="1"/>
          <p:nvPr/>
        </p:nvSpPr>
        <p:spPr>
          <a:xfrm>
            <a:off x="10001250" y="552450"/>
            <a:ext cx="1619250" cy="2667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USENIX Security 2025</a:t>
            </a:r>
          </a:p>
        </p:txBody>
      </p:sp>
      <p:sp>
        <p:nvSpPr>
          <p:cNvPr id="12" name="dsl:left-bar-1"/>
          <p:cNvSpPr/>
          <p:nvPr/>
        </p:nvSpPr>
        <p:spPr>
          <a:xfrm>
            <a:off x="5715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left-subtitle-1|s=$subtitle"/>
          <p:cNvSpPr txBox="1"/>
          <p:nvPr/>
        </p:nvSpPr>
        <p:spPr>
          <a:xfrm>
            <a:off x="6858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内容摘要</a:t>
            </a:r>
          </a:p>
        </p:txBody>
      </p:sp>
      <p:sp>
        <p:nvSpPr>
          <p:cNvPr id="14" name="dsl:left-body-1|s=$body"/>
          <p:cNvSpPr txBox="1"/>
          <p:nvPr/>
        </p:nvSpPr>
        <p:spPr>
          <a:xfrm>
            <a:off x="571500" y="1352550"/>
            <a:ext cx="3429000" cy="18097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基于前后端约束语义不一致性的嵌入式Web服务漏洞检测。提取前端输入校验约束与后端安全处理约束，通过对比语义差异识别真实漏洞。在13个厂商基准上确认51个真实告警。</a:t>
            </a:r>
          </a:p>
        </p:txBody>
      </p:sp>
      <p:sp>
        <p:nvSpPr>
          <p:cNvPr id="15" name="dsl:left-bar-2"/>
          <p:cNvSpPr/>
          <p:nvPr/>
        </p:nvSpPr>
        <p:spPr>
          <a:xfrm>
            <a:off x="571500" y="3314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left-subtitle-2|s=$subtitle"/>
          <p:cNvSpPr txBox="1"/>
          <p:nvPr/>
        </p:nvSpPr>
        <p:spPr>
          <a:xfrm>
            <a:off x="685800" y="3295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研究背景</a:t>
            </a:r>
          </a:p>
        </p:txBody>
      </p:sp>
      <p:sp>
        <p:nvSpPr>
          <p:cNvPr id="17" name="dsl:left-body-2|s=$body"/>
          <p:cNvSpPr txBox="1"/>
          <p:nvPr/>
        </p:nvSpPr>
        <p:spPr>
          <a:xfrm>
            <a:off x="571500" y="3638550"/>
            <a:ext cx="3429000" cy="21907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传统Source-Sink可达性分析忽略安全校验，导致大量误报。单一维度分析无法区分真正可利用的漏洞与理论上可达但受约束保护的路径。前后端约束不一致正是漏洞存在的核心信号。</a:t>
            </a:r>
          </a:p>
        </p:txBody>
      </p:sp>
      <p:sp>
        <p:nvSpPr>
          <p:cNvPr id="18" name="dsl:mid-bar-1"/>
          <p:cNvSpPr/>
          <p:nvPr/>
        </p:nvSpPr>
        <p:spPr>
          <a:xfrm>
            <a:off x="41910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mid-subtitle-1|s=$subtitle"/>
          <p:cNvSpPr txBox="1"/>
          <p:nvPr/>
        </p:nvSpPr>
        <p:spPr>
          <a:xfrm>
            <a:off x="43053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核心洞察</a:t>
            </a:r>
          </a:p>
        </p:txBody>
      </p:sp>
      <p:sp>
        <p:nvSpPr>
          <p:cNvPr id="20" name="dsl:mid-body-1|s=$body"/>
          <p:cNvSpPr txBox="1"/>
          <p:nvPr/>
        </p:nvSpPr>
        <p:spPr>
          <a:xfrm>
            <a:off x="4191000" y="1352550"/>
            <a:ext cx="3429000" cy="23812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漏洞本质不仅是Source-Sink可达，更是约束语义不一致。前端限制输入格式，后端却未校验或校验逻辑存在缺口，攻击者即可绕过前端约束直达危险Sink。将漏洞检测转化为约束一致性验证问题。</a:t>
            </a:r>
          </a:p>
        </p:txBody>
      </p:sp>
      <p:sp>
        <p:nvSpPr>
          <p:cNvPr id="21" name="dsl:mid-bar-2"/>
          <p:cNvSpPr/>
          <p:nvPr/>
        </p:nvSpPr>
        <p:spPr>
          <a:xfrm>
            <a:off x="4191000" y="38100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mid-subtitle-2|s=$subtitle"/>
          <p:cNvSpPr txBox="1"/>
          <p:nvPr/>
        </p:nvSpPr>
        <p:spPr>
          <a:xfrm>
            <a:off x="4305300" y="37909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解决方案</a:t>
            </a:r>
          </a:p>
        </p:txBody>
      </p:sp>
      <p:sp>
        <p:nvSpPr>
          <p:cNvPr id="23" name="dsl:mid-body-2|s=$body"/>
          <p:cNvSpPr txBox="1"/>
          <p:nvPr/>
        </p:nvSpPr>
        <p:spPr>
          <a:xfrm>
            <a:off x="4191000" y="4133850"/>
            <a:ext cx="3429000" cy="23812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1. 前端约束提取：解析HTML/JS中的输入校验规则（maxlength、正则、枚举）。2. 后端函数摘要：对后端处理函数进行切片，提取安全校验语义。3. 后端约束提取：识别长度检查、字符过滤、路径规范化等约束。4. 不一致性静态分析：对比前后端约束集合，标记不一致路径为真实漏洞。</a:t>
            </a:r>
          </a:p>
        </p:txBody>
      </p:sp>
      <p:sp>
        <p:nvSpPr>
          <p:cNvPr id="24" name="dsl:right-bar"/>
          <p:cNvSpPr/>
          <p:nvPr/>
        </p:nvSpPr>
        <p:spPr>
          <a:xfrm>
            <a:off x="78105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right-subtitle|s=$subtitle"/>
          <p:cNvSpPr txBox="1"/>
          <p:nvPr/>
        </p:nvSpPr>
        <p:spPr>
          <a:xfrm>
            <a:off x="79248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关键数据</a:t>
            </a:r>
          </a:p>
        </p:txBody>
      </p:sp>
      <p:sp>
        <p:nvSpPr>
          <p:cNvPr id="26" name="dsl:card1-bg"/>
          <p:cNvSpPr/>
          <p:nvPr/>
        </p:nvSpPr>
        <p:spPr>
          <a:xfrm>
            <a:off x="8001000" y="1428750"/>
            <a:ext cx="3238500" cy="1143000"/>
          </a:xfrm>
          <a:prstGeom prst="roundRect">
            <a:avLst>
              <a:gd name="adj" fmla="val 8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card1-num|s=$kpi"/>
          <p:cNvSpPr txBox="1"/>
          <p:nvPr/>
        </p:nvSpPr>
        <p:spPr>
          <a:xfrm>
            <a:off x="8191500" y="1571625"/>
            <a:ext cx="2857500" cy="400050"/>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51</a:t>
            </a:r>
          </a:p>
        </p:txBody>
      </p:sp>
      <p:sp>
        <p:nvSpPr>
          <p:cNvPr id="28" name="dsl:card1-label|s=$caption"/>
          <p:cNvSpPr txBox="1"/>
          <p:nvPr/>
        </p:nvSpPr>
        <p:spPr>
          <a:xfrm>
            <a:off x="8191500" y="2047875"/>
            <a:ext cx="2857500" cy="2286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个真实告警确认</a:t>
            </a:r>
          </a:p>
        </p:txBody>
      </p:sp>
      <p:sp>
        <p:nvSpPr>
          <p:cNvPr id="29" name="dsl:card2-bg"/>
          <p:cNvSpPr/>
          <p:nvPr/>
        </p:nvSpPr>
        <p:spPr>
          <a:xfrm>
            <a:off x="8001000" y="2762250"/>
            <a:ext cx="3238500" cy="1143000"/>
          </a:xfrm>
          <a:prstGeom prst="roundRect">
            <a:avLst>
              <a:gd name="adj" fmla="val 8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sl:card2-num|s=$kpi"/>
          <p:cNvSpPr txBox="1"/>
          <p:nvPr/>
        </p:nvSpPr>
        <p:spPr>
          <a:xfrm>
            <a:off x="8191500" y="2905125"/>
            <a:ext cx="2857500" cy="400050"/>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76%</a:t>
            </a:r>
          </a:p>
        </p:txBody>
      </p:sp>
      <p:sp>
        <p:nvSpPr>
          <p:cNvPr id="31" name="dsl:card2-label|s=$caption"/>
          <p:cNvSpPr txBox="1"/>
          <p:nvPr/>
        </p:nvSpPr>
        <p:spPr>
          <a:xfrm>
            <a:off x="8191500" y="3381375"/>
            <a:ext cx="2857500" cy="2286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漏洞检测准确率</a:t>
            </a:r>
          </a:p>
        </p:txBody>
      </p:sp>
      <p:sp>
        <p:nvSpPr>
          <p:cNvPr id="32" name="dsl:card3-bg"/>
          <p:cNvSpPr/>
          <p:nvPr/>
        </p:nvSpPr>
        <p:spPr>
          <a:xfrm>
            <a:off x="8001000" y="4095750"/>
            <a:ext cx="3238500" cy="1143000"/>
          </a:xfrm>
          <a:prstGeom prst="roundRect">
            <a:avLst>
              <a:gd name="adj" fmla="val 8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sl:card3-num|s=$kpi"/>
          <p:cNvSpPr txBox="1"/>
          <p:nvPr/>
        </p:nvSpPr>
        <p:spPr>
          <a:xfrm>
            <a:off x="8191500" y="4238625"/>
            <a:ext cx="2857500" cy="400050"/>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95%</a:t>
            </a:r>
          </a:p>
        </p:txBody>
      </p:sp>
      <p:sp>
        <p:nvSpPr>
          <p:cNvPr id="34" name="dsl:card3-label|s=$caption"/>
          <p:cNvSpPr txBox="1"/>
          <p:nvPr/>
        </p:nvSpPr>
        <p:spPr>
          <a:xfrm>
            <a:off x="8191500" y="4714875"/>
            <a:ext cx="2857500" cy="2286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约束提取准确率</a:t>
            </a:r>
          </a:p>
        </p:txBody>
      </p:sp>
      <p:sp>
        <p:nvSpPr>
          <p:cNvPr id="35" name="dsl:footer-left|s=$caption"/>
          <p:cNvSpPr txBox="1"/>
          <p:nvPr/>
        </p:nvSpPr>
        <p:spPr>
          <a:xfrm>
            <a:off x="571500" y="6572250"/>
            <a:ext cx="3810000" cy="1905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网络设备Web服务安全研究</a:t>
            </a:r>
          </a:p>
        </p:txBody>
      </p:sp>
      <p:sp>
        <p:nvSpPr>
          <p:cNvPr id="36" name="dsl:footer-right|s=$caption"/>
          <p:cNvSpPr txBox="1"/>
          <p:nvPr/>
        </p:nvSpPr>
        <p:spPr>
          <a:xfrm>
            <a:off x="10477500" y="6572250"/>
            <a:ext cx="1143000" cy="190500"/>
          </a:xfrm>
          <a:prstGeom prst="rect">
            <a:avLst/>
          </a:prstGeom>
          <a:noFill/>
        </p:spPr>
        <p:txBody>
          <a:bodyPr wrap="none" anchor="ctr">
            <a:noAutofit/>
          </a:bodyPr>
          <a:lstStyle/>
          <a:p>
            <a:pPr algn="r">
              <a:lnSpc>
                <a:spcPct val="140000"/>
              </a:lnSpc>
            </a:pPr>
            <a:r>
              <a:rPr sz="1050" noProof="1">
                <a:solidFill>
                  <a:srgbClr val="64748B"/>
                </a:solidFill>
                <a:latin typeface="QuattrocentoSans"/>
                <a:ea typeface="MiSans"/>
              </a:rPr>
              <a:t>29 / 37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dsl:nav-bg"/>
          <p:cNvSpPr/>
          <p:nvPr/>
        </p:nvSpPr>
        <p:spPr>
          <a:xfrm>
            <a:off x="0" y="0"/>
            <a:ext cx="12192000" cy="381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
          <p:cNvSpPr/>
          <p:nvPr/>
        </p:nvSpPr>
        <p:spPr>
          <a:xfrm>
            <a:off x="9144000" y="0"/>
            <a:ext cx="3048000" cy="3810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t1|s=$nav"/>
          <p:cNvSpPr txBox="1"/>
          <p:nvPr/>
        </p:nvSpPr>
        <p:spPr>
          <a:xfrm>
            <a:off x="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维度一: Source</a:t>
            </a:r>
          </a:p>
        </p:txBody>
      </p:sp>
      <p:sp>
        <p:nvSpPr>
          <p:cNvPr id="5" name="dsl:nav-t2|s=$nav"/>
          <p:cNvSpPr txBox="1"/>
          <p:nvPr/>
        </p:nvSpPr>
        <p:spPr>
          <a:xfrm>
            <a:off x="3048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维度二: Propagation</a:t>
            </a:r>
          </a:p>
        </p:txBody>
      </p:sp>
      <p:sp>
        <p:nvSpPr>
          <p:cNvPr id="6" name="dsl:nav-t3|s=$nav"/>
          <p:cNvSpPr txBox="1"/>
          <p:nvPr/>
        </p:nvSpPr>
        <p:spPr>
          <a:xfrm>
            <a:off x="6096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维度三: Sink</a:t>
            </a:r>
          </a:p>
        </p:txBody>
      </p:sp>
      <p:sp>
        <p:nvSpPr>
          <p:cNvPr id="7" name="dsl:nav-t4|s=$nav"/>
          <p:cNvSpPr txBox="1"/>
          <p:nvPr/>
        </p:nvSpPr>
        <p:spPr>
          <a:xfrm>
            <a:off x="9144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维度四: Verification</a:t>
            </a:r>
          </a:p>
        </p:txBody>
      </p:sp>
      <p:sp>
        <p:nvSpPr>
          <p:cNvPr id="8" name="dsl:nav-line"/>
          <p:cNvSpPr/>
          <p:nvPr/>
        </p:nvSpPr>
        <p:spPr>
          <a:xfrm>
            <a:off x="0" y="381000"/>
            <a:ext cx="12192000" cy="1905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page-title|s=$title"/>
          <p:cNvSpPr txBox="1"/>
          <p:nvPr/>
        </p:nvSpPr>
        <p:spPr>
          <a:xfrm>
            <a:off x="571500" y="514350"/>
            <a:ext cx="8382000" cy="381000"/>
          </a:xfrm>
          <a:prstGeom prst="rect">
            <a:avLst/>
          </a:prstGeom>
          <a:noFill/>
        </p:spPr>
        <p:txBody>
          <a:bodyPr wrap="none" anchor="ctr">
            <a:noAutofit/>
          </a:bodyPr>
          <a:lstStyle/>
          <a:p>
            <a:pPr algn="l">
              <a:lnSpc>
                <a:spcPct val="130000"/>
              </a:lnSpc>
            </a:pPr>
            <a:r>
              <a:rPr sz="2100" noProof="1">
                <a:solidFill>
                  <a:srgbClr val="1E293B"/>
                </a:solidFill>
                <a:latin typeface="QuattrocentoSans"/>
                <a:ea typeface="MiSans"/>
              </a:rPr>
              <a:t>NÜWA — 实验结果与文章评价</a:t>
            </a:r>
          </a:p>
        </p:txBody>
      </p:sp>
      <p:sp>
        <p:nvSpPr>
          <p:cNvPr id="10" name="dsl:badge-bg"/>
          <p:cNvSpPr/>
          <p:nvPr/>
        </p:nvSpPr>
        <p:spPr>
          <a:xfrm>
            <a:off x="10001250" y="552450"/>
            <a:ext cx="1619250" cy="266700"/>
          </a:xfrm>
          <a:prstGeom prst="roundRect">
            <a:avLst>
              <a:gd name="adj" fmla="val 8000"/>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badge-text|s=$badge"/>
          <p:cNvSpPr txBox="1"/>
          <p:nvPr/>
        </p:nvSpPr>
        <p:spPr>
          <a:xfrm>
            <a:off x="10001250" y="552450"/>
            <a:ext cx="1619250" cy="2667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USENIX Security 2025</a:t>
            </a:r>
          </a:p>
        </p:txBody>
      </p:sp>
      <p:sp>
        <p:nvSpPr>
          <p:cNvPr id="12" name="dsl:results-bar"/>
          <p:cNvSpPr/>
          <p:nvPr/>
        </p:nvSpPr>
        <p:spPr>
          <a:xfrm>
            <a:off x="5715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results-subtitle|s=$subtitle"/>
          <p:cNvSpPr txBox="1"/>
          <p:nvPr/>
        </p:nvSpPr>
        <p:spPr>
          <a:xfrm>
            <a:off x="6858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实验结果</a:t>
            </a:r>
          </a:p>
        </p:txBody>
      </p:sp>
      <p:graphicFrame>
        <p:nvGraphicFramePr>
          <p:cNvPr id="14" name="dsl:results-table"/>
          <p:cNvGraphicFramePr>
            <a:graphicFrameLocks noGrp="1"/>
          </p:cNvGraphicFramePr>
          <p:nvPr/>
        </p:nvGraphicFramePr>
        <p:xfrm>
          <a:off x="571500" y="1409700"/>
          <a:ext cx="5715000" cy="2286000"/>
        </p:xfrm>
        <a:graphic>
          <a:graphicData uri="http://schemas.openxmlformats.org/drawingml/2006/table">
            <a:tbl>
              <a:tblPr firstRow="0" bandRow="0" lastRow="0" firstCol="0" lastCol="0" bandCol="0">
                <a:tableStyleId>{2D5ABB26-0587-4C30-8999-92F81FD0307C}</a:tableStyleId>
              </a:tblPr>
              <a:tblGrid>
                <a:gridCol w="2857500"/>
                <a:gridCol w="2857500"/>
              </a:tblGrid>
              <a:tr h="342900">
                <a:tc>
                  <a:txBody>
                    <a:bodyPr wrap="square" anchor="ctr">
                      <a:noAutofit/>
                    </a:bodyPr>
                    <a:lstStyle/>
                    <a:p>
                      <a:pPr algn="ctr"/>
                      <a:r>
                        <a:rPr sz="1200" noProof="1" b="1">
                          <a:solidFill>
                            <a:srgbClr val="FFFFFF"/>
                          </a:solidFill>
                          <a:latin typeface="QuattrocentoSans"/>
                          <a:ea typeface="MiSans"/>
                        </a:rPr>
                        <a:t>评估指标</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1E293B"/>
                    </a:solidFill>
                  </a:tcPr>
                </a:tc>
                <a:tc>
                  <a:txBody>
                    <a:bodyPr wrap="square" anchor="ctr">
                      <a:noAutofit/>
                    </a:bodyPr>
                    <a:lstStyle/>
                    <a:p>
                      <a:pPr algn="ctr"/>
                      <a:r>
                        <a:rPr sz="1200" noProof="1" b="1">
                          <a:solidFill>
                            <a:srgbClr val="FFFFFF"/>
                          </a:solidFill>
                          <a:latin typeface="QuattrocentoSans"/>
                          <a:ea typeface="MiSans"/>
                        </a:rPr>
                        <a:t>数值</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1E293B"/>
                    </a:solidFill>
                  </a:tcPr>
                </a:tc>
              </a:tr>
              <a:tr h="388620">
                <a:tc>
                  <a:txBody>
                    <a:bodyPr wrap="square" anchor="ctr">
                      <a:noAutofit/>
                    </a:bodyPr>
                    <a:lstStyle/>
                    <a:p>
                      <a:pPr algn="ctr"/>
                      <a:r>
                        <a:rPr sz="1200" noProof="1">
                          <a:solidFill>
                            <a:srgbClr val="0F172A"/>
                          </a:solidFill>
                          <a:latin typeface="QuattrocentoSans"/>
                          <a:ea typeface="MiSans"/>
                        </a:rPr>
                        <a:t>已知漏洞基准</a:t>
                      </a:r>
                    </a:p>
                  </a:txBody>
                  <a:tcPr marL="91440" marR="91440" marT="0" marB="0" anchor="ctr">
                    <a:solidFill>
                      <a:srgbClr val="FFFFFF"/>
                    </a:solidFill>
                  </a:tcPr>
                </a:tc>
                <a:tc>
                  <a:txBody>
                    <a:bodyPr wrap="square" anchor="ctr">
                      <a:noAutofit/>
                    </a:bodyPr>
                    <a:lstStyle/>
                    <a:p>
                      <a:pPr algn="ctr"/>
                      <a:r>
                        <a:rPr sz="1200" noProof="1">
                          <a:solidFill>
                            <a:srgbClr val="0F172A"/>
                          </a:solidFill>
                          <a:latin typeface="QuattrocentoSans"/>
                          <a:ea typeface="MiSans"/>
                        </a:rPr>
                        <a:t>31个 (13厂商)</a:t>
                      </a:r>
                    </a:p>
                  </a:txBody>
                  <a:tcPr marL="91440" marR="91440" marT="0" marB="0" anchor="ctr">
                    <a:solidFill>
                      <a:srgbClr val="FFFFFF"/>
                    </a:solidFill>
                  </a:tcPr>
                </a:tc>
              </a:tr>
              <a:tr h="388620">
                <a:tc>
                  <a:txBody>
                    <a:bodyPr wrap="square" anchor="ctr">
                      <a:noAutofit/>
                    </a:bodyPr>
                    <a:lstStyle/>
                    <a:p>
                      <a:pPr algn="ctr"/>
                      <a:r>
                        <a:rPr sz="1200" noProof="1">
                          <a:solidFill>
                            <a:srgbClr val="0F172A"/>
                          </a:solidFill>
                          <a:latin typeface="QuattrocentoSans"/>
                          <a:ea typeface="MiSans"/>
                        </a:rPr>
                        <a:t>确认真实告警</a:t>
                      </a:r>
                    </a:p>
                  </a:txBody>
                  <a:tcPr marL="91440" marR="91440" marT="0" marB="0" anchor="ctr">
                    <a:solidFill>
                      <a:srgbClr val="F1F5F9"/>
                    </a:solidFill>
                  </a:tcPr>
                </a:tc>
                <a:tc>
                  <a:txBody>
                    <a:bodyPr wrap="square" anchor="ctr">
                      <a:noAutofit/>
                    </a:bodyPr>
                    <a:lstStyle/>
                    <a:p>
                      <a:pPr algn="ctr"/>
                      <a:r>
                        <a:rPr sz="1200" noProof="1">
                          <a:solidFill>
                            <a:srgbClr val="0F172A"/>
                          </a:solidFill>
                          <a:latin typeface="QuattrocentoSans"/>
                          <a:ea typeface="MiSans"/>
                        </a:rPr>
                        <a:t>51个</a:t>
                      </a:r>
                    </a:p>
                  </a:txBody>
                  <a:tcPr marL="91440" marR="91440" marT="0" marB="0" anchor="ctr">
                    <a:solidFill>
                      <a:srgbClr val="F1F5F9"/>
                    </a:solidFill>
                  </a:tcPr>
                </a:tc>
              </a:tr>
              <a:tr h="388620">
                <a:tc>
                  <a:txBody>
                    <a:bodyPr wrap="square" anchor="ctr">
                      <a:noAutofit/>
                    </a:bodyPr>
                    <a:lstStyle/>
                    <a:p>
                      <a:pPr algn="ctr"/>
                      <a:r>
                        <a:rPr sz="1200" noProof="1">
                          <a:solidFill>
                            <a:srgbClr val="0F172A"/>
                          </a:solidFill>
                          <a:latin typeface="QuattrocentoSans"/>
                          <a:ea typeface="MiSans"/>
                        </a:rPr>
                        <a:t>覆盖已知漏洞</a:t>
                      </a:r>
                    </a:p>
                  </a:txBody>
                  <a:tcPr marL="91440" marR="91440" marT="0" marB="0" anchor="ctr">
                    <a:solidFill>
                      <a:srgbClr val="FFFFFF"/>
                    </a:solidFill>
                  </a:tcPr>
                </a:tc>
                <a:tc>
                  <a:txBody>
                    <a:bodyPr wrap="square" anchor="ctr">
                      <a:noAutofit/>
                    </a:bodyPr>
                    <a:lstStyle/>
                    <a:p>
                      <a:pPr algn="ctr"/>
                      <a:r>
                        <a:rPr sz="1200" noProof="1">
                          <a:solidFill>
                            <a:srgbClr val="0F172A"/>
                          </a:solidFill>
                          <a:latin typeface="QuattrocentoSans"/>
                          <a:ea typeface="MiSans"/>
                        </a:rPr>
                        <a:t>28个 + 12关联</a:t>
                      </a:r>
                    </a:p>
                  </a:txBody>
                  <a:tcPr marL="91440" marR="91440" marT="0" marB="0" anchor="ctr">
                    <a:solidFill>
                      <a:srgbClr val="FFFFFF"/>
                    </a:solidFill>
                  </a:tcPr>
                </a:tc>
              </a:tr>
              <a:tr h="388620">
                <a:tc>
                  <a:txBody>
                    <a:bodyPr wrap="square" anchor="ctr">
                      <a:noAutofit/>
                    </a:bodyPr>
                    <a:lstStyle/>
                    <a:p>
                      <a:pPr algn="ctr"/>
                      <a:r>
                        <a:rPr sz="1200" noProof="1">
                          <a:solidFill>
                            <a:srgbClr val="0F172A"/>
                          </a:solidFill>
                          <a:latin typeface="QuattrocentoSans"/>
                          <a:ea typeface="MiSans"/>
                        </a:rPr>
                        <a:t>检测准确率</a:t>
                      </a:r>
                    </a:p>
                  </a:txBody>
                  <a:tcPr marL="91440" marR="91440" marT="0" marB="0" anchor="ctr">
                    <a:solidFill>
                      <a:srgbClr val="F1F5F9"/>
                    </a:solidFill>
                  </a:tcPr>
                </a:tc>
                <a:tc>
                  <a:txBody>
                    <a:bodyPr wrap="square" anchor="ctr">
                      <a:noAutofit/>
                    </a:bodyPr>
                    <a:lstStyle/>
                    <a:p>
                      <a:pPr algn="ctr"/>
                      <a:r>
                        <a:rPr sz="1200" noProof="1">
                          <a:solidFill>
                            <a:srgbClr val="0F172A"/>
                          </a:solidFill>
                          <a:latin typeface="QuattrocentoSans"/>
                          <a:ea typeface="MiSans"/>
                        </a:rPr>
                        <a:t>76%</a:t>
                      </a:r>
                    </a:p>
                  </a:txBody>
                  <a:tcPr marL="91440" marR="91440" marT="0" marB="0" anchor="ctr">
                    <a:solidFill>
                      <a:srgbClr val="F1F5F9"/>
                    </a:solidFill>
                  </a:tcPr>
                </a:tc>
              </a:tr>
              <a:tr h="388620">
                <a:tc>
                  <a:txBody>
                    <a:bodyPr wrap="square" anchor="ctr">
                      <a:noAutofit/>
                    </a:bodyPr>
                    <a:lstStyle/>
                    <a:p>
                      <a:pPr algn="ctr"/>
                      <a:r>
                        <a:rPr sz="1200" noProof="1">
                          <a:solidFill>
                            <a:srgbClr val="0F172A"/>
                          </a:solidFill>
                          <a:latin typeface="QuattrocentoSans"/>
                          <a:ea typeface="MiSans"/>
                        </a:rPr>
                        <a:t>约束提取准确率</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FFFFFF"/>
                    </a:solidFill>
                  </a:tcPr>
                </a:tc>
                <a:tc>
                  <a:txBody>
                    <a:bodyPr wrap="square" anchor="ctr">
                      <a:noAutofit/>
                    </a:bodyPr>
                    <a:lstStyle/>
                    <a:p>
                      <a:pPr algn="ctr"/>
                      <a:r>
                        <a:rPr sz="1200" noProof="1">
                          <a:solidFill>
                            <a:srgbClr val="0F172A"/>
                          </a:solidFill>
                          <a:latin typeface="QuattrocentoSans"/>
                          <a:ea typeface="MiSans"/>
                        </a:rPr>
                        <a:t>95% / 86% / 85%</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FFFFFF"/>
                    </a:solidFill>
                  </a:tcPr>
                </a:tc>
              </a:tr>
            </a:tbl>
          </a:graphicData>
        </a:graphic>
      </p:graphicFrame>
      <p:sp>
        <p:nvSpPr>
          <p:cNvPr id="15" name="dsl:results-note|s=$body"/>
          <p:cNvSpPr txBox="1"/>
          <p:nvPr/>
        </p:nvSpPr>
        <p:spPr>
          <a:xfrm>
            <a:off x="6667500" y="1409700"/>
            <a:ext cx="4953000" cy="2286000"/>
          </a:xfrm>
          <a:prstGeom prst="rect">
            <a:avLst/>
          </a:prstGeom>
          <a:noFill/>
        </p:spPr>
        <p:txBody>
          <a:bodyPr wrap="square" anchor="t">
            <a:noAutofit/>
          </a:bodyPr>
          <a:lstStyle/>
          <a:p>
            <a:pPr algn="l">
              <a:lnSpc>
                <a:spcPct val="160000"/>
              </a:lnSpc>
            </a:pPr>
            <a:r>
              <a:rPr b="1" sz="1350" noProof="1">
                <a:solidFill>
                  <a:srgbClr val="0F172A"/>
                </a:solidFill>
                <a:latin typeface="QuattrocentoSans"/>
                <a:ea typeface="MiSans"/>
              </a:rPr>
              <a:t>与现有方法对比</a:t>
            </a:r>
          </a:p>
          <a:p>
            <a:pPr algn="l">
              <a:lnSpc>
                <a:spcPct val="160000"/>
              </a:lnSpc>
            </a:pPr>
            <a:r>
              <a:rPr sz="1350" noProof="1">
                <a:solidFill>
                  <a:srgbClr val="0F172A"/>
                </a:solidFill>
                <a:latin typeface="QuattrocentoSans"/>
                <a:ea typeface="MiSans"/>
              </a:rPr>
              <a:t>相比SaTC/LARA/Mango/OctopusTaint分别多发现18/6/17/19个漏洞。约束提取准确率：前端约束95%、后端显式约束86%、后端隐式约束85%。</a:t>
            </a:r>
          </a:p>
        </p:txBody>
      </p:sp>
      <p:sp>
        <p:nvSpPr>
          <p:cNvPr id="16" name="dsl:eval-bar"/>
          <p:cNvSpPr/>
          <p:nvPr/>
        </p:nvSpPr>
        <p:spPr>
          <a:xfrm>
            <a:off x="571500" y="390525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eval-subtitle|s=$subtitle"/>
          <p:cNvSpPr txBox="1"/>
          <p:nvPr/>
        </p:nvSpPr>
        <p:spPr>
          <a:xfrm>
            <a:off x="685800" y="388620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文章评价</a:t>
            </a:r>
          </a:p>
        </p:txBody>
      </p:sp>
      <p:sp>
        <p:nvSpPr>
          <p:cNvPr id="18" name="dsl:eval1-bar"/>
          <p:cNvSpPr/>
          <p:nvPr/>
        </p:nvSpPr>
        <p:spPr>
          <a:xfrm>
            <a:off x="571500" y="4305300"/>
            <a:ext cx="38100" cy="2286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eval1-subtitle"/>
          <p:cNvSpPr txBox="1"/>
          <p:nvPr/>
        </p:nvSpPr>
        <p:spPr>
          <a:xfrm>
            <a:off x="685800" y="4286250"/>
            <a:ext cx="3314700" cy="266700"/>
          </a:xfrm>
          <a:prstGeom prst="rect">
            <a:avLst/>
          </a:prstGeom>
          <a:noFill/>
        </p:spPr>
        <p:txBody>
          <a:bodyPr wrap="none" anchor="ctr">
            <a:noAutofit/>
          </a:bodyPr>
          <a:lstStyle/>
          <a:p>
            <a:pPr algn="l"/>
            <a:r>
              <a:rPr b="1" sz="1350" noProof="1">
                <a:solidFill>
                  <a:srgbClr val="059669"/>
                </a:solidFill>
                <a:latin typeface="QuattrocentoSans"/>
                <a:ea typeface="MiSans"/>
              </a:rPr>
              <a:t>优势</a:t>
            </a:r>
          </a:p>
        </p:txBody>
      </p:sp>
      <p:sp>
        <p:nvSpPr>
          <p:cNvPr id="20" name="dsl:eval1-body|s=$body"/>
          <p:cNvSpPr txBox="1"/>
          <p:nvPr/>
        </p:nvSpPr>
        <p:spPr>
          <a:xfrm>
            <a:off x="571500" y="4629150"/>
            <a:ext cx="3429000" cy="171450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从约束一致性角度解释漏洞成因，而非仅判断可达性。将前后端语义差异量化为检测信号，提供了不同于传统污点分析的新视角。</a:t>
            </a:r>
          </a:p>
        </p:txBody>
      </p:sp>
      <p:sp>
        <p:nvSpPr>
          <p:cNvPr id="21" name="dsl:eval2-bar"/>
          <p:cNvSpPr/>
          <p:nvPr/>
        </p:nvSpPr>
        <p:spPr>
          <a:xfrm>
            <a:off x="4191000" y="4305300"/>
            <a:ext cx="38100" cy="2286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eval2-subtitle"/>
          <p:cNvSpPr txBox="1"/>
          <p:nvPr/>
        </p:nvSpPr>
        <p:spPr>
          <a:xfrm>
            <a:off x="4305300" y="4286250"/>
            <a:ext cx="3314700" cy="266700"/>
          </a:xfrm>
          <a:prstGeom prst="rect">
            <a:avLst/>
          </a:prstGeom>
          <a:noFill/>
        </p:spPr>
        <p:txBody>
          <a:bodyPr wrap="none" anchor="ctr">
            <a:noAutofit/>
          </a:bodyPr>
          <a:lstStyle/>
          <a:p>
            <a:pPr algn="l"/>
            <a:r>
              <a:rPr b="1" sz="1350" noProof="1">
                <a:solidFill>
                  <a:srgbClr val="DC2626"/>
                </a:solidFill>
                <a:latin typeface="QuattrocentoSans"/>
                <a:ea typeface="MiSans"/>
              </a:rPr>
              <a:t>局限</a:t>
            </a:r>
          </a:p>
        </p:txBody>
      </p:sp>
      <p:sp>
        <p:nvSpPr>
          <p:cNvPr id="23" name="dsl:eval2-body|s=$body"/>
          <p:cNvSpPr txBox="1"/>
          <p:nvPr/>
        </p:nvSpPr>
        <p:spPr>
          <a:xfrm>
            <a:off x="4191000" y="4629150"/>
            <a:ext cx="3429000" cy="171450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约束提取不完整直接影响检测有效性。复杂JavaScript前端校验、动态生成约束难以静态提取。后端隐式约束（如业务逻辑）识别仍有限。</a:t>
            </a:r>
          </a:p>
        </p:txBody>
      </p:sp>
      <p:sp>
        <p:nvSpPr>
          <p:cNvPr id="24" name="dsl:eval3-bar"/>
          <p:cNvSpPr/>
          <p:nvPr/>
        </p:nvSpPr>
        <p:spPr>
          <a:xfrm>
            <a:off x="7810500" y="4305300"/>
            <a:ext cx="38100" cy="228600"/>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eval3-subtitle"/>
          <p:cNvSpPr txBox="1"/>
          <p:nvPr/>
        </p:nvSpPr>
        <p:spPr>
          <a:xfrm>
            <a:off x="7924800" y="4286250"/>
            <a:ext cx="3314700" cy="266700"/>
          </a:xfrm>
          <a:prstGeom prst="rect">
            <a:avLst/>
          </a:prstGeom>
          <a:noFill/>
        </p:spPr>
        <p:txBody>
          <a:bodyPr wrap="none" anchor="ctr">
            <a:noAutofit/>
          </a:bodyPr>
          <a:lstStyle/>
          <a:p>
            <a:pPr algn="l"/>
            <a:r>
              <a:rPr b="1" sz="1350" noProof="1">
                <a:solidFill>
                  <a:srgbClr val="64748B"/>
                </a:solidFill>
                <a:latin typeface="QuattrocentoSans"/>
                <a:ea typeface="MiSans"/>
              </a:rPr>
              <a:t>商业化</a:t>
            </a:r>
          </a:p>
        </p:txBody>
      </p:sp>
      <p:sp>
        <p:nvSpPr>
          <p:cNvPr id="26" name="dsl:eval3-body|s=$body"/>
          <p:cNvSpPr txBox="1"/>
          <p:nvPr/>
        </p:nvSpPr>
        <p:spPr>
          <a:xfrm>
            <a:off x="7810500" y="4629150"/>
            <a:ext cx="3429000" cy="171450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适合固件发布前安全检查，将约束一致性验证集成到CI/CD流水线中，作为发布前自动漏洞筛查环节。</a:t>
            </a:r>
          </a:p>
        </p:txBody>
      </p:sp>
      <p:sp>
        <p:nvSpPr>
          <p:cNvPr id="27" name="dsl:footer-left|s=$caption"/>
          <p:cNvSpPr txBox="1"/>
          <p:nvPr/>
        </p:nvSpPr>
        <p:spPr>
          <a:xfrm>
            <a:off x="571500" y="6572250"/>
            <a:ext cx="3810000" cy="1905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网络设备Web服务安全研究</a:t>
            </a:r>
          </a:p>
        </p:txBody>
      </p:sp>
      <p:sp>
        <p:nvSpPr>
          <p:cNvPr id="28" name="dsl:footer-right|s=$caption"/>
          <p:cNvSpPr txBox="1"/>
          <p:nvPr/>
        </p:nvSpPr>
        <p:spPr>
          <a:xfrm>
            <a:off x="10477500" y="6572250"/>
            <a:ext cx="1143000" cy="190500"/>
          </a:xfrm>
          <a:prstGeom prst="rect">
            <a:avLst/>
          </a:prstGeom>
          <a:noFill/>
        </p:spPr>
        <p:txBody>
          <a:bodyPr wrap="none" anchor="ctr">
            <a:noAutofit/>
          </a:bodyPr>
          <a:lstStyle/>
          <a:p>
            <a:pPr algn="r">
              <a:lnSpc>
                <a:spcPct val="140000"/>
              </a:lnSpc>
            </a:pPr>
            <a:r>
              <a:rPr sz="1050" noProof="1">
                <a:solidFill>
                  <a:srgbClr val="64748B"/>
                </a:solidFill>
                <a:latin typeface="QuattrocentoSans"/>
                <a:ea typeface="MiSans"/>
              </a:rPr>
              <a:t>30 / 37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dsl:nav-bg"/>
          <p:cNvSpPr/>
          <p:nvPr/>
        </p:nvSpPr>
        <p:spPr>
          <a:xfrm>
            <a:off x="0" y="0"/>
            <a:ext cx="12192000" cy="381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
          <p:cNvSpPr/>
          <p:nvPr/>
        </p:nvSpPr>
        <p:spPr>
          <a:xfrm>
            <a:off x="9144000" y="0"/>
            <a:ext cx="3048000" cy="3810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t1|s=$nav"/>
          <p:cNvSpPr txBox="1"/>
          <p:nvPr/>
        </p:nvSpPr>
        <p:spPr>
          <a:xfrm>
            <a:off x="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维度一: Source</a:t>
            </a:r>
          </a:p>
        </p:txBody>
      </p:sp>
      <p:sp>
        <p:nvSpPr>
          <p:cNvPr id="5" name="dsl:nav-t2|s=$nav"/>
          <p:cNvSpPr txBox="1"/>
          <p:nvPr/>
        </p:nvSpPr>
        <p:spPr>
          <a:xfrm>
            <a:off x="3048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维度二: Propagation</a:t>
            </a:r>
          </a:p>
        </p:txBody>
      </p:sp>
      <p:sp>
        <p:nvSpPr>
          <p:cNvPr id="6" name="dsl:nav-t3|s=$nav"/>
          <p:cNvSpPr txBox="1"/>
          <p:nvPr/>
        </p:nvSpPr>
        <p:spPr>
          <a:xfrm>
            <a:off x="6096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维度三: Sink</a:t>
            </a:r>
          </a:p>
        </p:txBody>
      </p:sp>
      <p:sp>
        <p:nvSpPr>
          <p:cNvPr id="7" name="dsl:nav-t4|s=$nav"/>
          <p:cNvSpPr txBox="1"/>
          <p:nvPr/>
        </p:nvSpPr>
        <p:spPr>
          <a:xfrm>
            <a:off x="9144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维度四: Verification</a:t>
            </a:r>
          </a:p>
        </p:txBody>
      </p:sp>
      <p:sp>
        <p:nvSpPr>
          <p:cNvPr id="8" name="dsl:nav-line"/>
          <p:cNvSpPr/>
          <p:nvPr/>
        </p:nvSpPr>
        <p:spPr>
          <a:xfrm>
            <a:off x="0" y="381000"/>
            <a:ext cx="12192000" cy="1905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page-title|s=$title"/>
          <p:cNvSpPr txBox="1"/>
          <p:nvPr/>
        </p:nvSpPr>
        <p:spPr>
          <a:xfrm>
            <a:off x="571500" y="514350"/>
            <a:ext cx="8382000" cy="381000"/>
          </a:xfrm>
          <a:prstGeom prst="rect">
            <a:avLst/>
          </a:prstGeom>
          <a:noFill/>
        </p:spPr>
        <p:txBody>
          <a:bodyPr wrap="none" anchor="ctr">
            <a:noAutofit/>
          </a:bodyPr>
          <a:lstStyle/>
          <a:p>
            <a:pPr algn="l">
              <a:lnSpc>
                <a:spcPct val="130000"/>
              </a:lnSpc>
            </a:pPr>
            <a:r>
              <a:rPr sz="2100" noProof="1">
                <a:solidFill>
                  <a:srgbClr val="1E293B"/>
                </a:solidFill>
                <a:latin typeface="QuattrocentoSans"/>
                <a:ea typeface="MiSans"/>
              </a:rPr>
              <a:t>LABRADOR — 响应反馈导向的黑盒定向Fuzzing</a:t>
            </a:r>
          </a:p>
        </p:txBody>
      </p:sp>
      <p:sp>
        <p:nvSpPr>
          <p:cNvPr id="10" name="dsl:badge-bg"/>
          <p:cNvSpPr/>
          <p:nvPr/>
        </p:nvSpPr>
        <p:spPr>
          <a:xfrm>
            <a:off x="10001250" y="552450"/>
            <a:ext cx="1619250" cy="266700"/>
          </a:xfrm>
          <a:prstGeom prst="roundRect">
            <a:avLst>
              <a:gd name="adj" fmla="val 8000"/>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badge-text|s=$badge"/>
          <p:cNvSpPr txBox="1"/>
          <p:nvPr/>
        </p:nvSpPr>
        <p:spPr>
          <a:xfrm>
            <a:off x="10001250" y="552450"/>
            <a:ext cx="1619250" cy="2667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IEEE S&amp;P 2024</a:t>
            </a:r>
          </a:p>
        </p:txBody>
      </p:sp>
      <p:sp>
        <p:nvSpPr>
          <p:cNvPr id="12" name="dsl:left-bar-1"/>
          <p:cNvSpPr/>
          <p:nvPr/>
        </p:nvSpPr>
        <p:spPr>
          <a:xfrm>
            <a:off x="5715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left-subtitle-1|s=$subtitle"/>
          <p:cNvSpPr txBox="1"/>
          <p:nvPr/>
        </p:nvSpPr>
        <p:spPr>
          <a:xfrm>
            <a:off x="6858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内容摘要</a:t>
            </a:r>
          </a:p>
        </p:txBody>
      </p:sp>
      <p:sp>
        <p:nvSpPr>
          <p:cNvPr id="14" name="dsl:left-body-1|s=$body"/>
          <p:cNvSpPr txBox="1"/>
          <p:nvPr/>
        </p:nvSpPr>
        <p:spPr>
          <a:xfrm>
            <a:off x="571500" y="1352550"/>
            <a:ext cx="3429000" cy="18097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基于响应反馈的黑盒IoT设备定向Fuzzing框架。通过解析网络响应近似恢复执行轨迹，定义IO面向距离度量引导变异策略。在14台企业级设备发现79个0-day含61个CVE。</a:t>
            </a:r>
          </a:p>
        </p:txBody>
      </p:sp>
      <p:sp>
        <p:nvSpPr>
          <p:cNvPr id="15" name="dsl:left-bar-2"/>
          <p:cNvSpPr/>
          <p:nvPr/>
        </p:nvSpPr>
        <p:spPr>
          <a:xfrm>
            <a:off x="571500" y="3314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left-subtitle-2|s=$subtitle"/>
          <p:cNvSpPr txBox="1"/>
          <p:nvPr/>
        </p:nvSpPr>
        <p:spPr>
          <a:xfrm>
            <a:off x="685800" y="3295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研究背景</a:t>
            </a:r>
          </a:p>
        </p:txBody>
      </p:sp>
      <p:sp>
        <p:nvSpPr>
          <p:cNvPr id="17" name="dsl:left-body-2|s=$body"/>
          <p:cNvSpPr txBox="1"/>
          <p:nvPr/>
        </p:nvSpPr>
        <p:spPr>
          <a:xfrm>
            <a:off x="571500" y="3638550"/>
            <a:ext cx="3429000" cy="21907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真实IoT设备无法插桩，传统白盒覆盖率反馈不可用。黑盒Fuzzing缺少覆盖率和目标距离反馈，随机变异效率极低。需要利用网络响应这一唯一可见信息推断内部执行状态。</a:t>
            </a:r>
          </a:p>
        </p:txBody>
      </p:sp>
      <p:sp>
        <p:nvSpPr>
          <p:cNvPr id="18" name="dsl:mid-bar-1"/>
          <p:cNvSpPr/>
          <p:nvPr/>
        </p:nvSpPr>
        <p:spPr>
          <a:xfrm>
            <a:off x="41910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mid-subtitle-1|s=$subtitle"/>
          <p:cNvSpPr txBox="1"/>
          <p:nvPr/>
        </p:nvSpPr>
        <p:spPr>
          <a:xfrm>
            <a:off x="43053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核心洞察</a:t>
            </a:r>
          </a:p>
        </p:txBody>
      </p:sp>
      <p:sp>
        <p:nvSpPr>
          <p:cNvPr id="20" name="dsl:mid-body-1|s=$body"/>
          <p:cNvSpPr txBox="1"/>
          <p:nvPr/>
        </p:nvSpPr>
        <p:spPr>
          <a:xfrm>
            <a:off x="4191000" y="1352550"/>
            <a:ext cx="3429000" cy="23812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网络响应字符串蕴含执行轨迹信息。响应差异（长度、内容、状态码变化）可近似推断程序内部路径走向。将响应解析为执行轨迹，建立输入到响应变化的距离度量，指导Fuzzer向Sink靠近。</a:t>
            </a:r>
          </a:p>
        </p:txBody>
      </p:sp>
      <p:sp>
        <p:nvSpPr>
          <p:cNvPr id="21" name="dsl:mid-bar-2"/>
          <p:cNvSpPr/>
          <p:nvPr/>
        </p:nvSpPr>
        <p:spPr>
          <a:xfrm>
            <a:off x="4191000" y="38100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mid-subtitle-2|s=$subtitle"/>
          <p:cNvSpPr txBox="1"/>
          <p:nvPr/>
        </p:nvSpPr>
        <p:spPr>
          <a:xfrm>
            <a:off x="4305300" y="37909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解决方案</a:t>
            </a:r>
          </a:p>
        </p:txBody>
      </p:sp>
      <p:sp>
        <p:nvSpPr>
          <p:cNvPr id="23" name="dsl:mid-body-2|s=$body"/>
          <p:cNvSpPr txBox="1"/>
          <p:nvPr/>
        </p:nvSpPr>
        <p:spPr>
          <a:xfrm>
            <a:off x="4191000" y="4133850"/>
            <a:ext cx="3429000" cy="23812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1. 响应执行轨迹推断（RTI）：解析响应字符串序列，推断代码执行路径。2. IO面向距离度量（IODM）：基于响应差异定义输入到目标Sink的距离。3. 距离引导变异策略：优先变异能缩小IODM的字段，使Fuzzer高效逼近漏洞触发点。</a:t>
            </a:r>
          </a:p>
        </p:txBody>
      </p:sp>
      <p:sp>
        <p:nvSpPr>
          <p:cNvPr id="24" name="dsl:right-bar"/>
          <p:cNvSpPr/>
          <p:nvPr/>
        </p:nvSpPr>
        <p:spPr>
          <a:xfrm>
            <a:off x="78105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right-subtitle|s=$subtitle"/>
          <p:cNvSpPr txBox="1"/>
          <p:nvPr/>
        </p:nvSpPr>
        <p:spPr>
          <a:xfrm>
            <a:off x="79248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关键数据</a:t>
            </a:r>
          </a:p>
        </p:txBody>
      </p:sp>
      <p:sp>
        <p:nvSpPr>
          <p:cNvPr id="26" name="dsl:card1-bg"/>
          <p:cNvSpPr/>
          <p:nvPr/>
        </p:nvSpPr>
        <p:spPr>
          <a:xfrm>
            <a:off x="8001000" y="1428750"/>
            <a:ext cx="3238500" cy="1143000"/>
          </a:xfrm>
          <a:prstGeom prst="roundRect">
            <a:avLst>
              <a:gd name="adj" fmla="val 8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card1-num|s=$kpi"/>
          <p:cNvSpPr txBox="1"/>
          <p:nvPr/>
        </p:nvSpPr>
        <p:spPr>
          <a:xfrm>
            <a:off x="8191500" y="1571625"/>
            <a:ext cx="2857500" cy="400050"/>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79</a:t>
            </a:r>
          </a:p>
        </p:txBody>
      </p:sp>
      <p:sp>
        <p:nvSpPr>
          <p:cNvPr id="28" name="dsl:card1-label|s=$caption"/>
          <p:cNvSpPr txBox="1"/>
          <p:nvPr/>
        </p:nvSpPr>
        <p:spPr>
          <a:xfrm>
            <a:off x="8191500" y="2047875"/>
            <a:ext cx="2857500" cy="2286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个0-day漏洞</a:t>
            </a:r>
          </a:p>
        </p:txBody>
      </p:sp>
      <p:sp>
        <p:nvSpPr>
          <p:cNvPr id="29" name="dsl:card2-bg"/>
          <p:cNvSpPr/>
          <p:nvPr/>
        </p:nvSpPr>
        <p:spPr>
          <a:xfrm>
            <a:off x="8001000" y="2762250"/>
            <a:ext cx="3238500" cy="1143000"/>
          </a:xfrm>
          <a:prstGeom prst="roundRect">
            <a:avLst>
              <a:gd name="adj" fmla="val 8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sl:card2-num|s=$kpi"/>
          <p:cNvSpPr txBox="1"/>
          <p:nvPr/>
        </p:nvSpPr>
        <p:spPr>
          <a:xfrm>
            <a:off x="8191500" y="2905125"/>
            <a:ext cx="2857500" cy="400050"/>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44×</a:t>
            </a:r>
          </a:p>
        </p:txBody>
      </p:sp>
      <p:sp>
        <p:nvSpPr>
          <p:cNvPr id="31" name="dsl:card2-label|s=$caption"/>
          <p:cNvSpPr txBox="1"/>
          <p:nvPr/>
        </p:nvSpPr>
        <p:spPr>
          <a:xfrm>
            <a:off x="8191500" y="3381375"/>
            <a:ext cx="2857500" cy="2286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于SNIPUZZ/BOOFUZZ</a:t>
            </a:r>
          </a:p>
        </p:txBody>
      </p:sp>
      <p:sp>
        <p:nvSpPr>
          <p:cNvPr id="32" name="dsl:card3-bg"/>
          <p:cNvSpPr/>
          <p:nvPr/>
        </p:nvSpPr>
        <p:spPr>
          <a:xfrm>
            <a:off x="8001000" y="4095750"/>
            <a:ext cx="3238500" cy="1143000"/>
          </a:xfrm>
          <a:prstGeom prst="roundRect">
            <a:avLst>
              <a:gd name="adj" fmla="val 8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sl:card3-num|s=$kpi"/>
          <p:cNvSpPr txBox="1"/>
          <p:nvPr/>
        </p:nvSpPr>
        <p:spPr>
          <a:xfrm>
            <a:off x="8191500" y="4238625"/>
            <a:ext cx="2857500" cy="400050"/>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61</a:t>
            </a:r>
          </a:p>
        </p:txBody>
      </p:sp>
      <p:sp>
        <p:nvSpPr>
          <p:cNvPr id="34" name="dsl:card3-label|s=$caption"/>
          <p:cNvSpPr txBox="1"/>
          <p:nvPr/>
        </p:nvSpPr>
        <p:spPr>
          <a:xfrm>
            <a:off x="8191500" y="4714875"/>
            <a:ext cx="2857500" cy="2286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个CVE编号</a:t>
            </a:r>
          </a:p>
        </p:txBody>
      </p:sp>
      <p:sp>
        <p:nvSpPr>
          <p:cNvPr id="35" name="dsl:footer-left|s=$caption"/>
          <p:cNvSpPr txBox="1"/>
          <p:nvPr/>
        </p:nvSpPr>
        <p:spPr>
          <a:xfrm>
            <a:off x="571500" y="6572250"/>
            <a:ext cx="3810000" cy="1905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网络设备Web服务安全研究</a:t>
            </a:r>
          </a:p>
        </p:txBody>
      </p:sp>
      <p:sp>
        <p:nvSpPr>
          <p:cNvPr id="36" name="dsl:footer-right|s=$caption"/>
          <p:cNvSpPr txBox="1"/>
          <p:nvPr/>
        </p:nvSpPr>
        <p:spPr>
          <a:xfrm>
            <a:off x="10477500" y="6572250"/>
            <a:ext cx="1143000" cy="190500"/>
          </a:xfrm>
          <a:prstGeom prst="rect">
            <a:avLst/>
          </a:prstGeom>
          <a:noFill/>
        </p:spPr>
        <p:txBody>
          <a:bodyPr wrap="none" anchor="ctr">
            <a:noAutofit/>
          </a:bodyPr>
          <a:lstStyle/>
          <a:p>
            <a:pPr algn="r">
              <a:lnSpc>
                <a:spcPct val="140000"/>
              </a:lnSpc>
            </a:pPr>
            <a:r>
              <a:rPr sz="1050" noProof="1">
                <a:solidFill>
                  <a:srgbClr val="64748B"/>
                </a:solidFill>
                <a:latin typeface="QuattrocentoSans"/>
                <a:ea typeface="MiSans"/>
              </a:rPr>
              <a:t>31 / 37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dsl:nav-bg"/>
          <p:cNvSpPr/>
          <p:nvPr/>
        </p:nvSpPr>
        <p:spPr>
          <a:xfrm>
            <a:off x="0" y="0"/>
            <a:ext cx="12192000" cy="381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
          <p:cNvSpPr/>
          <p:nvPr/>
        </p:nvSpPr>
        <p:spPr>
          <a:xfrm>
            <a:off x="9144000" y="0"/>
            <a:ext cx="3048000" cy="3810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t1|s=$nav"/>
          <p:cNvSpPr txBox="1"/>
          <p:nvPr/>
        </p:nvSpPr>
        <p:spPr>
          <a:xfrm>
            <a:off x="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维度一: Source</a:t>
            </a:r>
          </a:p>
        </p:txBody>
      </p:sp>
      <p:sp>
        <p:nvSpPr>
          <p:cNvPr id="5" name="dsl:nav-t2|s=$nav"/>
          <p:cNvSpPr txBox="1"/>
          <p:nvPr/>
        </p:nvSpPr>
        <p:spPr>
          <a:xfrm>
            <a:off x="3048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维度二: Propagation</a:t>
            </a:r>
          </a:p>
        </p:txBody>
      </p:sp>
      <p:sp>
        <p:nvSpPr>
          <p:cNvPr id="6" name="dsl:nav-t3|s=$nav"/>
          <p:cNvSpPr txBox="1"/>
          <p:nvPr/>
        </p:nvSpPr>
        <p:spPr>
          <a:xfrm>
            <a:off x="6096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维度三: Sink</a:t>
            </a:r>
          </a:p>
        </p:txBody>
      </p:sp>
      <p:sp>
        <p:nvSpPr>
          <p:cNvPr id="7" name="dsl:nav-t4|s=$nav"/>
          <p:cNvSpPr txBox="1"/>
          <p:nvPr/>
        </p:nvSpPr>
        <p:spPr>
          <a:xfrm>
            <a:off x="9144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维度四: Verification</a:t>
            </a:r>
          </a:p>
        </p:txBody>
      </p:sp>
      <p:sp>
        <p:nvSpPr>
          <p:cNvPr id="8" name="dsl:nav-line"/>
          <p:cNvSpPr/>
          <p:nvPr/>
        </p:nvSpPr>
        <p:spPr>
          <a:xfrm>
            <a:off x="0" y="381000"/>
            <a:ext cx="12192000" cy="1905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page-title|s=$title"/>
          <p:cNvSpPr txBox="1"/>
          <p:nvPr/>
        </p:nvSpPr>
        <p:spPr>
          <a:xfrm>
            <a:off x="571500" y="514350"/>
            <a:ext cx="8382000" cy="381000"/>
          </a:xfrm>
          <a:prstGeom prst="rect">
            <a:avLst/>
          </a:prstGeom>
          <a:noFill/>
        </p:spPr>
        <p:txBody>
          <a:bodyPr wrap="none" anchor="ctr">
            <a:noAutofit/>
          </a:bodyPr>
          <a:lstStyle/>
          <a:p>
            <a:pPr algn="l">
              <a:lnSpc>
                <a:spcPct val="130000"/>
              </a:lnSpc>
            </a:pPr>
            <a:r>
              <a:rPr sz="2100" noProof="1">
                <a:solidFill>
                  <a:srgbClr val="1E293B"/>
                </a:solidFill>
                <a:latin typeface="QuattrocentoSans"/>
                <a:ea typeface="MiSans"/>
              </a:rPr>
              <a:t>LABRADOR — 实验结果与文章评价</a:t>
            </a:r>
          </a:p>
        </p:txBody>
      </p:sp>
      <p:sp>
        <p:nvSpPr>
          <p:cNvPr id="10" name="dsl:badge-bg"/>
          <p:cNvSpPr/>
          <p:nvPr/>
        </p:nvSpPr>
        <p:spPr>
          <a:xfrm>
            <a:off x="10001250" y="552450"/>
            <a:ext cx="1619250" cy="266700"/>
          </a:xfrm>
          <a:prstGeom prst="roundRect">
            <a:avLst>
              <a:gd name="adj" fmla="val 8000"/>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badge-text|s=$badge"/>
          <p:cNvSpPr txBox="1"/>
          <p:nvPr/>
        </p:nvSpPr>
        <p:spPr>
          <a:xfrm>
            <a:off x="10001250" y="552450"/>
            <a:ext cx="1619250" cy="2667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IEEE S&amp;P 2024</a:t>
            </a:r>
          </a:p>
        </p:txBody>
      </p:sp>
      <p:sp>
        <p:nvSpPr>
          <p:cNvPr id="12" name="dsl:results-bar"/>
          <p:cNvSpPr/>
          <p:nvPr/>
        </p:nvSpPr>
        <p:spPr>
          <a:xfrm>
            <a:off x="5715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results-subtitle|s=$subtitle"/>
          <p:cNvSpPr txBox="1"/>
          <p:nvPr/>
        </p:nvSpPr>
        <p:spPr>
          <a:xfrm>
            <a:off x="6858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实验结果</a:t>
            </a:r>
          </a:p>
        </p:txBody>
      </p:sp>
      <p:graphicFrame>
        <p:nvGraphicFramePr>
          <p:cNvPr id="14" name="dsl:results-table"/>
          <p:cNvGraphicFramePr>
            <a:graphicFrameLocks noGrp="1"/>
          </p:cNvGraphicFramePr>
          <p:nvPr/>
        </p:nvGraphicFramePr>
        <p:xfrm>
          <a:off x="571500" y="1409700"/>
          <a:ext cx="5715000" cy="2286000"/>
        </p:xfrm>
        <a:graphic>
          <a:graphicData uri="http://schemas.openxmlformats.org/drawingml/2006/table">
            <a:tbl>
              <a:tblPr firstRow="0" bandRow="0" lastRow="0" firstCol="0" lastCol="0" bandCol="0">
                <a:tableStyleId>{2D5ABB26-0587-4C30-8999-92F81FD0307C}</a:tableStyleId>
              </a:tblPr>
              <a:tblGrid>
                <a:gridCol w="2857500"/>
                <a:gridCol w="2857500"/>
              </a:tblGrid>
              <a:tr h="342900">
                <a:tc>
                  <a:txBody>
                    <a:bodyPr wrap="square" anchor="ctr">
                      <a:noAutofit/>
                    </a:bodyPr>
                    <a:lstStyle/>
                    <a:p>
                      <a:pPr algn="ctr"/>
                      <a:r>
                        <a:rPr sz="1200" noProof="1" b="1">
                          <a:solidFill>
                            <a:srgbClr val="FFFFFF"/>
                          </a:solidFill>
                          <a:latin typeface="QuattrocentoSans"/>
                          <a:ea typeface="MiSans"/>
                        </a:rPr>
                        <a:t>评估指标</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1E293B"/>
                    </a:solidFill>
                  </a:tcPr>
                </a:tc>
                <a:tc>
                  <a:txBody>
                    <a:bodyPr wrap="square" anchor="ctr">
                      <a:noAutofit/>
                    </a:bodyPr>
                    <a:lstStyle/>
                    <a:p>
                      <a:pPr algn="ctr"/>
                      <a:r>
                        <a:rPr sz="1200" noProof="1" b="1">
                          <a:solidFill>
                            <a:srgbClr val="FFFFFF"/>
                          </a:solidFill>
                          <a:latin typeface="QuattrocentoSans"/>
                          <a:ea typeface="MiSans"/>
                        </a:rPr>
                        <a:t>数值</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1E293B"/>
                    </a:solidFill>
                  </a:tcPr>
                </a:tc>
              </a:tr>
              <a:tr h="388620">
                <a:tc>
                  <a:txBody>
                    <a:bodyPr wrap="square" anchor="ctr">
                      <a:noAutofit/>
                    </a:bodyPr>
                    <a:lstStyle/>
                    <a:p>
                      <a:pPr algn="ctr"/>
                      <a:r>
                        <a:rPr sz="1200" noProof="1">
                          <a:solidFill>
                            <a:srgbClr val="0F172A"/>
                          </a:solidFill>
                          <a:latin typeface="QuattrocentoSans"/>
                          <a:ea typeface="MiSans"/>
                        </a:rPr>
                        <a:t>测试设备</a:t>
                      </a:r>
                    </a:p>
                  </a:txBody>
                  <a:tcPr marL="91440" marR="91440" marT="0" marB="0" anchor="ctr">
                    <a:solidFill>
                      <a:srgbClr val="FFFFFF"/>
                    </a:solidFill>
                  </a:tcPr>
                </a:tc>
                <a:tc>
                  <a:txBody>
                    <a:bodyPr wrap="square" anchor="ctr">
                      <a:noAutofit/>
                    </a:bodyPr>
                    <a:lstStyle/>
                    <a:p>
                      <a:pPr algn="ctr"/>
                      <a:r>
                        <a:rPr sz="1200" noProof="1">
                          <a:solidFill>
                            <a:srgbClr val="0F172A"/>
                          </a:solidFill>
                          <a:latin typeface="QuattrocentoSans"/>
                          <a:ea typeface="MiSans"/>
                        </a:rPr>
                        <a:t>14台企业级</a:t>
                      </a:r>
                    </a:p>
                  </a:txBody>
                  <a:tcPr marL="91440" marR="91440" marT="0" marB="0" anchor="ctr">
                    <a:solidFill>
                      <a:srgbClr val="FFFFFF"/>
                    </a:solidFill>
                  </a:tcPr>
                </a:tc>
              </a:tr>
              <a:tr h="388620">
                <a:tc>
                  <a:txBody>
                    <a:bodyPr wrap="square" anchor="ctr">
                      <a:noAutofit/>
                    </a:bodyPr>
                    <a:lstStyle/>
                    <a:p>
                      <a:pPr algn="ctr"/>
                      <a:r>
                        <a:rPr sz="1200" noProof="1">
                          <a:solidFill>
                            <a:srgbClr val="0F172A"/>
                          </a:solidFill>
                          <a:latin typeface="QuattrocentoSans"/>
                          <a:ea typeface="MiSans"/>
                        </a:rPr>
                        <a:t>0-day漏洞</a:t>
                      </a:r>
                    </a:p>
                  </a:txBody>
                  <a:tcPr marL="91440" marR="91440" marT="0" marB="0" anchor="ctr">
                    <a:solidFill>
                      <a:srgbClr val="F1F5F9"/>
                    </a:solidFill>
                  </a:tcPr>
                </a:tc>
                <a:tc>
                  <a:txBody>
                    <a:bodyPr wrap="square" anchor="ctr">
                      <a:noAutofit/>
                    </a:bodyPr>
                    <a:lstStyle/>
                    <a:p>
                      <a:pPr algn="ctr"/>
                      <a:r>
                        <a:rPr sz="1200" noProof="1">
                          <a:solidFill>
                            <a:srgbClr val="0F172A"/>
                          </a:solidFill>
                          <a:latin typeface="QuattrocentoSans"/>
                          <a:ea typeface="MiSans"/>
                        </a:rPr>
                        <a:t>79个 (含61 CVE)</a:t>
                      </a:r>
                    </a:p>
                  </a:txBody>
                  <a:tcPr marL="91440" marR="91440" marT="0" marB="0" anchor="ctr">
                    <a:solidFill>
                      <a:srgbClr val="F1F5F9"/>
                    </a:solidFill>
                  </a:tcPr>
                </a:tc>
              </a:tr>
              <a:tr h="388620">
                <a:tc>
                  <a:txBody>
                    <a:bodyPr wrap="square" anchor="ctr">
                      <a:noAutofit/>
                    </a:bodyPr>
                    <a:lstStyle/>
                    <a:p>
                      <a:pPr algn="ctr"/>
                      <a:r>
                        <a:rPr sz="1200" noProof="1">
                          <a:solidFill>
                            <a:srgbClr val="0F172A"/>
                          </a:solidFill>
                          <a:latin typeface="QuattrocentoSans"/>
                          <a:ea typeface="MiSans"/>
                        </a:rPr>
                        <a:t>vs SNIPUZZ/BOOFUZZ</a:t>
                      </a:r>
                    </a:p>
                  </a:txBody>
                  <a:tcPr marL="91440" marR="91440" marT="0" marB="0" anchor="ctr">
                    <a:solidFill>
                      <a:srgbClr val="FFFFFF"/>
                    </a:solidFill>
                  </a:tcPr>
                </a:tc>
                <a:tc>
                  <a:txBody>
                    <a:bodyPr wrap="square" anchor="ctr">
                      <a:noAutofit/>
                    </a:bodyPr>
                    <a:lstStyle/>
                    <a:p>
                      <a:pPr algn="ctr"/>
                      <a:r>
                        <a:rPr sz="1200" noProof="1">
                          <a:solidFill>
                            <a:srgbClr val="0F172A"/>
                          </a:solidFill>
                          <a:latin typeface="QuattrocentoSans"/>
                          <a:ea typeface="MiSans"/>
                        </a:rPr>
                        <a:t>44倍</a:t>
                      </a:r>
                    </a:p>
                  </a:txBody>
                  <a:tcPr marL="91440" marR="91440" marT="0" marB="0" anchor="ctr">
                    <a:solidFill>
                      <a:srgbClr val="FFFFFF"/>
                    </a:solidFill>
                  </a:tcPr>
                </a:tc>
              </a:tr>
              <a:tr h="388620">
                <a:tc>
                  <a:txBody>
                    <a:bodyPr wrap="square" anchor="ctr">
                      <a:noAutofit/>
                    </a:bodyPr>
                    <a:lstStyle/>
                    <a:p>
                      <a:pPr algn="ctr"/>
                      <a:r>
                        <a:rPr sz="1200" noProof="1">
                          <a:solidFill>
                            <a:srgbClr val="0F172A"/>
                          </a:solidFill>
                          <a:latin typeface="QuattrocentoSans"/>
                          <a:ea typeface="MiSans"/>
                        </a:rPr>
                        <a:t>vs SaTC</a:t>
                      </a:r>
                    </a:p>
                  </a:txBody>
                  <a:tcPr marL="91440" marR="91440" marT="0" marB="0" anchor="ctr">
                    <a:solidFill>
                      <a:srgbClr val="F1F5F9"/>
                    </a:solidFill>
                  </a:tcPr>
                </a:tc>
                <a:tc>
                  <a:txBody>
                    <a:bodyPr wrap="square" anchor="ctr">
                      <a:noAutofit/>
                    </a:bodyPr>
                    <a:lstStyle/>
                    <a:p>
                      <a:pPr algn="ctr"/>
                      <a:r>
                        <a:rPr sz="1200" noProof="1">
                          <a:solidFill>
                            <a:srgbClr val="0F172A"/>
                          </a:solidFill>
                          <a:latin typeface="QuattrocentoSans"/>
                          <a:ea typeface="MiSans"/>
                        </a:rPr>
                        <a:t>8.57倍</a:t>
                      </a:r>
                    </a:p>
                  </a:txBody>
                  <a:tcPr marL="91440" marR="91440" marT="0" marB="0" anchor="ctr">
                    <a:solidFill>
                      <a:srgbClr val="F1F5F9"/>
                    </a:solidFill>
                  </a:tcPr>
                </a:tc>
              </a:tr>
              <a:tr h="388620">
                <a:tc>
                  <a:txBody>
                    <a:bodyPr wrap="square" anchor="ctr">
                      <a:noAutofit/>
                    </a:bodyPr>
                    <a:lstStyle/>
                    <a:p>
                      <a:pPr algn="ctr"/>
                      <a:r>
                        <a:rPr sz="1200" noProof="1">
                          <a:solidFill>
                            <a:srgbClr val="0F172A"/>
                          </a:solidFill>
                          <a:latin typeface="QuattrocentoSans"/>
                          <a:ea typeface="MiSans"/>
                        </a:rPr>
                        <a:t>设备类型</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FFFFFF"/>
                    </a:solidFill>
                  </a:tcPr>
                </a:tc>
                <a:tc>
                  <a:txBody>
                    <a:bodyPr wrap="square" anchor="ctr">
                      <a:noAutofit/>
                    </a:bodyPr>
                    <a:lstStyle/>
                    <a:p>
                      <a:pPr algn="ctr"/>
                      <a:r>
                        <a:rPr sz="1200" noProof="1">
                          <a:solidFill>
                            <a:srgbClr val="0F172A"/>
                          </a:solidFill>
                          <a:latin typeface="QuattrocentoSans"/>
                          <a:ea typeface="MiSans"/>
                        </a:rPr>
                        <a:t>路由器/交换机/AP</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FFFFFF"/>
                    </a:solidFill>
                  </a:tcPr>
                </a:tc>
              </a:tr>
            </a:tbl>
          </a:graphicData>
        </a:graphic>
      </p:graphicFrame>
      <p:sp>
        <p:nvSpPr>
          <p:cNvPr id="15" name="dsl:results-note|s=$body"/>
          <p:cNvSpPr txBox="1"/>
          <p:nvPr/>
        </p:nvSpPr>
        <p:spPr>
          <a:xfrm>
            <a:off x="6667500" y="1409700"/>
            <a:ext cx="4953000" cy="2286000"/>
          </a:xfrm>
          <a:prstGeom prst="rect">
            <a:avLst/>
          </a:prstGeom>
          <a:noFill/>
        </p:spPr>
        <p:txBody>
          <a:bodyPr wrap="square" anchor="t">
            <a:noAutofit/>
          </a:bodyPr>
          <a:lstStyle/>
          <a:p>
            <a:pPr algn="l">
              <a:lnSpc>
                <a:spcPct val="160000"/>
              </a:lnSpc>
            </a:pPr>
            <a:r>
              <a:rPr b="1" sz="1350" noProof="1">
                <a:solidFill>
                  <a:srgbClr val="0F172A"/>
                </a:solidFill>
                <a:latin typeface="QuattrocentoSans"/>
                <a:ea typeface="MiSans"/>
              </a:rPr>
              <a:t>与现有方法对比</a:t>
            </a:r>
          </a:p>
          <a:p>
            <a:pPr algn="l">
              <a:lnSpc>
                <a:spcPct val="160000"/>
              </a:lnSpc>
            </a:pPr>
            <a:r>
              <a:rPr sz="1350" noProof="1">
                <a:solidFill>
                  <a:srgbClr val="0F172A"/>
                </a:solidFill>
                <a:latin typeface="QuattrocentoSans"/>
                <a:ea typeface="MiSans"/>
              </a:rPr>
              <a:t>相比静态分析工具，LABRADOR在真实设备上验证，不受隐式控制流缺失和字符串匹配规则限制。相比传统黑盒Fuzzer，利用响应反馈实现定向变异，效率提升一个数量级。</a:t>
            </a:r>
          </a:p>
        </p:txBody>
      </p:sp>
      <p:sp>
        <p:nvSpPr>
          <p:cNvPr id="16" name="dsl:eval-bar"/>
          <p:cNvSpPr/>
          <p:nvPr/>
        </p:nvSpPr>
        <p:spPr>
          <a:xfrm>
            <a:off x="571500" y="390525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eval-subtitle|s=$subtitle"/>
          <p:cNvSpPr txBox="1"/>
          <p:nvPr/>
        </p:nvSpPr>
        <p:spPr>
          <a:xfrm>
            <a:off x="685800" y="388620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文章评价</a:t>
            </a:r>
          </a:p>
        </p:txBody>
      </p:sp>
      <p:sp>
        <p:nvSpPr>
          <p:cNvPr id="18" name="dsl:eval1-bar"/>
          <p:cNvSpPr/>
          <p:nvPr/>
        </p:nvSpPr>
        <p:spPr>
          <a:xfrm>
            <a:off x="571500" y="4305300"/>
            <a:ext cx="38100" cy="2286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eval1-subtitle"/>
          <p:cNvSpPr txBox="1"/>
          <p:nvPr/>
        </p:nvSpPr>
        <p:spPr>
          <a:xfrm>
            <a:off x="685800" y="4286250"/>
            <a:ext cx="3314700" cy="266700"/>
          </a:xfrm>
          <a:prstGeom prst="rect">
            <a:avLst/>
          </a:prstGeom>
          <a:noFill/>
        </p:spPr>
        <p:txBody>
          <a:bodyPr wrap="none" anchor="ctr">
            <a:noAutofit/>
          </a:bodyPr>
          <a:lstStyle/>
          <a:p>
            <a:pPr algn="l"/>
            <a:r>
              <a:rPr b="1" sz="1350" noProof="1">
                <a:solidFill>
                  <a:srgbClr val="059669"/>
                </a:solidFill>
                <a:latin typeface="QuattrocentoSans"/>
                <a:ea typeface="MiSans"/>
              </a:rPr>
              <a:t>优势</a:t>
            </a:r>
          </a:p>
        </p:txBody>
      </p:sp>
      <p:sp>
        <p:nvSpPr>
          <p:cNvPr id="20" name="dsl:eval1-body|s=$body"/>
          <p:cNvSpPr txBox="1"/>
          <p:nvPr/>
        </p:nvSpPr>
        <p:spPr>
          <a:xfrm>
            <a:off x="571500" y="4629150"/>
            <a:ext cx="3429000" cy="171450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通过响应字符串近似恢复黑盒执行轨迹，无需插桩即可实现定向Fuzzing。在真实企业级设备上验证，发现漏洞数量远超现有工具。</a:t>
            </a:r>
          </a:p>
        </p:txBody>
      </p:sp>
      <p:sp>
        <p:nvSpPr>
          <p:cNvPr id="21" name="dsl:eval2-bar"/>
          <p:cNvSpPr/>
          <p:nvPr/>
        </p:nvSpPr>
        <p:spPr>
          <a:xfrm>
            <a:off x="4191000" y="4305300"/>
            <a:ext cx="38100" cy="2286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eval2-subtitle"/>
          <p:cNvSpPr txBox="1"/>
          <p:nvPr/>
        </p:nvSpPr>
        <p:spPr>
          <a:xfrm>
            <a:off x="4305300" y="4286250"/>
            <a:ext cx="3314700" cy="266700"/>
          </a:xfrm>
          <a:prstGeom prst="rect">
            <a:avLst/>
          </a:prstGeom>
          <a:noFill/>
        </p:spPr>
        <p:txBody>
          <a:bodyPr wrap="none" anchor="ctr">
            <a:noAutofit/>
          </a:bodyPr>
          <a:lstStyle/>
          <a:p>
            <a:pPr algn="l"/>
            <a:r>
              <a:rPr b="1" sz="1350" noProof="1">
                <a:solidFill>
                  <a:srgbClr val="DC2626"/>
                </a:solidFill>
                <a:latin typeface="QuattrocentoSans"/>
                <a:ea typeface="MiSans"/>
              </a:rPr>
              <a:t>局限</a:t>
            </a:r>
          </a:p>
        </p:txBody>
      </p:sp>
      <p:sp>
        <p:nvSpPr>
          <p:cNvPr id="23" name="dsl:eval2-body|s=$body"/>
          <p:cNvSpPr txBox="1"/>
          <p:nvPr/>
        </p:nvSpPr>
        <p:spPr>
          <a:xfrm>
            <a:off x="4191000" y="4629150"/>
            <a:ext cx="3429000" cy="171450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依赖响应中包含可匹配字符串，静默接口或响应极少的设备反馈质量下降。设备重启和恢复机制需要稳定支持。</a:t>
            </a:r>
          </a:p>
        </p:txBody>
      </p:sp>
      <p:sp>
        <p:nvSpPr>
          <p:cNvPr id="24" name="dsl:eval3-bar"/>
          <p:cNvSpPr/>
          <p:nvPr/>
        </p:nvSpPr>
        <p:spPr>
          <a:xfrm>
            <a:off x="7810500" y="4305300"/>
            <a:ext cx="38100" cy="228600"/>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eval3-subtitle"/>
          <p:cNvSpPr txBox="1"/>
          <p:nvPr/>
        </p:nvSpPr>
        <p:spPr>
          <a:xfrm>
            <a:off x="7924800" y="4286250"/>
            <a:ext cx="3314700" cy="266700"/>
          </a:xfrm>
          <a:prstGeom prst="rect">
            <a:avLst/>
          </a:prstGeom>
          <a:noFill/>
        </p:spPr>
        <p:txBody>
          <a:bodyPr wrap="none" anchor="ctr">
            <a:noAutofit/>
          </a:bodyPr>
          <a:lstStyle/>
          <a:p>
            <a:pPr algn="l"/>
            <a:r>
              <a:rPr b="1" sz="1350" noProof="1">
                <a:solidFill>
                  <a:srgbClr val="64748B"/>
                </a:solidFill>
                <a:latin typeface="QuattrocentoSans"/>
                <a:ea typeface="MiSans"/>
              </a:rPr>
              <a:t>商业化</a:t>
            </a:r>
          </a:p>
        </p:txBody>
      </p:sp>
      <p:sp>
        <p:nvSpPr>
          <p:cNvPr id="26" name="dsl:eval3-body|s=$body"/>
          <p:cNvSpPr txBox="1"/>
          <p:nvPr/>
        </p:nvSpPr>
        <p:spPr>
          <a:xfrm>
            <a:off x="7810500" y="4629150"/>
            <a:ext cx="3429000" cy="171450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需稳定设备重启恢复机制，适合有设备实验室的安全厂商。可与设备供应链合作，在发布前进行黑盒验证测试。</a:t>
            </a:r>
          </a:p>
        </p:txBody>
      </p:sp>
      <p:sp>
        <p:nvSpPr>
          <p:cNvPr id="27" name="dsl:footer-left|s=$caption"/>
          <p:cNvSpPr txBox="1"/>
          <p:nvPr/>
        </p:nvSpPr>
        <p:spPr>
          <a:xfrm>
            <a:off x="571500" y="6572250"/>
            <a:ext cx="3810000" cy="1905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网络设备Web服务安全研究</a:t>
            </a:r>
          </a:p>
        </p:txBody>
      </p:sp>
      <p:sp>
        <p:nvSpPr>
          <p:cNvPr id="28" name="dsl:footer-right|s=$caption"/>
          <p:cNvSpPr txBox="1"/>
          <p:nvPr/>
        </p:nvSpPr>
        <p:spPr>
          <a:xfrm>
            <a:off x="10477500" y="6572250"/>
            <a:ext cx="1143000" cy="190500"/>
          </a:xfrm>
          <a:prstGeom prst="rect">
            <a:avLst/>
          </a:prstGeom>
          <a:noFill/>
        </p:spPr>
        <p:txBody>
          <a:bodyPr wrap="none" anchor="ctr">
            <a:noAutofit/>
          </a:bodyPr>
          <a:lstStyle/>
          <a:p>
            <a:pPr algn="r">
              <a:lnSpc>
                <a:spcPct val="140000"/>
              </a:lnSpc>
            </a:pPr>
            <a:r>
              <a:rPr sz="1050" noProof="1">
                <a:solidFill>
                  <a:srgbClr val="64748B"/>
                </a:solidFill>
                <a:latin typeface="QuattrocentoSans"/>
                <a:ea typeface="MiSans"/>
              </a:rPr>
              <a:t>32 / 37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dsl:nav-bg"/>
          <p:cNvSpPr/>
          <p:nvPr/>
        </p:nvSpPr>
        <p:spPr>
          <a:xfrm>
            <a:off x="0" y="0"/>
            <a:ext cx="12192000" cy="381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
          <p:cNvSpPr/>
          <p:nvPr/>
        </p:nvSpPr>
        <p:spPr>
          <a:xfrm>
            <a:off x="9144000" y="0"/>
            <a:ext cx="3048000" cy="3810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t1|s=$nav"/>
          <p:cNvSpPr txBox="1"/>
          <p:nvPr/>
        </p:nvSpPr>
        <p:spPr>
          <a:xfrm>
            <a:off x="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维度一: Source</a:t>
            </a:r>
          </a:p>
        </p:txBody>
      </p:sp>
      <p:sp>
        <p:nvSpPr>
          <p:cNvPr id="5" name="dsl:nav-t2|s=$nav"/>
          <p:cNvSpPr txBox="1"/>
          <p:nvPr/>
        </p:nvSpPr>
        <p:spPr>
          <a:xfrm>
            <a:off x="3048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维度二: Propagation</a:t>
            </a:r>
          </a:p>
        </p:txBody>
      </p:sp>
      <p:sp>
        <p:nvSpPr>
          <p:cNvPr id="6" name="dsl:nav-t3|s=$nav"/>
          <p:cNvSpPr txBox="1"/>
          <p:nvPr/>
        </p:nvSpPr>
        <p:spPr>
          <a:xfrm>
            <a:off x="6096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维度三: Sink</a:t>
            </a:r>
          </a:p>
        </p:txBody>
      </p:sp>
      <p:sp>
        <p:nvSpPr>
          <p:cNvPr id="7" name="dsl:nav-t4|s=$nav"/>
          <p:cNvSpPr txBox="1"/>
          <p:nvPr/>
        </p:nvSpPr>
        <p:spPr>
          <a:xfrm>
            <a:off x="9144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维度四: Verification</a:t>
            </a:r>
          </a:p>
        </p:txBody>
      </p:sp>
      <p:sp>
        <p:nvSpPr>
          <p:cNvPr id="8" name="dsl:nav-line"/>
          <p:cNvSpPr/>
          <p:nvPr/>
        </p:nvSpPr>
        <p:spPr>
          <a:xfrm>
            <a:off x="0" y="381000"/>
            <a:ext cx="12192000" cy="1905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page-title|s=$title"/>
          <p:cNvSpPr txBox="1"/>
          <p:nvPr/>
        </p:nvSpPr>
        <p:spPr>
          <a:xfrm>
            <a:off x="571500" y="514350"/>
            <a:ext cx="8382000" cy="381000"/>
          </a:xfrm>
          <a:prstGeom prst="rect">
            <a:avLst/>
          </a:prstGeom>
          <a:noFill/>
        </p:spPr>
        <p:txBody>
          <a:bodyPr wrap="none" anchor="ctr">
            <a:noAutofit/>
          </a:bodyPr>
          <a:lstStyle/>
          <a:p>
            <a:pPr algn="l">
              <a:lnSpc>
                <a:spcPct val="130000"/>
              </a:lnSpc>
            </a:pPr>
            <a:r>
              <a:rPr sz="2100" noProof="1">
                <a:solidFill>
                  <a:srgbClr val="1E293B"/>
                </a:solidFill>
                <a:latin typeface="QuattrocentoSans"/>
                <a:ea typeface="MiSans"/>
              </a:rPr>
              <a:t>FirmAgent — Fuzzing与LLM Agent的自动化PoC生成</a:t>
            </a:r>
          </a:p>
        </p:txBody>
      </p:sp>
      <p:sp>
        <p:nvSpPr>
          <p:cNvPr id="10" name="dsl:badge-bg"/>
          <p:cNvSpPr/>
          <p:nvPr/>
        </p:nvSpPr>
        <p:spPr>
          <a:xfrm>
            <a:off x="10001250" y="552450"/>
            <a:ext cx="1619250" cy="266700"/>
          </a:xfrm>
          <a:prstGeom prst="roundRect">
            <a:avLst>
              <a:gd name="adj" fmla="val 8000"/>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badge-text|s=$badge"/>
          <p:cNvSpPr txBox="1"/>
          <p:nvPr/>
        </p:nvSpPr>
        <p:spPr>
          <a:xfrm>
            <a:off x="10001250" y="552450"/>
            <a:ext cx="1619250" cy="2667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NDSS 2026</a:t>
            </a:r>
          </a:p>
        </p:txBody>
      </p:sp>
      <p:sp>
        <p:nvSpPr>
          <p:cNvPr id="12" name="dsl:left-bar-1"/>
          <p:cNvSpPr/>
          <p:nvPr/>
        </p:nvSpPr>
        <p:spPr>
          <a:xfrm>
            <a:off x="5715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left-subtitle-1|s=$subtitle"/>
          <p:cNvSpPr txBox="1"/>
          <p:nvPr/>
        </p:nvSpPr>
        <p:spPr>
          <a:xfrm>
            <a:off x="6858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内容摘要</a:t>
            </a:r>
          </a:p>
        </p:txBody>
      </p:sp>
      <p:sp>
        <p:nvSpPr>
          <p:cNvPr id="14" name="dsl:left-body-1|s=$body"/>
          <p:cNvSpPr txBox="1"/>
          <p:nvPr/>
        </p:nvSpPr>
        <p:spPr>
          <a:xfrm>
            <a:off x="571500" y="1352550"/>
            <a:ext cx="3429000" cy="18097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结合Fuzzing能力与LLM Agent语义推理的固件漏洞发现与PoC生成框架。Fuzzing提供真实可达性证据，LLM负责语义理解与代码修复，自动组装可触发漏洞的PoC。在14款固件确认182个真实漏洞，精度91%。</a:t>
            </a:r>
          </a:p>
        </p:txBody>
      </p:sp>
      <p:sp>
        <p:nvSpPr>
          <p:cNvPr id="15" name="dsl:left-bar-2"/>
          <p:cNvSpPr/>
          <p:nvPr/>
        </p:nvSpPr>
        <p:spPr>
          <a:xfrm>
            <a:off x="571500" y="3314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l:left-subtitle-2|s=$subtitle"/>
          <p:cNvSpPr txBox="1"/>
          <p:nvPr/>
        </p:nvSpPr>
        <p:spPr>
          <a:xfrm>
            <a:off x="685800" y="3295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研究背景</a:t>
            </a:r>
          </a:p>
        </p:txBody>
      </p:sp>
      <p:sp>
        <p:nvSpPr>
          <p:cNvPr id="17" name="dsl:left-body-2|s=$body"/>
          <p:cNvSpPr txBox="1"/>
          <p:nvPr/>
        </p:nvSpPr>
        <p:spPr>
          <a:xfrm>
            <a:off x="571500" y="3638550"/>
            <a:ext cx="3429000" cy="21907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静态分析误报高且缺少PoC。Fuzzing难以独立覆盖深层Sink。单独LLM易在不可达路径上空推理。需要结合Fuzzing的真实执行证据与LLM的语义推理能力，形成漏洞发现与验证闭环。</a:t>
            </a:r>
          </a:p>
        </p:txBody>
      </p:sp>
      <p:sp>
        <p:nvSpPr>
          <p:cNvPr id="18" name="dsl:mid-bar-1"/>
          <p:cNvSpPr/>
          <p:nvPr/>
        </p:nvSpPr>
        <p:spPr>
          <a:xfrm>
            <a:off x="41910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mid-subtitle-1|s=$subtitle"/>
          <p:cNvSpPr txBox="1"/>
          <p:nvPr/>
        </p:nvSpPr>
        <p:spPr>
          <a:xfrm>
            <a:off x="43053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核心洞察</a:t>
            </a:r>
          </a:p>
        </p:txBody>
      </p:sp>
      <p:sp>
        <p:nvSpPr>
          <p:cNvPr id="20" name="dsl:mid-body-1|s=$body"/>
          <p:cNvSpPr txBox="1"/>
          <p:nvPr/>
        </p:nvSpPr>
        <p:spPr>
          <a:xfrm>
            <a:off x="4191000" y="1352550"/>
            <a:ext cx="3429000" cy="23812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Fuzzing的价值不仅是发现漏洞，更能为LLM提供真实可达性证据。LLM适合补足静态分析缺失的语义理解。漏洞发现最终目标应是可验证PoC，而非仅停留在静态告警。将合法请求骨架与语义约束结合，自动组装PoC。</a:t>
            </a:r>
          </a:p>
        </p:txBody>
      </p:sp>
      <p:sp>
        <p:nvSpPr>
          <p:cNvPr id="21" name="dsl:mid-bar-2"/>
          <p:cNvSpPr/>
          <p:nvPr/>
        </p:nvSpPr>
        <p:spPr>
          <a:xfrm>
            <a:off x="4191000" y="38100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mid-subtitle-2|s=$subtitle"/>
          <p:cNvSpPr txBox="1"/>
          <p:nvPr/>
        </p:nvSpPr>
        <p:spPr>
          <a:xfrm>
            <a:off x="4305300" y="37909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解决方案</a:t>
            </a:r>
          </a:p>
        </p:txBody>
      </p:sp>
      <p:sp>
        <p:nvSpPr>
          <p:cNvPr id="23" name="dsl:mid-body-2|s=$body"/>
          <p:cNvSpPr txBox="1"/>
          <p:nvPr/>
        </p:nvSpPr>
        <p:spPr>
          <a:xfrm>
            <a:off x="4191000" y="4133850"/>
            <a:ext cx="3429000" cy="238125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1. Fuzzing驱动信息收集：静态预分析+运行时插桩，提取服务处理函数与真实输入源。2. 反编译代码修复：LLM恢复IDA丢失的函数参数、控制流结构。3. 语义追踪与告警验证：迭代跨过程污点分析，识别净化逻辑。4. PoC生成：融合Fuzzing骨架与静态约束，组装完整可用PoC。</a:t>
            </a:r>
          </a:p>
        </p:txBody>
      </p:sp>
      <p:sp>
        <p:nvSpPr>
          <p:cNvPr id="24" name="dsl:right-bar"/>
          <p:cNvSpPr/>
          <p:nvPr/>
        </p:nvSpPr>
        <p:spPr>
          <a:xfrm>
            <a:off x="78105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right-subtitle|s=$subtitle"/>
          <p:cNvSpPr txBox="1"/>
          <p:nvPr/>
        </p:nvSpPr>
        <p:spPr>
          <a:xfrm>
            <a:off x="79248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关键数据</a:t>
            </a:r>
          </a:p>
        </p:txBody>
      </p:sp>
      <p:sp>
        <p:nvSpPr>
          <p:cNvPr id="26" name="dsl:card1-bg"/>
          <p:cNvSpPr/>
          <p:nvPr/>
        </p:nvSpPr>
        <p:spPr>
          <a:xfrm>
            <a:off x="8001000" y="1428750"/>
            <a:ext cx="3238500" cy="1143000"/>
          </a:xfrm>
          <a:prstGeom prst="roundRect">
            <a:avLst>
              <a:gd name="adj" fmla="val 8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card1-num|s=$kpi"/>
          <p:cNvSpPr txBox="1"/>
          <p:nvPr/>
        </p:nvSpPr>
        <p:spPr>
          <a:xfrm>
            <a:off x="8191500" y="1571625"/>
            <a:ext cx="2857500" cy="400050"/>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182</a:t>
            </a:r>
          </a:p>
        </p:txBody>
      </p:sp>
      <p:sp>
        <p:nvSpPr>
          <p:cNvPr id="28" name="dsl:card1-label|s=$caption"/>
          <p:cNvSpPr txBox="1"/>
          <p:nvPr/>
        </p:nvSpPr>
        <p:spPr>
          <a:xfrm>
            <a:off x="8191500" y="2047875"/>
            <a:ext cx="2857500" cy="2286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个真实漏洞确认</a:t>
            </a:r>
          </a:p>
        </p:txBody>
      </p:sp>
      <p:sp>
        <p:nvSpPr>
          <p:cNvPr id="29" name="dsl:card2-bg"/>
          <p:cNvSpPr/>
          <p:nvPr/>
        </p:nvSpPr>
        <p:spPr>
          <a:xfrm>
            <a:off x="8001000" y="2762250"/>
            <a:ext cx="3238500" cy="1143000"/>
          </a:xfrm>
          <a:prstGeom prst="roundRect">
            <a:avLst>
              <a:gd name="adj" fmla="val 8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sl:card2-num|s=$kpi"/>
          <p:cNvSpPr txBox="1"/>
          <p:nvPr/>
        </p:nvSpPr>
        <p:spPr>
          <a:xfrm>
            <a:off x="8191500" y="2905125"/>
            <a:ext cx="2857500" cy="400050"/>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91%</a:t>
            </a:r>
          </a:p>
        </p:txBody>
      </p:sp>
      <p:sp>
        <p:nvSpPr>
          <p:cNvPr id="31" name="dsl:card2-label|s=$caption"/>
          <p:cNvSpPr txBox="1"/>
          <p:nvPr/>
        </p:nvSpPr>
        <p:spPr>
          <a:xfrm>
            <a:off x="8191500" y="3381375"/>
            <a:ext cx="2857500" cy="2286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漏洞检测精度</a:t>
            </a:r>
          </a:p>
        </p:txBody>
      </p:sp>
      <p:sp>
        <p:nvSpPr>
          <p:cNvPr id="32" name="dsl:card3-bg"/>
          <p:cNvSpPr/>
          <p:nvPr/>
        </p:nvSpPr>
        <p:spPr>
          <a:xfrm>
            <a:off x="8001000" y="4095750"/>
            <a:ext cx="3238500" cy="1143000"/>
          </a:xfrm>
          <a:prstGeom prst="roundRect">
            <a:avLst>
              <a:gd name="adj" fmla="val 8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sl:card3-num|s=$kpi"/>
          <p:cNvSpPr txBox="1"/>
          <p:nvPr/>
        </p:nvSpPr>
        <p:spPr>
          <a:xfrm>
            <a:off x="8191500" y="4238625"/>
            <a:ext cx="2857500" cy="400050"/>
          </a:xfrm>
          <a:prstGeom prst="rect">
            <a:avLst/>
          </a:prstGeom>
          <a:noFill/>
        </p:spPr>
        <p:txBody>
          <a:bodyPr wrap="none" anchor="ctr">
            <a:noAutofit/>
          </a:bodyPr>
          <a:lstStyle/>
          <a:p>
            <a:pPr algn="l">
              <a:lnSpc>
                <a:spcPct val="120000"/>
              </a:lnSpc>
            </a:pPr>
            <a:r>
              <a:rPr sz="2400" noProof="1">
                <a:solidFill>
                  <a:srgbClr val="A6192E"/>
                </a:solidFill>
                <a:latin typeface="QuattrocentoSans"/>
                <a:ea typeface="MiSans"/>
              </a:rPr>
              <a:t>91.8%</a:t>
            </a:r>
          </a:p>
        </p:txBody>
      </p:sp>
      <p:sp>
        <p:nvSpPr>
          <p:cNvPr id="34" name="dsl:card3-label|s=$caption"/>
          <p:cNvSpPr txBox="1"/>
          <p:nvPr/>
        </p:nvSpPr>
        <p:spPr>
          <a:xfrm>
            <a:off x="8191500" y="4714875"/>
            <a:ext cx="2857500" cy="2286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PoC直接触发率</a:t>
            </a:r>
          </a:p>
        </p:txBody>
      </p:sp>
      <p:sp>
        <p:nvSpPr>
          <p:cNvPr id="35" name="dsl:footer-left|s=$caption"/>
          <p:cNvSpPr txBox="1"/>
          <p:nvPr/>
        </p:nvSpPr>
        <p:spPr>
          <a:xfrm>
            <a:off x="571500" y="6572250"/>
            <a:ext cx="3810000" cy="1905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网络设备Web服务安全研究</a:t>
            </a:r>
          </a:p>
        </p:txBody>
      </p:sp>
      <p:sp>
        <p:nvSpPr>
          <p:cNvPr id="36" name="dsl:footer-right|s=$caption"/>
          <p:cNvSpPr txBox="1"/>
          <p:nvPr/>
        </p:nvSpPr>
        <p:spPr>
          <a:xfrm>
            <a:off x="10477500" y="6572250"/>
            <a:ext cx="1143000" cy="190500"/>
          </a:xfrm>
          <a:prstGeom prst="rect">
            <a:avLst/>
          </a:prstGeom>
          <a:noFill/>
        </p:spPr>
        <p:txBody>
          <a:bodyPr wrap="none" anchor="ctr">
            <a:noAutofit/>
          </a:bodyPr>
          <a:lstStyle/>
          <a:p>
            <a:pPr algn="r">
              <a:lnSpc>
                <a:spcPct val="140000"/>
              </a:lnSpc>
            </a:pPr>
            <a:r>
              <a:rPr sz="1050" noProof="1">
                <a:solidFill>
                  <a:srgbClr val="64748B"/>
                </a:solidFill>
                <a:latin typeface="QuattrocentoSans"/>
                <a:ea typeface="MiSans"/>
              </a:rPr>
              <a:t>33 / 37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dsl:nav-bg"/>
          <p:cNvSpPr/>
          <p:nvPr/>
        </p:nvSpPr>
        <p:spPr>
          <a:xfrm>
            <a:off x="0" y="0"/>
            <a:ext cx="12192000" cy="381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
          <p:cNvSpPr/>
          <p:nvPr/>
        </p:nvSpPr>
        <p:spPr>
          <a:xfrm>
            <a:off x="9144000" y="0"/>
            <a:ext cx="3048000" cy="3810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t1|s=$nav"/>
          <p:cNvSpPr txBox="1"/>
          <p:nvPr/>
        </p:nvSpPr>
        <p:spPr>
          <a:xfrm>
            <a:off x="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维度一: Source</a:t>
            </a:r>
          </a:p>
        </p:txBody>
      </p:sp>
      <p:sp>
        <p:nvSpPr>
          <p:cNvPr id="5" name="dsl:nav-t2|s=$nav"/>
          <p:cNvSpPr txBox="1"/>
          <p:nvPr/>
        </p:nvSpPr>
        <p:spPr>
          <a:xfrm>
            <a:off x="3048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维度二: Propagation</a:t>
            </a:r>
          </a:p>
        </p:txBody>
      </p:sp>
      <p:sp>
        <p:nvSpPr>
          <p:cNvPr id="6" name="dsl:nav-t3|s=$nav"/>
          <p:cNvSpPr txBox="1"/>
          <p:nvPr/>
        </p:nvSpPr>
        <p:spPr>
          <a:xfrm>
            <a:off x="6096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维度三: Sink</a:t>
            </a:r>
          </a:p>
        </p:txBody>
      </p:sp>
      <p:sp>
        <p:nvSpPr>
          <p:cNvPr id="7" name="dsl:nav-t4|s=$nav"/>
          <p:cNvSpPr txBox="1"/>
          <p:nvPr/>
        </p:nvSpPr>
        <p:spPr>
          <a:xfrm>
            <a:off x="9144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维度四: Verification</a:t>
            </a:r>
          </a:p>
        </p:txBody>
      </p:sp>
      <p:sp>
        <p:nvSpPr>
          <p:cNvPr id="8" name="dsl:nav-line"/>
          <p:cNvSpPr/>
          <p:nvPr/>
        </p:nvSpPr>
        <p:spPr>
          <a:xfrm>
            <a:off x="0" y="381000"/>
            <a:ext cx="12192000" cy="1905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page-title|s=$title"/>
          <p:cNvSpPr txBox="1"/>
          <p:nvPr/>
        </p:nvSpPr>
        <p:spPr>
          <a:xfrm>
            <a:off x="571500" y="514350"/>
            <a:ext cx="8382000" cy="381000"/>
          </a:xfrm>
          <a:prstGeom prst="rect">
            <a:avLst/>
          </a:prstGeom>
          <a:noFill/>
        </p:spPr>
        <p:txBody>
          <a:bodyPr wrap="none" anchor="ctr">
            <a:noAutofit/>
          </a:bodyPr>
          <a:lstStyle/>
          <a:p>
            <a:pPr algn="l">
              <a:lnSpc>
                <a:spcPct val="130000"/>
              </a:lnSpc>
            </a:pPr>
            <a:r>
              <a:rPr sz="2100" noProof="1">
                <a:solidFill>
                  <a:srgbClr val="1E293B"/>
                </a:solidFill>
                <a:latin typeface="QuattrocentoSans"/>
                <a:ea typeface="MiSans"/>
              </a:rPr>
              <a:t>FirmAgent — 实验结果与文章评价</a:t>
            </a:r>
          </a:p>
        </p:txBody>
      </p:sp>
      <p:sp>
        <p:nvSpPr>
          <p:cNvPr id="10" name="dsl:badge-bg"/>
          <p:cNvSpPr/>
          <p:nvPr/>
        </p:nvSpPr>
        <p:spPr>
          <a:xfrm>
            <a:off x="10001250" y="552450"/>
            <a:ext cx="1619250" cy="266700"/>
          </a:xfrm>
          <a:prstGeom prst="roundRect">
            <a:avLst>
              <a:gd name="adj" fmla="val 8000"/>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badge-text|s=$badge"/>
          <p:cNvSpPr txBox="1"/>
          <p:nvPr/>
        </p:nvSpPr>
        <p:spPr>
          <a:xfrm>
            <a:off x="10001250" y="552450"/>
            <a:ext cx="1619250" cy="2667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NDSS 2026</a:t>
            </a:r>
          </a:p>
        </p:txBody>
      </p:sp>
      <p:sp>
        <p:nvSpPr>
          <p:cNvPr id="12" name="dsl:results-bar"/>
          <p:cNvSpPr/>
          <p:nvPr/>
        </p:nvSpPr>
        <p:spPr>
          <a:xfrm>
            <a:off x="571500" y="102870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l:results-subtitle|s=$subtitle"/>
          <p:cNvSpPr txBox="1"/>
          <p:nvPr/>
        </p:nvSpPr>
        <p:spPr>
          <a:xfrm>
            <a:off x="685800" y="100965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实验结果</a:t>
            </a:r>
          </a:p>
        </p:txBody>
      </p:sp>
      <p:graphicFrame>
        <p:nvGraphicFramePr>
          <p:cNvPr id="14" name="dsl:results-table"/>
          <p:cNvGraphicFramePr>
            <a:graphicFrameLocks noGrp="1"/>
          </p:cNvGraphicFramePr>
          <p:nvPr/>
        </p:nvGraphicFramePr>
        <p:xfrm>
          <a:off x="571500" y="1409700"/>
          <a:ext cx="5715000" cy="2286000"/>
        </p:xfrm>
        <a:graphic>
          <a:graphicData uri="http://schemas.openxmlformats.org/drawingml/2006/table">
            <a:tbl>
              <a:tblPr firstRow="0" bandRow="0" lastRow="0" firstCol="0" lastCol="0" bandCol="0">
                <a:tableStyleId>{2D5ABB26-0587-4C30-8999-92F81FD0307C}</a:tableStyleId>
              </a:tblPr>
              <a:tblGrid>
                <a:gridCol w="2857500"/>
                <a:gridCol w="2857500"/>
              </a:tblGrid>
              <a:tr h="342900">
                <a:tc>
                  <a:txBody>
                    <a:bodyPr wrap="square" anchor="ctr">
                      <a:noAutofit/>
                    </a:bodyPr>
                    <a:lstStyle/>
                    <a:p>
                      <a:pPr algn="ctr"/>
                      <a:r>
                        <a:rPr sz="1200" noProof="1" b="1">
                          <a:solidFill>
                            <a:srgbClr val="FFFFFF"/>
                          </a:solidFill>
                          <a:latin typeface="QuattrocentoSans"/>
                          <a:ea typeface="MiSans"/>
                        </a:rPr>
                        <a:t>评估指标</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1E293B"/>
                    </a:solidFill>
                  </a:tcPr>
                </a:tc>
                <a:tc>
                  <a:txBody>
                    <a:bodyPr wrap="square" anchor="ctr">
                      <a:noAutofit/>
                    </a:bodyPr>
                    <a:lstStyle/>
                    <a:p>
                      <a:pPr algn="ctr"/>
                      <a:r>
                        <a:rPr sz="1200" noProof="1" b="1">
                          <a:solidFill>
                            <a:srgbClr val="FFFFFF"/>
                          </a:solidFill>
                          <a:latin typeface="QuattrocentoSans"/>
                          <a:ea typeface="MiSans"/>
                        </a:rPr>
                        <a:t>数值</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1E293B"/>
                    </a:solidFill>
                  </a:tcPr>
                </a:tc>
              </a:tr>
              <a:tr h="388620">
                <a:tc>
                  <a:txBody>
                    <a:bodyPr wrap="square" anchor="ctr">
                      <a:noAutofit/>
                    </a:bodyPr>
                    <a:lstStyle/>
                    <a:p>
                      <a:pPr algn="ctr"/>
                      <a:r>
                        <a:rPr sz="1200" noProof="1">
                          <a:solidFill>
                            <a:srgbClr val="0F172A"/>
                          </a:solidFill>
                          <a:latin typeface="QuattrocentoSans"/>
                          <a:ea typeface="MiSans"/>
                        </a:rPr>
                        <a:t>测试固件</a:t>
                      </a:r>
                    </a:p>
                  </a:txBody>
                  <a:tcPr marL="91440" marR="91440" marT="0" marB="0" anchor="ctr">
                    <a:solidFill>
                      <a:srgbClr val="FFFFFF"/>
                    </a:solidFill>
                  </a:tcPr>
                </a:tc>
                <a:tc>
                  <a:txBody>
                    <a:bodyPr wrap="square" anchor="ctr">
                      <a:noAutofit/>
                    </a:bodyPr>
                    <a:lstStyle/>
                    <a:p>
                      <a:pPr algn="ctr"/>
                      <a:r>
                        <a:rPr sz="1200" noProof="1">
                          <a:solidFill>
                            <a:srgbClr val="0F172A"/>
                          </a:solidFill>
                          <a:latin typeface="QuattrocentoSans"/>
                          <a:ea typeface="MiSans"/>
                        </a:rPr>
                        <a:t>14款 (7厂商)</a:t>
                      </a:r>
                    </a:p>
                  </a:txBody>
                  <a:tcPr marL="91440" marR="91440" marT="0" marB="0" anchor="ctr">
                    <a:solidFill>
                      <a:srgbClr val="FFFFFF"/>
                    </a:solidFill>
                  </a:tcPr>
                </a:tc>
              </a:tr>
              <a:tr h="388620">
                <a:tc>
                  <a:txBody>
                    <a:bodyPr wrap="square" anchor="ctr">
                      <a:noAutofit/>
                    </a:bodyPr>
                    <a:lstStyle/>
                    <a:p>
                      <a:pPr algn="ctr"/>
                      <a:r>
                        <a:rPr sz="1200" noProof="1">
                          <a:solidFill>
                            <a:srgbClr val="0F172A"/>
                          </a:solidFill>
                          <a:latin typeface="QuattrocentoSans"/>
                          <a:ea typeface="MiSans"/>
                        </a:rPr>
                        <a:t>真实漏洞</a:t>
                      </a:r>
                    </a:p>
                  </a:txBody>
                  <a:tcPr marL="91440" marR="91440" marT="0" marB="0" anchor="ctr">
                    <a:solidFill>
                      <a:srgbClr val="F1F5F9"/>
                    </a:solidFill>
                  </a:tcPr>
                </a:tc>
                <a:tc>
                  <a:txBody>
                    <a:bodyPr wrap="square" anchor="ctr">
                      <a:noAutofit/>
                    </a:bodyPr>
                    <a:lstStyle/>
                    <a:p>
                      <a:pPr algn="ctr"/>
                      <a:r>
                        <a:rPr sz="1200" noProof="1">
                          <a:solidFill>
                            <a:srgbClr val="0F172A"/>
                          </a:solidFill>
                          <a:latin typeface="QuattrocentoSans"/>
                          <a:ea typeface="MiSans"/>
                        </a:rPr>
                        <a:t>182个 (140 0-day)</a:t>
                      </a:r>
                    </a:p>
                  </a:txBody>
                  <a:tcPr marL="91440" marR="91440" marT="0" marB="0" anchor="ctr">
                    <a:solidFill>
                      <a:srgbClr val="F1F5F9"/>
                    </a:solidFill>
                  </a:tcPr>
                </a:tc>
              </a:tr>
              <a:tr h="388620">
                <a:tc>
                  <a:txBody>
                    <a:bodyPr wrap="square" anchor="ctr">
                      <a:noAutofit/>
                    </a:bodyPr>
                    <a:lstStyle/>
                    <a:p>
                      <a:pPr algn="ctr"/>
                      <a:r>
                        <a:rPr sz="1200" noProof="1">
                          <a:solidFill>
                            <a:srgbClr val="0F172A"/>
                          </a:solidFill>
                          <a:latin typeface="QuattrocentoSans"/>
                          <a:ea typeface="MiSans"/>
                        </a:rPr>
                        <a:t>漏洞类型</a:t>
                      </a:r>
                    </a:p>
                  </a:txBody>
                  <a:tcPr marL="91440" marR="91440" marT="0" marB="0" anchor="ctr">
                    <a:solidFill>
                      <a:srgbClr val="FFFFFF"/>
                    </a:solidFill>
                  </a:tcPr>
                </a:tc>
                <a:tc>
                  <a:txBody>
                    <a:bodyPr wrap="square" anchor="ctr">
                      <a:noAutofit/>
                    </a:bodyPr>
                    <a:lstStyle/>
                    <a:p>
                      <a:pPr algn="ctr"/>
                      <a:r>
                        <a:rPr sz="1200" noProof="1">
                          <a:solidFill>
                            <a:srgbClr val="0F172A"/>
                          </a:solidFill>
                          <a:latin typeface="QuattrocentoSans"/>
                          <a:ea typeface="MiSans"/>
                        </a:rPr>
                        <a:t>45 CMDi + 137 BOF</a:t>
                      </a:r>
                    </a:p>
                  </a:txBody>
                  <a:tcPr marL="91440" marR="91440" marT="0" marB="0" anchor="ctr">
                    <a:solidFill>
                      <a:srgbClr val="FFFFFF"/>
                    </a:solidFill>
                  </a:tcPr>
                </a:tc>
              </a:tr>
              <a:tr h="388620">
                <a:tc>
                  <a:txBody>
                    <a:bodyPr wrap="square" anchor="ctr">
                      <a:noAutofit/>
                    </a:bodyPr>
                    <a:lstStyle/>
                    <a:p>
                      <a:pPr algn="ctr"/>
                      <a:r>
                        <a:rPr sz="1200" noProof="1">
                          <a:solidFill>
                            <a:srgbClr val="0F172A"/>
                          </a:solidFill>
                          <a:latin typeface="QuattrocentoSans"/>
                          <a:ea typeface="MiSans"/>
                        </a:rPr>
                        <a:t>检测精度</a:t>
                      </a:r>
                    </a:p>
                  </a:txBody>
                  <a:tcPr marL="91440" marR="91440" marT="0" marB="0" anchor="ctr">
                    <a:solidFill>
                      <a:srgbClr val="F1F5F9"/>
                    </a:solidFill>
                  </a:tcPr>
                </a:tc>
                <a:tc>
                  <a:txBody>
                    <a:bodyPr wrap="square" anchor="ctr">
                      <a:noAutofit/>
                    </a:bodyPr>
                    <a:lstStyle/>
                    <a:p>
                      <a:pPr algn="ctr"/>
                      <a:r>
                        <a:rPr sz="1200" noProof="1">
                          <a:solidFill>
                            <a:srgbClr val="0F172A"/>
                          </a:solidFill>
                          <a:latin typeface="QuattrocentoSans"/>
                          <a:ea typeface="MiSans"/>
                        </a:rPr>
                        <a:t>91% (vs HermeScan 33%)</a:t>
                      </a:r>
                    </a:p>
                  </a:txBody>
                  <a:tcPr marL="91440" marR="91440" marT="0" marB="0" anchor="ctr">
                    <a:solidFill>
                      <a:srgbClr val="F1F5F9"/>
                    </a:solidFill>
                  </a:tcPr>
                </a:tc>
              </a:tr>
              <a:tr h="388620">
                <a:tc>
                  <a:txBody>
                    <a:bodyPr wrap="square" anchor="ctr">
                      <a:noAutofit/>
                    </a:bodyPr>
                    <a:lstStyle/>
                    <a:p>
                      <a:pPr algn="ctr"/>
                      <a:r>
                        <a:rPr sz="1200" noProof="1">
                          <a:solidFill>
                            <a:srgbClr val="0F172A"/>
                          </a:solidFill>
                          <a:latin typeface="QuattrocentoSans"/>
                          <a:ea typeface="MiSans"/>
                        </a:rPr>
                        <a:t>PoC直接触发率</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FFFFFF"/>
                    </a:solidFill>
                  </a:tcPr>
                </a:tc>
                <a:tc>
                  <a:txBody>
                    <a:bodyPr wrap="square" anchor="ctr">
                      <a:noAutofit/>
                    </a:bodyPr>
                    <a:lstStyle/>
                    <a:p>
                      <a:pPr algn="ctr"/>
                      <a:r>
                        <a:rPr sz="1200" noProof="1">
                          <a:solidFill>
                            <a:srgbClr val="0F172A"/>
                          </a:solidFill>
                          <a:latin typeface="QuattrocentoSans"/>
                          <a:ea typeface="MiSans"/>
                        </a:rPr>
                        <a:t>167/182 = 91.8%</a:t>
                      </a:r>
                    </a:p>
                  </a:txBody>
                  <a:tcPr marL="91440" marR="91440" marT="0" marB="0" anchor="ctr">
                    <a:lnL w="25400" cap="flat" cmpd="sng" algn="ctr">
                      <a:solidFill>
                        <a:srgbClr val="1E293B"/>
                      </a:solidFill>
                      <a:prstDash val="solid"/>
                    </a:lnL>
                    <a:lnR w="25400" cap="flat" cmpd="sng" algn="ctr">
                      <a:solidFill>
                        <a:srgbClr val="1E293B"/>
                      </a:solidFill>
                      <a:prstDash val="solid"/>
                    </a:lnR>
                    <a:lnT w="25400" cap="flat" cmpd="sng" algn="ctr">
                      <a:solidFill>
                        <a:srgbClr val="1E293B"/>
                      </a:solidFill>
                      <a:prstDash val="solid"/>
                    </a:lnT>
                    <a:lnB w="25400" cap="flat" cmpd="sng" algn="ctr">
                      <a:solidFill>
                        <a:srgbClr val="1E293B"/>
                      </a:solidFill>
                      <a:prstDash val="solid"/>
                    </a:lnB>
                    <a:solidFill>
                      <a:srgbClr val="FFFFFF"/>
                    </a:solidFill>
                  </a:tcPr>
                </a:tc>
              </a:tr>
            </a:tbl>
          </a:graphicData>
        </a:graphic>
      </p:graphicFrame>
      <p:sp>
        <p:nvSpPr>
          <p:cNvPr id="15" name="dsl:results-note|s=$body"/>
          <p:cNvSpPr txBox="1"/>
          <p:nvPr/>
        </p:nvSpPr>
        <p:spPr>
          <a:xfrm>
            <a:off x="6667500" y="1409700"/>
            <a:ext cx="4953000" cy="2286000"/>
          </a:xfrm>
          <a:prstGeom prst="rect">
            <a:avLst/>
          </a:prstGeom>
          <a:noFill/>
        </p:spPr>
        <p:txBody>
          <a:bodyPr wrap="square" anchor="t">
            <a:noAutofit/>
          </a:bodyPr>
          <a:lstStyle/>
          <a:p>
            <a:pPr algn="l">
              <a:lnSpc>
                <a:spcPct val="160000"/>
              </a:lnSpc>
            </a:pPr>
            <a:r>
              <a:rPr b="1" sz="1350" noProof="1">
                <a:solidFill>
                  <a:srgbClr val="0F172A"/>
                </a:solidFill>
                <a:latin typeface="QuattrocentoSans"/>
                <a:ea typeface="MiSans"/>
              </a:rPr>
              <a:t>与现有方法对比</a:t>
            </a:r>
          </a:p>
          <a:p>
            <a:pPr algn="l">
              <a:lnSpc>
                <a:spcPct val="160000"/>
              </a:lnSpc>
            </a:pPr>
            <a:r>
              <a:rPr sz="1350" noProof="1">
                <a:solidFill>
                  <a:srgbClr val="0F172A"/>
                </a:solidFill>
                <a:latin typeface="QuattrocentoSans"/>
                <a:ea typeface="MiSans"/>
              </a:rPr>
              <a:t>发现漏洞数量是HermeScan的2.6倍，精度从33%提升至91%。所有基线工具报告的漏洞均被完全覆盖。140个0-day漏洞中已有17个获得CVE编号。</a:t>
            </a:r>
          </a:p>
        </p:txBody>
      </p:sp>
      <p:sp>
        <p:nvSpPr>
          <p:cNvPr id="16" name="dsl:eval-bar"/>
          <p:cNvSpPr/>
          <p:nvPr/>
        </p:nvSpPr>
        <p:spPr>
          <a:xfrm>
            <a:off x="571500" y="3905250"/>
            <a:ext cx="38100" cy="2286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eval-subtitle|s=$subtitle"/>
          <p:cNvSpPr txBox="1"/>
          <p:nvPr/>
        </p:nvSpPr>
        <p:spPr>
          <a:xfrm>
            <a:off x="685800" y="3886200"/>
            <a:ext cx="3314700" cy="266700"/>
          </a:xfrm>
          <a:prstGeom prst="rect">
            <a:avLst/>
          </a:prstGeom>
          <a:noFill/>
        </p:spPr>
        <p:txBody>
          <a:bodyPr wrap="none" anchor="ctr">
            <a:noAutofit/>
          </a:bodyPr>
          <a:lstStyle/>
          <a:p>
            <a:pPr algn="l">
              <a:lnSpc>
                <a:spcPct val="130000"/>
              </a:lnSpc>
            </a:pPr>
            <a:r>
              <a:rPr sz="1650" noProof="1">
                <a:solidFill>
                  <a:srgbClr val="64748B"/>
                </a:solidFill>
                <a:latin typeface="QuattrocentoSans"/>
                <a:ea typeface="MiSans"/>
              </a:rPr>
              <a:t>文章评价</a:t>
            </a:r>
          </a:p>
        </p:txBody>
      </p:sp>
      <p:sp>
        <p:nvSpPr>
          <p:cNvPr id="18" name="dsl:eval1-bar"/>
          <p:cNvSpPr/>
          <p:nvPr/>
        </p:nvSpPr>
        <p:spPr>
          <a:xfrm>
            <a:off x="571500" y="4305300"/>
            <a:ext cx="38100" cy="2286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l:eval1-subtitle"/>
          <p:cNvSpPr txBox="1"/>
          <p:nvPr/>
        </p:nvSpPr>
        <p:spPr>
          <a:xfrm>
            <a:off x="685800" y="4286250"/>
            <a:ext cx="3314700" cy="266700"/>
          </a:xfrm>
          <a:prstGeom prst="rect">
            <a:avLst/>
          </a:prstGeom>
          <a:noFill/>
        </p:spPr>
        <p:txBody>
          <a:bodyPr wrap="none" anchor="ctr">
            <a:noAutofit/>
          </a:bodyPr>
          <a:lstStyle/>
          <a:p>
            <a:pPr algn="l"/>
            <a:r>
              <a:rPr b="1" sz="1350" noProof="1">
                <a:solidFill>
                  <a:srgbClr val="059669"/>
                </a:solidFill>
                <a:latin typeface="QuattrocentoSans"/>
                <a:ea typeface="MiSans"/>
              </a:rPr>
              <a:t>优势</a:t>
            </a:r>
          </a:p>
        </p:txBody>
      </p:sp>
      <p:sp>
        <p:nvSpPr>
          <p:cNvPr id="20" name="dsl:eval1-body|s=$body"/>
          <p:cNvSpPr txBox="1"/>
          <p:nvPr/>
        </p:nvSpPr>
        <p:spPr>
          <a:xfrm>
            <a:off x="571500" y="4629150"/>
            <a:ext cx="3429000" cy="171450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Fuzzing真实可达性与LLM语义推理深度结合，形成漏洞发现-验证-利用闭环。反编译修复和净化检查有效抑制误报。</a:t>
            </a:r>
          </a:p>
        </p:txBody>
      </p:sp>
      <p:sp>
        <p:nvSpPr>
          <p:cNvPr id="21" name="dsl:eval2-bar"/>
          <p:cNvSpPr/>
          <p:nvPr/>
        </p:nvSpPr>
        <p:spPr>
          <a:xfrm>
            <a:off x="4191000" y="4305300"/>
            <a:ext cx="38100" cy="2286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eval2-subtitle"/>
          <p:cNvSpPr txBox="1"/>
          <p:nvPr/>
        </p:nvSpPr>
        <p:spPr>
          <a:xfrm>
            <a:off x="4305300" y="4286250"/>
            <a:ext cx="3314700" cy="266700"/>
          </a:xfrm>
          <a:prstGeom prst="rect">
            <a:avLst/>
          </a:prstGeom>
          <a:noFill/>
        </p:spPr>
        <p:txBody>
          <a:bodyPr wrap="none" anchor="ctr">
            <a:noAutofit/>
          </a:bodyPr>
          <a:lstStyle/>
          <a:p>
            <a:pPr algn="l"/>
            <a:r>
              <a:rPr b="1" sz="1350" noProof="1">
                <a:solidFill>
                  <a:srgbClr val="DC2626"/>
                </a:solidFill>
                <a:latin typeface="QuattrocentoSans"/>
                <a:ea typeface="MiSans"/>
              </a:rPr>
              <a:t>局限</a:t>
            </a:r>
          </a:p>
        </p:txBody>
      </p:sp>
      <p:sp>
        <p:nvSpPr>
          <p:cNvPr id="23" name="dsl:eval2-body|s=$body"/>
          <p:cNvSpPr txBox="1"/>
          <p:nvPr/>
        </p:nvSpPr>
        <p:spPr>
          <a:xfrm>
            <a:off x="4191000" y="4629150"/>
            <a:ext cx="3429000" cy="171450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依赖仿真、QEMU插桩、反编译和LLM，多重因素导致PoC生成失败概率高。任何一个环节出错都会中断整个流程。</a:t>
            </a:r>
          </a:p>
        </p:txBody>
      </p:sp>
      <p:sp>
        <p:nvSpPr>
          <p:cNvPr id="24" name="dsl:eval3-bar"/>
          <p:cNvSpPr/>
          <p:nvPr/>
        </p:nvSpPr>
        <p:spPr>
          <a:xfrm>
            <a:off x="7810500" y="4305300"/>
            <a:ext cx="38100" cy="228600"/>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sl:eval3-subtitle"/>
          <p:cNvSpPr txBox="1"/>
          <p:nvPr/>
        </p:nvSpPr>
        <p:spPr>
          <a:xfrm>
            <a:off x="7924800" y="4286250"/>
            <a:ext cx="3314700" cy="266700"/>
          </a:xfrm>
          <a:prstGeom prst="rect">
            <a:avLst/>
          </a:prstGeom>
          <a:noFill/>
        </p:spPr>
        <p:txBody>
          <a:bodyPr wrap="none" anchor="ctr">
            <a:noAutofit/>
          </a:bodyPr>
          <a:lstStyle/>
          <a:p>
            <a:pPr algn="l"/>
            <a:r>
              <a:rPr b="1" sz="1350" noProof="1">
                <a:solidFill>
                  <a:srgbClr val="64748B"/>
                </a:solidFill>
                <a:latin typeface="QuattrocentoSans"/>
                <a:ea typeface="MiSans"/>
              </a:rPr>
              <a:t>商业化</a:t>
            </a:r>
          </a:p>
        </p:txBody>
      </p:sp>
      <p:sp>
        <p:nvSpPr>
          <p:cNvPr id="26" name="dsl:eval3-body|s=$body"/>
          <p:cNvSpPr txBox="1"/>
          <p:nvPr/>
        </p:nvSpPr>
        <p:spPr>
          <a:xfrm>
            <a:off x="7810500" y="4629150"/>
            <a:ext cx="3429000" cy="1714500"/>
          </a:xfrm>
          <a:prstGeom prst="rect">
            <a:avLst/>
          </a:prstGeom>
          <a:noFill/>
        </p:spPr>
        <p:txBody>
          <a:bodyPr wrap="square" anchor="t">
            <a:noAutofit/>
          </a:bodyPr>
          <a:lstStyle/>
          <a:p>
            <a:pPr algn="l">
              <a:lnSpc>
                <a:spcPct val="160000"/>
              </a:lnSpc>
            </a:pPr>
            <a:r>
              <a:rPr sz="1350" noProof="1">
                <a:solidFill>
                  <a:srgbClr val="0F172A"/>
                </a:solidFill>
                <a:latin typeface="QuattrocentoSans"/>
                <a:ea typeface="MiSans"/>
              </a:rPr>
              <a:t>适合厂商内部红队或安全实验室使用，作为漏洞研究与辅助PoC生成的平台。不适合大规模自动化产品部署。</a:t>
            </a:r>
          </a:p>
        </p:txBody>
      </p:sp>
      <p:sp>
        <p:nvSpPr>
          <p:cNvPr id="27" name="dsl:footer-left|s=$caption"/>
          <p:cNvSpPr txBox="1"/>
          <p:nvPr/>
        </p:nvSpPr>
        <p:spPr>
          <a:xfrm>
            <a:off x="571500" y="6572250"/>
            <a:ext cx="3810000" cy="1905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网络设备Web服务安全研究</a:t>
            </a:r>
          </a:p>
        </p:txBody>
      </p:sp>
      <p:sp>
        <p:nvSpPr>
          <p:cNvPr id="28" name="dsl:footer-right|s=$caption"/>
          <p:cNvSpPr txBox="1"/>
          <p:nvPr/>
        </p:nvSpPr>
        <p:spPr>
          <a:xfrm>
            <a:off x="10477500" y="6572250"/>
            <a:ext cx="1143000" cy="190500"/>
          </a:xfrm>
          <a:prstGeom prst="rect">
            <a:avLst/>
          </a:prstGeom>
          <a:noFill/>
        </p:spPr>
        <p:txBody>
          <a:bodyPr wrap="none" anchor="ctr">
            <a:noAutofit/>
          </a:bodyPr>
          <a:lstStyle/>
          <a:p>
            <a:pPr algn="r">
              <a:lnSpc>
                <a:spcPct val="140000"/>
              </a:lnSpc>
            </a:pPr>
            <a:r>
              <a:rPr sz="1050" noProof="1">
                <a:solidFill>
                  <a:srgbClr val="64748B"/>
                </a:solidFill>
                <a:latin typeface="QuattrocentoSans"/>
                <a:ea typeface="MiSans"/>
              </a:rPr>
              <a:t>34 / 37</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dsl:nav-bg"/>
          <p:cNvSpPr/>
          <p:nvPr/>
        </p:nvSpPr>
        <p:spPr>
          <a:xfrm>
            <a:off x="0" y="0"/>
            <a:ext cx="12192000" cy="381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
          <p:cNvSpPr/>
          <p:nvPr/>
        </p:nvSpPr>
        <p:spPr>
          <a:xfrm>
            <a:off x="9144000" y="0"/>
            <a:ext cx="3048000" cy="3810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t1|s=$nav"/>
          <p:cNvSpPr txBox="1"/>
          <p:nvPr/>
        </p:nvSpPr>
        <p:spPr>
          <a:xfrm>
            <a:off x="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维度一: Source</a:t>
            </a:r>
          </a:p>
        </p:txBody>
      </p:sp>
      <p:sp>
        <p:nvSpPr>
          <p:cNvPr id="5" name="dsl:nav-t2|s=$nav"/>
          <p:cNvSpPr txBox="1"/>
          <p:nvPr/>
        </p:nvSpPr>
        <p:spPr>
          <a:xfrm>
            <a:off x="3048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维度二: Propagation</a:t>
            </a:r>
          </a:p>
        </p:txBody>
      </p:sp>
      <p:sp>
        <p:nvSpPr>
          <p:cNvPr id="6" name="dsl:nav-t3|s=$nav"/>
          <p:cNvSpPr txBox="1"/>
          <p:nvPr/>
        </p:nvSpPr>
        <p:spPr>
          <a:xfrm>
            <a:off x="6096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维度三: Sink</a:t>
            </a:r>
          </a:p>
        </p:txBody>
      </p:sp>
      <p:sp>
        <p:nvSpPr>
          <p:cNvPr id="7" name="dsl:nav-t4|s=$nav"/>
          <p:cNvSpPr txBox="1"/>
          <p:nvPr/>
        </p:nvSpPr>
        <p:spPr>
          <a:xfrm>
            <a:off x="9144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维度四: Verification</a:t>
            </a:r>
          </a:p>
        </p:txBody>
      </p:sp>
      <p:sp>
        <p:nvSpPr>
          <p:cNvPr id="8" name="dsl:nav-line"/>
          <p:cNvSpPr/>
          <p:nvPr/>
        </p:nvSpPr>
        <p:spPr>
          <a:xfrm>
            <a:off x="0" y="381000"/>
            <a:ext cx="12192000" cy="1905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page-title|s=$title"/>
          <p:cNvSpPr txBox="1"/>
          <p:nvPr/>
        </p:nvSpPr>
        <p:spPr>
          <a:xfrm>
            <a:off x="571500" y="514350"/>
            <a:ext cx="11049000" cy="381000"/>
          </a:xfrm>
          <a:prstGeom prst="rect">
            <a:avLst/>
          </a:prstGeom>
          <a:noFill/>
        </p:spPr>
        <p:txBody>
          <a:bodyPr wrap="none" anchor="ctr">
            <a:noAutofit/>
          </a:bodyPr>
          <a:lstStyle/>
          <a:p>
            <a:pPr algn="l">
              <a:lnSpc>
                <a:spcPct val="130000"/>
              </a:lnSpc>
            </a:pPr>
            <a:r>
              <a:rPr sz="2100" noProof="1">
                <a:solidFill>
                  <a:srgbClr val="1E293B"/>
                </a:solidFill>
                <a:latin typeface="QuattrocentoSans"/>
                <a:ea typeface="MiSans"/>
              </a:rPr>
              <a:t>维度四总结：Verification 技术演进</a:t>
            </a:r>
          </a:p>
        </p:txBody>
      </p:sp>
      <p:sp>
        <p:nvSpPr>
          <p:cNvPr id="10" name="dsl:card1-bg"/>
          <p:cNvSpPr/>
          <p:nvPr/>
        </p:nvSpPr>
        <p:spPr>
          <a:xfrm>
            <a:off x="571500" y="1143000"/>
            <a:ext cx="3429000" cy="4953000"/>
          </a:xfrm>
          <a:prstGeom prst="roundRect">
            <a:avLst>
              <a:gd name="adj" fmla="val 6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card1-accent"/>
          <p:cNvSpPr/>
          <p:nvPr/>
        </p:nvSpPr>
        <p:spPr>
          <a:xfrm>
            <a:off x="762000" y="1333500"/>
            <a:ext cx="571500" cy="381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l:card1-title"/>
          <p:cNvSpPr txBox="1"/>
          <p:nvPr/>
        </p:nvSpPr>
        <p:spPr>
          <a:xfrm>
            <a:off x="762000" y="1485900"/>
            <a:ext cx="3048000" cy="342900"/>
          </a:xfrm>
          <a:prstGeom prst="rect">
            <a:avLst/>
          </a:prstGeom>
          <a:noFill/>
        </p:spPr>
        <p:txBody>
          <a:bodyPr wrap="none" anchor="ctr">
            <a:noAutofit/>
          </a:bodyPr>
          <a:lstStyle/>
          <a:p>
            <a:pPr algn="l"/>
            <a:r>
              <a:rPr b="1" sz="1800" noProof="1">
                <a:solidFill>
                  <a:srgbClr val="1E293B"/>
                </a:solidFill>
                <a:latin typeface="QuattrocentoSans"/>
                <a:ea typeface="MiSans"/>
              </a:rPr>
              <a:t>NÜWA</a:t>
            </a:r>
          </a:p>
        </p:txBody>
      </p:sp>
      <p:sp>
        <p:nvSpPr>
          <p:cNvPr id="13" name="dsl:card1-conf|s=$caption"/>
          <p:cNvSpPr txBox="1"/>
          <p:nvPr/>
        </p:nvSpPr>
        <p:spPr>
          <a:xfrm>
            <a:off x="762000" y="1866900"/>
            <a:ext cx="1905000" cy="20955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USENIX Security 2025</a:t>
            </a:r>
          </a:p>
        </p:txBody>
      </p:sp>
      <p:sp>
        <p:nvSpPr>
          <p:cNvPr id="14" name="dsl:card1-line"/>
          <p:cNvSpPr/>
          <p:nvPr/>
        </p:nvSpPr>
        <p:spPr>
          <a:xfrm>
            <a:off x="762000" y="2171700"/>
            <a:ext cx="3048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l:card1-sub1"/>
          <p:cNvSpPr txBox="1"/>
          <p:nvPr/>
        </p:nvSpPr>
        <p:spPr>
          <a:xfrm>
            <a:off x="762000" y="2286000"/>
            <a:ext cx="3048000" cy="247650"/>
          </a:xfrm>
          <a:prstGeom prst="rect">
            <a:avLst/>
          </a:prstGeom>
          <a:noFill/>
        </p:spPr>
        <p:txBody>
          <a:bodyPr wrap="none" anchor="ctr">
            <a:noAutofit/>
          </a:bodyPr>
          <a:lstStyle/>
          <a:p>
            <a:pPr algn="l"/>
            <a:r>
              <a:rPr b="1" sz="1350" noProof="1">
                <a:solidFill>
                  <a:srgbClr val="1E293B"/>
                </a:solidFill>
                <a:latin typeface="QuattrocentoSans"/>
                <a:ea typeface="MiSans"/>
              </a:rPr>
              <a:t>核心贡献</a:t>
            </a:r>
          </a:p>
        </p:txBody>
      </p:sp>
      <p:sp>
        <p:nvSpPr>
          <p:cNvPr id="16" name="dsl:card1-body1"/>
          <p:cNvSpPr txBox="1"/>
          <p:nvPr/>
        </p:nvSpPr>
        <p:spPr>
          <a:xfrm>
            <a:off x="762000" y="2571750"/>
            <a:ext cx="3048000" cy="11430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从约束一致性角度解释漏洞，将前后端语义差异量化为检测信号，提供了区别于传统污点分析的新视角。</a:t>
            </a:r>
          </a:p>
        </p:txBody>
      </p:sp>
      <p:sp>
        <p:nvSpPr>
          <p:cNvPr id="17" name="dsl:card1-sub2"/>
          <p:cNvSpPr txBox="1"/>
          <p:nvPr/>
        </p:nvSpPr>
        <p:spPr>
          <a:xfrm>
            <a:off x="762000" y="3810000"/>
            <a:ext cx="3048000" cy="247650"/>
          </a:xfrm>
          <a:prstGeom prst="rect">
            <a:avLst/>
          </a:prstGeom>
          <a:noFill/>
        </p:spPr>
        <p:txBody>
          <a:bodyPr wrap="none" anchor="ctr">
            <a:noAutofit/>
          </a:bodyPr>
          <a:lstStyle/>
          <a:p>
            <a:pPr algn="l"/>
            <a:r>
              <a:rPr b="1" sz="1350" noProof="1">
                <a:solidFill>
                  <a:srgbClr val="1E293B"/>
                </a:solidFill>
                <a:latin typeface="QuattrocentoSans"/>
                <a:ea typeface="MiSans"/>
              </a:rPr>
              <a:t>关键数据</a:t>
            </a:r>
          </a:p>
        </p:txBody>
      </p:sp>
      <p:sp>
        <p:nvSpPr>
          <p:cNvPr id="18" name="dsl:card1-body2"/>
          <p:cNvSpPr txBox="1"/>
          <p:nvPr/>
        </p:nvSpPr>
        <p:spPr>
          <a:xfrm>
            <a:off x="762000" y="4095750"/>
            <a:ext cx="3048000" cy="5715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13厂商 | 51告警 | 76%准确率 | 95%约束提取</a:t>
            </a:r>
          </a:p>
        </p:txBody>
      </p:sp>
      <p:sp>
        <p:nvSpPr>
          <p:cNvPr id="19" name="dsl:card1-sub3"/>
          <p:cNvSpPr txBox="1"/>
          <p:nvPr/>
        </p:nvSpPr>
        <p:spPr>
          <a:xfrm>
            <a:off x="762000" y="4762500"/>
            <a:ext cx="3048000" cy="247650"/>
          </a:xfrm>
          <a:prstGeom prst="rect">
            <a:avLst/>
          </a:prstGeom>
          <a:noFill/>
        </p:spPr>
        <p:txBody>
          <a:bodyPr wrap="none" anchor="ctr">
            <a:noAutofit/>
          </a:bodyPr>
          <a:lstStyle/>
          <a:p>
            <a:pPr algn="l"/>
            <a:r>
              <a:rPr b="1" sz="1350" noProof="1">
                <a:solidFill>
                  <a:srgbClr val="1E293B"/>
                </a:solidFill>
                <a:latin typeface="QuattrocentoSans"/>
                <a:ea typeface="MiSans"/>
              </a:rPr>
              <a:t>局限性</a:t>
            </a:r>
          </a:p>
        </p:txBody>
      </p:sp>
      <p:sp>
        <p:nvSpPr>
          <p:cNvPr id="20" name="dsl:card1-body3"/>
          <p:cNvSpPr txBox="1"/>
          <p:nvPr/>
        </p:nvSpPr>
        <p:spPr>
          <a:xfrm>
            <a:off x="762000" y="5048250"/>
            <a:ext cx="3048000" cy="7620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约束提取不完整影响有效性；动态生成约束难以静态提取</a:t>
            </a:r>
          </a:p>
        </p:txBody>
      </p:sp>
      <p:sp>
        <p:nvSpPr>
          <p:cNvPr id="21" name="dsl:card2-bg"/>
          <p:cNvSpPr/>
          <p:nvPr/>
        </p:nvSpPr>
        <p:spPr>
          <a:xfrm>
            <a:off x="4191000" y="1143000"/>
            <a:ext cx="3429000" cy="4953000"/>
          </a:xfrm>
          <a:prstGeom prst="roundRect">
            <a:avLst>
              <a:gd name="adj" fmla="val 6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l:card2-accent"/>
          <p:cNvSpPr/>
          <p:nvPr/>
        </p:nvSpPr>
        <p:spPr>
          <a:xfrm>
            <a:off x="4381500" y="1333500"/>
            <a:ext cx="571500" cy="381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l:card2-title"/>
          <p:cNvSpPr txBox="1"/>
          <p:nvPr/>
        </p:nvSpPr>
        <p:spPr>
          <a:xfrm>
            <a:off x="4381500" y="1485900"/>
            <a:ext cx="3048000" cy="342900"/>
          </a:xfrm>
          <a:prstGeom prst="rect">
            <a:avLst/>
          </a:prstGeom>
          <a:noFill/>
        </p:spPr>
        <p:txBody>
          <a:bodyPr wrap="none" anchor="ctr">
            <a:noAutofit/>
          </a:bodyPr>
          <a:lstStyle/>
          <a:p>
            <a:pPr algn="l"/>
            <a:r>
              <a:rPr b="1" sz="1800" noProof="1">
                <a:solidFill>
                  <a:srgbClr val="1E293B"/>
                </a:solidFill>
                <a:latin typeface="QuattrocentoSans"/>
                <a:ea typeface="MiSans"/>
              </a:rPr>
              <a:t>LABRADOR</a:t>
            </a:r>
          </a:p>
        </p:txBody>
      </p:sp>
      <p:sp>
        <p:nvSpPr>
          <p:cNvPr id="24" name="dsl:card2-conf|s=$caption"/>
          <p:cNvSpPr txBox="1"/>
          <p:nvPr/>
        </p:nvSpPr>
        <p:spPr>
          <a:xfrm>
            <a:off x="4381500" y="1866900"/>
            <a:ext cx="1905000" cy="20955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IEEE S&amp;P 2024</a:t>
            </a:r>
          </a:p>
        </p:txBody>
      </p:sp>
      <p:sp>
        <p:nvSpPr>
          <p:cNvPr id="25" name="dsl:card2-line"/>
          <p:cNvSpPr/>
          <p:nvPr/>
        </p:nvSpPr>
        <p:spPr>
          <a:xfrm>
            <a:off x="4381500" y="2171700"/>
            <a:ext cx="3048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sl:card2-sub1"/>
          <p:cNvSpPr txBox="1"/>
          <p:nvPr/>
        </p:nvSpPr>
        <p:spPr>
          <a:xfrm>
            <a:off x="4381500" y="2286000"/>
            <a:ext cx="3048000" cy="247650"/>
          </a:xfrm>
          <a:prstGeom prst="rect">
            <a:avLst/>
          </a:prstGeom>
          <a:noFill/>
        </p:spPr>
        <p:txBody>
          <a:bodyPr wrap="none" anchor="ctr">
            <a:noAutofit/>
          </a:bodyPr>
          <a:lstStyle/>
          <a:p>
            <a:pPr algn="l"/>
            <a:r>
              <a:rPr b="1" sz="1350" noProof="1">
                <a:solidFill>
                  <a:srgbClr val="1E293B"/>
                </a:solidFill>
                <a:latin typeface="QuattrocentoSans"/>
                <a:ea typeface="MiSans"/>
              </a:rPr>
              <a:t>核心贡献</a:t>
            </a:r>
          </a:p>
        </p:txBody>
      </p:sp>
      <p:sp>
        <p:nvSpPr>
          <p:cNvPr id="27" name="dsl:card2-body1"/>
          <p:cNvSpPr txBox="1"/>
          <p:nvPr/>
        </p:nvSpPr>
        <p:spPr>
          <a:xfrm>
            <a:off x="4381500" y="2571750"/>
            <a:ext cx="3048000" cy="11430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通过响应字符串近似恢复黑盒执行轨迹，无需插桩即可实现定向Fuzzing，在真实设备上验证漏洞。</a:t>
            </a:r>
          </a:p>
        </p:txBody>
      </p:sp>
      <p:sp>
        <p:nvSpPr>
          <p:cNvPr id="28" name="dsl:card2-sub2"/>
          <p:cNvSpPr txBox="1"/>
          <p:nvPr/>
        </p:nvSpPr>
        <p:spPr>
          <a:xfrm>
            <a:off x="4381500" y="3810000"/>
            <a:ext cx="3048000" cy="247650"/>
          </a:xfrm>
          <a:prstGeom prst="rect">
            <a:avLst/>
          </a:prstGeom>
          <a:noFill/>
        </p:spPr>
        <p:txBody>
          <a:bodyPr wrap="none" anchor="ctr">
            <a:noAutofit/>
          </a:bodyPr>
          <a:lstStyle/>
          <a:p>
            <a:pPr algn="l"/>
            <a:r>
              <a:rPr b="1" sz="1350" noProof="1">
                <a:solidFill>
                  <a:srgbClr val="1E293B"/>
                </a:solidFill>
                <a:latin typeface="QuattrocentoSans"/>
                <a:ea typeface="MiSans"/>
              </a:rPr>
              <a:t>关键数据</a:t>
            </a:r>
          </a:p>
        </p:txBody>
      </p:sp>
      <p:sp>
        <p:nvSpPr>
          <p:cNvPr id="29" name="dsl:card2-body2"/>
          <p:cNvSpPr txBox="1"/>
          <p:nvPr/>
        </p:nvSpPr>
        <p:spPr>
          <a:xfrm>
            <a:off x="4381500" y="4095750"/>
            <a:ext cx="3048000" cy="5715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14设备 | 79 0-day | 61 CVE | 44×于基线</a:t>
            </a:r>
          </a:p>
        </p:txBody>
      </p:sp>
      <p:sp>
        <p:nvSpPr>
          <p:cNvPr id="30" name="dsl:card2-sub3"/>
          <p:cNvSpPr txBox="1"/>
          <p:nvPr/>
        </p:nvSpPr>
        <p:spPr>
          <a:xfrm>
            <a:off x="4381500" y="4762500"/>
            <a:ext cx="3048000" cy="247650"/>
          </a:xfrm>
          <a:prstGeom prst="rect">
            <a:avLst/>
          </a:prstGeom>
          <a:noFill/>
        </p:spPr>
        <p:txBody>
          <a:bodyPr wrap="none" anchor="ctr">
            <a:noAutofit/>
          </a:bodyPr>
          <a:lstStyle/>
          <a:p>
            <a:pPr algn="l"/>
            <a:r>
              <a:rPr b="1" sz="1350" noProof="1">
                <a:solidFill>
                  <a:srgbClr val="1E293B"/>
                </a:solidFill>
                <a:latin typeface="QuattrocentoSans"/>
                <a:ea typeface="MiSans"/>
              </a:rPr>
              <a:t>局限性</a:t>
            </a:r>
          </a:p>
        </p:txBody>
      </p:sp>
      <p:sp>
        <p:nvSpPr>
          <p:cNvPr id="31" name="dsl:card2-body3"/>
          <p:cNvSpPr txBox="1"/>
          <p:nvPr/>
        </p:nvSpPr>
        <p:spPr>
          <a:xfrm>
            <a:off x="4381500" y="5048250"/>
            <a:ext cx="3048000" cy="7620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依赖响应可匹配字符串；静默设备反馈质量下降</a:t>
            </a:r>
          </a:p>
        </p:txBody>
      </p:sp>
      <p:sp>
        <p:nvSpPr>
          <p:cNvPr id="32" name="dsl:card3-bg"/>
          <p:cNvSpPr/>
          <p:nvPr/>
        </p:nvSpPr>
        <p:spPr>
          <a:xfrm>
            <a:off x="7810500" y="1143000"/>
            <a:ext cx="3429000" cy="4953000"/>
          </a:xfrm>
          <a:prstGeom prst="roundRect">
            <a:avLst>
              <a:gd name="adj" fmla="val 6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sl:card3-accent"/>
          <p:cNvSpPr/>
          <p:nvPr/>
        </p:nvSpPr>
        <p:spPr>
          <a:xfrm>
            <a:off x="8001000" y="1333500"/>
            <a:ext cx="571500" cy="381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dsl:card3-title"/>
          <p:cNvSpPr txBox="1"/>
          <p:nvPr/>
        </p:nvSpPr>
        <p:spPr>
          <a:xfrm>
            <a:off x="8001000" y="1485900"/>
            <a:ext cx="3048000" cy="342900"/>
          </a:xfrm>
          <a:prstGeom prst="rect">
            <a:avLst/>
          </a:prstGeom>
          <a:noFill/>
        </p:spPr>
        <p:txBody>
          <a:bodyPr wrap="none" anchor="ctr">
            <a:noAutofit/>
          </a:bodyPr>
          <a:lstStyle/>
          <a:p>
            <a:pPr algn="l"/>
            <a:r>
              <a:rPr b="1" sz="1800" noProof="1">
                <a:solidFill>
                  <a:srgbClr val="1E293B"/>
                </a:solidFill>
                <a:latin typeface="QuattrocentoSans"/>
                <a:ea typeface="MiSans"/>
              </a:rPr>
              <a:t>FirmAgent</a:t>
            </a:r>
          </a:p>
        </p:txBody>
      </p:sp>
      <p:sp>
        <p:nvSpPr>
          <p:cNvPr id="35" name="dsl:card3-conf|s=$caption"/>
          <p:cNvSpPr txBox="1"/>
          <p:nvPr/>
        </p:nvSpPr>
        <p:spPr>
          <a:xfrm>
            <a:off x="8001000" y="1866900"/>
            <a:ext cx="1905000" cy="20955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NDSS 2026</a:t>
            </a:r>
          </a:p>
        </p:txBody>
      </p:sp>
      <p:sp>
        <p:nvSpPr>
          <p:cNvPr id="36" name="dsl:card3-line"/>
          <p:cNvSpPr/>
          <p:nvPr/>
        </p:nvSpPr>
        <p:spPr>
          <a:xfrm>
            <a:off x="8001000" y="2171700"/>
            <a:ext cx="3048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dsl:card3-sub1"/>
          <p:cNvSpPr txBox="1"/>
          <p:nvPr/>
        </p:nvSpPr>
        <p:spPr>
          <a:xfrm>
            <a:off x="8001000" y="2286000"/>
            <a:ext cx="3048000" cy="247650"/>
          </a:xfrm>
          <a:prstGeom prst="rect">
            <a:avLst/>
          </a:prstGeom>
          <a:noFill/>
        </p:spPr>
        <p:txBody>
          <a:bodyPr wrap="none" anchor="ctr">
            <a:noAutofit/>
          </a:bodyPr>
          <a:lstStyle/>
          <a:p>
            <a:pPr algn="l"/>
            <a:r>
              <a:rPr b="1" sz="1350" noProof="1">
                <a:solidFill>
                  <a:srgbClr val="1E293B"/>
                </a:solidFill>
                <a:latin typeface="QuattrocentoSans"/>
                <a:ea typeface="MiSans"/>
              </a:rPr>
              <a:t>核心贡献</a:t>
            </a:r>
          </a:p>
        </p:txBody>
      </p:sp>
      <p:sp>
        <p:nvSpPr>
          <p:cNvPr id="38" name="dsl:card3-body1"/>
          <p:cNvSpPr txBox="1"/>
          <p:nvPr/>
        </p:nvSpPr>
        <p:spPr>
          <a:xfrm>
            <a:off x="8001000" y="2571750"/>
            <a:ext cx="3048000" cy="11430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Fuzzing真实可达性与LLM语义推理结合，形成发现-验证-利用闭环，自动组装可触发漏洞的PoC。</a:t>
            </a:r>
          </a:p>
        </p:txBody>
      </p:sp>
      <p:sp>
        <p:nvSpPr>
          <p:cNvPr id="39" name="dsl:card3-sub2"/>
          <p:cNvSpPr txBox="1"/>
          <p:nvPr/>
        </p:nvSpPr>
        <p:spPr>
          <a:xfrm>
            <a:off x="8001000" y="3810000"/>
            <a:ext cx="3048000" cy="247650"/>
          </a:xfrm>
          <a:prstGeom prst="rect">
            <a:avLst/>
          </a:prstGeom>
          <a:noFill/>
        </p:spPr>
        <p:txBody>
          <a:bodyPr wrap="none" anchor="ctr">
            <a:noAutofit/>
          </a:bodyPr>
          <a:lstStyle/>
          <a:p>
            <a:pPr algn="l"/>
            <a:r>
              <a:rPr b="1" sz="1350" noProof="1">
                <a:solidFill>
                  <a:srgbClr val="1E293B"/>
                </a:solidFill>
                <a:latin typeface="QuattrocentoSans"/>
                <a:ea typeface="MiSans"/>
              </a:rPr>
              <a:t>关键数据</a:t>
            </a:r>
          </a:p>
        </p:txBody>
      </p:sp>
      <p:sp>
        <p:nvSpPr>
          <p:cNvPr id="40" name="dsl:card3-body2"/>
          <p:cNvSpPr txBox="1"/>
          <p:nvPr/>
        </p:nvSpPr>
        <p:spPr>
          <a:xfrm>
            <a:off x="8001000" y="4095750"/>
            <a:ext cx="3048000" cy="5715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14固件 | 182漏洞 | 91%精度 | 91.8% PoC</a:t>
            </a:r>
          </a:p>
        </p:txBody>
      </p:sp>
      <p:sp>
        <p:nvSpPr>
          <p:cNvPr id="41" name="dsl:card3-sub3"/>
          <p:cNvSpPr txBox="1"/>
          <p:nvPr/>
        </p:nvSpPr>
        <p:spPr>
          <a:xfrm>
            <a:off x="8001000" y="4762500"/>
            <a:ext cx="3048000" cy="247650"/>
          </a:xfrm>
          <a:prstGeom prst="rect">
            <a:avLst/>
          </a:prstGeom>
          <a:noFill/>
        </p:spPr>
        <p:txBody>
          <a:bodyPr wrap="none" anchor="ctr">
            <a:noAutofit/>
          </a:bodyPr>
          <a:lstStyle/>
          <a:p>
            <a:pPr algn="l"/>
            <a:r>
              <a:rPr b="1" sz="1350" noProof="1">
                <a:solidFill>
                  <a:srgbClr val="1E293B"/>
                </a:solidFill>
                <a:latin typeface="QuattrocentoSans"/>
                <a:ea typeface="MiSans"/>
              </a:rPr>
              <a:t>局限性</a:t>
            </a:r>
          </a:p>
        </p:txBody>
      </p:sp>
      <p:sp>
        <p:nvSpPr>
          <p:cNvPr id="42" name="dsl:card3-body3"/>
          <p:cNvSpPr txBox="1"/>
          <p:nvPr/>
        </p:nvSpPr>
        <p:spPr>
          <a:xfrm>
            <a:off x="8001000" y="5048250"/>
            <a:ext cx="3048000" cy="7620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依赖仿真、QEMU、反编译、LLM，多环节失败率高</a:t>
            </a:r>
          </a:p>
        </p:txBody>
      </p:sp>
      <p:sp>
        <p:nvSpPr>
          <p:cNvPr id="43" name="dsl:evo-bg"/>
          <p:cNvSpPr/>
          <p:nvPr/>
        </p:nvSpPr>
        <p:spPr>
          <a:xfrm>
            <a:off x="571500" y="6153150"/>
            <a:ext cx="11049000" cy="3810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dsl:evo-text"/>
          <p:cNvSpPr txBox="1"/>
          <p:nvPr/>
        </p:nvSpPr>
        <p:spPr>
          <a:xfrm>
            <a:off x="762000" y="6153150"/>
            <a:ext cx="10668000" cy="381000"/>
          </a:xfrm>
          <a:prstGeom prst="rect">
            <a:avLst/>
          </a:prstGeom>
          <a:noFill/>
        </p:spPr>
        <p:txBody>
          <a:bodyPr wrap="none" anchor="ctr">
            <a:noAutofit/>
          </a:bodyPr>
          <a:lstStyle/>
          <a:p>
            <a:pPr algn="ctr"/>
            <a:r>
              <a:rPr sz="1200" noProof="1">
                <a:solidFill>
                  <a:srgbClr val="1E293B"/>
                </a:solidFill>
                <a:latin typeface="QuattrocentoSans"/>
                <a:ea typeface="MiSans"/>
              </a:rPr>
              <a:t>技术演进路径：</a:t>
            </a:r>
            <a:r>
              <a:rPr b="1" sz="1200" noProof="1">
                <a:solidFill>
                  <a:srgbClr val="1E293B"/>
                </a:solidFill>
                <a:latin typeface="QuattrocentoSans"/>
                <a:ea typeface="MiSans"/>
              </a:rPr>
              <a:t>约束一致性分析</a:t>
            </a:r>
            <a:r>
              <a:rPr sz="1200" noProof="1">
                <a:solidFill>
                  <a:srgbClr val="1E293B"/>
                </a:solidFill>
                <a:latin typeface="QuattrocentoSans"/>
                <a:ea typeface="MiSans"/>
              </a:rPr>
              <a:t>  →  </a:t>
            </a:r>
            <a:r>
              <a:rPr b="1" sz="1200" noProof="1">
                <a:solidFill>
                  <a:srgbClr val="1E293B"/>
                </a:solidFill>
                <a:latin typeface="QuattrocentoSans"/>
                <a:ea typeface="MiSans"/>
              </a:rPr>
              <a:t>响应反馈导向Fuzzing</a:t>
            </a:r>
            <a:r>
              <a:rPr sz="1200" noProof="1">
                <a:solidFill>
                  <a:srgbClr val="1E293B"/>
                </a:solidFill>
                <a:latin typeface="QuattrocentoSans"/>
                <a:ea typeface="MiSans"/>
              </a:rPr>
              <a:t>  →  </a:t>
            </a:r>
            <a:r>
              <a:rPr b="1" sz="1200" noProof="1">
                <a:solidFill>
                  <a:srgbClr val="1E293B"/>
                </a:solidFill>
                <a:latin typeface="QuattrocentoSans"/>
                <a:ea typeface="MiSans"/>
              </a:rPr>
              <a:t>Fuzzing+LLM Agent闭环</a:t>
            </a:r>
          </a:p>
        </p:txBody>
      </p:sp>
      <p:sp>
        <p:nvSpPr>
          <p:cNvPr id="45" name="dsl:footer-left|s=$caption"/>
          <p:cNvSpPr txBox="1"/>
          <p:nvPr/>
        </p:nvSpPr>
        <p:spPr>
          <a:xfrm>
            <a:off x="571500" y="6572250"/>
            <a:ext cx="3810000" cy="1905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网络设备Web服务安全研究</a:t>
            </a:r>
          </a:p>
        </p:txBody>
      </p:sp>
      <p:sp>
        <p:nvSpPr>
          <p:cNvPr id="46" name="dsl:footer-right|s=$caption"/>
          <p:cNvSpPr txBox="1"/>
          <p:nvPr/>
        </p:nvSpPr>
        <p:spPr>
          <a:xfrm>
            <a:off x="10477500" y="6572250"/>
            <a:ext cx="1143000" cy="190500"/>
          </a:xfrm>
          <a:prstGeom prst="rect">
            <a:avLst/>
          </a:prstGeom>
          <a:noFill/>
        </p:spPr>
        <p:txBody>
          <a:bodyPr wrap="none" anchor="ctr">
            <a:noAutofit/>
          </a:bodyPr>
          <a:lstStyle/>
          <a:p>
            <a:pPr algn="r">
              <a:lnSpc>
                <a:spcPct val="140000"/>
              </a:lnSpc>
            </a:pPr>
            <a:r>
              <a:rPr sz="1050" noProof="1">
                <a:solidFill>
                  <a:srgbClr val="64748B"/>
                </a:solidFill>
                <a:latin typeface="QuattrocentoSans"/>
                <a:ea typeface="MiSans"/>
              </a:rPr>
              <a:t>35 / 37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dsl:nav-bg"/>
          <p:cNvSpPr/>
          <p:nvPr/>
        </p:nvSpPr>
        <p:spPr>
          <a:xfrm>
            <a:off x="0" y="0"/>
            <a:ext cx="12192000" cy="3810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nav-active"/>
          <p:cNvSpPr/>
          <p:nvPr/>
        </p:nvSpPr>
        <p:spPr>
          <a:xfrm>
            <a:off x="9144000" y="0"/>
            <a:ext cx="3048000" cy="3810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sl:nav-t1|s=$nav"/>
          <p:cNvSpPr txBox="1"/>
          <p:nvPr/>
        </p:nvSpPr>
        <p:spPr>
          <a:xfrm>
            <a:off x="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维度一: Source</a:t>
            </a:r>
          </a:p>
        </p:txBody>
      </p:sp>
      <p:sp>
        <p:nvSpPr>
          <p:cNvPr id="5" name="dsl:nav-t2|s=$nav"/>
          <p:cNvSpPr txBox="1"/>
          <p:nvPr/>
        </p:nvSpPr>
        <p:spPr>
          <a:xfrm>
            <a:off x="3048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维度二: Propagation</a:t>
            </a:r>
          </a:p>
        </p:txBody>
      </p:sp>
      <p:sp>
        <p:nvSpPr>
          <p:cNvPr id="6" name="dsl:nav-t3|s=$nav"/>
          <p:cNvSpPr txBox="1"/>
          <p:nvPr/>
        </p:nvSpPr>
        <p:spPr>
          <a:xfrm>
            <a:off x="6096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维度三: Sink</a:t>
            </a:r>
          </a:p>
        </p:txBody>
      </p:sp>
      <p:sp>
        <p:nvSpPr>
          <p:cNvPr id="7" name="dsl:nav-t4|s=$nav"/>
          <p:cNvSpPr txBox="1"/>
          <p:nvPr/>
        </p:nvSpPr>
        <p:spPr>
          <a:xfrm>
            <a:off x="9144000" y="0"/>
            <a:ext cx="3048000" cy="381000"/>
          </a:xfrm>
          <a:prstGeom prst="rect">
            <a:avLst/>
          </a:prstGeom>
          <a:noFill/>
        </p:spPr>
        <p:txBody>
          <a:bodyPr wrap="none" anchor="ctr">
            <a:noAutofit/>
          </a:bodyPr>
          <a:lstStyle/>
          <a:p>
            <a:pPr algn="ctr">
              <a:lnSpc>
                <a:spcPct val="120000"/>
              </a:lnSpc>
            </a:pPr>
            <a:r>
              <a:rPr sz="900" noProof="1">
                <a:solidFill>
                  <a:srgbClr val="FFFFFF"/>
                </a:solidFill>
                <a:latin typeface="QuattrocentoSans"/>
                <a:ea typeface="MiSans"/>
              </a:rPr>
              <a:t>维度四: Verification</a:t>
            </a:r>
          </a:p>
        </p:txBody>
      </p:sp>
      <p:sp>
        <p:nvSpPr>
          <p:cNvPr id="8" name="dsl:nav-line"/>
          <p:cNvSpPr/>
          <p:nvPr/>
        </p:nvSpPr>
        <p:spPr>
          <a:xfrm>
            <a:off x="0" y="381000"/>
            <a:ext cx="12192000" cy="1905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sl:page-title|s=$title"/>
          <p:cNvSpPr txBox="1"/>
          <p:nvPr/>
        </p:nvSpPr>
        <p:spPr>
          <a:xfrm>
            <a:off x="571500" y="514350"/>
            <a:ext cx="11049000" cy="381000"/>
          </a:xfrm>
          <a:prstGeom prst="rect">
            <a:avLst/>
          </a:prstGeom>
          <a:noFill/>
        </p:spPr>
        <p:txBody>
          <a:bodyPr wrap="none" anchor="ctr">
            <a:noAutofit/>
          </a:bodyPr>
          <a:lstStyle/>
          <a:p>
            <a:pPr algn="l">
              <a:lnSpc>
                <a:spcPct val="130000"/>
              </a:lnSpc>
            </a:pPr>
            <a:r>
              <a:rPr sz="2100" noProof="1">
                <a:solidFill>
                  <a:srgbClr val="1E293B"/>
                </a:solidFill>
                <a:latin typeface="QuattrocentoSans"/>
                <a:ea typeface="MiSans"/>
              </a:rPr>
              <a:t>防御策略：从漏洞发现到设备防护</a:t>
            </a:r>
          </a:p>
        </p:txBody>
      </p:sp>
      <p:sp>
        <p:nvSpPr>
          <p:cNvPr id="10" name="dsl:card1-bg"/>
          <p:cNvSpPr/>
          <p:nvPr/>
        </p:nvSpPr>
        <p:spPr>
          <a:xfrm>
            <a:off x="571500" y="1143000"/>
            <a:ext cx="2571750" cy="4953000"/>
          </a:xfrm>
          <a:prstGeom prst="roundRect">
            <a:avLst>
              <a:gd name="adj" fmla="val 6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l:card1-accent"/>
          <p:cNvSpPr/>
          <p:nvPr/>
        </p:nvSpPr>
        <p:spPr>
          <a:xfrm>
            <a:off x="762000" y="1333500"/>
            <a:ext cx="381000" cy="381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l:card1-num"/>
          <p:cNvSpPr txBox="1"/>
          <p:nvPr/>
        </p:nvSpPr>
        <p:spPr>
          <a:xfrm>
            <a:off x="762000" y="1485900"/>
            <a:ext cx="2190750" cy="285750"/>
          </a:xfrm>
          <a:prstGeom prst="rect">
            <a:avLst/>
          </a:prstGeom>
          <a:noFill/>
        </p:spPr>
        <p:txBody>
          <a:bodyPr wrap="none" anchor="ctr">
            <a:noAutofit/>
          </a:bodyPr>
          <a:lstStyle/>
          <a:p>
            <a:pPr algn="l"/>
            <a:r>
              <a:rPr b="1" sz="1500" noProof="1">
                <a:solidFill>
                  <a:srgbClr val="A6192E"/>
                </a:solidFill>
                <a:latin typeface="QuattrocentoSans"/>
                <a:ea typeface="MiSans"/>
              </a:rPr>
              <a:t>维度 1</a:t>
            </a:r>
          </a:p>
        </p:txBody>
      </p:sp>
      <p:sp>
        <p:nvSpPr>
          <p:cNvPr id="13" name="dsl:card1-title"/>
          <p:cNvSpPr txBox="1"/>
          <p:nvPr/>
        </p:nvSpPr>
        <p:spPr>
          <a:xfrm>
            <a:off x="762000" y="1809750"/>
            <a:ext cx="2190750" cy="571500"/>
          </a:xfrm>
          <a:prstGeom prst="rect">
            <a:avLst/>
          </a:prstGeom>
          <a:noFill/>
        </p:spPr>
        <p:txBody>
          <a:bodyPr wrap="none" anchor="t">
            <a:noAutofit/>
          </a:bodyPr>
          <a:lstStyle/>
          <a:p>
            <a:pPr algn="l">
              <a:lnSpc>
                <a:spcPct val="130000"/>
              </a:lnSpc>
            </a:pPr>
            <a:r>
              <a:rPr b="1" sz="1500" noProof="1">
                <a:solidFill>
                  <a:srgbClr val="1E293B"/>
                </a:solidFill>
                <a:latin typeface="QuattrocentoSans"/>
                <a:ea typeface="MiSans"/>
              </a:rPr>
              <a:t>接口与参数资产清单</a:t>
            </a:r>
          </a:p>
        </p:txBody>
      </p:sp>
      <p:sp>
        <p:nvSpPr>
          <p:cNvPr id="14" name="dsl:card1-line"/>
          <p:cNvSpPr/>
          <p:nvPr/>
        </p:nvSpPr>
        <p:spPr>
          <a:xfrm>
            <a:off x="762000" y="2457450"/>
            <a:ext cx="21907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l:card1-body"/>
          <p:cNvSpPr txBox="1"/>
          <p:nvPr/>
        </p:nvSpPr>
        <p:spPr>
          <a:xfrm>
            <a:off x="762000" y="2609850"/>
            <a:ext cx="2190750" cy="32385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 统一接口注册表，所有Web handler、CGI、Lua handler、REST API必须登记</a:t>
            </a:r>
          </a:p>
          <a:p>
            <a:pPr algn="l">
              <a:lnSpc>
                <a:spcPct val="150000"/>
              </a:lnSpc>
            </a:pPr>
            <a:r>
              <a:rPr sz="1200" noProof="1">
                <a:solidFill>
                  <a:srgbClr val="0F172A"/>
                </a:solidFill>
                <a:latin typeface="QuattrocentoSans"/>
                <a:ea typeface="MiSans"/>
              </a:rPr>
              <a:t>• URI-Key规格化管理，定义类型、长度、范围、编码</a:t>
            </a:r>
          </a:p>
          <a:p>
            <a:pPr algn="l">
              <a:lnSpc>
                <a:spcPct val="150000"/>
              </a:lnSpc>
            </a:pPr>
            <a:r>
              <a:rPr sz="1200" noProof="1">
                <a:solidFill>
                  <a:srgbClr val="0F172A"/>
                </a:solidFill>
                <a:latin typeface="QuattrocentoSans"/>
                <a:ea typeface="MiSans"/>
              </a:rPr>
              <a:t>• 输入源点显式标注，区分外部用户与系统内部Source</a:t>
            </a:r>
          </a:p>
          <a:p>
            <a:pPr algn="l">
              <a:lnSpc>
                <a:spcPct val="150000"/>
              </a:lnSpc>
            </a:pPr>
            <a:r>
              <a:rPr sz="1200" noProof="1">
                <a:solidFill>
                  <a:srgbClr val="0F172A"/>
                </a:solidFill>
                <a:latin typeface="QuattrocentoSans"/>
                <a:ea typeface="MiSans"/>
              </a:rPr>
              <a:t>• 发布前比对前后端参数，强制审查后端独有参数</a:t>
            </a:r>
          </a:p>
        </p:txBody>
      </p:sp>
      <p:sp>
        <p:nvSpPr>
          <p:cNvPr id="16" name="dsl:card2-bg"/>
          <p:cNvSpPr/>
          <p:nvPr/>
        </p:nvSpPr>
        <p:spPr>
          <a:xfrm>
            <a:off x="3333750" y="1143000"/>
            <a:ext cx="2571750" cy="4953000"/>
          </a:xfrm>
          <a:prstGeom prst="roundRect">
            <a:avLst>
              <a:gd name="adj" fmla="val 6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l:card2-accent"/>
          <p:cNvSpPr/>
          <p:nvPr/>
        </p:nvSpPr>
        <p:spPr>
          <a:xfrm>
            <a:off x="3524250" y="1333500"/>
            <a:ext cx="381000" cy="381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l:card2-num"/>
          <p:cNvSpPr txBox="1"/>
          <p:nvPr/>
        </p:nvSpPr>
        <p:spPr>
          <a:xfrm>
            <a:off x="3524250" y="1485900"/>
            <a:ext cx="2190750" cy="285750"/>
          </a:xfrm>
          <a:prstGeom prst="rect">
            <a:avLst/>
          </a:prstGeom>
          <a:noFill/>
        </p:spPr>
        <p:txBody>
          <a:bodyPr wrap="none" anchor="ctr">
            <a:noAutofit/>
          </a:bodyPr>
          <a:lstStyle/>
          <a:p>
            <a:pPr algn="l"/>
            <a:r>
              <a:rPr b="1" sz="1500" noProof="1">
                <a:solidFill>
                  <a:srgbClr val="A6192E"/>
                </a:solidFill>
                <a:latin typeface="QuattrocentoSans"/>
                <a:ea typeface="MiSans"/>
              </a:rPr>
              <a:t>维度 2</a:t>
            </a:r>
          </a:p>
        </p:txBody>
      </p:sp>
      <p:sp>
        <p:nvSpPr>
          <p:cNvPr id="19" name="dsl:card2-title"/>
          <p:cNvSpPr txBox="1"/>
          <p:nvPr/>
        </p:nvSpPr>
        <p:spPr>
          <a:xfrm>
            <a:off x="3524250" y="1809750"/>
            <a:ext cx="2190750" cy="571500"/>
          </a:xfrm>
          <a:prstGeom prst="rect">
            <a:avLst/>
          </a:prstGeom>
          <a:noFill/>
        </p:spPr>
        <p:txBody>
          <a:bodyPr wrap="none" anchor="t">
            <a:noAutofit/>
          </a:bodyPr>
          <a:lstStyle/>
          <a:p>
            <a:pPr algn="l">
              <a:lnSpc>
                <a:spcPct val="130000"/>
              </a:lnSpc>
            </a:pPr>
            <a:r>
              <a:rPr b="1" sz="1500" noProof="1">
                <a:solidFill>
                  <a:srgbClr val="1E293B"/>
                </a:solidFill>
                <a:latin typeface="QuattrocentoSans"/>
                <a:ea typeface="MiSans"/>
              </a:rPr>
              <a:t>跨组件数据流安全边界</a:t>
            </a:r>
          </a:p>
        </p:txBody>
      </p:sp>
      <p:sp>
        <p:nvSpPr>
          <p:cNvPr id="20" name="dsl:card2-line"/>
          <p:cNvSpPr/>
          <p:nvPr/>
        </p:nvSpPr>
        <p:spPr>
          <a:xfrm>
            <a:off x="3524250" y="2457450"/>
            <a:ext cx="21907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l:card2-body"/>
          <p:cNvSpPr txBox="1"/>
          <p:nvPr/>
        </p:nvSpPr>
        <p:spPr>
          <a:xfrm>
            <a:off x="3524250" y="2609850"/>
            <a:ext cx="2190750" cy="32385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 IPC数据键分级，标注可被Web请求间接控制的key</a:t>
            </a:r>
          </a:p>
          <a:p>
            <a:pPr algn="l">
              <a:lnSpc>
                <a:spcPct val="150000"/>
              </a:lnSpc>
            </a:pPr>
            <a:r>
              <a:rPr sz="1200" noProof="1">
                <a:solidFill>
                  <a:srgbClr val="0F172A"/>
                </a:solidFill>
                <a:latin typeface="QuattrocentoSans"/>
                <a:ea typeface="MiSans"/>
              </a:rPr>
              <a:t>• Setter/Getter双向约束，写入前净化、读取后验证</a:t>
            </a:r>
          </a:p>
          <a:p>
            <a:pPr algn="l">
              <a:lnSpc>
                <a:spcPct val="150000"/>
              </a:lnSpc>
            </a:pPr>
            <a:r>
              <a:rPr sz="1200" noProof="1">
                <a:solidFill>
                  <a:srgbClr val="0F172A"/>
                </a:solidFill>
                <a:latin typeface="QuattrocentoSans"/>
                <a:ea typeface="MiSans"/>
              </a:rPr>
              <a:t>• 跨语言调用边界防护，禁止Lua拼接命令直接传C</a:t>
            </a:r>
          </a:p>
          <a:p>
            <a:pPr algn="l">
              <a:lnSpc>
                <a:spcPct val="150000"/>
              </a:lnSpc>
            </a:pPr>
            <a:r>
              <a:rPr sz="1200" noProof="1">
                <a:solidFill>
                  <a:srgbClr val="0F172A"/>
                </a:solidFill>
                <a:latin typeface="QuattrocentoSans"/>
                <a:ea typeface="MiSans"/>
              </a:rPr>
              <a:t>• 组件最小权限，Web进程低权限，高危操作受控API</a:t>
            </a:r>
          </a:p>
        </p:txBody>
      </p:sp>
      <p:sp>
        <p:nvSpPr>
          <p:cNvPr id="22" name="dsl:card3-bg"/>
          <p:cNvSpPr/>
          <p:nvPr/>
        </p:nvSpPr>
        <p:spPr>
          <a:xfrm>
            <a:off x="6096000" y="1143000"/>
            <a:ext cx="2571750" cy="4953000"/>
          </a:xfrm>
          <a:prstGeom prst="roundRect">
            <a:avLst>
              <a:gd name="adj" fmla="val 6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l:card3-accent"/>
          <p:cNvSpPr/>
          <p:nvPr/>
        </p:nvSpPr>
        <p:spPr>
          <a:xfrm>
            <a:off x="6286500" y="1333500"/>
            <a:ext cx="381000" cy="381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sl:card3-num"/>
          <p:cNvSpPr txBox="1"/>
          <p:nvPr/>
        </p:nvSpPr>
        <p:spPr>
          <a:xfrm>
            <a:off x="6286500" y="1485900"/>
            <a:ext cx="2190750" cy="285750"/>
          </a:xfrm>
          <a:prstGeom prst="rect">
            <a:avLst/>
          </a:prstGeom>
          <a:noFill/>
        </p:spPr>
        <p:txBody>
          <a:bodyPr wrap="none" anchor="ctr">
            <a:noAutofit/>
          </a:bodyPr>
          <a:lstStyle/>
          <a:p>
            <a:pPr algn="l"/>
            <a:r>
              <a:rPr b="1" sz="1500" noProof="1">
                <a:solidFill>
                  <a:srgbClr val="A6192E"/>
                </a:solidFill>
                <a:latin typeface="QuattrocentoSans"/>
                <a:ea typeface="MiSans"/>
              </a:rPr>
              <a:t>维度 3</a:t>
            </a:r>
          </a:p>
        </p:txBody>
      </p:sp>
      <p:sp>
        <p:nvSpPr>
          <p:cNvPr id="25" name="dsl:card3-title"/>
          <p:cNvSpPr txBox="1"/>
          <p:nvPr/>
        </p:nvSpPr>
        <p:spPr>
          <a:xfrm>
            <a:off x="6286500" y="1809750"/>
            <a:ext cx="2190750" cy="571500"/>
          </a:xfrm>
          <a:prstGeom prst="rect">
            <a:avLst/>
          </a:prstGeom>
          <a:noFill/>
        </p:spPr>
        <p:txBody>
          <a:bodyPr wrap="none" anchor="t">
            <a:noAutofit/>
          </a:bodyPr>
          <a:lstStyle/>
          <a:p>
            <a:pPr algn="l">
              <a:lnSpc>
                <a:spcPct val="130000"/>
              </a:lnSpc>
            </a:pPr>
            <a:r>
              <a:rPr b="1" sz="1500" noProof="1">
                <a:solidFill>
                  <a:srgbClr val="1E293B"/>
                </a:solidFill>
                <a:latin typeface="QuattrocentoSans"/>
                <a:ea typeface="MiSans"/>
              </a:rPr>
              <a:t>隐藏接口治理与认证</a:t>
            </a:r>
          </a:p>
        </p:txBody>
      </p:sp>
      <p:sp>
        <p:nvSpPr>
          <p:cNvPr id="26" name="dsl:card3-line"/>
          <p:cNvSpPr/>
          <p:nvPr/>
        </p:nvSpPr>
        <p:spPr>
          <a:xfrm>
            <a:off x="6286500" y="2457450"/>
            <a:ext cx="21907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sl:card3-body"/>
          <p:cNvSpPr txBox="1"/>
          <p:nvPr/>
        </p:nvSpPr>
        <p:spPr>
          <a:xfrm>
            <a:off x="6286500" y="2609850"/>
            <a:ext cx="2190750" cy="32385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 消除未注册路由Token，构建阶段扫描阻断异常</a:t>
            </a:r>
          </a:p>
          <a:p>
            <a:pPr algn="l">
              <a:lnSpc>
                <a:spcPct val="150000"/>
              </a:lnSpc>
            </a:pPr>
            <a:r>
              <a:rPr sz="1200" noProof="1">
                <a:solidFill>
                  <a:srgbClr val="0F172A"/>
                </a:solidFill>
                <a:latin typeface="QuattrocentoSans"/>
                <a:ea typeface="MiSans"/>
              </a:rPr>
              <a:t>• 调试接口发布门禁，test/debug等不得进入正式版</a:t>
            </a:r>
          </a:p>
          <a:p>
            <a:pPr algn="l">
              <a:lnSpc>
                <a:spcPct val="150000"/>
              </a:lnSpc>
            </a:pPr>
            <a:r>
              <a:rPr sz="1200" noProof="1">
                <a:solidFill>
                  <a:srgbClr val="0F172A"/>
                </a:solidFill>
                <a:latin typeface="QuattrocentoSans"/>
                <a:ea typeface="MiSans"/>
              </a:rPr>
              <a:t>• 路由分发前统一认证授权，敏感操作验证角色</a:t>
            </a:r>
          </a:p>
          <a:p>
            <a:pPr algn="l">
              <a:lnSpc>
                <a:spcPct val="150000"/>
              </a:lnSpc>
            </a:pPr>
            <a:r>
              <a:rPr sz="1200" noProof="1">
                <a:solidFill>
                  <a:srgbClr val="0F172A"/>
                </a:solidFill>
                <a:latin typeface="QuattrocentoSans"/>
                <a:ea typeface="MiSans"/>
              </a:rPr>
              <a:t>• 一致化错误响应，不泄露内部路径和版本信息</a:t>
            </a:r>
          </a:p>
        </p:txBody>
      </p:sp>
      <p:sp>
        <p:nvSpPr>
          <p:cNvPr id="28" name="dsl:card4-bg"/>
          <p:cNvSpPr/>
          <p:nvPr/>
        </p:nvSpPr>
        <p:spPr>
          <a:xfrm>
            <a:off x="8858250" y="1143000"/>
            <a:ext cx="2571750" cy="4953000"/>
          </a:xfrm>
          <a:prstGeom prst="roundRect">
            <a:avLst>
              <a:gd name="adj" fmla="val 6000"/>
            </a:avLst>
          </a:prstGeom>
          <a:solidFill>
            <a:srgbClr val="FFFFFF"/>
          </a:solidFill>
          <a:ln w="12700">
            <a:solidFill>
              <a:srgbClr val="E2E8F0"/>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dsl:card4-accent"/>
          <p:cNvSpPr/>
          <p:nvPr/>
        </p:nvSpPr>
        <p:spPr>
          <a:xfrm>
            <a:off x="9048750" y="1333500"/>
            <a:ext cx="381000" cy="381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sl:card4-num"/>
          <p:cNvSpPr txBox="1"/>
          <p:nvPr/>
        </p:nvSpPr>
        <p:spPr>
          <a:xfrm>
            <a:off x="9048750" y="1485900"/>
            <a:ext cx="2190750" cy="285750"/>
          </a:xfrm>
          <a:prstGeom prst="rect">
            <a:avLst/>
          </a:prstGeom>
          <a:noFill/>
        </p:spPr>
        <p:txBody>
          <a:bodyPr wrap="none" anchor="ctr">
            <a:noAutofit/>
          </a:bodyPr>
          <a:lstStyle/>
          <a:p>
            <a:pPr algn="l"/>
            <a:r>
              <a:rPr b="1" sz="1500" noProof="1">
                <a:solidFill>
                  <a:srgbClr val="A6192E"/>
                </a:solidFill>
                <a:latin typeface="QuattrocentoSans"/>
                <a:ea typeface="MiSans"/>
              </a:rPr>
              <a:t>维度 4</a:t>
            </a:r>
          </a:p>
        </p:txBody>
      </p:sp>
      <p:sp>
        <p:nvSpPr>
          <p:cNvPr id="31" name="dsl:card4-title"/>
          <p:cNvSpPr txBox="1"/>
          <p:nvPr/>
        </p:nvSpPr>
        <p:spPr>
          <a:xfrm>
            <a:off x="9048750" y="1809750"/>
            <a:ext cx="2190750" cy="571500"/>
          </a:xfrm>
          <a:prstGeom prst="rect">
            <a:avLst/>
          </a:prstGeom>
          <a:noFill/>
        </p:spPr>
        <p:txBody>
          <a:bodyPr wrap="none" anchor="t">
            <a:noAutofit/>
          </a:bodyPr>
          <a:lstStyle/>
          <a:p>
            <a:pPr algn="l">
              <a:lnSpc>
                <a:spcPct val="130000"/>
              </a:lnSpc>
            </a:pPr>
            <a:r>
              <a:rPr b="1" sz="1500" noProof="1">
                <a:solidFill>
                  <a:srgbClr val="1E293B"/>
                </a:solidFill>
                <a:latin typeface="QuattrocentoSans"/>
                <a:ea typeface="MiSans"/>
              </a:rPr>
              <a:t>约束一致性主动发现</a:t>
            </a:r>
          </a:p>
        </p:txBody>
      </p:sp>
      <p:sp>
        <p:nvSpPr>
          <p:cNvPr id="32" name="dsl:card4-line"/>
          <p:cNvSpPr/>
          <p:nvPr/>
        </p:nvSpPr>
        <p:spPr>
          <a:xfrm>
            <a:off x="9048750" y="2457450"/>
            <a:ext cx="21907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sl:card4-body"/>
          <p:cNvSpPr txBox="1"/>
          <p:nvPr/>
        </p:nvSpPr>
        <p:spPr>
          <a:xfrm>
            <a:off x="9048750" y="2609850"/>
            <a:ext cx="2190750" cy="3238500"/>
          </a:xfrm>
          <a:prstGeom prst="rect">
            <a:avLst/>
          </a:prstGeom>
          <a:noFill/>
        </p:spPr>
        <p:txBody>
          <a:bodyPr wrap="square" anchor="t">
            <a:noAutofit/>
          </a:bodyPr>
          <a:lstStyle/>
          <a:p>
            <a:pPr algn="l">
              <a:lnSpc>
                <a:spcPct val="150000"/>
              </a:lnSpc>
            </a:pPr>
            <a:r>
              <a:rPr sz="1200" noProof="1">
                <a:solidFill>
                  <a:srgbClr val="0F172A"/>
                </a:solidFill>
                <a:latin typeface="QuattrocentoSans"/>
                <a:ea typeface="MiSans"/>
              </a:rPr>
              <a:t>• 三类约束统一建模：前端显式、后端显式、Sink期望</a:t>
            </a:r>
          </a:p>
          <a:p>
            <a:pPr algn="l">
              <a:lnSpc>
                <a:spcPct val="150000"/>
              </a:lnSpc>
            </a:pPr>
            <a:r>
              <a:rPr sz="1200" noProof="1">
                <a:solidFill>
                  <a:srgbClr val="0F172A"/>
                </a:solidFill>
                <a:latin typeface="QuattrocentoSans"/>
                <a:ea typeface="MiSans"/>
              </a:rPr>
              <a:t>• 识别约束不一致：前端限长后端不限→高风险</a:t>
            </a:r>
          </a:p>
          <a:p>
            <a:pPr algn="l">
              <a:lnSpc>
                <a:spcPct val="150000"/>
              </a:lnSpc>
            </a:pPr>
            <a:r>
              <a:rPr sz="1200" noProof="1">
                <a:solidFill>
                  <a:srgbClr val="0F172A"/>
                </a:solidFill>
                <a:latin typeface="QuattrocentoSans"/>
                <a:ea typeface="MiSans"/>
              </a:rPr>
              <a:t>• 从URI-Key清单自动生成合法请求与验证用例</a:t>
            </a:r>
          </a:p>
          <a:p>
            <a:pPr algn="l">
              <a:lnSpc>
                <a:spcPct val="150000"/>
              </a:lnSpc>
            </a:pPr>
            <a:r>
              <a:rPr sz="1200" noProof="1">
                <a:solidFill>
                  <a:srgbClr val="0F172A"/>
                </a:solidFill>
                <a:latin typeface="QuattrocentoSans"/>
                <a:ea typeface="MiSans"/>
              </a:rPr>
              <a:t>• 修复后回归：已确认漏洞转化为回归测试，防补丁遗漏</a:t>
            </a:r>
          </a:p>
        </p:txBody>
      </p:sp>
      <p:sp>
        <p:nvSpPr>
          <p:cNvPr id="34" name="dsl:footer-left|s=$caption"/>
          <p:cNvSpPr txBox="1"/>
          <p:nvPr/>
        </p:nvSpPr>
        <p:spPr>
          <a:xfrm>
            <a:off x="571500" y="6572250"/>
            <a:ext cx="3810000" cy="190500"/>
          </a:xfrm>
          <a:prstGeom prst="rect">
            <a:avLst/>
          </a:prstGeom>
          <a:noFill/>
        </p:spPr>
        <p:txBody>
          <a:bodyPr wrap="none" anchor="ctr">
            <a:noAutofit/>
          </a:bodyPr>
          <a:lstStyle/>
          <a:p>
            <a:pPr algn="l">
              <a:lnSpc>
                <a:spcPct val="140000"/>
              </a:lnSpc>
            </a:pPr>
            <a:r>
              <a:rPr sz="1050" noProof="1">
                <a:solidFill>
                  <a:srgbClr val="64748B"/>
                </a:solidFill>
                <a:latin typeface="QuattrocentoSans"/>
                <a:ea typeface="MiSans"/>
              </a:rPr>
              <a:t>网络设备Web服务安全研究</a:t>
            </a:r>
          </a:p>
        </p:txBody>
      </p:sp>
      <p:sp>
        <p:nvSpPr>
          <p:cNvPr id="35" name="dsl:footer-right|s=$caption"/>
          <p:cNvSpPr txBox="1"/>
          <p:nvPr/>
        </p:nvSpPr>
        <p:spPr>
          <a:xfrm>
            <a:off x="10477500" y="6572250"/>
            <a:ext cx="1143000" cy="190500"/>
          </a:xfrm>
          <a:prstGeom prst="rect">
            <a:avLst/>
          </a:prstGeom>
          <a:noFill/>
        </p:spPr>
        <p:txBody>
          <a:bodyPr wrap="none" anchor="ctr">
            <a:noAutofit/>
          </a:bodyPr>
          <a:lstStyle/>
          <a:p>
            <a:pPr algn="r">
              <a:lnSpc>
                <a:spcPct val="140000"/>
              </a:lnSpc>
            </a:pPr>
            <a:r>
              <a:rPr sz="1050" noProof="1">
                <a:solidFill>
                  <a:srgbClr val="64748B"/>
                </a:solidFill>
                <a:latin typeface="QuattrocentoSans"/>
                <a:ea typeface="MiSans"/>
              </a:rPr>
              <a:t>36 / 37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E293B"/>
        </a:solidFill>
        <a:effectLst/>
      </p:bgPr>
    </p:bg>
    <p:spTree>
      <p:nvGrpSpPr>
        <p:cNvPr id="1" name=""/>
        <p:cNvGrpSpPr/>
        <p:nvPr/>
      </p:nvGrpSpPr>
      <p:grpSpPr/>
      <p:sp>
        <p:nvSpPr>
          <p:cNvPr id="2" name="dsl:center-line"/>
          <p:cNvSpPr/>
          <p:nvPr/>
        </p:nvSpPr>
        <p:spPr>
          <a:xfrm>
            <a:off x="5143500" y="1524000"/>
            <a:ext cx="1905000" cy="38100"/>
          </a:xfrm>
          <a:prstGeom prst="rect">
            <a:avLst/>
          </a:prstGeom>
          <a:solidFill>
            <a:srgbClr val="A61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sl:main-title|s=$coverTitle"/>
          <p:cNvSpPr txBox="1"/>
          <p:nvPr/>
        </p:nvSpPr>
        <p:spPr>
          <a:xfrm>
            <a:off x="1333500" y="1714500"/>
            <a:ext cx="9525000" cy="571500"/>
          </a:xfrm>
          <a:prstGeom prst="rect">
            <a:avLst/>
          </a:prstGeom>
          <a:noFill/>
        </p:spPr>
        <p:txBody>
          <a:bodyPr wrap="none" anchor="ctr">
            <a:noAutofit/>
          </a:bodyPr>
          <a:lstStyle/>
          <a:p>
            <a:pPr algn="ctr">
              <a:lnSpc>
                <a:spcPct val="120000"/>
              </a:lnSpc>
            </a:pPr>
            <a:r>
              <a:rPr sz="3000" noProof="1">
                <a:solidFill>
                  <a:srgbClr val="FFFFFF"/>
                </a:solidFill>
                <a:latin typeface="QuattrocentoSans"/>
                <a:ea typeface="MiSans"/>
              </a:rPr>
              <a:t>总结与展望</a:t>
            </a:r>
          </a:p>
        </p:txBody>
      </p:sp>
      <p:sp>
        <p:nvSpPr>
          <p:cNvPr id="4" name="dsl:subtitle|s=$coverSubtitle"/>
          <p:cNvSpPr txBox="1"/>
          <p:nvPr/>
        </p:nvSpPr>
        <p:spPr>
          <a:xfrm>
            <a:off x="1809750" y="2476500"/>
            <a:ext cx="8572500" cy="381000"/>
          </a:xfrm>
          <a:prstGeom prst="rect">
            <a:avLst/>
          </a:prstGeom>
          <a:noFill/>
        </p:spPr>
        <p:txBody>
          <a:bodyPr wrap="none" anchor="ctr">
            <a:noAutofit/>
          </a:bodyPr>
          <a:lstStyle/>
          <a:p>
            <a:pPr algn="ctr">
              <a:lnSpc>
                <a:spcPct val="140000"/>
              </a:lnSpc>
            </a:pPr>
            <a:r>
              <a:rPr sz="1650" noProof="1">
                <a:solidFill>
                  <a:srgbClr val="CBD5E1"/>
                </a:solidFill>
                <a:latin typeface="QuattrocentoSans"/>
                <a:ea typeface="MiSans"/>
              </a:rPr>
              <a:t>网络设备Web安全研究已形成全链路技术体系</a:t>
            </a:r>
          </a:p>
        </p:txBody>
      </p:sp>
      <p:sp>
        <p:nvSpPr>
          <p:cNvPr id="5" name="dsl:summary-box"/>
          <p:cNvSpPr/>
          <p:nvPr/>
        </p:nvSpPr>
        <p:spPr>
          <a:xfrm>
            <a:off x="1333500" y="3048000"/>
            <a:ext cx="9525000" cy="2095500"/>
          </a:xfrm>
          <a:prstGeom prst="roundRect">
            <a:avLst>
              <a:gd name="adj" fmla="val 6000"/>
            </a:avLst>
          </a:prstGeom>
          <a:solidFill>
            <a:srgbClr val="FFFFFF">
              <a:alpha val="6274"/>
            </a:srgbClr>
          </a:solidFill>
          <a:ln w="12700">
            <a:solidFill>
              <a:srgbClr val="FFFFFF">
                <a:alpha val="18823"/>
              </a:srgbClr>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sl:summary-text"/>
          <p:cNvSpPr txBox="1"/>
          <p:nvPr/>
        </p:nvSpPr>
        <p:spPr>
          <a:xfrm>
            <a:off x="1714500" y="3238500"/>
            <a:ext cx="8763000" cy="1714500"/>
          </a:xfrm>
          <a:prstGeom prst="rect">
            <a:avLst/>
          </a:prstGeom>
          <a:noFill/>
        </p:spPr>
        <p:txBody>
          <a:bodyPr wrap="square" anchor="t">
            <a:noAutofit/>
          </a:bodyPr>
          <a:lstStyle/>
          <a:p>
            <a:pPr algn="l">
              <a:lnSpc>
                <a:spcPct val="180000"/>
              </a:lnSpc>
            </a:pPr>
            <a:r>
              <a:rPr sz="1350" noProof="1">
                <a:solidFill>
                  <a:srgbClr val="E2E8F0"/>
                </a:solidFill>
                <a:latin typeface="QuattrocentoSans"/>
                <a:ea typeface="MiSans"/>
              </a:rPr>
              <a:t>• 完整链路：Source识别 → Propagation追踪 → Sink发现 → Verification闭环</a:t>
            </a:r>
          </a:p>
          <a:p>
            <a:pPr algn="l">
              <a:lnSpc>
                <a:spcPct val="180000"/>
              </a:lnSpc>
            </a:pPr>
            <a:r>
              <a:rPr sz="1350" noProof="1">
                <a:solidFill>
                  <a:srgbClr val="E2E8F0"/>
                </a:solidFill>
                <a:latin typeface="QuattrocentoSans"/>
                <a:ea typeface="MiSans"/>
              </a:rPr>
              <a:t>• 技术演进：硬编码匹配 → LLM语义理解 → 智能Token推断 → 约束一致性+Agent闭环</a:t>
            </a:r>
          </a:p>
          <a:p>
            <a:pPr algn="l">
              <a:lnSpc>
                <a:spcPct val="180000"/>
              </a:lnSpc>
            </a:pPr>
            <a:r>
              <a:rPr sz="1350" noProof="1">
                <a:solidFill>
                  <a:srgbClr val="E2E8F0"/>
                </a:solidFill>
                <a:latin typeface="QuattrocentoSans"/>
                <a:ea typeface="MiSans"/>
              </a:rPr>
              <a:t>• 未来方向：大模型驱动自动化漏洞分析、多语言混合架构通用化、真实设备高可信验证</a:t>
            </a:r>
          </a:p>
        </p:txBody>
      </p:sp>
      <p:sp>
        <p:nvSpPr>
          <p:cNvPr id="7" name="dsl:thanks"/>
          <p:cNvSpPr txBox="1"/>
          <p:nvPr/>
        </p:nvSpPr>
        <p:spPr>
          <a:xfrm>
            <a:off x="3238500" y="5524500"/>
            <a:ext cx="5715000" cy="381000"/>
          </a:xfrm>
          <a:prstGeom prst="rect">
            <a:avLst/>
          </a:prstGeom>
          <a:noFill/>
        </p:spPr>
        <p:txBody>
          <a:bodyPr wrap="none" anchor="ctr">
            <a:noAutofit/>
          </a:bodyPr>
          <a:lstStyle/>
          <a:p>
            <a:pPr algn="ctr"/>
            <a:r>
              <a:rPr sz="1650" noProof="1">
                <a:solidFill>
                  <a:srgbClr val="FFFFFF"/>
                </a:solidFill>
                <a:latin typeface="QuattrocentoSans"/>
                <a:ea typeface="MiSans"/>
              </a:rPr>
              <a:t>感谢聆听</a:t>
            </a:r>
          </a:p>
        </p:txBody>
      </p:sp>
      <p:sp>
        <p:nvSpPr>
          <p:cNvPr id="8" name="dsl:author-info"/>
          <p:cNvSpPr txBox="1"/>
          <p:nvPr/>
        </p:nvSpPr>
        <p:spPr>
          <a:xfrm>
            <a:off x="3238500" y="6000750"/>
            <a:ext cx="5715000" cy="285750"/>
          </a:xfrm>
          <a:prstGeom prst="rect">
            <a:avLst/>
          </a:prstGeom>
          <a:noFill/>
        </p:spPr>
        <p:txBody>
          <a:bodyPr wrap="none" anchor="ctr">
            <a:noAutofit/>
          </a:bodyPr>
          <a:lstStyle/>
          <a:p>
            <a:pPr algn="ctr"/>
            <a:r>
              <a:rPr sz="1200" noProof="1">
                <a:solidFill>
                  <a:srgbClr val="94A3B8"/>
                </a:solidFill>
                <a:latin typeface="QuattrocentoSans"/>
                <a:ea typeface="MiSans"/>
              </a:rPr>
              <a:t>罗夏朴 | 香港理工大学 电子计算学系 |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DslMetadata>
  <Colors>
    <Color name="primary" value="#1E293B"/>
    <Color name="secondary" value="#64748B"/>
    <Color name="accent" value="#A6192E"/>
    <Color name="background" value="#F8FAFC"/>
    <Color name="text" value="#0F172A"/>
    <Color name="panel" value="#FFFFFF"/>
    <Color name="soft" value="#F1F5F9"/>
    <Color name="rule" value="#E2E8F0"/>
    <Color name="risk" value="#DC2626"/>
    <Color name="success" value="#059669"/>
    <Color name="navActive" value="#A6192E"/>
    <Color name="navBg" value="#1E293B"/>
    <Color name="navText" value="#FFFFFF"/>
  </Colors>
  <TextStyles>
    <TextStyle name="coverTitle" font_size="40.0" color="#FFFFFF" font_family="QuattrocentoSans, MiSans" line_height="1.2"/>
    <TextStyle name="coverSubtitle" font_size="22.0" color="#CBD5E1" font_family="QuattrocentoSans, MiSans" line_height="1.4"/>
    <TextStyle name="chapterTitle" font_size="36.0" color="#FFFFFF" font_family="QuattrocentoSans, MiSans" line_height="1.2"/>
    <TextStyle name="chapterSubtitle" font_size="20.0" color="#CBD5E1" font_family="QuattrocentoSans, MiSans" line_height="1.4"/>
    <TextStyle name="chapterNum" font_size="120.0" color="#FFFFFF20" font_family="QuattrocentoSans, MiSans" line_height="1.0"/>
    <TextStyle name="title" font_size="28.0" color="$primary" font_family="QuattrocentoSans, MiSans" line_height="1.3"/>
    <TextStyle name="subtitle" font_size="22.0" color="$secondary" font_family="QuattrocentoSans, MiSans" line_height="1.3"/>
    <TextStyle name="body" font_size="18.0" color="$text" font_family="QuattrocentoSans, MiSans" line_height="1.6"/>
    <TextStyle name="caption" font_size="14.0" color="$secondary" font_family="QuattrocentoSans, MiSans" line_height="1.4"/>
    <TextStyle name="nav" font_size="12.0" color="#FFFFFF" font_family="QuattrocentoSans, MiSans" line_height="1.2"/>
    <TextStyle name="kpi" font_size="32.0" color="$accent" font_family="QuattrocentoSans, MiSans" line_height="1.2"/>
    <TextStyle name="badge" font_size="12.0" color="#FFFFFF" font_family="QuattrocentoSans, MiSans" line_height="1.2"/>
    <TextStyle name="quote" font_size="16.0" color="$secondary" font_family="QuattrocentoSans, MiSans" line_height="1.5" font_style="italic"/>
  </TextStyles>
  <TableStyles>
    <TableStyle name="default" fontSize="16.0" fontFamily="QuattrocentoSans, MiSans" headerFill="$primary" headerColor="#FFFFFF" headerBold="true" bodyFill="#FFFFFF,$soft" bodyColor="$text" firstColumnBold="false">
      <HeaderBorder style="solid" width="2.0" color="$primary"/>
      <BodyBorder style="none" width="1.0" color="#00000000"/>
      <LastRowBorder style="solid" width="2.0" color="$primary"/>
      <Border style="solid" width="1.0" color="$rule"/>
    </TableStyle>
  </TableStyles>
</DslMetadata>
</file>

<file path=customXml/itemProps1.xml><?xml version="1.0" encoding="utf-8"?>
<ns0:datastoreItem xmlns:ns0="http://schemas.openxmlformats.org/officeDocument/2006/customXml" ns0:itemID="{ADE2C513-E686-4993-AAC9-030A1D2310E7}">
  <ns0:schemaRefs/>
</ns0:datastoreItem>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