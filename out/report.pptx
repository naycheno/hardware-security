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  <Override PartName="/ppt/slides/slide241.xml" ContentType="application/vnd.openxmlformats-officedocument.presentationml.slide+xml"/>
  <Override PartName="/ppt/notesSlides/notesSlide241.xml" ContentType="application/vnd.openxmlformats-officedocument.presentationml.notesSlide+xml"/>
  <Override PartName="/ppt/slides/slide242.xml" ContentType="application/vnd.openxmlformats-officedocument.presentationml.slide+xml"/>
  <Override PartName="/ppt/notesSlides/notesSlide242.xml" ContentType="application/vnd.openxmlformats-officedocument.presentationml.notesSlide+xml"/>
  <Override PartName="/ppt/slides/slide243.xml" ContentType="application/vnd.openxmlformats-officedocument.presentationml.slide+xml"/>
  <Override PartName="/ppt/notesSlides/notesSlide243.xml" ContentType="application/vnd.openxmlformats-officedocument.presentationml.notesSlide+xml"/>
  <Override PartName="/ppt/slides/slide244.xml" ContentType="application/vnd.openxmlformats-officedocument.presentationml.slide+xml"/>
  <Override PartName="/ppt/notesSlides/notesSlide244.xml" ContentType="application/vnd.openxmlformats-officedocument.presentationml.notesSlide+xml"/>
  <Override PartName="/ppt/slides/slide245.xml" ContentType="application/vnd.openxmlformats-officedocument.presentationml.slide+xml"/>
  <Override PartName="/ppt/notesSlides/notesSlide245.xml" ContentType="application/vnd.openxmlformats-officedocument.presentationml.notesSlide+xml"/>
  <Override PartName="/ppt/slides/slide246.xml" ContentType="application/vnd.openxmlformats-officedocument.presentationml.slide+xml"/>
  <Override PartName="/ppt/notesSlides/notesSlide246.xml" ContentType="application/vnd.openxmlformats-officedocument.presentationml.notesSlide+xml"/>
  <Override PartName="/ppt/slides/slide247.xml" ContentType="application/vnd.openxmlformats-officedocument.presentationml.slide+xml"/>
  <Override PartName="/ppt/notesSlides/notesSlide247.xml" ContentType="application/vnd.openxmlformats-officedocument.presentationml.notesSlide+xml"/>
  <Override PartName="/ppt/slides/slide248.xml" ContentType="application/vnd.openxmlformats-officedocument.presentationml.slide+xml"/>
  <Override PartName="/ppt/notesSlides/notesSlide248.xml" ContentType="application/vnd.openxmlformats-officedocument.presentationml.notesSlide+xml"/>
  <Override PartName="/ppt/slides/slide249.xml" ContentType="application/vnd.openxmlformats-officedocument.presentationml.slide+xml"/>
  <Override PartName="/ppt/notesSlides/notesSlide249.xml" ContentType="application/vnd.openxmlformats-officedocument.presentationml.notesSlide+xml"/>
  <Override PartName="/ppt/slides/slide250.xml" ContentType="application/vnd.openxmlformats-officedocument.presentationml.slide+xml"/>
  <Override PartName="/ppt/notesSlides/notesSlide250.xml" ContentType="application/vnd.openxmlformats-officedocument.presentationml.notesSlide+xml"/>
  <Override PartName="/ppt/slides/slide251.xml" ContentType="application/vnd.openxmlformats-officedocument.presentationml.slide+xml"/>
  <Override PartName="/ppt/notesSlides/notesSlide251.xml" ContentType="application/vnd.openxmlformats-officedocument.presentationml.notesSlide+xml"/>
  <Override PartName="/ppt/slides/slide252.xml" ContentType="application/vnd.openxmlformats-officedocument.presentationml.slide+xml"/>
  <Override PartName="/ppt/notesSlides/notesSlide252.xml" ContentType="application/vnd.openxmlformats-officedocument.presentationml.notesSlide+xml"/>
  <Override PartName="/ppt/slides/slide253.xml" ContentType="application/vnd.openxmlformats-officedocument.presentationml.slide+xml"/>
  <Override PartName="/ppt/notesSlides/notesSlide253.xml" ContentType="application/vnd.openxmlformats-officedocument.presentationml.notesSlide+xml"/>
  <Override PartName="/ppt/slides/slide254.xml" ContentType="application/vnd.openxmlformats-officedocument.presentationml.slide+xml"/>
  <Override PartName="/ppt/notesSlides/notesSlide254.xml" ContentType="application/vnd.openxmlformats-officedocument.presentationml.notesSlide+xml"/>
  <Override PartName="/ppt/slides/slide255.xml" ContentType="application/vnd.openxmlformats-officedocument.presentationml.slide+xml"/>
  <Override PartName="/ppt/notesSlides/notesSlide255.xml" ContentType="application/vnd.openxmlformats-officedocument.presentationml.notesSlide+xml"/>
  <Override PartName="/ppt/slides/slide256.xml" ContentType="application/vnd.openxmlformats-officedocument.presentationml.slide+xml"/>
  <Override PartName="/ppt/notesSlides/notesSlide256.xml" ContentType="application/vnd.openxmlformats-officedocument.presentationml.notesSlide+xml"/>
  <Override PartName="/ppt/slides/slide257.xml" ContentType="application/vnd.openxmlformats-officedocument.presentationml.slide+xml"/>
  <Override PartName="/ppt/notesSlides/notesSlide257.xml" ContentType="application/vnd.openxmlformats-officedocument.presentationml.notesSlide+xml"/>
  <Override PartName="/ppt/slides/slide258.xml" ContentType="application/vnd.openxmlformats-officedocument.presentationml.slide+xml"/>
  <Override PartName="/ppt/notesSlides/notesSlide258.xml" ContentType="application/vnd.openxmlformats-officedocument.presentationml.notesSlide+xml"/>
  <Override PartName="/ppt/slides/slide259.xml" ContentType="application/vnd.openxmlformats-officedocument.presentationml.slide+xml"/>
  <Override PartName="/ppt/notesSlides/notesSlide259.xml" ContentType="application/vnd.openxmlformats-officedocument.presentationml.notesSlide+xml"/>
  <Override PartName="/ppt/slides/slide260.xml" ContentType="application/vnd.openxmlformats-officedocument.presentationml.slide+xml"/>
  <Override PartName="/ppt/notesSlides/notesSlide260.xml" ContentType="application/vnd.openxmlformats-officedocument.presentationml.notesSlide+xml"/>
  <Override PartName="/ppt/slides/slide261.xml" ContentType="application/vnd.openxmlformats-officedocument.presentationml.slide+xml"/>
  <Override PartName="/ppt/notesSlides/notesSlide261.xml" ContentType="application/vnd.openxmlformats-officedocument.presentationml.notesSlide+xml"/>
  <Override PartName="/ppt/slides/slide262.xml" ContentType="application/vnd.openxmlformats-officedocument.presentationml.slide+xml"/>
  <Override PartName="/ppt/notesSlides/notesSlide262.xml" ContentType="application/vnd.openxmlformats-officedocument.presentationml.notesSlide+xml"/>
  <Override PartName="/ppt/slides/slide263.xml" ContentType="application/vnd.openxmlformats-officedocument.presentationml.slide+xml"/>
  <Override PartName="/ppt/notesSlides/notesSlide263.xml" ContentType="application/vnd.openxmlformats-officedocument.presentationml.notesSlide+xml"/>
  <Override PartName="/ppt/slides/slide264.xml" ContentType="application/vnd.openxmlformats-officedocument.presentationml.slide+xml"/>
  <Override PartName="/ppt/notesSlides/notesSlide264.xml" ContentType="application/vnd.openxmlformats-officedocument.presentationml.notesSlide+xml"/>
  <Override PartName="/ppt/slides/slide265.xml" ContentType="application/vnd.openxmlformats-officedocument.presentationml.slide+xml"/>
  <Override PartName="/ppt/notesSlides/notesSlide265.xml" ContentType="application/vnd.openxmlformats-officedocument.presentationml.notesSlide+xml"/>
  <Override PartName="/ppt/slides/slide266.xml" ContentType="application/vnd.openxmlformats-officedocument.presentationml.slide+xml"/>
  <Override PartName="/ppt/notesSlides/notesSlide266.xml" ContentType="application/vnd.openxmlformats-officedocument.presentationml.notesSlide+xml"/>
  <Override PartName="/ppt/slides/slide267.xml" ContentType="application/vnd.openxmlformats-officedocument.presentationml.slide+xml"/>
  <Override PartName="/ppt/notesSlides/notesSlide267.xml" ContentType="application/vnd.openxmlformats-officedocument.presentationml.notesSlide+xml"/>
  <Override PartName="/ppt/slides/slide268.xml" ContentType="application/vnd.openxmlformats-officedocument.presentationml.slide+xml"/>
  <Override PartName="/ppt/notesSlides/notesSlide268.xml" ContentType="application/vnd.openxmlformats-officedocument.presentationml.notesSlide+xml"/>
  <Override PartName="/ppt/slides/slide269.xml" ContentType="application/vnd.openxmlformats-officedocument.presentationml.slide+xml"/>
  <Override PartName="/ppt/notesSlides/notesSlide269.xml" ContentType="application/vnd.openxmlformats-officedocument.presentationml.notesSlide+xml"/>
  <Override PartName="/ppt/slides/slide270.xml" ContentType="application/vnd.openxmlformats-officedocument.presentationml.slide+xml"/>
  <Override PartName="/ppt/notesSlides/notesSlide270.xml" ContentType="application/vnd.openxmlformats-officedocument.presentationml.notesSlide+xml"/>
  <Override PartName="/ppt/slides/slide271.xml" ContentType="application/vnd.openxmlformats-officedocument.presentationml.slide+xml"/>
  <Override PartName="/ppt/notesSlides/notesSlide271.xml" ContentType="application/vnd.openxmlformats-officedocument.presentationml.notesSlide+xml"/>
  <Override PartName="/ppt/slides/slide272.xml" ContentType="application/vnd.openxmlformats-officedocument.presentationml.slide+xml"/>
  <Override PartName="/ppt/notesSlides/notesSlide272.xml" ContentType="application/vnd.openxmlformats-officedocument.presentationml.notesSlide+xml"/>
  <Override PartName="/ppt/slides/slide273.xml" ContentType="application/vnd.openxmlformats-officedocument.presentationml.slide+xml"/>
  <Override PartName="/ppt/notesSlides/notesSlide273.xml" ContentType="application/vnd.openxmlformats-officedocument.presentationml.notesSlide+xml"/>
  <Override PartName="/ppt/slides/slide274.xml" ContentType="application/vnd.openxmlformats-officedocument.presentationml.slide+xml"/>
  <Override PartName="/ppt/notesSlides/notesSlide274.xml" ContentType="application/vnd.openxmlformats-officedocument.presentationml.notesSlide+xml"/>
  <Override PartName="/ppt/slides/slide275.xml" ContentType="application/vnd.openxmlformats-officedocument.presentationml.slide+xml"/>
  <Override PartName="/ppt/notesSlides/notesSlide2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ae5be285364ac6" /><Relationship Type="http://schemas.openxmlformats.org/officeDocument/2006/relationships/extended-properties" Target="/docProps/app.xml" Id="R96692b8c33044733" /><Relationship Type="http://schemas.openxmlformats.org/officeDocument/2006/relationships/officeDocument" Target="/ppt/presentation.xml" Id="Rea34330b483e44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7f1959fabe4196"/>
  </p:sldMasterIdLst>
  <p:notesMasterIdLst>
    <p:notesMasterId xmlns:r="http://schemas.openxmlformats.org/officeDocument/2006/relationships" r:id="R1e8128087da0407f"/>
  </p:notesMasterIdLst>
  <p:sldIdLst>
    <p:sldId xmlns:r="http://schemas.openxmlformats.org/officeDocument/2006/relationships" id="256" r:id="Ra140f7a354394e80"/>
    <p:sldId xmlns:r="http://schemas.openxmlformats.org/officeDocument/2006/relationships" id="257" r:id="R0a4c639355ea4754"/>
    <p:sldId xmlns:r="http://schemas.openxmlformats.org/officeDocument/2006/relationships" id="258" r:id="Rca133f45d0014695"/>
    <p:sldId xmlns:r="http://schemas.openxmlformats.org/officeDocument/2006/relationships" id="259" r:id="Rd015e3c7251d44b8"/>
    <p:sldId xmlns:r="http://schemas.openxmlformats.org/officeDocument/2006/relationships" id="260" r:id="R20ab3f8db1224ca8"/>
    <p:sldId xmlns:r="http://schemas.openxmlformats.org/officeDocument/2006/relationships" id="261" r:id="R574d3413182e4acb"/>
    <p:sldId xmlns:r="http://schemas.openxmlformats.org/officeDocument/2006/relationships" id="262" r:id="R7d8bbbccdb2b4fee"/>
    <p:sldId xmlns:r="http://schemas.openxmlformats.org/officeDocument/2006/relationships" id="263" r:id="Refe1ceb8ebac42d0"/>
    <p:sldId xmlns:r="http://schemas.openxmlformats.org/officeDocument/2006/relationships" id="264" r:id="Rbdad314033634473"/>
    <p:sldId xmlns:r="http://schemas.openxmlformats.org/officeDocument/2006/relationships" id="265" r:id="R297b5fdb5f9a4d33"/>
    <p:sldId xmlns:r="http://schemas.openxmlformats.org/officeDocument/2006/relationships" id="266" r:id="R749e89572d224fb1"/>
    <p:sldId xmlns:r="http://schemas.openxmlformats.org/officeDocument/2006/relationships" id="267" r:id="Rb5eaff5116cf4fe1"/>
    <p:sldId xmlns:r="http://schemas.openxmlformats.org/officeDocument/2006/relationships" id="268" r:id="R8f823ec281904aa2"/>
    <p:sldId xmlns:r="http://schemas.openxmlformats.org/officeDocument/2006/relationships" id="269" r:id="R371a3c9c8c084d6f"/>
    <p:sldId xmlns:r="http://schemas.openxmlformats.org/officeDocument/2006/relationships" id="270" r:id="R4af20d9ec0134ede"/>
    <p:sldId xmlns:r="http://schemas.openxmlformats.org/officeDocument/2006/relationships" id="271" r:id="R57d9f9f0c1844b86"/>
    <p:sldId xmlns:r="http://schemas.openxmlformats.org/officeDocument/2006/relationships" id="272" r:id="Rba74d3fb02cf4015"/>
    <p:sldId xmlns:r="http://schemas.openxmlformats.org/officeDocument/2006/relationships" id="273" r:id="Rbfc72c18d7814434"/>
    <p:sldId xmlns:r="http://schemas.openxmlformats.org/officeDocument/2006/relationships" id="274" r:id="R7a614801f78849ef"/>
    <p:sldId xmlns:r="http://schemas.openxmlformats.org/officeDocument/2006/relationships" id="275" r:id="R82a28573a0df4c97"/>
    <p:sldId xmlns:r="http://schemas.openxmlformats.org/officeDocument/2006/relationships" id="276" r:id="R0a5b9178bd0641a7"/>
    <p:sldId xmlns:r="http://schemas.openxmlformats.org/officeDocument/2006/relationships" id="277" r:id="Rdd8d6764f3b94a5a"/>
    <p:sldId xmlns:r="http://schemas.openxmlformats.org/officeDocument/2006/relationships" id="278" r:id="Raa15efc86b084535"/>
    <p:sldId xmlns:r="http://schemas.openxmlformats.org/officeDocument/2006/relationships" id="279" r:id="R74550dd886d9414a"/>
    <p:sldId xmlns:r="http://schemas.openxmlformats.org/officeDocument/2006/relationships" id="280" r:id="R357a8c5354c94d0f"/>
    <p:sldId xmlns:r="http://schemas.openxmlformats.org/officeDocument/2006/relationships" id="281" r:id="R779cd561e8c54073"/>
    <p:sldId xmlns:r="http://schemas.openxmlformats.org/officeDocument/2006/relationships" id="282" r:id="Rabd0f9b88cb84140"/>
    <p:sldId xmlns:r="http://schemas.openxmlformats.org/officeDocument/2006/relationships" id="283" r:id="R087c24082a03478d"/>
    <p:sldId xmlns:r="http://schemas.openxmlformats.org/officeDocument/2006/relationships" id="284" r:id="R6b85856e7ef74231"/>
    <p:sldId xmlns:r="http://schemas.openxmlformats.org/officeDocument/2006/relationships" id="285" r:id="Rbc6d905965fa4c03"/>
    <p:sldId xmlns:r="http://schemas.openxmlformats.org/officeDocument/2006/relationships" id="286" r:id="Rd09acebcfe5d437d"/>
    <p:sldId xmlns:r="http://schemas.openxmlformats.org/officeDocument/2006/relationships" id="287" r:id="R53b947a14a064738"/>
    <p:sldId xmlns:r="http://schemas.openxmlformats.org/officeDocument/2006/relationships" id="288" r:id="Rcc6d0c4a6ae04003"/>
    <p:sldId xmlns:r="http://schemas.openxmlformats.org/officeDocument/2006/relationships" id="289" r:id="Rb9b36a3141704290"/>
    <p:sldId xmlns:r="http://schemas.openxmlformats.org/officeDocument/2006/relationships" id="290" r:id="Raccd5f16d3ba4b0f"/>
    <p:sldId xmlns:r="http://schemas.openxmlformats.org/officeDocument/2006/relationships" id="291" r:id="Ra1fc2a9cc6e54245"/>
    <p:sldId xmlns:r="http://schemas.openxmlformats.org/officeDocument/2006/relationships" id="292" r:id="R6a3f662c86854eec"/>
    <p:sldId xmlns:r="http://schemas.openxmlformats.org/officeDocument/2006/relationships" id="293" r:id="Rdcec35eb4970475a"/>
    <p:sldId xmlns:r="http://schemas.openxmlformats.org/officeDocument/2006/relationships" id="294" r:id="Rbcc506997e6f4e87"/>
    <p:sldId xmlns:r="http://schemas.openxmlformats.org/officeDocument/2006/relationships" id="295" r:id="R2eafab7ac0824a60"/>
    <p:sldId xmlns:r="http://schemas.openxmlformats.org/officeDocument/2006/relationships" id="296" r:id="Rb643edcc3ff843b1"/>
    <p:sldId xmlns:r="http://schemas.openxmlformats.org/officeDocument/2006/relationships" id="297" r:id="R609bb79f7fb04592"/>
    <p:sldId xmlns:r="http://schemas.openxmlformats.org/officeDocument/2006/relationships" id="298" r:id="R3099b2b8dc984bb1"/>
    <p:sldId xmlns:r="http://schemas.openxmlformats.org/officeDocument/2006/relationships" id="299" r:id="Rf07bb316e61b45bf"/>
    <p:sldId xmlns:r="http://schemas.openxmlformats.org/officeDocument/2006/relationships" id="300" r:id="R8cecfd1b6c90430b"/>
    <p:sldId xmlns:r="http://schemas.openxmlformats.org/officeDocument/2006/relationships" id="301" r:id="R31318e65482e46e5"/>
    <p:sldId xmlns:r="http://schemas.openxmlformats.org/officeDocument/2006/relationships" id="302" r:id="R44d360334d8542cf"/>
    <p:sldId xmlns:r="http://schemas.openxmlformats.org/officeDocument/2006/relationships" id="303" r:id="R83ff57508226462b"/>
    <p:sldId xmlns:r="http://schemas.openxmlformats.org/officeDocument/2006/relationships" id="304" r:id="R0b105588a8f24ff8"/>
    <p:sldId xmlns:r="http://schemas.openxmlformats.org/officeDocument/2006/relationships" id="305" r:id="Ra66ea30845d4461b"/>
    <p:sldId xmlns:r="http://schemas.openxmlformats.org/officeDocument/2006/relationships" id="306" r:id="R8accbef16f4d42b7"/>
    <p:sldId xmlns:r="http://schemas.openxmlformats.org/officeDocument/2006/relationships" id="307" r:id="R0e3b8e5cc9ad4aa2"/>
    <p:sldId xmlns:r="http://schemas.openxmlformats.org/officeDocument/2006/relationships" id="308" r:id="R97af2d45b0444080"/>
    <p:sldId xmlns:r="http://schemas.openxmlformats.org/officeDocument/2006/relationships" id="309" r:id="R5c52f78fad10409f"/>
    <p:sldId xmlns:r="http://schemas.openxmlformats.org/officeDocument/2006/relationships" id="310" r:id="R62dee7438da64aa7"/>
    <p:sldId xmlns:r="http://schemas.openxmlformats.org/officeDocument/2006/relationships" id="311" r:id="R8acd5f6fd5674cb9"/>
    <p:sldId xmlns:r="http://schemas.openxmlformats.org/officeDocument/2006/relationships" id="312" r:id="Rc1924b0018174f29"/>
    <p:sldId xmlns:r="http://schemas.openxmlformats.org/officeDocument/2006/relationships" id="313" r:id="Rf50d25458cde4a9e"/>
    <p:sldId xmlns:r="http://schemas.openxmlformats.org/officeDocument/2006/relationships" id="314" r:id="Rcc7ff7e8512b48e4"/>
    <p:sldId xmlns:r="http://schemas.openxmlformats.org/officeDocument/2006/relationships" id="315" r:id="R8051b7779c0f4ff6"/>
    <p:sldId xmlns:r="http://schemas.openxmlformats.org/officeDocument/2006/relationships" id="316" r:id="R66bba73376714745"/>
    <p:sldId xmlns:r="http://schemas.openxmlformats.org/officeDocument/2006/relationships" id="317" r:id="Rdceb9f599a2d4a74"/>
    <p:sldId xmlns:r="http://schemas.openxmlformats.org/officeDocument/2006/relationships" id="318" r:id="Ra5382d5d0f1c4416"/>
    <p:sldId xmlns:r="http://schemas.openxmlformats.org/officeDocument/2006/relationships" id="319" r:id="R5acaa6739bb84025"/>
    <p:sldId xmlns:r="http://schemas.openxmlformats.org/officeDocument/2006/relationships" id="320" r:id="Red435f9c57094df1"/>
    <p:sldId xmlns:r="http://schemas.openxmlformats.org/officeDocument/2006/relationships" id="321" r:id="Rcc4c5b7166844a71"/>
    <p:sldId xmlns:r="http://schemas.openxmlformats.org/officeDocument/2006/relationships" id="322" r:id="Ree0c6032902849fe"/>
    <p:sldId xmlns:r="http://schemas.openxmlformats.org/officeDocument/2006/relationships" id="323" r:id="Ref0fa41668d94ea4"/>
    <p:sldId xmlns:r="http://schemas.openxmlformats.org/officeDocument/2006/relationships" id="324" r:id="R85bdc9a24bdc4757"/>
    <p:sldId xmlns:r="http://schemas.openxmlformats.org/officeDocument/2006/relationships" id="325" r:id="R0990f09463fc4d04"/>
    <p:sldId xmlns:r="http://schemas.openxmlformats.org/officeDocument/2006/relationships" id="326" r:id="R56f6f0aec6c94a88"/>
    <p:sldId xmlns:r="http://schemas.openxmlformats.org/officeDocument/2006/relationships" id="327" r:id="Rdc7bbf4552d442fb"/>
    <p:sldId xmlns:r="http://schemas.openxmlformats.org/officeDocument/2006/relationships" id="328" r:id="Rff2e94b8769c4229"/>
    <p:sldId xmlns:r="http://schemas.openxmlformats.org/officeDocument/2006/relationships" id="329" r:id="R969fa6b1a7c64be1"/>
    <p:sldId xmlns:r="http://schemas.openxmlformats.org/officeDocument/2006/relationships" id="330" r:id="R092c92004b484fde"/>
    <p:sldId xmlns:r="http://schemas.openxmlformats.org/officeDocument/2006/relationships" id="331" r:id="Ra2d6324ac4d148aa"/>
    <p:sldId xmlns:r="http://schemas.openxmlformats.org/officeDocument/2006/relationships" id="332" r:id="Rb157d590d0044fb9"/>
    <p:sldId xmlns:r="http://schemas.openxmlformats.org/officeDocument/2006/relationships" id="333" r:id="Ra9b1445f53e447d1"/>
    <p:sldId xmlns:r="http://schemas.openxmlformats.org/officeDocument/2006/relationships" id="334" r:id="R97afd3ba38374cd1"/>
    <p:sldId xmlns:r="http://schemas.openxmlformats.org/officeDocument/2006/relationships" id="335" r:id="R5a04516daba14969"/>
    <p:sldId xmlns:r="http://schemas.openxmlformats.org/officeDocument/2006/relationships" id="336" r:id="R2afa2c1e8171437a"/>
    <p:sldId xmlns:r="http://schemas.openxmlformats.org/officeDocument/2006/relationships" id="337" r:id="Rfefe1b83becd4c5a"/>
    <p:sldId xmlns:r="http://schemas.openxmlformats.org/officeDocument/2006/relationships" id="338" r:id="R58caefc4e8bb417f"/>
    <p:sldId xmlns:r="http://schemas.openxmlformats.org/officeDocument/2006/relationships" id="339" r:id="R225141f0e1234d25"/>
    <p:sldId xmlns:r="http://schemas.openxmlformats.org/officeDocument/2006/relationships" id="340" r:id="Rd92598a835af4048"/>
    <p:sldId xmlns:r="http://schemas.openxmlformats.org/officeDocument/2006/relationships" id="341" r:id="R7fbfcd3527ae44d0"/>
    <p:sldId xmlns:r="http://schemas.openxmlformats.org/officeDocument/2006/relationships" id="342" r:id="R8b35c7a8c4374baa"/>
    <p:sldId xmlns:r="http://schemas.openxmlformats.org/officeDocument/2006/relationships" id="343" r:id="R592bd690c6d544f3"/>
    <p:sldId xmlns:r="http://schemas.openxmlformats.org/officeDocument/2006/relationships" id="344" r:id="R643e6c988e6f484c"/>
    <p:sldId xmlns:r="http://schemas.openxmlformats.org/officeDocument/2006/relationships" id="345" r:id="R3a6a493511534227"/>
    <p:sldId xmlns:r="http://schemas.openxmlformats.org/officeDocument/2006/relationships" id="346" r:id="R2c60357a711d450e"/>
    <p:sldId xmlns:r="http://schemas.openxmlformats.org/officeDocument/2006/relationships" id="347" r:id="R941aae41cd714ddf"/>
    <p:sldId xmlns:r="http://schemas.openxmlformats.org/officeDocument/2006/relationships" id="348" r:id="Rba178e6087664c34"/>
    <p:sldId xmlns:r="http://schemas.openxmlformats.org/officeDocument/2006/relationships" id="349" r:id="Rffcdd1353c0143ef"/>
    <p:sldId xmlns:r="http://schemas.openxmlformats.org/officeDocument/2006/relationships" id="350" r:id="R509a823be1674369"/>
    <p:sldId xmlns:r="http://schemas.openxmlformats.org/officeDocument/2006/relationships" id="351" r:id="Rbef88c04a26c4432"/>
    <p:sldId xmlns:r="http://schemas.openxmlformats.org/officeDocument/2006/relationships" id="352" r:id="Rabc584dfe5514ecd"/>
    <p:sldId xmlns:r="http://schemas.openxmlformats.org/officeDocument/2006/relationships" id="353" r:id="R06240207033b4589"/>
    <p:sldId xmlns:r="http://schemas.openxmlformats.org/officeDocument/2006/relationships" id="354" r:id="Rb10b21fce8a345bf"/>
    <p:sldId xmlns:r="http://schemas.openxmlformats.org/officeDocument/2006/relationships" id="355" r:id="R05df80ada8c549d8"/>
    <p:sldId xmlns:r="http://schemas.openxmlformats.org/officeDocument/2006/relationships" id="356" r:id="Ra7f440d82ef64008"/>
    <p:sldId xmlns:r="http://schemas.openxmlformats.org/officeDocument/2006/relationships" id="357" r:id="R4996e19b52b24e3e"/>
    <p:sldId xmlns:r="http://schemas.openxmlformats.org/officeDocument/2006/relationships" id="358" r:id="Rcc81694e734d4b52"/>
    <p:sldId xmlns:r="http://schemas.openxmlformats.org/officeDocument/2006/relationships" id="359" r:id="R1739353790e74e0c"/>
    <p:sldId xmlns:r="http://schemas.openxmlformats.org/officeDocument/2006/relationships" id="360" r:id="R12cca7dfe7a54a1c"/>
    <p:sldId xmlns:r="http://schemas.openxmlformats.org/officeDocument/2006/relationships" id="361" r:id="R0f4ed5c462ab4b9c"/>
    <p:sldId xmlns:r="http://schemas.openxmlformats.org/officeDocument/2006/relationships" id="362" r:id="R21d32795abf14837"/>
    <p:sldId xmlns:r="http://schemas.openxmlformats.org/officeDocument/2006/relationships" id="363" r:id="R6fcc5637205940e3"/>
    <p:sldId xmlns:r="http://schemas.openxmlformats.org/officeDocument/2006/relationships" id="364" r:id="Rc7923cf9c22e42f7"/>
    <p:sldId xmlns:r="http://schemas.openxmlformats.org/officeDocument/2006/relationships" id="365" r:id="Rc7a7c76d1de740e6"/>
    <p:sldId xmlns:r="http://schemas.openxmlformats.org/officeDocument/2006/relationships" id="366" r:id="R4aecc4585f684295"/>
    <p:sldId xmlns:r="http://schemas.openxmlformats.org/officeDocument/2006/relationships" id="367" r:id="R1ae3df94042540fd"/>
    <p:sldId xmlns:r="http://schemas.openxmlformats.org/officeDocument/2006/relationships" id="368" r:id="Rf63883905db344ab"/>
    <p:sldId xmlns:r="http://schemas.openxmlformats.org/officeDocument/2006/relationships" id="369" r:id="R8a5466b5b70a445d"/>
    <p:sldId xmlns:r="http://schemas.openxmlformats.org/officeDocument/2006/relationships" id="370" r:id="R4dc9a1a110684746"/>
    <p:sldId xmlns:r="http://schemas.openxmlformats.org/officeDocument/2006/relationships" id="371" r:id="R3f93997eef314b7f"/>
    <p:sldId xmlns:r="http://schemas.openxmlformats.org/officeDocument/2006/relationships" id="372" r:id="Rf78b0ba61c7b4058"/>
    <p:sldId xmlns:r="http://schemas.openxmlformats.org/officeDocument/2006/relationships" id="373" r:id="Rbe3876b31b4440c3"/>
    <p:sldId xmlns:r="http://schemas.openxmlformats.org/officeDocument/2006/relationships" id="374" r:id="R1cbd3be3116e462c"/>
    <p:sldId xmlns:r="http://schemas.openxmlformats.org/officeDocument/2006/relationships" id="375" r:id="Ra784ebb7b1d24a0f"/>
    <p:sldId xmlns:r="http://schemas.openxmlformats.org/officeDocument/2006/relationships" id="376" r:id="R9cf3607c00ac4b65"/>
    <p:sldId xmlns:r="http://schemas.openxmlformats.org/officeDocument/2006/relationships" id="377" r:id="Raba12f535f214920"/>
    <p:sldId xmlns:r="http://schemas.openxmlformats.org/officeDocument/2006/relationships" id="378" r:id="Rd7b1fa1f8e5c4de9"/>
    <p:sldId xmlns:r="http://schemas.openxmlformats.org/officeDocument/2006/relationships" id="379" r:id="R0899c1a31f624dad"/>
    <p:sldId xmlns:r="http://schemas.openxmlformats.org/officeDocument/2006/relationships" id="380" r:id="Rb7fe38773b33418d"/>
    <p:sldId xmlns:r="http://schemas.openxmlformats.org/officeDocument/2006/relationships" id="381" r:id="R38018ab9c62a494d"/>
    <p:sldId xmlns:r="http://schemas.openxmlformats.org/officeDocument/2006/relationships" id="382" r:id="R94a2b95dd41348ed"/>
    <p:sldId xmlns:r="http://schemas.openxmlformats.org/officeDocument/2006/relationships" id="383" r:id="R5d73f8b94229419f"/>
    <p:sldId xmlns:r="http://schemas.openxmlformats.org/officeDocument/2006/relationships" id="384" r:id="Rd99687a79bd54467"/>
    <p:sldId xmlns:r="http://schemas.openxmlformats.org/officeDocument/2006/relationships" id="385" r:id="Re575d92c030f4694"/>
    <p:sldId xmlns:r="http://schemas.openxmlformats.org/officeDocument/2006/relationships" id="386" r:id="Read43c071c4043c6"/>
    <p:sldId xmlns:r="http://schemas.openxmlformats.org/officeDocument/2006/relationships" id="387" r:id="R6e49e38d978c4985"/>
    <p:sldId xmlns:r="http://schemas.openxmlformats.org/officeDocument/2006/relationships" id="388" r:id="Rffd5728527844ce3"/>
    <p:sldId xmlns:r="http://schemas.openxmlformats.org/officeDocument/2006/relationships" id="389" r:id="Rfce6bdec204846bc"/>
    <p:sldId xmlns:r="http://schemas.openxmlformats.org/officeDocument/2006/relationships" id="390" r:id="R8c2a20595f48480e"/>
    <p:sldId xmlns:r="http://schemas.openxmlformats.org/officeDocument/2006/relationships" id="391" r:id="Rbbd84c9d402a45e4"/>
    <p:sldId xmlns:r="http://schemas.openxmlformats.org/officeDocument/2006/relationships" id="392" r:id="R3296b66660344ee3"/>
    <p:sldId xmlns:r="http://schemas.openxmlformats.org/officeDocument/2006/relationships" id="393" r:id="R4368a4dfa92e49dc"/>
    <p:sldId xmlns:r="http://schemas.openxmlformats.org/officeDocument/2006/relationships" id="394" r:id="Rcca951c07b2d4347"/>
    <p:sldId xmlns:r="http://schemas.openxmlformats.org/officeDocument/2006/relationships" id="395" r:id="R6db79bea03b142e1"/>
    <p:sldId xmlns:r="http://schemas.openxmlformats.org/officeDocument/2006/relationships" id="396" r:id="Rf0b81ff38f684731"/>
    <p:sldId xmlns:r="http://schemas.openxmlformats.org/officeDocument/2006/relationships" id="397" r:id="R9d0eeacf3ac3404e"/>
    <p:sldId xmlns:r="http://schemas.openxmlformats.org/officeDocument/2006/relationships" id="398" r:id="R8af6485acd104fb7"/>
    <p:sldId xmlns:r="http://schemas.openxmlformats.org/officeDocument/2006/relationships" id="399" r:id="R84798058a69f4271"/>
    <p:sldId xmlns:r="http://schemas.openxmlformats.org/officeDocument/2006/relationships" id="400" r:id="R74f30e7759ab49f1"/>
    <p:sldId xmlns:r="http://schemas.openxmlformats.org/officeDocument/2006/relationships" id="401" r:id="Ree91f76d97844dbd"/>
    <p:sldId xmlns:r="http://schemas.openxmlformats.org/officeDocument/2006/relationships" id="402" r:id="R63caef0738db430c"/>
    <p:sldId xmlns:r="http://schemas.openxmlformats.org/officeDocument/2006/relationships" id="403" r:id="Re0af788ab86b492b"/>
    <p:sldId xmlns:r="http://schemas.openxmlformats.org/officeDocument/2006/relationships" id="404" r:id="Rc81eced8c7eb48c2"/>
    <p:sldId xmlns:r="http://schemas.openxmlformats.org/officeDocument/2006/relationships" id="405" r:id="Rdbbdd4bf240a4048"/>
    <p:sldId xmlns:r="http://schemas.openxmlformats.org/officeDocument/2006/relationships" id="406" r:id="R19178b6cb99647ec"/>
    <p:sldId xmlns:r="http://schemas.openxmlformats.org/officeDocument/2006/relationships" id="407" r:id="Rc1c668f200374cb2"/>
    <p:sldId xmlns:r="http://schemas.openxmlformats.org/officeDocument/2006/relationships" id="408" r:id="R5c9cb2142a1e47c4"/>
    <p:sldId xmlns:r="http://schemas.openxmlformats.org/officeDocument/2006/relationships" id="409" r:id="R3f0db2f166d6453e"/>
    <p:sldId xmlns:r="http://schemas.openxmlformats.org/officeDocument/2006/relationships" id="410" r:id="R5f9c022fc27e4f69"/>
    <p:sldId xmlns:r="http://schemas.openxmlformats.org/officeDocument/2006/relationships" id="411" r:id="R9df2954336b34de6"/>
    <p:sldId xmlns:r="http://schemas.openxmlformats.org/officeDocument/2006/relationships" id="412" r:id="R260a01d47e314c43"/>
    <p:sldId xmlns:r="http://schemas.openxmlformats.org/officeDocument/2006/relationships" id="413" r:id="R047f99559fec4a35"/>
    <p:sldId xmlns:r="http://schemas.openxmlformats.org/officeDocument/2006/relationships" id="414" r:id="Ra7b3ecd097a04c9a"/>
    <p:sldId xmlns:r="http://schemas.openxmlformats.org/officeDocument/2006/relationships" id="415" r:id="R891e079319ee4ae2"/>
    <p:sldId xmlns:r="http://schemas.openxmlformats.org/officeDocument/2006/relationships" id="416" r:id="Ra0332503b1d64d7b"/>
    <p:sldId xmlns:r="http://schemas.openxmlformats.org/officeDocument/2006/relationships" id="417" r:id="R8603b388cfa344ef"/>
    <p:sldId xmlns:r="http://schemas.openxmlformats.org/officeDocument/2006/relationships" id="418" r:id="Re3b822fe2c72418a"/>
    <p:sldId xmlns:r="http://schemas.openxmlformats.org/officeDocument/2006/relationships" id="419" r:id="R4eb6a29a91c1483c"/>
    <p:sldId xmlns:r="http://schemas.openxmlformats.org/officeDocument/2006/relationships" id="420" r:id="R8cad7b3d6f184893"/>
    <p:sldId xmlns:r="http://schemas.openxmlformats.org/officeDocument/2006/relationships" id="421" r:id="Rf240bea386074a74"/>
    <p:sldId xmlns:r="http://schemas.openxmlformats.org/officeDocument/2006/relationships" id="422" r:id="Rb4ee7e9604f64716"/>
    <p:sldId xmlns:r="http://schemas.openxmlformats.org/officeDocument/2006/relationships" id="423" r:id="R2d046b6e7518487c"/>
    <p:sldId xmlns:r="http://schemas.openxmlformats.org/officeDocument/2006/relationships" id="424" r:id="R85d1aa4f8fac4baf"/>
    <p:sldId xmlns:r="http://schemas.openxmlformats.org/officeDocument/2006/relationships" id="425" r:id="R5865d8f71a7d447c"/>
    <p:sldId xmlns:r="http://schemas.openxmlformats.org/officeDocument/2006/relationships" id="426" r:id="R2cc1e325383a436f"/>
    <p:sldId xmlns:r="http://schemas.openxmlformats.org/officeDocument/2006/relationships" id="427" r:id="Rb6daa71d728846a5"/>
    <p:sldId xmlns:r="http://schemas.openxmlformats.org/officeDocument/2006/relationships" id="428" r:id="Rdbad599eb0684180"/>
    <p:sldId xmlns:r="http://schemas.openxmlformats.org/officeDocument/2006/relationships" id="429" r:id="R1f8e1845aea84553"/>
    <p:sldId xmlns:r="http://schemas.openxmlformats.org/officeDocument/2006/relationships" id="430" r:id="R9a469eb4e6b54c8e"/>
    <p:sldId xmlns:r="http://schemas.openxmlformats.org/officeDocument/2006/relationships" id="431" r:id="R7c864673747041fe"/>
    <p:sldId xmlns:r="http://schemas.openxmlformats.org/officeDocument/2006/relationships" id="432" r:id="Re1c579626ff44468"/>
    <p:sldId xmlns:r="http://schemas.openxmlformats.org/officeDocument/2006/relationships" id="433" r:id="Rdee856da761a4282"/>
    <p:sldId xmlns:r="http://schemas.openxmlformats.org/officeDocument/2006/relationships" id="434" r:id="R5c903e2297904909"/>
    <p:sldId xmlns:r="http://schemas.openxmlformats.org/officeDocument/2006/relationships" id="435" r:id="R1449c7e5d7d6429e"/>
    <p:sldId xmlns:r="http://schemas.openxmlformats.org/officeDocument/2006/relationships" id="436" r:id="Rc77ec866052547db"/>
    <p:sldId xmlns:r="http://schemas.openxmlformats.org/officeDocument/2006/relationships" id="437" r:id="R1e665587d62744ed"/>
    <p:sldId xmlns:r="http://schemas.openxmlformats.org/officeDocument/2006/relationships" id="438" r:id="R88aba7b31b3d4cd4"/>
    <p:sldId xmlns:r="http://schemas.openxmlformats.org/officeDocument/2006/relationships" id="439" r:id="R0b6a8057f2a9462f"/>
    <p:sldId xmlns:r="http://schemas.openxmlformats.org/officeDocument/2006/relationships" id="440" r:id="R5f517fffed05490c"/>
    <p:sldId xmlns:r="http://schemas.openxmlformats.org/officeDocument/2006/relationships" id="441" r:id="R9f1ca588d8b94392"/>
    <p:sldId xmlns:r="http://schemas.openxmlformats.org/officeDocument/2006/relationships" id="442" r:id="R7c1293584d674aef"/>
    <p:sldId xmlns:r="http://schemas.openxmlformats.org/officeDocument/2006/relationships" id="443" r:id="R3c28a6bb3a624f51"/>
    <p:sldId xmlns:r="http://schemas.openxmlformats.org/officeDocument/2006/relationships" id="444" r:id="R84a44f741c8c4b03"/>
    <p:sldId xmlns:r="http://schemas.openxmlformats.org/officeDocument/2006/relationships" id="445" r:id="R13fbaed4b57b4cbb"/>
    <p:sldId xmlns:r="http://schemas.openxmlformats.org/officeDocument/2006/relationships" id="446" r:id="Rd750908c312f4724"/>
    <p:sldId xmlns:r="http://schemas.openxmlformats.org/officeDocument/2006/relationships" id="447" r:id="Re1bb5e9e10a04615"/>
    <p:sldId xmlns:r="http://schemas.openxmlformats.org/officeDocument/2006/relationships" id="448" r:id="R0541bab01a6a4dfc"/>
    <p:sldId xmlns:r="http://schemas.openxmlformats.org/officeDocument/2006/relationships" id="449" r:id="R0c408b62dc6141e1"/>
    <p:sldId xmlns:r="http://schemas.openxmlformats.org/officeDocument/2006/relationships" id="450" r:id="Raba24afd69bc4e92"/>
    <p:sldId xmlns:r="http://schemas.openxmlformats.org/officeDocument/2006/relationships" id="451" r:id="R774aea91ecb24d28"/>
    <p:sldId xmlns:r="http://schemas.openxmlformats.org/officeDocument/2006/relationships" id="452" r:id="R84f756fc1976440a"/>
    <p:sldId xmlns:r="http://schemas.openxmlformats.org/officeDocument/2006/relationships" id="453" r:id="Rd95995a388654349"/>
    <p:sldId xmlns:r="http://schemas.openxmlformats.org/officeDocument/2006/relationships" id="454" r:id="R0b4cb9eec7a949b9"/>
    <p:sldId xmlns:r="http://schemas.openxmlformats.org/officeDocument/2006/relationships" id="455" r:id="R57daf60f2dca4863"/>
    <p:sldId xmlns:r="http://schemas.openxmlformats.org/officeDocument/2006/relationships" id="456" r:id="Rd70ef7150ba64d55"/>
    <p:sldId xmlns:r="http://schemas.openxmlformats.org/officeDocument/2006/relationships" id="457" r:id="Ra26925bfde3b4c74"/>
    <p:sldId xmlns:r="http://schemas.openxmlformats.org/officeDocument/2006/relationships" id="458" r:id="R741aa051c18b4299"/>
    <p:sldId xmlns:r="http://schemas.openxmlformats.org/officeDocument/2006/relationships" id="459" r:id="Rbec6543077064bc3"/>
    <p:sldId xmlns:r="http://schemas.openxmlformats.org/officeDocument/2006/relationships" id="460" r:id="R2a4974cc47764941"/>
    <p:sldId xmlns:r="http://schemas.openxmlformats.org/officeDocument/2006/relationships" id="461" r:id="R9266bbe4318a4f9f"/>
    <p:sldId xmlns:r="http://schemas.openxmlformats.org/officeDocument/2006/relationships" id="462" r:id="Rff20f7e048ea4a7c"/>
    <p:sldId xmlns:r="http://schemas.openxmlformats.org/officeDocument/2006/relationships" id="463" r:id="R4fc0ee40aa4b4912"/>
    <p:sldId xmlns:r="http://schemas.openxmlformats.org/officeDocument/2006/relationships" id="464" r:id="R66350796ac5945fd"/>
    <p:sldId xmlns:r="http://schemas.openxmlformats.org/officeDocument/2006/relationships" id="465" r:id="Rd4271fe0a00a4e86"/>
    <p:sldId xmlns:r="http://schemas.openxmlformats.org/officeDocument/2006/relationships" id="466" r:id="R1d8bf1aac5db4d01"/>
    <p:sldId xmlns:r="http://schemas.openxmlformats.org/officeDocument/2006/relationships" id="467" r:id="Rfa63d3a505734f4e"/>
    <p:sldId xmlns:r="http://schemas.openxmlformats.org/officeDocument/2006/relationships" id="468" r:id="Rcd9fae91e4524a4b"/>
    <p:sldId xmlns:r="http://schemas.openxmlformats.org/officeDocument/2006/relationships" id="469" r:id="R851af7b37abe482b"/>
    <p:sldId xmlns:r="http://schemas.openxmlformats.org/officeDocument/2006/relationships" id="470" r:id="R95eb4032693a435e"/>
    <p:sldId xmlns:r="http://schemas.openxmlformats.org/officeDocument/2006/relationships" id="471" r:id="R00cdc1cebbe347ed"/>
    <p:sldId xmlns:r="http://schemas.openxmlformats.org/officeDocument/2006/relationships" id="472" r:id="Rbaffcb72a9f640ea"/>
    <p:sldId xmlns:r="http://schemas.openxmlformats.org/officeDocument/2006/relationships" id="473" r:id="R0d8958b44269431b"/>
    <p:sldId xmlns:r="http://schemas.openxmlformats.org/officeDocument/2006/relationships" id="474" r:id="R578f029ff4ac436f"/>
    <p:sldId xmlns:r="http://schemas.openxmlformats.org/officeDocument/2006/relationships" id="475" r:id="R75e5f40c20084198"/>
    <p:sldId xmlns:r="http://schemas.openxmlformats.org/officeDocument/2006/relationships" id="476" r:id="R852e9e0804b44089"/>
    <p:sldId xmlns:r="http://schemas.openxmlformats.org/officeDocument/2006/relationships" id="477" r:id="R3168fd80d96448fc"/>
    <p:sldId xmlns:r="http://schemas.openxmlformats.org/officeDocument/2006/relationships" id="478" r:id="R17c1f2473a5e4a90"/>
    <p:sldId xmlns:r="http://schemas.openxmlformats.org/officeDocument/2006/relationships" id="479" r:id="R6c512ee5c4684ec4"/>
    <p:sldId xmlns:r="http://schemas.openxmlformats.org/officeDocument/2006/relationships" id="480" r:id="Rea302bac38184821"/>
    <p:sldId xmlns:r="http://schemas.openxmlformats.org/officeDocument/2006/relationships" id="481" r:id="Rae807ae2213c4eee"/>
    <p:sldId xmlns:r="http://schemas.openxmlformats.org/officeDocument/2006/relationships" id="482" r:id="R149d07ff47834d2d"/>
    <p:sldId xmlns:r="http://schemas.openxmlformats.org/officeDocument/2006/relationships" id="483" r:id="R940e242b494a4f0e"/>
    <p:sldId xmlns:r="http://schemas.openxmlformats.org/officeDocument/2006/relationships" id="484" r:id="Rd6e28f14c55f4312"/>
    <p:sldId xmlns:r="http://schemas.openxmlformats.org/officeDocument/2006/relationships" id="485" r:id="Rd72d9114a1d04a72"/>
    <p:sldId xmlns:r="http://schemas.openxmlformats.org/officeDocument/2006/relationships" id="486" r:id="Rfcc96b658d4742be"/>
    <p:sldId xmlns:r="http://schemas.openxmlformats.org/officeDocument/2006/relationships" id="487" r:id="R88eb7b0822c145d9"/>
    <p:sldId xmlns:r="http://schemas.openxmlformats.org/officeDocument/2006/relationships" id="488" r:id="Rfbe89de050234319"/>
    <p:sldId xmlns:r="http://schemas.openxmlformats.org/officeDocument/2006/relationships" id="489" r:id="R09d33722dd4a4a99"/>
    <p:sldId xmlns:r="http://schemas.openxmlformats.org/officeDocument/2006/relationships" id="490" r:id="R9e23bd80c60348db"/>
    <p:sldId xmlns:r="http://schemas.openxmlformats.org/officeDocument/2006/relationships" id="491" r:id="R176bba4c72e6436b"/>
    <p:sldId xmlns:r="http://schemas.openxmlformats.org/officeDocument/2006/relationships" id="492" r:id="R1728467ff86248b0"/>
    <p:sldId xmlns:r="http://schemas.openxmlformats.org/officeDocument/2006/relationships" id="493" r:id="R038f73dcb52549d8"/>
    <p:sldId xmlns:r="http://schemas.openxmlformats.org/officeDocument/2006/relationships" id="494" r:id="R7a736ce6082d4297"/>
    <p:sldId xmlns:r="http://schemas.openxmlformats.org/officeDocument/2006/relationships" id="495" r:id="R9cb4b2d7491c4c55"/>
    <p:sldId xmlns:r="http://schemas.openxmlformats.org/officeDocument/2006/relationships" id="496" r:id="Rcc702c19be794185"/>
    <p:sldId xmlns:r="http://schemas.openxmlformats.org/officeDocument/2006/relationships" id="497" r:id="Rb7eaafd3c6304949"/>
    <p:sldId xmlns:r="http://schemas.openxmlformats.org/officeDocument/2006/relationships" id="498" r:id="R89f5589a8bf34e83"/>
    <p:sldId xmlns:r="http://schemas.openxmlformats.org/officeDocument/2006/relationships" id="499" r:id="R19b3acea1e954c88"/>
    <p:sldId xmlns:r="http://schemas.openxmlformats.org/officeDocument/2006/relationships" id="500" r:id="R139c7c2ac6814813"/>
    <p:sldId xmlns:r="http://schemas.openxmlformats.org/officeDocument/2006/relationships" id="501" r:id="R0a9d49a885e44265"/>
    <p:sldId xmlns:r="http://schemas.openxmlformats.org/officeDocument/2006/relationships" id="502" r:id="Rbf17aa42eefc4fdb"/>
    <p:sldId xmlns:r="http://schemas.openxmlformats.org/officeDocument/2006/relationships" id="503" r:id="R4fdbd8453ae64992"/>
    <p:sldId xmlns:r="http://schemas.openxmlformats.org/officeDocument/2006/relationships" id="504" r:id="R708a17e52a78446c"/>
    <p:sldId xmlns:r="http://schemas.openxmlformats.org/officeDocument/2006/relationships" id="505" r:id="Rfb75c3efcfa44e0d"/>
    <p:sldId xmlns:r="http://schemas.openxmlformats.org/officeDocument/2006/relationships" id="506" r:id="Rff5bfbb9bc28411a"/>
    <p:sldId xmlns:r="http://schemas.openxmlformats.org/officeDocument/2006/relationships" id="507" r:id="R19492d7edd634ec1"/>
    <p:sldId xmlns:r="http://schemas.openxmlformats.org/officeDocument/2006/relationships" id="508" r:id="Rf4dfcadb5aab4ef8"/>
    <p:sldId xmlns:r="http://schemas.openxmlformats.org/officeDocument/2006/relationships" id="509" r:id="R27b4ece209af416c"/>
    <p:sldId xmlns:r="http://schemas.openxmlformats.org/officeDocument/2006/relationships" id="510" r:id="R1a1c46266bdf49c9"/>
    <p:sldId xmlns:r="http://schemas.openxmlformats.org/officeDocument/2006/relationships" id="511" r:id="Rdb7e7f36677b43ef"/>
    <p:sldId xmlns:r="http://schemas.openxmlformats.org/officeDocument/2006/relationships" id="512" r:id="Rcfd780659d104be1"/>
    <p:sldId xmlns:r="http://schemas.openxmlformats.org/officeDocument/2006/relationships" id="513" r:id="Rd1cdbb3a2b3e4616"/>
    <p:sldId xmlns:r="http://schemas.openxmlformats.org/officeDocument/2006/relationships" id="514" r:id="R3164842ab19048ba"/>
    <p:sldId xmlns:r="http://schemas.openxmlformats.org/officeDocument/2006/relationships" id="515" r:id="Rcedc39dd5df5481d"/>
    <p:sldId xmlns:r="http://schemas.openxmlformats.org/officeDocument/2006/relationships" id="516" r:id="R2672aba721b24a4f"/>
    <p:sldId xmlns:r="http://schemas.openxmlformats.org/officeDocument/2006/relationships" id="517" r:id="R481280da20334249"/>
    <p:sldId xmlns:r="http://schemas.openxmlformats.org/officeDocument/2006/relationships" id="518" r:id="R430f2210604343ad"/>
    <p:sldId xmlns:r="http://schemas.openxmlformats.org/officeDocument/2006/relationships" id="519" r:id="R92bd6d4984b94fd2"/>
    <p:sldId xmlns:r="http://schemas.openxmlformats.org/officeDocument/2006/relationships" id="520" r:id="R7498bb7b3ea14d3c"/>
    <p:sldId xmlns:r="http://schemas.openxmlformats.org/officeDocument/2006/relationships" id="521" r:id="R8705a45662744317"/>
    <p:sldId xmlns:r="http://schemas.openxmlformats.org/officeDocument/2006/relationships" id="522" r:id="Re5e679603a014c61"/>
    <p:sldId xmlns:r="http://schemas.openxmlformats.org/officeDocument/2006/relationships" id="523" r:id="R635976524afd408a"/>
    <p:sldId xmlns:r="http://schemas.openxmlformats.org/officeDocument/2006/relationships" id="524" r:id="R68de3b7ca1634407"/>
    <p:sldId xmlns:r="http://schemas.openxmlformats.org/officeDocument/2006/relationships" id="525" r:id="Rc7d103b879794744"/>
    <p:sldId xmlns:r="http://schemas.openxmlformats.org/officeDocument/2006/relationships" id="526" r:id="Rbda7417f624b4778"/>
    <p:sldId xmlns:r="http://schemas.openxmlformats.org/officeDocument/2006/relationships" id="527" r:id="R82e3448c6806433b"/>
    <p:sldId xmlns:r="http://schemas.openxmlformats.org/officeDocument/2006/relationships" id="528" r:id="R072a3e481aef404c"/>
    <p:sldId xmlns:r="http://schemas.openxmlformats.org/officeDocument/2006/relationships" id="529" r:id="R502e8ba01f294211"/>
    <p:sldId xmlns:r="http://schemas.openxmlformats.org/officeDocument/2006/relationships" id="530" r:id="R987a3b966ee047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1ee58293da42dc" /><Relationship Type="http://schemas.openxmlformats.org/officeDocument/2006/relationships/slideMaster" Target="/ppt/slideMasters/slideMaster1.xml" Id="R1a7f1959fabe4196" /><Relationship Type="http://schemas.openxmlformats.org/officeDocument/2006/relationships/notesMaster" Target="/ppt/notesMasters/notesMaster1.xml" Id="R1e8128087da0407f" /><Relationship Type="http://schemas.openxmlformats.org/officeDocument/2006/relationships/presProps" Target="/ppt/presProps.xml" Id="R2e7898fcc7504792" /><Relationship Type="http://schemas.openxmlformats.org/officeDocument/2006/relationships/tableStyles" Target="/ppt/tableStyles.xml" Id="R6dad9f18cb1446e7" /><Relationship Type="http://schemas.openxmlformats.org/officeDocument/2006/relationships/slide" Target="/ppt/slides/slide1.xml" Id="Ra140f7a354394e80" /><Relationship Type="http://schemas.openxmlformats.org/officeDocument/2006/relationships/slide" Target="/ppt/slides/slide2.xml" Id="R0a4c639355ea4754" /><Relationship Type="http://schemas.openxmlformats.org/officeDocument/2006/relationships/slide" Target="/ppt/slides/slide3.xml" Id="Rca133f45d0014695" /><Relationship Type="http://schemas.openxmlformats.org/officeDocument/2006/relationships/slide" Target="/ppt/slides/slide4.xml" Id="Rd015e3c7251d44b8" /><Relationship Type="http://schemas.openxmlformats.org/officeDocument/2006/relationships/slide" Target="/ppt/slides/slide5.xml" Id="R20ab3f8db1224ca8" /><Relationship Type="http://schemas.openxmlformats.org/officeDocument/2006/relationships/slide" Target="/ppt/slides/slide6.xml" Id="R574d3413182e4acb" /><Relationship Type="http://schemas.openxmlformats.org/officeDocument/2006/relationships/slide" Target="/ppt/slides/slide7.xml" Id="R7d8bbbccdb2b4fee" /><Relationship Type="http://schemas.openxmlformats.org/officeDocument/2006/relationships/slide" Target="/ppt/slides/slide8.xml" Id="Refe1ceb8ebac42d0" /><Relationship Type="http://schemas.openxmlformats.org/officeDocument/2006/relationships/slide" Target="/ppt/slides/slide9.xml" Id="Rbdad314033634473" /><Relationship Type="http://schemas.openxmlformats.org/officeDocument/2006/relationships/slide" Target="/ppt/slides/slide10.xml" Id="R297b5fdb5f9a4d33" /><Relationship Type="http://schemas.openxmlformats.org/officeDocument/2006/relationships/slide" Target="/ppt/slides/slide11.xml" Id="R749e89572d224fb1" /><Relationship Type="http://schemas.openxmlformats.org/officeDocument/2006/relationships/slide" Target="/ppt/slides/slide12.xml" Id="Rb5eaff5116cf4fe1" /><Relationship Type="http://schemas.openxmlformats.org/officeDocument/2006/relationships/slide" Target="/ppt/slides/slide13.xml" Id="R8f823ec281904aa2" /><Relationship Type="http://schemas.openxmlformats.org/officeDocument/2006/relationships/slide" Target="/ppt/slides/slide14.xml" Id="R371a3c9c8c084d6f" /><Relationship Type="http://schemas.openxmlformats.org/officeDocument/2006/relationships/slide" Target="/ppt/slides/slide15.xml" Id="R4af20d9ec0134ede" /><Relationship Type="http://schemas.openxmlformats.org/officeDocument/2006/relationships/slide" Target="/ppt/slides/slide16.xml" Id="R57d9f9f0c1844b86" /><Relationship Type="http://schemas.openxmlformats.org/officeDocument/2006/relationships/slide" Target="/ppt/slides/slide17.xml" Id="Rba74d3fb02cf4015" /><Relationship Type="http://schemas.openxmlformats.org/officeDocument/2006/relationships/slide" Target="/ppt/slides/slide18.xml" Id="Rbfc72c18d7814434" /><Relationship Type="http://schemas.openxmlformats.org/officeDocument/2006/relationships/slide" Target="/ppt/slides/slide19.xml" Id="R7a614801f78849ef" /><Relationship Type="http://schemas.openxmlformats.org/officeDocument/2006/relationships/slide" Target="/ppt/slides/slide20.xml" Id="R82a28573a0df4c97" /><Relationship Type="http://schemas.openxmlformats.org/officeDocument/2006/relationships/slide" Target="/ppt/slides/slide21.xml" Id="R0a5b9178bd0641a7" /><Relationship Type="http://schemas.openxmlformats.org/officeDocument/2006/relationships/slide" Target="/ppt/slides/slide22.xml" Id="Rdd8d6764f3b94a5a" /><Relationship Type="http://schemas.openxmlformats.org/officeDocument/2006/relationships/slide" Target="/ppt/slides/slide23.xml" Id="Raa15efc86b084535" /><Relationship Type="http://schemas.openxmlformats.org/officeDocument/2006/relationships/slide" Target="/ppt/slides/slide24.xml" Id="R74550dd886d9414a" /><Relationship Type="http://schemas.openxmlformats.org/officeDocument/2006/relationships/slide" Target="/ppt/slides/slide25.xml" Id="R357a8c5354c94d0f" /><Relationship Type="http://schemas.openxmlformats.org/officeDocument/2006/relationships/slide" Target="/ppt/slides/slide26.xml" Id="R779cd561e8c54073" /><Relationship Type="http://schemas.openxmlformats.org/officeDocument/2006/relationships/slide" Target="/ppt/slides/slide27.xml" Id="Rabd0f9b88cb84140" /><Relationship Type="http://schemas.openxmlformats.org/officeDocument/2006/relationships/slide" Target="/ppt/slides/slide28.xml" Id="R087c24082a03478d" /><Relationship Type="http://schemas.openxmlformats.org/officeDocument/2006/relationships/slide" Target="/ppt/slides/slide29.xml" Id="R6b85856e7ef74231" /><Relationship Type="http://schemas.openxmlformats.org/officeDocument/2006/relationships/slide" Target="/ppt/slides/slide30.xml" Id="Rbc6d905965fa4c03" /><Relationship Type="http://schemas.openxmlformats.org/officeDocument/2006/relationships/slide" Target="/ppt/slides/slide31.xml" Id="Rd09acebcfe5d437d" /><Relationship Type="http://schemas.openxmlformats.org/officeDocument/2006/relationships/slide" Target="/ppt/slides/slide32.xml" Id="R53b947a14a064738" /><Relationship Type="http://schemas.openxmlformats.org/officeDocument/2006/relationships/slide" Target="/ppt/slides/slide33.xml" Id="Rcc6d0c4a6ae04003" /><Relationship Type="http://schemas.openxmlformats.org/officeDocument/2006/relationships/slide" Target="/ppt/slides/slide34.xml" Id="Rb9b36a3141704290" /><Relationship Type="http://schemas.openxmlformats.org/officeDocument/2006/relationships/slide" Target="/ppt/slides/slide35.xml" Id="Raccd5f16d3ba4b0f" /><Relationship Type="http://schemas.openxmlformats.org/officeDocument/2006/relationships/slide" Target="/ppt/slides/slide36.xml" Id="Ra1fc2a9cc6e54245" /><Relationship Type="http://schemas.openxmlformats.org/officeDocument/2006/relationships/slide" Target="/ppt/slides/slide37.xml" Id="R6a3f662c86854eec" /><Relationship Type="http://schemas.openxmlformats.org/officeDocument/2006/relationships/slide" Target="/ppt/slides/slide38.xml" Id="Rdcec35eb4970475a" /><Relationship Type="http://schemas.openxmlformats.org/officeDocument/2006/relationships/slide" Target="/ppt/slides/slide39.xml" Id="Rbcc506997e6f4e87" /><Relationship Type="http://schemas.openxmlformats.org/officeDocument/2006/relationships/slide" Target="/ppt/slides/slide40.xml" Id="R2eafab7ac0824a60" /><Relationship Type="http://schemas.openxmlformats.org/officeDocument/2006/relationships/slide" Target="/ppt/slides/slide41.xml" Id="Rb643edcc3ff843b1" /><Relationship Type="http://schemas.openxmlformats.org/officeDocument/2006/relationships/slide" Target="/ppt/slides/slide42.xml" Id="R609bb79f7fb04592" /><Relationship Type="http://schemas.openxmlformats.org/officeDocument/2006/relationships/slide" Target="/ppt/slides/slide43.xml" Id="R3099b2b8dc984bb1" /><Relationship Type="http://schemas.openxmlformats.org/officeDocument/2006/relationships/slide" Target="/ppt/slides/slide44.xml" Id="Rf07bb316e61b45bf" /><Relationship Type="http://schemas.openxmlformats.org/officeDocument/2006/relationships/slide" Target="/ppt/slides/slide45.xml" Id="R8cecfd1b6c90430b" /><Relationship Type="http://schemas.openxmlformats.org/officeDocument/2006/relationships/slide" Target="/ppt/slides/slide46.xml" Id="R31318e65482e46e5" /><Relationship Type="http://schemas.openxmlformats.org/officeDocument/2006/relationships/slide" Target="/ppt/slides/slide47.xml" Id="R44d360334d8542cf" /><Relationship Type="http://schemas.openxmlformats.org/officeDocument/2006/relationships/slide" Target="/ppt/slides/slide48.xml" Id="R83ff57508226462b" /><Relationship Type="http://schemas.openxmlformats.org/officeDocument/2006/relationships/slide" Target="/ppt/slides/slide49.xml" Id="R0b105588a8f24ff8" /><Relationship Type="http://schemas.openxmlformats.org/officeDocument/2006/relationships/slide" Target="/ppt/slides/slide50.xml" Id="Ra66ea30845d4461b" /><Relationship Type="http://schemas.openxmlformats.org/officeDocument/2006/relationships/slide" Target="/ppt/slides/slide51.xml" Id="R8accbef16f4d42b7" /><Relationship Type="http://schemas.openxmlformats.org/officeDocument/2006/relationships/slide" Target="/ppt/slides/slide52.xml" Id="R0e3b8e5cc9ad4aa2" /><Relationship Type="http://schemas.openxmlformats.org/officeDocument/2006/relationships/slide" Target="/ppt/slides/slide53.xml" Id="R97af2d45b0444080" /><Relationship Type="http://schemas.openxmlformats.org/officeDocument/2006/relationships/slide" Target="/ppt/slides/slide54.xml" Id="R5c52f78fad10409f" /><Relationship Type="http://schemas.openxmlformats.org/officeDocument/2006/relationships/slide" Target="/ppt/slides/slide55.xml" Id="R62dee7438da64aa7" /><Relationship Type="http://schemas.openxmlformats.org/officeDocument/2006/relationships/slide" Target="/ppt/slides/slide56.xml" Id="R8acd5f6fd5674cb9" /><Relationship Type="http://schemas.openxmlformats.org/officeDocument/2006/relationships/slide" Target="/ppt/slides/slide57.xml" Id="Rc1924b0018174f29" /><Relationship Type="http://schemas.openxmlformats.org/officeDocument/2006/relationships/slide" Target="/ppt/slides/slide58.xml" Id="Rf50d25458cde4a9e" /><Relationship Type="http://schemas.openxmlformats.org/officeDocument/2006/relationships/slide" Target="/ppt/slides/slide59.xml" Id="Rcc7ff7e8512b48e4" /><Relationship Type="http://schemas.openxmlformats.org/officeDocument/2006/relationships/slide" Target="/ppt/slides/slide60.xml" Id="R8051b7779c0f4ff6" /><Relationship Type="http://schemas.openxmlformats.org/officeDocument/2006/relationships/slide" Target="/ppt/slides/slide61.xml" Id="R66bba73376714745" /><Relationship Type="http://schemas.openxmlformats.org/officeDocument/2006/relationships/slide" Target="/ppt/slides/slide62.xml" Id="Rdceb9f599a2d4a74" /><Relationship Type="http://schemas.openxmlformats.org/officeDocument/2006/relationships/slide" Target="/ppt/slides/slide63.xml" Id="Ra5382d5d0f1c4416" /><Relationship Type="http://schemas.openxmlformats.org/officeDocument/2006/relationships/slide" Target="/ppt/slides/slide64.xml" Id="R5acaa6739bb84025" /><Relationship Type="http://schemas.openxmlformats.org/officeDocument/2006/relationships/slide" Target="/ppt/slides/slide65.xml" Id="Red435f9c57094df1" /><Relationship Type="http://schemas.openxmlformats.org/officeDocument/2006/relationships/slide" Target="/ppt/slides/slide66.xml" Id="Rcc4c5b7166844a71" /><Relationship Type="http://schemas.openxmlformats.org/officeDocument/2006/relationships/slide" Target="/ppt/slides/slide67.xml" Id="Ree0c6032902849fe" /><Relationship Type="http://schemas.openxmlformats.org/officeDocument/2006/relationships/slide" Target="/ppt/slides/slide68.xml" Id="Ref0fa41668d94ea4" /><Relationship Type="http://schemas.openxmlformats.org/officeDocument/2006/relationships/slide" Target="/ppt/slides/slide69.xml" Id="R85bdc9a24bdc4757" /><Relationship Type="http://schemas.openxmlformats.org/officeDocument/2006/relationships/slide" Target="/ppt/slides/slide70.xml" Id="R0990f09463fc4d04" /><Relationship Type="http://schemas.openxmlformats.org/officeDocument/2006/relationships/slide" Target="/ppt/slides/slide71.xml" Id="R56f6f0aec6c94a88" /><Relationship Type="http://schemas.openxmlformats.org/officeDocument/2006/relationships/slide" Target="/ppt/slides/slide72.xml" Id="Rdc7bbf4552d442fb" /><Relationship Type="http://schemas.openxmlformats.org/officeDocument/2006/relationships/slide" Target="/ppt/slides/slide73.xml" Id="Rff2e94b8769c4229" /><Relationship Type="http://schemas.openxmlformats.org/officeDocument/2006/relationships/slide" Target="/ppt/slides/slide74.xml" Id="R969fa6b1a7c64be1" /><Relationship Type="http://schemas.openxmlformats.org/officeDocument/2006/relationships/slide" Target="/ppt/slides/slide75.xml" Id="R092c92004b484fde" /><Relationship Type="http://schemas.openxmlformats.org/officeDocument/2006/relationships/slide" Target="/ppt/slides/slide76.xml" Id="Ra2d6324ac4d148aa" /><Relationship Type="http://schemas.openxmlformats.org/officeDocument/2006/relationships/slide" Target="/ppt/slides/slide77.xml" Id="Rb157d590d0044fb9" /><Relationship Type="http://schemas.openxmlformats.org/officeDocument/2006/relationships/slide" Target="/ppt/slides/slide78.xml" Id="Ra9b1445f53e447d1" /><Relationship Type="http://schemas.openxmlformats.org/officeDocument/2006/relationships/slide" Target="/ppt/slides/slide79.xml" Id="R97afd3ba38374cd1" /><Relationship Type="http://schemas.openxmlformats.org/officeDocument/2006/relationships/slide" Target="/ppt/slides/slide80.xml" Id="R5a04516daba14969" /><Relationship Type="http://schemas.openxmlformats.org/officeDocument/2006/relationships/slide" Target="/ppt/slides/slide81.xml" Id="R2afa2c1e8171437a" /><Relationship Type="http://schemas.openxmlformats.org/officeDocument/2006/relationships/slide" Target="/ppt/slides/slide82.xml" Id="Rfefe1b83becd4c5a" /><Relationship Type="http://schemas.openxmlformats.org/officeDocument/2006/relationships/slide" Target="/ppt/slides/slide83.xml" Id="R58caefc4e8bb417f" /><Relationship Type="http://schemas.openxmlformats.org/officeDocument/2006/relationships/slide" Target="/ppt/slides/slide84.xml" Id="R225141f0e1234d25" /><Relationship Type="http://schemas.openxmlformats.org/officeDocument/2006/relationships/slide" Target="/ppt/slides/slide85.xml" Id="Rd92598a835af4048" /><Relationship Type="http://schemas.openxmlformats.org/officeDocument/2006/relationships/slide" Target="/ppt/slides/slide86.xml" Id="R7fbfcd3527ae44d0" /><Relationship Type="http://schemas.openxmlformats.org/officeDocument/2006/relationships/slide" Target="/ppt/slides/slide87.xml" Id="R8b35c7a8c4374baa" /><Relationship Type="http://schemas.openxmlformats.org/officeDocument/2006/relationships/slide" Target="/ppt/slides/slide88.xml" Id="R592bd690c6d544f3" /><Relationship Type="http://schemas.openxmlformats.org/officeDocument/2006/relationships/slide" Target="/ppt/slides/slide89.xml" Id="R643e6c988e6f484c" /><Relationship Type="http://schemas.openxmlformats.org/officeDocument/2006/relationships/slide" Target="/ppt/slides/slide90.xml" Id="R3a6a493511534227" /><Relationship Type="http://schemas.openxmlformats.org/officeDocument/2006/relationships/slide" Target="/ppt/slides/slide91.xml" Id="R2c60357a711d450e" /><Relationship Type="http://schemas.openxmlformats.org/officeDocument/2006/relationships/slide" Target="/ppt/slides/slide92.xml" Id="R941aae41cd714ddf" /><Relationship Type="http://schemas.openxmlformats.org/officeDocument/2006/relationships/slide" Target="/ppt/slides/slide93.xml" Id="Rba178e6087664c34" /><Relationship Type="http://schemas.openxmlformats.org/officeDocument/2006/relationships/slide" Target="/ppt/slides/slide94.xml" Id="Rffcdd1353c0143ef" /><Relationship Type="http://schemas.openxmlformats.org/officeDocument/2006/relationships/slide" Target="/ppt/slides/slide95.xml" Id="R509a823be1674369" /><Relationship Type="http://schemas.openxmlformats.org/officeDocument/2006/relationships/slide" Target="/ppt/slides/slide96.xml" Id="Rbef88c04a26c4432" /><Relationship Type="http://schemas.openxmlformats.org/officeDocument/2006/relationships/slide" Target="/ppt/slides/slide97.xml" Id="Rabc584dfe5514ecd" /><Relationship Type="http://schemas.openxmlformats.org/officeDocument/2006/relationships/slide" Target="/ppt/slides/slide98.xml" Id="R06240207033b4589" /><Relationship Type="http://schemas.openxmlformats.org/officeDocument/2006/relationships/slide" Target="/ppt/slides/slide99.xml" Id="Rb10b21fce8a345bf" /><Relationship Type="http://schemas.openxmlformats.org/officeDocument/2006/relationships/slide" Target="/ppt/slides/slide100.xml" Id="R05df80ada8c549d8" /><Relationship Type="http://schemas.openxmlformats.org/officeDocument/2006/relationships/slide" Target="/ppt/slides/slide101.xml" Id="Ra7f440d82ef64008" /><Relationship Type="http://schemas.openxmlformats.org/officeDocument/2006/relationships/slide" Target="/ppt/slides/slide102.xml" Id="R4996e19b52b24e3e" /><Relationship Type="http://schemas.openxmlformats.org/officeDocument/2006/relationships/slide" Target="/ppt/slides/slide103.xml" Id="Rcc81694e734d4b52" /><Relationship Type="http://schemas.openxmlformats.org/officeDocument/2006/relationships/slide" Target="/ppt/slides/slide104.xml" Id="R1739353790e74e0c" /><Relationship Type="http://schemas.openxmlformats.org/officeDocument/2006/relationships/slide" Target="/ppt/slides/slide105.xml" Id="R12cca7dfe7a54a1c" /><Relationship Type="http://schemas.openxmlformats.org/officeDocument/2006/relationships/slide" Target="/ppt/slides/slide106.xml" Id="R0f4ed5c462ab4b9c" /><Relationship Type="http://schemas.openxmlformats.org/officeDocument/2006/relationships/slide" Target="/ppt/slides/slide107.xml" Id="R21d32795abf14837" /><Relationship Type="http://schemas.openxmlformats.org/officeDocument/2006/relationships/slide" Target="/ppt/slides/slide108.xml" Id="R6fcc5637205940e3" /><Relationship Type="http://schemas.openxmlformats.org/officeDocument/2006/relationships/slide" Target="/ppt/slides/slide109.xml" Id="Rc7923cf9c22e42f7" /><Relationship Type="http://schemas.openxmlformats.org/officeDocument/2006/relationships/slide" Target="/ppt/slides/slide110.xml" Id="Rc7a7c76d1de740e6" /><Relationship Type="http://schemas.openxmlformats.org/officeDocument/2006/relationships/slide" Target="/ppt/slides/slide111.xml" Id="R4aecc4585f684295" /><Relationship Type="http://schemas.openxmlformats.org/officeDocument/2006/relationships/slide" Target="/ppt/slides/slide112.xml" Id="R1ae3df94042540fd" /><Relationship Type="http://schemas.openxmlformats.org/officeDocument/2006/relationships/slide" Target="/ppt/slides/slide113.xml" Id="Rf63883905db344ab" /><Relationship Type="http://schemas.openxmlformats.org/officeDocument/2006/relationships/slide" Target="/ppt/slides/slide114.xml" Id="R8a5466b5b70a445d" /><Relationship Type="http://schemas.openxmlformats.org/officeDocument/2006/relationships/slide" Target="/ppt/slides/slide115.xml" Id="R4dc9a1a110684746" /><Relationship Type="http://schemas.openxmlformats.org/officeDocument/2006/relationships/slide" Target="/ppt/slides/slide116.xml" Id="R3f93997eef314b7f" /><Relationship Type="http://schemas.openxmlformats.org/officeDocument/2006/relationships/slide" Target="/ppt/slides/slide117.xml" Id="Rf78b0ba61c7b4058" /><Relationship Type="http://schemas.openxmlformats.org/officeDocument/2006/relationships/slide" Target="/ppt/slides/slide118.xml" Id="Rbe3876b31b4440c3" /><Relationship Type="http://schemas.openxmlformats.org/officeDocument/2006/relationships/slide" Target="/ppt/slides/slide119.xml" Id="R1cbd3be3116e462c" /><Relationship Type="http://schemas.openxmlformats.org/officeDocument/2006/relationships/slide" Target="/ppt/slides/slide120.xml" Id="Ra784ebb7b1d24a0f" /><Relationship Type="http://schemas.openxmlformats.org/officeDocument/2006/relationships/slide" Target="/ppt/slides/slide121.xml" Id="R9cf3607c00ac4b65" /><Relationship Type="http://schemas.openxmlformats.org/officeDocument/2006/relationships/slide" Target="/ppt/slides/slide122.xml" Id="Raba12f535f214920" /><Relationship Type="http://schemas.openxmlformats.org/officeDocument/2006/relationships/slide" Target="/ppt/slides/slide123.xml" Id="Rd7b1fa1f8e5c4de9" /><Relationship Type="http://schemas.openxmlformats.org/officeDocument/2006/relationships/slide" Target="/ppt/slides/slide124.xml" Id="R0899c1a31f624dad" /><Relationship Type="http://schemas.openxmlformats.org/officeDocument/2006/relationships/slide" Target="/ppt/slides/slide125.xml" Id="Rb7fe38773b33418d" /><Relationship Type="http://schemas.openxmlformats.org/officeDocument/2006/relationships/slide" Target="/ppt/slides/slide126.xml" Id="R38018ab9c62a494d" /><Relationship Type="http://schemas.openxmlformats.org/officeDocument/2006/relationships/slide" Target="/ppt/slides/slide127.xml" Id="R94a2b95dd41348ed" /><Relationship Type="http://schemas.openxmlformats.org/officeDocument/2006/relationships/slide" Target="/ppt/slides/slide128.xml" Id="R5d73f8b94229419f" /><Relationship Type="http://schemas.openxmlformats.org/officeDocument/2006/relationships/slide" Target="/ppt/slides/slide129.xml" Id="Rd99687a79bd54467" /><Relationship Type="http://schemas.openxmlformats.org/officeDocument/2006/relationships/slide" Target="/ppt/slides/slide130.xml" Id="Re575d92c030f4694" /><Relationship Type="http://schemas.openxmlformats.org/officeDocument/2006/relationships/slide" Target="/ppt/slides/slide131.xml" Id="Read43c071c4043c6" /><Relationship Type="http://schemas.openxmlformats.org/officeDocument/2006/relationships/slide" Target="/ppt/slides/slide132.xml" Id="R6e49e38d978c4985" /><Relationship Type="http://schemas.openxmlformats.org/officeDocument/2006/relationships/slide" Target="/ppt/slides/slide133.xml" Id="Rffd5728527844ce3" /><Relationship Type="http://schemas.openxmlformats.org/officeDocument/2006/relationships/slide" Target="/ppt/slides/slide134.xml" Id="Rfce6bdec204846bc" /><Relationship Type="http://schemas.openxmlformats.org/officeDocument/2006/relationships/slide" Target="/ppt/slides/slide135.xml" Id="R8c2a20595f48480e" /><Relationship Type="http://schemas.openxmlformats.org/officeDocument/2006/relationships/slide" Target="/ppt/slides/slide136.xml" Id="Rbbd84c9d402a45e4" /><Relationship Type="http://schemas.openxmlformats.org/officeDocument/2006/relationships/slide" Target="/ppt/slides/slide137.xml" Id="R3296b66660344ee3" /><Relationship Type="http://schemas.openxmlformats.org/officeDocument/2006/relationships/slide" Target="/ppt/slides/slide138.xml" Id="R4368a4dfa92e49dc" /><Relationship Type="http://schemas.openxmlformats.org/officeDocument/2006/relationships/slide" Target="/ppt/slides/slide139.xml" Id="Rcca951c07b2d4347" /><Relationship Type="http://schemas.openxmlformats.org/officeDocument/2006/relationships/slide" Target="/ppt/slides/slide140.xml" Id="R6db79bea03b142e1" /><Relationship Type="http://schemas.openxmlformats.org/officeDocument/2006/relationships/slide" Target="/ppt/slides/slide141.xml" Id="Rf0b81ff38f684731" /><Relationship Type="http://schemas.openxmlformats.org/officeDocument/2006/relationships/slide" Target="/ppt/slides/slide142.xml" Id="R9d0eeacf3ac3404e" /><Relationship Type="http://schemas.openxmlformats.org/officeDocument/2006/relationships/slide" Target="/ppt/slides/slide143.xml" Id="R8af6485acd104fb7" /><Relationship Type="http://schemas.openxmlformats.org/officeDocument/2006/relationships/slide" Target="/ppt/slides/slide144.xml" Id="R84798058a69f4271" /><Relationship Type="http://schemas.openxmlformats.org/officeDocument/2006/relationships/slide" Target="/ppt/slides/slide145.xml" Id="R74f30e7759ab49f1" /><Relationship Type="http://schemas.openxmlformats.org/officeDocument/2006/relationships/slide" Target="/ppt/slides/slide146.xml" Id="Ree91f76d97844dbd" /><Relationship Type="http://schemas.openxmlformats.org/officeDocument/2006/relationships/slide" Target="/ppt/slides/slide147.xml" Id="R63caef0738db430c" /><Relationship Type="http://schemas.openxmlformats.org/officeDocument/2006/relationships/slide" Target="/ppt/slides/slide148.xml" Id="Re0af788ab86b492b" /><Relationship Type="http://schemas.openxmlformats.org/officeDocument/2006/relationships/slide" Target="/ppt/slides/slide149.xml" Id="Rc81eced8c7eb48c2" /><Relationship Type="http://schemas.openxmlformats.org/officeDocument/2006/relationships/slide" Target="/ppt/slides/slide150.xml" Id="Rdbbdd4bf240a4048" /><Relationship Type="http://schemas.openxmlformats.org/officeDocument/2006/relationships/slide" Target="/ppt/slides/slide151.xml" Id="R19178b6cb99647ec" /><Relationship Type="http://schemas.openxmlformats.org/officeDocument/2006/relationships/slide" Target="/ppt/slides/slide152.xml" Id="Rc1c668f200374cb2" /><Relationship Type="http://schemas.openxmlformats.org/officeDocument/2006/relationships/slide" Target="/ppt/slides/slide153.xml" Id="R5c9cb2142a1e47c4" /><Relationship Type="http://schemas.openxmlformats.org/officeDocument/2006/relationships/slide" Target="/ppt/slides/slide154.xml" Id="R3f0db2f166d6453e" /><Relationship Type="http://schemas.openxmlformats.org/officeDocument/2006/relationships/slide" Target="/ppt/slides/slide155.xml" Id="R5f9c022fc27e4f69" /><Relationship Type="http://schemas.openxmlformats.org/officeDocument/2006/relationships/slide" Target="/ppt/slides/slide156.xml" Id="R9df2954336b34de6" /><Relationship Type="http://schemas.openxmlformats.org/officeDocument/2006/relationships/slide" Target="/ppt/slides/slide157.xml" Id="R260a01d47e314c43" /><Relationship Type="http://schemas.openxmlformats.org/officeDocument/2006/relationships/slide" Target="/ppt/slides/slide158.xml" Id="R047f99559fec4a35" /><Relationship Type="http://schemas.openxmlformats.org/officeDocument/2006/relationships/slide" Target="/ppt/slides/slide159.xml" Id="Ra7b3ecd097a04c9a" /><Relationship Type="http://schemas.openxmlformats.org/officeDocument/2006/relationships/slide" Target="/ppt/slides/slide160.xml" Id="R891e079319ee4ae2" /><Relationship Type="http://schemas.openxmlformats.org/officeDocument/2006/relationships/slide" Target="/ppt/slides/slide161.xml" Id="Ra0332503b1d64d7b" /><Relationship Type="http://schemas.openxmlformats.org/officeDocument/2006/relationships/slide" Target="/ppt/slides/slide162.xml" Id="R8603b388cfa344ef" /><Relationship Type="http://schemas.openxmlformats.org/officeDocument/2006/relationships/slide" Target="/ppt/slides/slide163.xml" Id="Re3b822fe2c72418a" /><Relationship Type="http://schemas.openxmlformats.org/officeDocument/2006/relationships/slide" Target="/ppt/slides/slide164.xml" Id="R4eb6a29a91c1483c" /><Relationship Type="http://schemas.openxmlformats.org/officeDocument/2006/relationships/slide" Target="/ppt/slides/slide165.xml" Id="R8cad7b3d6f184893" /><Relationship Type="http://schemas.openxmlformats.org/officeDocument/2006/relationships/slide" Target="/ppt/slides/slide166.xml" Id="Rf240bea386074a74" /><Relationship Type="http://schemas.openxmlformats.org/officeDocument/2006/relationships/slide" Target="/ppt/slides/slide167.xml" Id="Rb4ee7e9604f64716" /><Relationship Type="http://schemas.openxmlformats.org/officeDocument/2006/relationships/slide" Target="/ppt/slides/slide168.xml" Id="R2d046b6e7518487c" /><Relationship Type="http://schemas.openxmlformats.org/officeDocument/2006/relationships/slide" Target="/ppt/slides/slide169.xml" Id="R85d1aa4f8fac4baf" /><Relationship Type="http://schemas.openxmlformats.org/officeDocument/2006/relationships/slide" Target="/ppt/slides/slide170.xml" Id="R5865d8f71a7d447c" /><Relationship Type="http://schemas.openxmlformats.org/officeDocument/2006/relationships/slide" Target="/ppt/slides/slide171.xml" Id="R2cc1e325383a436f" /><Relationship Type="http://schemas.openxmlformats.org/officeDocument/2006/relationships/slide" Target="/ppt/slides/slide172.xml" Id="Rb6daa71d728846a5" /><Relationship Type="http://schemas.openxmlformats.org/officeDocument/2006/relationships/slide" Target="/ppt/slides/slide173.xml" Id="Rdbad599eb0684180" /><Relationship Type="http://schemas.openxmlformats.org/officeDocument/2006/relationships/slide" Target="/ppt/slides/slide174.xml" Id="R1f8e1845aea84553" /><Relationship Type="http://schemas.openxmlformats.org/officeDocument/2006/relationships/slide" Target="/ppt/slides/slide175.xml" Id="R9a469eb4e6b54c8e" /><Relationship Type="http://schemas.openxmlformats.org/officeDocument/2006/relationships/slide" Target="/ppt/slides/slide176.xml" Id="R7c864673747041fe" /><Relationship Type="http://schemas.openxmlformats.org/officeDocument/2006/relationships/slide" Target="/ppt/slides/slide177.xml" Id="Re1c579626ff44468" /><Relationship Type="http://schemas.openxmlformats.org/officeDocument/2006/relationships/slide" Target="/ppt/slides/slide178.xml" Id="Rdee856da761a4282" /><Relationship Type="http://schemas.openxmlformats.org/officeDocument/2006/relationships/slide" Target="/ppt/slides/slide179.xml" Id="R5c903e2297904909" /><Relationship Type="http://schemas.openxmlformats.org/officeDocument/2006/relationships/slide" Target="/ppt/slides/slide180.xml" Id="R1449c7e5d7d6429e" /><Relationship Type="http://schemas.openxmlformats.org/officeDocument/2006/relationships/slide" Target="/ppt/slides/slide181.xml" Id="Rc77ec866052547db" /><Relationship Type="http://schemas.openxmlformats.org/officeDocument/2006/relationships/slide" Target="/ppt/slides/slide182.xml" Id="R1e665587d62744ed" /><Relationship Type="http://schemas.openxmlformats.org/officeDocument/2006/relationships/slide" Target="/ppt/slides/slide183.xml" Id="R88aba7b31b3d4cd4" /><Relationship Type="http://schemas.openxmlformats.org/officeDocument/2006/relationships/slide" Target="/ppt/slides/slide184.xml" Id="R0b6a8057f2a9462f" /><Relationship Type="http://schemas.openxmlformats.org/officeDocument/2006/relationships/slide" Target="/ppt/slides/slide185.xml" Id="R5f517fffed05490c" /><Relationship Type="http://schemas.openxmlformats.org/officeDocument/2006/relationships/slide" Target="/ppt/slides/slide186.xml" Id="R9f1ca588d8b94392" /><Relationship Type="http://schemas.openxmlformats.org/officeDocument/2006/relationships/slide" Target="/ppt/slides/slide187.xml" Id="R7c1293584d674aef" /><Relationship Type="http://schemas.openxmlformats.org/officeDocument/2006/relationships/slide" Target="/ppt/slides/slide188.xml" Id="R3c28a6bb3a624f51" /><Relationship Type="http://schemas.openxmlformats.org/officeDocument/2006/relationships/slide" Target="/ppt/slides/slide189.xml" Id="R84a44f741c8c4b03" /><Relationship Type="http://schemas.openxmlformats.org/officeDocument/2006/relationships/slide" Target="/ppt/slides/slide190.xml" Id="R13fbaed4b57b4cbb" /><Relationship Type="http://schemas.openxmlformats.org/officeDocument/2006/relationships/slide" Target="/ppt/slides/slide191.xml" Id="Rd750908c312f4724" /><Relationship Type="http://schemas.openxmlformats.org/officeDocument/2006/relationships/slide" Target="/ppt/slides/slide192.xml" Id="Re1bb5e9e10a04615" /><Relationship Type="http://schemas.openxmlformats.org/officeDocument/2006/relationships/slide" Target="/ppt/slides/slide193.xml" Id="R0541bab01a6a4dfc" /><Relationship Type="http://schemas.openxmlformats.org/officeDocument/2006/relationships/slide" Target="/ppt/slides/slide194.xml" Id="R0c408b62dc6141e1" /><Relationship Type="http://schemas.openxmlformats.org/officeDocument/2006/relationships/slide" Target="/ppt/slides/slide195.xml" Id="Raba24afd69bc4e92" /><Relationship Type="http://schemas.openxmlformats.org/officeDocument/2006/relationships/slide" Target="/ppt/slides/slide196.xml" Id="R774aea91ecb24d28" /><Relationship Type="http://schemas.openxmlformats.org/officeDocument/2006/relationships/slide" Target="/ppt/slides/slide197.xml" Id="R84f756fc1976440a" /><Relationship Type="http://schemas.openxmlformats.org/officeDocument/2006/relationships/slide" Target="/ppt/slides/slide198.xml" Id="Rd95995a388654349" /><Relationship Type="http://schemas.openxmlformats.org/officeDocument/2006/relationships/slide" Target="/ppt/slides/slide199.xml" Id="R0b4cb9eec7a949b9" /><Relationship Type="http://schemas.openxmlformats.org/officeDocument/2006/relationships/slide" Target="/ppt/slides/slide200.xml" Id="R57daf60f2dca4863" /><Relationship Type="http://schemas.openxmlformats.org/officeDocument/2006/relationships/slide" Target="/ppt/slides/slide201.xml" Id="Rd70ef7150ba64d55" /><Relationship Type="http://schemas.openxmlformats.org/officeDocument/2006/relationships/slide" Target="/ppt/slides/slide202.xml" Id="Ra26925bfde3b4c74" /><Relationship Type="http://schemas.openxmlformats.org/officeDocument/2006/relationships/slide" Target="/ppt/slides/slide203.xml" Id="R741aa051c18b4299" /><Relationship Type="http://schemas.openxmlformats.org/officeDocument/2006/relationships/slide" Target="/ppt/slides/slide204.xml" Id="Rbec6543077064bc3" /><Relationship Type="http://schemas.openxmlformats.org/officeDocument/2006/relationships/slide" Target="/ppt/slides/slide205.xml" Id="R2a4974cc47764941" /><Relationship Type="http://schemas.openxmlformats.org/officeDocument/2006/relationships/slide" Target="/ppt/slides/slide206.xml" Id="R9266bbe4318a4f9f" /><Relationship Type="http://schemas.openxmlformats.org/officeDocument/2006/relationships/slide" Target="/ppt/slides/slide207.xml" Id="Rff20f7e048ea4a7c" /><Relationship Type="http://schemas.openxmlformats.org/officeDocument/2006/relationships/slide" Target="/ppt/slides/slide208.xml" Id="R4fc0ee40aa4b4912" /><Relationship Type="http://schemas.openxmlformats.org/officeDocument/2006/relationships/slide" Target="/ppt/slides/slide209.xml" Id="R66350796ac5945fd" /><Relationship Type="http://schemas.openxmlformats.org/officeDocument/2006/relationships/slide" Target="/ppt/slides/slide210.xml" Id="Rd4271fe0a00a4e86" /><Relationship Type="http://schemas.openxmlformats.org/officeDocument/2006/relationships/slide" Target="/ppt/slides/slide211.xml" Id="R1d8bf1aac5db4d01" /><Relationship Type="http://schemas.openxmlformats.org/officeDocument/2006/relationships/slide" Target="/ppt/slides/slide212.xml" Id="Rfa63d3a505734f4e" /><Relationship Type="http://schemas.openxmlformats.org/officeDocument/2006/relationships/slide" Target="/ppt/slides/slide213.xml" Id="Rcd9fae91e4524a4b" /><Relationship Type="http://schemas.openxmlformats.org/officeDocument/2006/relationships/slide" Target="/ppt/slides/slide214.xml" Id="R851af7b37abe482b" /><Relationship Type="http://schemas.openxmlformats.org/officeDocument/2006/relationships/slide" Target="/ppt/slides/slide215.xml" Id="R95eb4032693a435e" /><Relationship Type="http://schemas.openxmlformats.org/officeDocument/2006/relationships/slide" Target="/ppt/slides/slide216.xml" Id="R00cdc1cebbe347ed" /><Relationship Type="http://schemas.openxmlformats.org/officeDocument/2006/relationships/slide" Target="/ppt/slides/slide217.xml" Id="Rbaffcb72a9f640ea" /><Relationship Type="http://schemas.openxmlformats.org/officeDocument/2006/relationships/slide" Target="/ppt/slides/slide218.xml" Id="R0d8958b44269431b" /><Relationship Type="http://schemas.openxmlformats.org/officeDocument/2006/relationships/slide" Target="/ppt/slides/slide219.xml" Id="R578f029ff4ac436f" /><Relationship Type="http://schemas.openxmlformats.org/officeDocument/2006/relationships/slide" Target="/ppt/slides/slide220.xml" Id="R75e5f40c20084198" /><Relationship Type="http://schemas.openxmlformats.org/officeDocument/2006/relationships/slide" Target="/ppt/slides/slide221.xml" Id="R852e9e0804b44089" /><Relationship Type="http://schemas.openxmlformats.org/officeDocument/2006/relationships/slide" Target="/ppt/slides/slide222.xml" Id="R3168fd80d96448fc" /><Relationship Type="http://schemas.openxmlformats.org/officeDocument/2006/relationships/slide" Target="/ppt/slides/slide223.xml" Id="R17c1f2473a5e4a90" /><Relationship Type="http://schemas.openxmlformats.org/officeDocument/2006/relationships/slide" Target="/ppt/slides/slide224.xml" Id="R6c512ee5c4684ec4" /><Relationship Type="http://schemas.openxmlformats.org/officeDocument/2006/relationships/slide" Target="/ppt/slides/slide225.xml" Id="Rea302bac38184821" /><Relationship Type="http://schemas.openxmlformats.org/officeDocument/2006/relationships/slide" Target="/ppt/slides/slide226.xml" Id="Rae807ae2213c4eee" /><Relationship Type="http://schemas.openxmlformats.org/officeDocument/2006/relationships/slide" Target="/ppt/slides/slide227.xml" Id="R149d07ff47834d2d" /><Relationship Type="http://schemas.openxmlformats.org/officeDocument/2006/relationships/slide" Target="/ppt/slides/slide228.xml" Id="R940e242b494a4f0e" /><Relationship Type="http://schemas.openxmlformats.org/officeDocument/2006/relationships/slide" Target="/ppt/slides/slide229.xml" Id="Rd6e28f14c55f4312" /><Relationship Type="http://schemas.openxmlformats.org/officeDocument/2006/relationships/slide" Target="/ppt/slides/slide230.xml" Id="Rd72d9114a1d04a72" /><Relationship Type="http://schemas.openxmlformats.org/officeDocument/2006/relationships/slide" Target="/ppt/slides/slide231.xml" Id="Rfcc96b658d4742be" /><Relationship Type="http://schemas.openxmlformats.org/officeDocument/2006/relationships/slide" Target="/ppt/slides/slide232.xml" Id="R88eb7b0822c145d9" /><Relationship Type="http://schemas.openxmlformats.org/officeDocument/2006/relationships/slide" Target="/ppt/slides/slide233.xml" Id="Rfbe89de050234319" /><Relationship Type="http://schemas.openxmlformats.org/officeDocument/2006/relationships/slide" Target="/ppt/slides/slide234.xml" Id="R09d33722dd4a4a99" /><Relationship Type="http://schemas.openxmlformats.org/officeDocument/2006/relationships/slide" Target="/ppt/slides/slide235.xml" Id="R9e23bd80c60348db" /><Relationship Type="http://schemas.openxmlformats.org/officeDocument/2006/relationships/slide" Target="/ppt/slides/slide236.xml" Id="R176bba4c72e6436b" /><Relationship Type="http://schemas.openxmlformats.org/officeDocument/2006/relationships/slide" Target="/ppt/slides/slide237.xml" Id="R1728467ff86248b0" /><Relationship Type="http://schemas.openxmlformats.org/officeDocument/2006/relationships/slide" Target="/ppt/slides/slide238.xml" Id="R038f73dcb52549d8" /><Relationship Type="http://schemas.openxmlformats.org/officeDocument/2006/relationships/slide" Target="/ppt/slides/slide239.xml" Id="R7a736ce6082d4297" /><Relationship Type="http://schemas.openxmlformats.org/officeDocument/2006/relationships/slide" Target="/ppt/slides/slide240.xml" Id="R9cb4b2d7491c4c55" /><Relationship Type="http://schemas.openxmlformats.org/officeDocument/2006/relationships/slide" Target="/ppt/slides/slide241.xml" Id="Rcc702c19be794185" /><Relationship Type="http://schemas.openxmlformats.org/officeDocument/2006/relationships/slide" Target="/ppt/slides/slide242.xml" Id="Rb7eaafd3c6304949" /><Relationship Type="http://schemas.openxmlformats.org/officeDocument/2006/relationships/slide" Target="/ppt/slides/slide243.xml" Id="R89f5589a8bf34e83" /><Relationship Type="http://schemas.openxmlformats.org/officeDocument/2006/relationships/slide" Target="/ppt/slides/slide244.xml" Id="R19b3acea1e954c88" /><Relationship Type="http://schemas.openxmlformats.org/officeDocument/2006/relationships/slide" Target="/ppt/slides/slide245.xml" Id="R139c7c2ac6814813" /><Relationship Type="http://schemas.openxmlformats.org/officeDocument/2006/relationships/slide" Target="/ppt/slides/slide246.xml" Id="R0a9d49a885e44265" /><Relationship Type="http://schemas.openxmlformats.org/officeDocument/2006/relationships/slide" Target="/ppt/slides/slide247.xml" Id="Rbf17aa42eefc4fdb" /><Relationship Type="http://schemas.openxmlformats.org/officeDocument/2006/relationships/slide" Target="/ppt/slides/slide248.xml" Id="R4fdbd8453ae64992" /><Relationship Type="http://schemas.openxmlformats.org/officeDocument/2006/relationships/slide" Target="/ppt/slides/slide249.xml" Id="R708a17e52a78446c" /><Relationship Type="http://schemas.openxmlformats.org/officeDocument/2006/relationships/slide" Target="/ppt/slides/slide250.xml" Id="Rfb75c3efcfa44e0d" /><Relationship Type="http://schemas.openxmlformats.org/officeDocument/2006/relationships/slide" Target="/ppt/slides/slide251.xml" Id="Rff5bfbb9bc28411a" /><Relationship Type="http://schemas.openxmlformats.org/officeDocument/2006/relationships/slide" Target="/ppt/slides/slide252.xml" Id="R19492d7edd634ec1" /><Relationship Type="http://schemas.openxmlformats.org/officeDocument/2006/relationships/slide" Target="/ppt/slides/slide253.xml" Id="Rf4dfcadb5aab4ef8" /><Relationship Type="http://schemas.openxmlformats.org/officeDocument/2006/relationships/slide" Target="/ppt/slides/slide254.xml" Id="R27b4ece209af416c" /><Relationship Type="http://schemas.openxmlformats.org/officeDocument/2006/relationships/slide" Target="/ppt/slides/slide255.xml" Id="R1a1c46266bdf49c9" /><Relationship Type="http://schemas.openxmlformats.org/officeDocument/2006/relationships/slide" Target="/ppt/slides/slide256.xml" Id="Rdb7e7f36677b43ef" /><Relationship Type="http://schemas.openxmlformats.org/officeDocument/2006/relationships/slide" Target="/ppt/slides/slide257.xml" Id="Rcfd780659d104be1" /><Relationship Type="http://schemas.openxmlformats.org/officeDocument/2006/relationships/slide" Target="/ppt/slides/slide258.xml" Id="Rd1cdbb3a2b3e4616" /><Relationship Type="http://schemas.openxmlformats.org/officeDocument/2006/relationships/slide" Target="/ppt/slides/slide259.xml" Id="R3164842ab19048ba" /><Relationship Type="http://schemas.openxmlformats.org/officeDocument/2006/relationships/slide" Target="/ppt/slides/slide260.xml" Id="Rcedc39dd5df5481d" /><Relationship Type="http://schemas.openxmlformats.org/officeDocument/2006/relationships/slide" Target="/ppt/slides/slide261.xml" Id="R2672aba721b24a4f" /><Relationship Type="http://schemas.openxmlformats.org/officeDocument/2006/relationships/slide" Target="/ppt/slides/slide262.xml" Id="R481280da20334249" /><Relationship Type="http://schemas.openxmlformats.org/officeDocument/2006/relationships/slide" Target="/ppt/slides/slide263.xml" Id="R430f2210604343ad" /><Relationship Type="http://schemas.openxmlformats.org/officeDocument/2006/relationships/slide" Target="/ppt/slides/slide264.xml" Id="R92bd6d4984b94fd2" /><Relationship Type="http://schemas.openxmlformats.org/officeDocument/2006/relationships/slide" Target="/ppt/slides/slide265.xml" Id="R7498bb7b3ea14d3c" /><Relationship Type="http://schemas.openxmlformats.org/officeDocument/2006/relationships/slide" Target="/ppt/slides/slide266.xml" Id="R8705a45662744317" /><Relationship Type="http://schemas.openxmlformats.org/officeDocument/2006/relationships/slide" Target="/ppt/slides/slide267.xml" Id="Re5e679603a014c61" /><Relationship Type="http://schemas.openxmlformats.org/officeDocument/2006/relationships/slide" Target="/ppt/slides/slide268.xml" Id="R635976524afd408a" /><Relationship Type="http://schemas.openxmlformats.org/officeDocument/2006/relationships/slide" Target="/ppt/slides/slide269.xml" Id="R68de3b7ca1634407" /><Relationship Type="http://schemas.openxmlformats.org/officeDocument/2006/relationships/slide" Target="/ppt/slides/slide270.xml" Id="Rc7d103b879794744" /><Relationship Type="http://schemas.openxmlformats.org/officeDocument/2006/relationships/slide" Target="/ppt/slides/slide271.xml" Id="Rbda7417f624b4778" /><Relationship Type="http://schemas.openxmlformats.org/officeDocument/2006/relationships/slide" Target="/ppt/slides/slide272.xml" Id="R82e3448c6806433b" /><Relationship Type="http://schemas.openxmlformats.org/officeDocument/2006/relationships/slide" Target="/ppt/slides/slide273.xml" Id="R072a3e481aef404c" /><Relationship Type="http://schemas.openxmlformats.org/officeDocument/2006/relationships/slide" Target="/ppt/slides/slide274.xml" Id="R502e8ba01f294211" /><Relationship Type="http://schemas.openxmlformats.org/officeDocument/2006/relationships/slide" Target="/ppt/slides/slide275.xml" Id="R987a3b966ee0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9ef9da10544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e8d19e77a84f46" /><Relationship Type="http://schemas.openxmlformats.org/officeDocument/2006/relationships/notesMaster" Target="/ppt/notesMasters/notesMaster1.xml" Id="R2b39cab92471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60e1ea3804086" /><Relationship Type="http://schemas.openxmlformats.org/officeDocument/2006/relationships/notesMaster" Target="/ppt/notesMasters/notesMaster1.xml" Id="Reb404f1b96f944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b7c486c6284453" /><Relationship Type="http://schemas.openxmlformats.org/officeDocument/2006/relationships/notesMaster" Target="/ppt/notesMasters/notesMaster1.xml" Id="Re05492fa11f94a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4b7e4759184ee8" /><Relationship Type="http://schemas.openxmlformats.org/officeDocument/2006/relationships/notesMaster" Target="/ppt/notesMasters/notesMaster1.xml" Id="R83fbb54e1f1247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8d263c9eef44e9" /><Relationship Type="http://schemas.openxmlformats.org/officeDocument/2006/relationships/notesMaster" Target="/ppt/notesMasters/notesMaster1.xml" Id="Rae241d3b735e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50bf530f04271" /><Relationship Type="http://schemas.openxmlformats.org/officeDocument/2006/relationships/notesMaster" Target="/ppt/notesMasters/notesMaster1.xml" Id="R837dc35a49bb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d21aef7b341ea" /><Relationship Type="http://schemas.openxmlformats.org/officeDocument/2006/relationships/notesMaster" Target="/ppt/notesMasters/notesMaster1.xml" Id="Rd10336866aac4e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911b470fc34851" /><Relationship Type="http://schemas.openxmlformats.org/officeDocument/2006/relationships/notesMaster" Target="/ppt/notesMasters/notesMaster1.xml" Id="Rf81e4e43df054f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78b6953d94017" /><Relationship Type="http://schemas.openxmlformats.org/officeDocument/2006/relationships/notesMaster" Target="/ppt/notesMasters/notesMaster1.xml" Id="R80e3c71f6cd048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80b4fbda394f14" /><Relationship Type="http://schemas.openxmlformats.org/officeDocument/2006/relationships/notesMaster" Target="/ppt/notesMasters/notesMaster1.xml" Id="R55b29e40adcc41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d0fd6654644f4e" /><Relationship Type="http://schemas.openxmlformats.org/officeDocument/2006/relationships/notesMaster" Target="/ppt/notesMasters/notesMaster1.xml" Id="R13a5dc82924c4f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139cd099c24409" /><Relationship Type="http://schemas.openxmlformats.org/officeDocument/2006/relationships/notesMaster" Target="/ppt/notesMasters/notesMaster1.xml" Id="R6c0523245a5141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83f4339be94dbf" /><Relationship Type="http://schemas.openxmlformats.org/officeDocument/2006/relationships/notesMaster" Target="/ppt/notesMasters/notesMaster1.xml" Id="R0d426c56299c4f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73121d0ab34e31" /><Relationship Type="http://schemas.openxmlformats.org/officeDocument/2006/relationships/notesMaster" Target="/ppt/notesMasters/notesMaster1.xml" Id="Rf8d72cb0b4a046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402ce70f2942ba" /><Relationship Type="http://schemas.openxmlformats.org/officeDocument/2006/relationships/notesMaster" Target="/ppt/notesMasters/notesMaster1.xml" Id="R02c9aecb1edf4a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0c261c3e904188" /><Relationship Type="http://schemas.openxmlformats.org/officeDocument/2006/relationships/notesMaster" Target="/ppt/notesMasters/notesMaster1.xml" Id="R61173092a77142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79c40c511a46de" /><Relationship Type="http://schemas.openxmlformats.org/officeDocument/2006/relationships/notesMaster" Target="/ppt/notesMasters/notesMaster1.xml" Id="Ra25f9eddf7bb4d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c64fb261294fff" /><Relationship Type="http://schemas.openxmlformats.org/officeDocument/2006/relationships/notesMaster" Target="/ppt/notesMasters/notesMaster1.xml" Id="R54355936fc2748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16e9d7f7324b42" /><Relationship Type="http://schemas.openxmlformats.org/officeDocument/2006/relationships/notesMaster" Target="/ppt/notesMasters/notesMaster1.xml" Id="Ra2398203366041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b97ce549c44b0b" /><Relationship Type="http://schemas.openxmlformats.org/officeDocument/2006/relationships/notesMaster" Target="/ppt/notesMasters/notesMaster1.xml" Id="Rfa491fb8be4440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ae0da61f8e430b" /><Relationship Type="http://schemas.openxmlformats.org/officeDocument/2006/relationships/notesMaster" Target="/ppt/notesMasters/notesMaster1.xml" Id="Rcb2f945110b248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2973e7b12a4860" /><Relationship Type="http://schemas.openxmlformats.org/officeDocument/2006/relationships/notesMaster" Target="/ppt/notesMasters/notesMaster1.xml" Id="R6df77b47216247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edb64931b040b9" /><Relationship Type="http://schemas.openxmlformats.org/officeDocument/2006/relationships/notesMaster" Target="/ppt/notesMasters/notesMaster1.xml" Id="Rad4fe278e0454a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89aa12a5214103" /><Relationship Type="http://schemas.openxmlformats.org/officeDocument/2006/relationships/notesMaster" Target="/ppt/notesMasters/notesMaster1.xml" Id="R9dc988aff4144c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73798e897324a19" /><Relationship Type="http://schemas.openxmlformats.org/officeDocument/2006/relationships/notesMaster" Target="/ppt/notesMasters/notesMaster1.xml" Id="Rc0f8a4ef0b644c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b347c892b041b8" /><Relationship Type="http://schemas.openxmlformats.org/officeDocument/2006/relationships/notesMaster" Target="/ppt/notesMasters/notesMaster1.xml" Id="Ra4879096b7184d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932fd04fdac4f31" /><Relationship Type="http://schemas.openxmlformats.org/officeDocument/2006/relationships/notesMaster" Target="/ppt/notesMasters/notesMaster1.xml" Id="R1dd5250dcace41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4016b6f3474c63" /><Relationship Type="http://schemas.openxmlformats.org/officeDocument/2006/relationships/notesMaster" Target="/ppt/notesMasters/notesMaster1.xml" Id="R5e72a9a57cc64c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d39eee2c824c37" /><Relationship Type="http://schemas.openxmlformats.org/officeDocument/2006/relationships/notesMaster" Target="/ppt/notesMasters/notesMaster1.xml" Id="Rde033ba5e7e3474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1c14e705c8430b" /><Relationship Type="http://schemas.openxmlformats.org/officeDocument/2006/relationships/notesMaster" Target="/ppt/notesMasters/notesMaster1.xml" Id="Rd0e67a88480a40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a60938d1b9d4173" /><Relationship Type="http://schemas.openxmlformats.org/officeDocument/2006/relationships/notesMaster" Target="/ppt/notesMasters/notesMaster1.xml" Id="Rc86dd886a9dc46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004dd3478d4e13" /><Relationship Type="http://schemas.openxmlformats.org/officeDocument/2006/relationships/notesMaster" Target="/ppt/notesMasters/notesMaster1.xml" Id="Rb2b1980238ed46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5b973ff2dd4cf0" /><Relationship Type="http://schemas.openxmlformats.org/officeDocument/2006/relationships/notesMaster" Target="/ppt/notesMasters/notesMaster1.xml" Id="R6a37a8ecace442b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29e3680179d4f64" /><Relationship Type="http://schemas.openxmlformats.org/officeDocument/2006/relationships/notesMaster" Target="/ppt/notesMasters/notesMaster1.xml" Id="R66f03daf07b74ec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be1aeb4cf17467e" /><Relationship Type="http://schemas.openxmlformats.org/officeDocument/2006/relationships/notesMaster" Target="/ppt/notesMasters/notesMaster1.xml" Id="R75f11b94e58740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ffa35a840040ec" /><Relationship Type="http://schemas.openxmlformats.org/officeDocument/2006/relationships/notesMaster" Target="/ppt/notesMasters/notesMaster1.xml" Id="Rf9c8476c15fa415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3c889c2f90f4485" /><Relationship Type="http://schemas.openxmlformats.org/officeDocument/2006/relationships/notesMaster" Target="/ppt/notesMasters/notesMaster1.xml" Id="R7a3c702fb00e437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b44c29ab3804757" /><Relationship Type="http://schemas.openxmlformats.org/officeDocument/2006/relationships/notesMaster" Target="/ppt/notesMasters/notesMaster1.xml" Id="Rf5b02de1a6b147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b588e0592fc4ae3" /><Relationship Type="http://schemas.openxmlformats.org/officeDocument/2006/relationships/notesMaster" Target="/ppt/notesMasters/notesMaster1.xml" Id="Rf48bff11f3cd44b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172c0c02544fbf" /><Relationship Type="http://schemas.openxmlformats.org/officeDocument/2006/relationships/notesMaster" Target="/ppt/notesMasters/notesMaster1.xml" Id="R5efb0793d3d0448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98801cdeee14fd8" /><Relationship Type="http://schemas.openxmlformats.org/officeDocument/2006/relationships/notesMaster" Target="/ppt/notesMasters/notesMaster1.xml" Id="R29675f1412c345b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3c24a3b87a04acd" /><Relationship Type="http://schemas.openxmlformats.org/officeDocument/2006/relationships/notesMaster" Target="/ppt/notesMasters/notesMaster1.xml" Id="R0bb3ad6a6ee4464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20b083cdb134531" /><Relationship Type="http://schemas.openxmlformats.org/officeDocument/2006/relationships/notesMaster" Target="/ppt/notesMasters/notesMaster1.xml" Id="R9aeab6fdd7d24d7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2aa16cca7c54429" /><Relationship Type="http://schemas.openxmlformats.org/officeDocument/2006/relationships/notesMaster" Target="/ppt/notesMasters/notesMaster1.xml" Id="R4a621174864042b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0041a2909384c5a" /><Relationship Type="http://schemas.openxmlformats.org/officeDocument/2006/relationships/notesMaster" Target="/ppt/notesMasters/notesMaster1.xml" Id="Rc8235c9c64e9437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43a98c0ce874722" /><Relationship Type="http://schemas.openxmlformats.org/officeDocument/2006/relationships/notesMaster" Target="/ppt/notesMasters/notesMaster1.xml" Id="R5ded9da42f4a4ab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86ac0b793e04fef" /><Relationship Type="http://schemas.openxmlformats.org/officeDocument/2006/relationships/notesMaster" Target="/ppt/notesMasters/notesMaster1.xml" Id="Rfeb6bc84d08840b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2b49f36b18145c7" /><Relationship Type="http://schemas.openxmlformats.org/officeDocument/2006/relationships/notesMaster" Target="/ppt/notesMasters/notesMaster1.xml" Id="Rc8dd9e51396442d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69ce3ad71ee479a" /><Relationship Type="http://schemas.openxmlformats.org/officeDocument/2006/relationships/notesMaster" Target="/ppt/notesMasters/notesMaster1.xml" Id="R481d7015bf36459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59e42e68ba54634" /><Relationship Type="http://schemas.openxmlformats.org/officeDocument/2006/relationships/notesMaster" Target="/ppt/notesMasters/notesMaster1.xml" Id="R15eb7b05bfa7463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ecd3d35dd8745e9" /><Relationship Type="http://schemas.openxmlformats.org/officeDocument/2006/relationships/notesMaster" Target="/ppt/notesMasters/notesMaster1.xml" Id="Rbb986a31498e4af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54f81e7c37a4425" /><Relationship Type="http://schemas.openxmlformats.org/officeDocument/2006/relationships/notesMaster" Target="/ppt/notesMasters/notesMaster1.xml" Id="R7530933a20f04fe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096d169f9c34ccc" /><Relationship Type="http://schemas.openxmlformats.org/officeDocument/2006/relationships/notesMaster" Target="/ppt/notesMasters/notesMaster1.xml" Id="R583b3b2856ab429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f0d90fc6abb464f" /><Relationship Type="http://schemas.openxmlformats.org/officeDocument/2006/relationships/notesMaster" Target="/ppt/notesMasters/notesMaster1.xml" Id="Rf4153ed044af45c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fca7c1244774c94" /><Relationship Type="http://schemas.openxmlformats.org/officeDocument/2006/relationships/notesMaster" Target="/ppt/notesMasters/notesMaster1.xml" Id="R448f129228784fa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f5addf6e2fdb4dca" /><Relationship Type="http://schemas.openxmlformats.org/officeDocument/2006/relationships/notesMaster" Target="/ppt/notesMasters/notesMaster1.xml" Id="Rce3a1ce4acda4af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77c2c3aa982462c" /><Relationship Type="http://schemas.openxmlformats.org/officeDocument/2006/relationships/notesMaster" Target="/ppt/notesMasters/notesMaster1.xml" Id="Rc6a6b17b648e436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cdf34dbf4b142b9" /><Relationship Type="http://schemas.openxmlformats.org/officeDocument/2006/relationships/notesMaster" Target="/ppt/notesMasters/notesMaster1.xml" Id="R0d354fbb7715415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b678245707b48df" /><Relationship Type="http://schemas.openxmlformats.org/officeDocument/2006/relationships/notesMaster" Target="/ppt/notesMasters/notesMaster1.xml" Id="R7641e12fa4404e4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1e8c81ec9e347d7" /><Relationship Type="http://schemas.openxmlformats.org/officeDocument/2006/relationships/notesMaster" Target="/ppt/notesMasters/notesMaster1.xml" Id="R3c8bb9f114b7477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ec8d106ea304ef2" /><Relationship Type="http://schemas.openxmlformats.org/officeDocument/2006/relationships/notesMaster" Target="/ppt/notesMasters/notesMaster1.xml" Id="R2b860f3b8c2245fa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6075c11eeef44ebe" /><Relationship Type="http://schemas.openxmlformats.org/officeDocument/2006/relationships/notesMaster" Target="/ppt/notesMasters/notesMaster1.xml" Id="Rc99e3d6a1f8e4ba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f37e2414a264d88" /><Relationship Type="http://schemas.openxmlformats.org/officeDocument/2006/relationships/notesMaster" Target="/ppt/notesMasters/notesMaster1.xml" Id="Rf30bc9aad93d4cd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4d90787b48f451c" /><Relationship Type="http://schemas.openxmlformats.org/officeDocument/2006/relationships/notesMaster" Target="/ppt/notesMasters/notesMaster1.xml" Id="R435b39a9ea1a46d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72625070ea2141fb" /><Relationship Type="http://schemas.openxmlformats.org/officeDocument/2006/relationships/notesMaster" Target="/ppt/notesMasters/notesMaster1.xml" Id="Rd4bf00514895416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6273f29036c4f27" /><Relationship Type="http://schemas.openxmlformats.org/officeDocument/2006/relationships/notesMaster" Target="/ppt/notesMasters/notesMaster1.xml" Id="R05781ff96fe049c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c79abf167b74172" /><Relationship Type="http://schemas.openxmlformats.org/officeDocument/2006/relationships/notesMaster" Target="/ppt/notesMasters/notesMaster1.xml" Id="R40a6bcea964f456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7c16d355dc24a00" /><Relationship Type="http://schemas.openxmlformats.org/officeDocument/2006/relationships/notesMaster" Target="/ppt/notesMasters/notesMaster1.xml" Id="R28785857ebdb436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1992b18bcea4f8c" /><Relationship Type="http://schemas.openxmlformats.org/officeDocument/2006/relationships/notesMaster" Target="/ppt/notesMasters/notesMaster1.xml" Id="R79a0a7da0dce43d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afcf95d1cbc4cde" /><Relationship Type="http://schemas.openxmlformats.org/officeDocument/2006/relationships/notesMaster" Target="/ppt/notesMasters/notesMaster1.xml" Id="Rafbfc410117a4d9e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3c0f3096b0f486c" /><Relationship Type="http://schemas.openxmlformats.org/officeDocument/2006/relationships/notesMaster" Target="/ppt/notesMasters/notesMaster1.xml" Id="R63ddf3359d374bd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51033bee0ce245f4" /><Relationship Type="http://schemas.openxmlformats.org/officeDocument/2006/relationships/notesMaster" Target="/ppt/notesMasters/notesMaster1.xml" Id="R41cb64ef9659488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c0ae71214674d10" /><Relationship Type="http://schemas.openxmlformats.org/officeDocument/2006/relationships/notesMaster" Target="/ppt/notesMasters/notesMaster1.xml" Id="Rcd6df1d0e1ae4528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5411230dfae4d9c" /><Relationship Type="http://schemas.openxmlformats.org/officeDocument/2006/relationships/notesMaster" Target="/ppt/notesMasters/notesMaster1.xml" Id="Rd10fb7c32046415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7604046acbe4f8c" /><Relationship Type="http://schemas.openxmlformats.org/officeDocument/2006/relationships/notesMaster" Target="/ppt/notesMasters/notesMaster1.xml" Id="Rf6ad0ae462b04658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0f1597aa74f46bf" /><Relationship Type="http://schemas.openxmlformats.org/officeDocument/2006/relationships/notesMaster" Target="/ppt/notesMasters/notesMaster1.xml" Id="Rf4a1c5d2cf0449bc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0822942220f64ad7" /><Relationship Type="http://schemas.openxmlformats.org/officeDocument/2006/relationships/notesMaster" Target="/ppt/notesMasters/notesMaster1.xml" Id="R1302acf2497f47d4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d6c84f15af004f5e" /><Relationship Type="http://schemas.openxmlformats.org/officeDocument/2006/relationships/notesMaster" Target="/ppt/notesMasters/notesMaster1.xml" Id="Re24bb0f86ee74c7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0854f6bd24dd4bc8" /><Relationship Type="http://schemas.openxmlformats.org/officeDocument/2006/relationships/notesMaster" Target="/ppt/notesMasters/notesMaster1.xml" Id="R6268cb238daf4b77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9b1f15a04c64a81" /><Relationship Type="http://schemas.openxmlformats.org/officeDocument/2006/relationships/notesMaster" Target="/ppt/notesMasters/notesMaster1.xml" Id="Rb50993461d28462e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59fcab944f2e496b" /><Relationship Type="http://schemas.openxmlformats.org/officeDocument/2006/relationships/notesMaster" Target="/ppt/notesMasters/notesMaster1.xml" Id="R11568e6b31c344a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9a00f06a30cb4a4b" /><Relationship Type="http://schemas.openxmlformats.org/officeDocument/2006/relationships/notesMaster" Target="/ppt/notesMasters/notesMaster1.xml" Id="R193a09a2d04f47f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fb52f8ba2164975" /><Relationship Type="http://schemas.openxmlformats.org/officeDocument/2006/relationships/notesMaster" Target="/ppt/notesMasters/notesMaster1.xml" Id="Ra012528309fc4c8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966c6abea8134003" /><Relationship Type="http://schemas.openxmlformats.org/officeDocument/2006/relationships/notesMaster" Target="/ppt/notesMasters/notesMaster1.xml" Id="R7a70524e7fdd436a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e5844c0e1634deb" /><Relationship Type="http://schemas.openxmlformats.org/officeDocument/2006/relationships/notesMaster" Target="/ppt/notesMasters/notesMaster1.xml" Id="R4f33c1cd3bcd4e0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cb42bfa0bb4642bd" /><Relationship Type="http://schemas.openxmlformats.org/officeDocument/2006/relationships/notesMaster" Target="/ppt/notesMasters/notesMaster1.xml" Id="Rb158800e3b194787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58ce287085f74bbe" /><Relationship Type="http://schemas.openxmlformats.org/officeDocument/2006/relationships/notesMaster" Target="/ppt/notesMasters/notesMaster1.xml" Id="R51635d4d2d374d6e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18504f514664b47" /><Relationship Type="http://schemas.openxmlformats.org/officeDocument/2006/relationships/notesMaster" Target="/ppt/notesMasters/notesMaster1.xml" Id="Rd2d4b70109cb4ff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d6276eaaf624f2f" /><Relationship Type="http://schemas.openxmlformats.org/officeDocument/2006/relationships/notesMaster" Target="/ppt/notesMasters/notesMaster1.xml" Id="Rc3e78a879e684f57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9c929cdf17e4719" /><Relationship Type="http://schemas.openxmlformats.org/officeDocument/2006/relationships/notesMaster" Target="/ppt/notesMasters/notesMaster1.xml" Id="Rd5618a79d74b498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3a9c6480cc64066" /><Relationship Type="http://schemas.openxmlformats.org/officeDocument/2006/relationships/notesMaster" Target="/ppt/notesMasters/notesMaster1.xml" Id="Rbc7d0d1acda64096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f7ea177b9e048d1" /><Relationship Type="http://schemas.openxmlformats.org/officeDocument/2006/relationships/notesMaster" Target="/ppt/notesMasters/notesMaster1.xml" Id="R5964191df96348e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8968ea85b16e4ebd" /><Relationship Type="http://schemas.openxmlformats.org/officeDocument/2006/relationships/notesMaster" Target="/ppt/notesMasters/notesMaster1.xml" Id="Rbc130b1baad1402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51ca360a47d414c" /><Relationship Type="http://schemas.openxmlformats.org/officeDocument/2006/relationships/notesMaster" Target="/ppt/notesMasters/notesMaster1.xml" Id="R6d64717788a64ea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62562a90ace24b4f" /><Relationship Type="http://schemas.openxmlformats.org/officeDocument/2006/relationships/notesMaster" Target="/ppt/notesMasters/notesMaster1.xml" Id="Rb07f77c94608424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fe95fa6c494c49ea" /><Relationship Type="http://schemas.openxmlformats.org/officeDocument/2006/relationships/notesMaster" Target="/ppt/notesMasters/notesMaster1.xml" Id="R7d0f4c41ecc3482d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a2356659b18e421b" /><Relationship Type="http://schemas.openxmlformats.org/officeDocument/2006/relationships/notesMaster" Target="/ppt/notesMasters/notesMaster1.xml" Id="R81f2806c178c45f2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cf689c28458a4fb2" /><Relationship Type="http://schemas.openxmlformats.org/officeDocument/2006/relationships/notesMaster" Target="/ppt/notesMasters/notesMaster1.xml" Id="Rd5186f76561b441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05ec01fcf54b4b01" /><Relationship Type="http://schemas.openxmlformats.org/officeDocument/2006/relationships/notesMaster" Target="/ppt/notesMasters/notesMaster1.xml" Id="R5d4b567fe1df4ce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7e4a347063b346ba" /><Relationship Type="http://schemas.openxmlformats.org/officeDocument/2006/relationships/notesMaster" Target="/ppt/notesMasters/notesMaster1.xml" Id="R55bc725f4ef94625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a604d3a5b2574427" /><Relationship Type="http://schemas.openxmlformats.org/officeDocument/2006/relationships/notesMaster" Target="/ppt/notesMasters/notesMaster1.xml" Id="R56f0004f256f48f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2b1a90bd6edc4253" /><Relationship Type="http://schemas.openxmlformats.org/officeDocument/2006/relationships/notesMaster" Target="/ppt/notesMasters/notesMaster1.xml" Id="R6cd26614ac4e43e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0b1b4a2d5114393" /><Relationship Type="http://schemas.openxmlformats.org/officeDocument/2006/relationships/notesMaster" Target="/ppt/notesMasters/notesMaster1.xml" Id="Rd052392a2db649bc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220e39d705cd4f48" /><Relationship Type="http://schemas.openxmlformats.org/officeDocument/2006/relationships/notesMaster" Target="/ppt/notesMasters/notesMaster1.xml" Id="Rf52fd2ef5bcf4b9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49326b1698b4e8e" /><Relationship Type="http://schemas.openxmlformats.org/officeDocument/2006/relationships/notesMaster" Target="/ppt/notesMasters/notesMaster1.xml" Id="R8213a009b66d488d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14e3d77519a146f0" /><Relationship Type="http://schemas.openxmlformats.org/officeDocument/2006/relationships/notesMaster" Target="/ppt/notesMasters/notesMaster1.xml" Id="Rb1d013abda0e4c5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bf1e5fa35944e02" /><Relationship Type="http://schemas.openxmlformats.org/officeDocument/2006/relationships/notesMaster" Target="/ppt/notesMasters/notesMaster1.xml" Id="R6525d73be57047e3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bbf492698dfa40e5" /><Relationship Type="http://schemas.openxmlformats.org/officeDocument/2006/relationships/notesMaster" Target="/ppt/notesMasters/notesMaster1.xml" Id="R5ce1e5360e224cfc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94d5b865505349c1" /><Relationship Type="http://schemas.openxmlformats.org/officeDocument/2006/relationships/notesMaster" Target="/ppt/notesMasters/notesMaster1.xml" Id="R56c2c5f8ed4c4178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a89a8922426d45d6" /><Relationship Type="http://schemas.openxmlformats.org/officeDocument/2006/relationships/notesMaster" Target="/ppt/notesMasters/notesMaster1.xml" Id="R8ba69dc5b0ac40c0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93bb3cfa0b1445e" /><Relationship Type="http://schemas.openxmlformats.org/officeDocument/2006/relationships/notesMaster" Target="/ppt/notesMasters/notesMaster1.xml" Id="Rf042db640980414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a68824aff20c4557" /><Relationship Type="http://schemas.openxmlformats.org/officeDocument/2006/relationships/notesMaster" Target="/ppt/notesMasters/notesMaster1.xml" Id="R9c07a279d25844cd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4b9a60b36e504850" /><Relationship Type="http://schemas.openxmlformats.org/officeDocument/2006/relationships/notesMaster" Target="/ppt/notesMasters/notesMaster1.xml" Id="R67105c4cbf214b4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bae899e82a0471e" /><Relationship Type="http://schemas.openxmlformats.org/officeDocument/2006/relationships/notesMaster" Target="/ppt/notesMasters/notesMaster1.xml" Id="R00086cfc77b04a62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9b0ac3876b784bf7" /><Relationship Type="http://schemas.openxmlformats.org/officeDocument/2006/relationships/notesMaster" Target="/ppt/notesMasters/notesMaster1.xml" Id="Re8698015b4844567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6983f410709a4890" /><Relationship Type="http://schemas.openxmlformats.org/officeDocument/2006/relationships/notesMaster" Target="/ppt/notesMasters/notesMaster1.xml" Id="R3e4a4e326d86430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30efe665eda4127" /><Relationship Type="http://schemas.openxmlformats.org/officeDocument/2006/relationships/notesMaster" Target="/ppt/notesMasters/notesMaster1.xml" Id="Re2b12eab3f204b6a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389c46c4d66148f6" /><Relationship Type="http://schemas.openxmlformats.org/officeDocument/2006/relationships/notesMaster" Target="/ppt/notesMasters/notesMaster1.xml" Id="Rae69b28480e2451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515bf60c25fe44da" /><Relationship Type="http://schemas.openxmlformats.org/officeDocument/2006/relationships/notesMaster" Target="/ppt/notesMasters/notesMaster1.xml" Id="Rd6290b3ee4fa4214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ed1e74586f640d5" /><Relationship Type="http://schemas.openxmlformats.org/officeDocument/2006/relationships/notesMaster" Target="/ppt/notesMasters/notesMaster1.xml" Id="Red000befee7d44a8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389d2dd04a064660" /><Relationship Type="http://schemas.openxmlformats.org/officeDocument/2006/relationships/notesMaster" Target="/ppt/notesMasters/notesMaster1.xml" Id="R6a31c6c00af945bc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2f8633aab1d456e" /><Relationship Type="http://schemas.openxmlformats.org/officeDocument/2006/relationships/notesMaster" Target="/ppt/notesMasters/notesMaster1.xml" Id="Rdea62d6dc5cc4fd9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7585f82bf55c46ce" /><Relationship Type="http://schemas.openxmlformats.org/officeDocument/2006/relationships/notesMaster" Target="/ppt/notesMasters/notesMaster1.xml" Id="R2875be3e72e94fc0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882297c839714784" /><Relationship Type="http://schemas.openxmlformats.org/officeDocument/2006/relationships/notesMaster" Target="/ppt/notesMasters/notesMaster1.xml" Id="R2a2c1ed8539f4cc8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33c867bc01094b86" /><Relationship Type="http://schemas.openxmlformats.org/officeDocument/2006/relationships/notesMaster" Target="/ppt/notesMasters/notesMaster1.xml" Id="R9ad2df1bf528430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8ed2176a0ec04244" /><Relationship Type="http://schemas.openxmlformats.org/officeDocument/2006/relationships/notesMaster" Target="/ppt/notesMasters/notesMaster1.xml" Id="R4079531fa1a14505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89c158abbf7a4a4e" /><Relationship Type="http://schemas.openxmlformats.org/officeDocument/2006/relationships/notesMaster" Target="/ppt/notesMasters/notesMaster1.xml" Id="Re53f58007a4445f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0e545f11a19d41b9" /><Relationship Type="http://schemas.openxmlformats.org/officeDocument/2006/relationships/notesMaster" Target="/ppt/notesMasters/notesMaster1.xml" Id="Ra7fb0b364e744f44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d9d062d2f8a64628" /><Relationship Type="http://schemas.openxmlformats.org/officeDocument/2006/relationships/notesMaster" Target="/ppt/notesMasters/notesMaster1.xml" Id="R7550a44f1caa4a57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1b93ed47f80947a3" /><Relationship Type="http://schemas.openxmlformats.org/officeDocument/2006/relationships/notesMaster" Target="/ppt/notesMasters/notesMaster1.xml" Id="Rb09ceb84ae7b4cd9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29148462832471d" /><Relationship Type="http://schemas.openxmlformats.org/officeDocument/2006/relationships/notesMaster" Target="/ppt/notesMasters/notesMaster1.xml" Id="R08a317f4c811480b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cee9dfc67d104dcf" /><Relationship Type="http://schemas.openxmlformats.org/officeDocument/2006/relationships/notesMaster" Target="/ppt/notesMasters/notesMaster1.xml" Id="Rcc5d4987635b4174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c274781582384b89" /><Relationship Type="http://schemas.openxmlformats.org/officeDocument/2006/relationships/notesMaster" Target="/ppt/notesMasters/notesMaster1.xml" Id="Ra909e6ee0a4d4ed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4b79917c2534423e" /><Relationship Type="http://schemas.openxmlformats.org/officeDocument/2006/relationships/notesMaster" Target="/ppt/notesMasters/notesMaster1.xml" Id="R715497baf47541e4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b9575a270f55441a" /><Relationship Type="http://schemas.openxmlformats.org/officeDocument/2006/relationships/notesMaster" Target="/ppt/notesMasters/notesMaster1.xml" Id="R0b0ae6c69445496c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185d88d7c4634b60" /><Relationship Type="http://schemas.openxmlformats.org/officeDocument/2006/relationships/notesMaster" Target="/ppt/notesMasters/notesMaster1.xml" Id="R7c3fe7e88d3843e7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4c1d217414c4c3d" /><Relationship Type="http://schemas.openxmlformats.org/officeDocument/2006/relationships/notesMaster" Target="/ppt/notesMasters/notesMaster1.xml" Id="Re8ea16e696054906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d063ca4767e44026" /><Relationship Type="http://schemas.openxmlformats.org/officeDocument/2006/relationships/notesMaster" Target="/ppt/notesMasters/notesMaster1.xml" Id="R1af7ec0413e84c3d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6ff562a016ab48cf" /><Relationship Type="http://schemas.openxmlformats.org/officeDocument/2006/relationships/notesMaster" Target="/ppt/notesMasters/notesMaster1.xml" Id="R53ca1786ee254fff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6a4660139bf44977" /><Relationship Type="http://schemas.openxmlformats.org/officeDocument/2006/relationships/notesMaster" Target="/ppt/notesMasters/notesMaster1.xml" Id="Rf8ee7fa40a85419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e6fc38863bf84fef" /><Relationship Type="http://schemas.openxmlformats.org/officeDocument/2006/relationships/notesMaster" Target="/ppt/notesMasters/notesMaster1.xml" Id="R9430d4cf42bb40f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003f63b7c8744b13" /><Relationship Type="http://schemas.openxmlformats.org/officeDocument/2006/relationships/notesMaster" Target="/ppt/notesMasters/notesMaster1.xml" Id="R4862a4036dc2486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2444283a9c404ee9" /><Relationship Type="http://schemas.openxmlformats.org/officeDocument/2006/relationships/notesMaster" Target="/ppt/notesMasters/notesMaster1.xml" Id="Rf7d715f05272418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b94ee5287e4408c" /><Relationship Type="http://schemas.openxmlformats.org/officeDocument/2006/relationships/notesMaster" Target="/ppt/notesMasters/notesMaster1.xml" Id="Rc8ce5e161f7f4716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534f17349e09474a" /><Relationship Type="http://schemas.openxmlformats.org/officeDocument/2006/relationships/notesMaster" Target="/ppt/notesMasters/notesMaster1.xml" Id="R16e6d95151a1402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a285e7f8e45441ee" /><Relationship Type="http://schemas.openxmlformats.org/officeDocument/2006/relationships/notesMaster" Target="/ppt/notesMasters/notesMaster1.xml" Id="Rd0b3c6aa3e1e4207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50f1fe45f9540e1" /><Relationship Type="http://schemas.openxmlformats.org/officeDocument/2006/relationships/notesMaster" Target="/ppt/notesMasters/notesMaster1.xml" Id="R8c1e03d2cf044dde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2e99ab921daf4016" /><Relationship Type="http://schemas.openxmlformats.org/officeDocument/2006/relationships/notesMaster" Target="/ppt/notesMasters/notesMaster1.xml" Id="Re2d5c38969104599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16f2c41c22b8433d" /><Relationship Type="http://schemas.openxmlformats.org/officeDocument/2006/relationships/notesMaster" Target="/ppt/notesMasters/notesMaster1.xml" Id="R147fc9ad32a043ec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c8c4c26484bf4ec6" /><Relationship Type="http://schemas.openxmlformats.org/officeDocument/2006/relationships/notesMaster" Target="/ppt/notesMasters/notesMaster1.xml" Id="R14379cd3a2004f0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30fbae2c5f064528" /><Relationship Type="http://schemas.openxmlformats.org/officeDocument/2006/relationships/notesMaster" Target="/ppt/notesMasters/notesMaster1.xml" Id="Rdec3c7f66bf64f24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bf1ad68ca34e447e" /><Relationship Type="http://schemas.openxmlformats.org/officeDocument/2006/relationships/notesMaster" Target="/ppt/notesMasters/notesMaster1.xml" Id="R8294914a7ee64eb3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bb29c9c88eb44fb1" /><Relationship Type="http://schemas.openxmlformats.org/officeDocument/2006/relationships/notesMaster" Target="/ppt/notesMasters/notesMaster1.xml" Id="R4e3f4a533b494bed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54212de28f4a4e1a" /><Relationship Type="http://schemas.openxmlformats.org/officeDocument/2006/relationships/notesMaster" Target="/ppt/notesMasters/notesMaster1.xml" Id="R88d5dc98e5df4da6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a18cfaeb2fbb4fc8" /><Relationship Type="http://schemas.openxmlformats.org/officeDocument/2006/relationships/notesMaster" Target="/ppt/notesMasters/notesMaster1.xml" Id="R48217ea6eaae4bca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3e99a802e5a54dbf" /><Relationship Type="http://schemas.openxmlformats.org/officeDocument/2006/relationships/notesMaster" Target="/ppt/notesMasters/notesMaster1.xml" Id="R126e9d25c687438a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fb692c77487b41d8" /><Relationship Type="http://schemas.openxmlformats.org/officeDocument/2006/relationships/notesMaster" Target="/ppt/notesMasters/notesMaster1.xml" Id="Rdda2e352973a42b6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049610e913604a98" /><Relationship Type="http://schemas.openxmlformats.org/officeDocument/2006/relationships/notesMaster" Target="/ppt/notesMasters/notesMaster1.xml" Id="R28c8210c84c64976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09b84a0dc8d54d1c" /><Relationship Type="http://schemas.openxmlformats.org/officeDocument/2006/relationships/notesMaster" Target="/ppt/notesMasters/notesMaster1.xml" Id="R13b77013a9cc46c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452cfbe0f33e4f97" /><Relationship Type="http://schemas.openxmlformats.org/officeDocument/2006/relationships/notesMaster" Target="/ppt/notesMasters/notesMaster1.xml" Id="Ra0926f7f88e64e42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e43e7982e8954843" /><Relationship Type="http://schemas.openxmlformats.org/officeDocument/2006/relationships/notesMaster" Target="/ppt/notesMasters/notesMaster1.xml" Id="R1acd30de2f8646ec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b47d099387c646f1" /><Relationship Type="http://schemas.openxmlformats.org/officeDocument/2006/relationships/notesMaster" Target="/ppt/notesMasters/notesMaster1.xml" Id="R691418d2a6f349f4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448bf64ebb0438b" /><Relationship Type="http://schemas.openxmlformats.org/officeDocument/2006/relationships/notesMaster" Target="/ppt/notesMasters/notesMaster1.xml" Id="R39d0b7fd408d47db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a4f649d121074bcb" /><Relationship Type="http://schemas.openxmlformats.org/officeDocument/2006/relationships/notesMaster" Target="/ppt/notesMasters/notesMaster1.xml" Id="Rca298cf265154bb1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dd182062aa448a5" /><Relationship Type="http://schemas.openxmlformats.org/officeDocument/2006/relationships/notesMaster" Target="/ppt/notesMasters/notesMaster1.xml" Id="R73c9c4474a6b43d4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1f7f4a275a2f46f6" /><Relationship Type="http://schemas.openxmlformats.org/officeDocument/2006/relationships/notesMaster" Target="/ppt/notesMasters/notesMaster1.xml" Id="Rcf98e02217484498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42bd070add3b4ba8" /><Relationship Type="http://schemas.openxmlformats.org/officeDocument/2006/relationships/notesMaster" Target="/ppt/notesMasters/notesMaster1.xml" Id="Rab1ef264fba046f7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50a81320b9c4503" /><Relationship Type="http://schemas.openxmlformats.org/officeDocument/2006/relationships/notesMaster" Target="/ppt/notesMasters/notesMaster1.xml" Id="R8db284cf15064f73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5d03e86c28cd4028" /><Relationship Type="http://schemas.openxmlformats.org/officeDocument/2006/relationships/notesMaster" Target="/ppt/notesMasters/notesMaster1.xml" Id="R7c7ceb5a81e14dbe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298bef8df30a40ef" /><Relationship Type="http://schemas.openxmlformats.org/officeDocument/2006/relationships/notesMaster" Target="/ppt/notesMasters/notesMaster1.xml" Id="Rb87ba7c4a5434be2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62a531ecc72f4275" /><Relationship Type="http://schemas.openxmlformats.org/officeDocument/2006/relationships/notesMaster" Target="/ppt/notesMasters/notesMaster1.xml" Id="Ra2f21eab3d494498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9ab4e962518f4c27" /><Relationship Type="http://schemas.openxmlformats.org/officeDocument/2006/relationships/notesMaster" Target="/ppt/notesMasters/notesMaster1.xml" Id="R6f181ab90e004d3c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92f0acf45e5742e5" /><Relationship Type="http://schemas.openxmlformats.org/officeDocument/2006/relationships/notesMaster" Target="/ppt/notesMasters/notesMaster1.xml" Id="R5f4f498f420e445e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bb882614c7f14ed0" /><Relationship Type="http://schemas.openxmlformats.org/officeDocument/2006/relationships/notesMaster" Target="/ppt/notesMasters/notesMaster1.xml" Id="R9aef4ed75abe4115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fbbf8187c4214042" /><Relationship Type="http://schemas.openxmlformats.org/officeDocument/2006/relationships/notesMaster" Target="/ppt/notesMasters/notesMaster1.xml" Id="R131fd44eb78a4734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1469da4a2db8475d" /><Relationship Type="http://schemas.openxmlformats.org/officeDocument/2006/relationships/notesMaster" Target="/ppt/notesMasters/notesMaster1.xml" Id="Rda2cf7bcfb0d457b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1a685a3d32ab46d5" /><Relationship Type="http://schemas.openxmlformats.org/officeDocument/2006/relationships/notesMaster" Target="/ppt/notesMasters/notesMaster1.xml" Id="Ra2e8367b1d8b4bd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e156005b95b246cb" /><Relationship Type="http://schemas.openxmlformats.org/officeDocument/2006/relationships/notesMaster" Target="/ppt/notesMasters/notesMaster1.xml" Id="R926b54c22ce94cac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0feedec5dbd94f69" /><Relationship Type="http://schemas.openxmlformats.org/officeDocument/2006/relationships/notesMaster" Target="/ppt/notesMasters/notesMaster1.xml" Id="R61929a0f46cb4823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2b20701b088e49a9" /><Relationship Type="http://schemas.openxmlformats.org/officeDocument/2006/relationships/notesMaster" Target="/ppt/notesMasters/notesMaster1.xml" Id="Rfca30ce9e0b54c03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8d4a847de5f84280" /><Relationship Type="http://schemas.openxmlformats.org/officeDocument/2006/relationships/notesMaster" Target="/ppt/notesMasters/notesMaster1.xml" Id="Ra19ef97c3b1845af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8d92bbb2dcc641dc" /><Relationship Type="http://schemas.openxmlformats.org/officeDocument/2006/relationships/notesMaster" Target="/ppt/notesMasters/notesMaster1.xml" Id="R09c78cf08f344464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1ada3b6a49c44ae5" /><Relationship Type="http://schemas.openxmlformats.org/officeDocument/2006/relationships/notesMaster" Target="/ppt/notesMasters/notesMaster1.xml" Id="Ra3d4c3b4bf1247b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207a1045083642dd" /><Relationship Type="http://schemas.openxmlformats.org/officeDocument/2006/relationships/notesMaster" Target="/ppt/notesMasters/notesMaster1.xml" Id="R7f8cacdb84ea4a8b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7284fe3562be4754" /><Relationship Type="http://schemas.openxmlformats.org/officeDocument/2006/relationships/notesMaster" Target="/ppt/notesMasters/notesMaster1.xml" Id="Rf7430295e24a482a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b4acaf1691fd4b26" /><Relationship Type="http://schemas.openxmlformats.org/officeDocument/2006/relationships/notesMaster" Target="/ppt/notesMasters/notesMaster1.xml" Id="R3bb81afb0f7845b7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db02073743d441c" /><Relationship Type="http://schemas.openxmlformats.org/officeDocument/2006/relationships/notesMaster" Target="/ppt/notesMasters/notesMaster1.xml" Id="R0c313bd6db424f17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a74aec4417e5453a" /><Relationship Type="http://schemas.openxmlformats.org/officeDocument/2006/relationships/notesMaster" Target="/ppt/notesMasters/notesMaster1.xml" Id="Rbc0e16b86198476f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54444638a9be4c01" /><Relationship Type="http://schemas.openxmlformats.org/officeDocument/2006/relationships/notesMaster" Target="/ppt/notesMasters/notesMaster1.xml" Id="Rb8c5663a61ab4cd7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3b041d58df51404f" /><Relationship Type="http://schemas.openxmlformats.org/officeDocument/2006/relationships/notesMaster" Target="/ppt/notesMasters/notesMaster1.xml" Id="R38877635aaac4fe7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6a8603e89b64492e" /><Relationship Type="http://schemas.openxmlformats.org/officeDocument/2006/relationships/notesMaster" Target="/ppt/notesMasters/notesMaster1.xml" Id="Ra29e8697d4684432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06cf60dac0ea4467" /><Relationship Type="http://schemas.openxmlformats.org/officeDocument/2006/relationships/notesMaster" Target="/ppt/notesMasters/notesMaster1.xml" Id="R66c33a90bd3a4d4a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021c63f41bff4044" /><Relationship Type="http://schemas.openxmlformats.org/officeDocument/2006/relationships/notesMaster" Target="/ppt/notesMasters/notesMaster1.xml" Id="Rd77279f2e3844512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faca7c751f7741c3" /><Relationship Type="http://schemas.openxmlformats.org/officeDocument/2006/relationships/notesMaster" Target="/ppt/notesMasters/notesMaster1.xml" Id="R57e1bea2455b4133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dfeba619a3ce4de8" /><Relationship Type="http://schemas.openxmlformats.org/officeDocument/2006/relationships/notesMaster" Target="/ppt/notesMasters/notesMaster1.xml" Id="Ref41eb1ee7d94769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cbf98f8204ee4958" /><Relationship Type="http://schemas.openxmlformats.org/officeDocument/2006/relationships/notesMaster" Target="/ppt/notesMasters/notesMaster1.xml" Id="R296a6d437c344dfa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b7bfd461445243a6" /><Relationship Type="http://schemas.openxmlformats.org/officeDocument/2006/relationships/notesMaster" Target="/ppt/notesMasters/notesMaster1.xml" Id="R20992eb597914b03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8f628b0226cd49d5" /><Relationship Type="http://schemas.openxmlformats.org/officeDocument/2006/relationships/notesMaster" Target="/ppt/notesMasters/notesMaster1.xml" Id="R377943d24f9c4288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6eccb4f8daef40fb" /><Relationship Type="http://schemas.openxmlformats.org/officeDocument/2006/relationships/notesMaster" Target="/ppt/notesMasters/notesMaster1.xml" Id="Rd9cf885aee78490d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d7a99bf676914775" /><Relationship Type="http://schemas.openxmlformats.org/officeDocument/2006/relationships/notesMaster" Target="/ppt/notesMasters/notesMaster1.xml" Id="R8e32007ef60b42db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08fd7aaa550944c4" /><Relationship Type="http://schemas.openxmlformats.org/officeDocument/2006/relationships/notesMaster" Target="/ppt/notesMasters/notesMaster1.xml" Id="Refda9ee7c0bf4e9f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ab3c230a0712475b" /><Relationship Type="http://schemas.openxmlformats.org/officeDocument/2006/relationships/notesMaster" Target="/ppt/notesMasters/notesMaster1.xml" Id="R2cf44659e1634a14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4341e439771f4810" /><Relationship Type="http://schemas.openxmlformats.org/officeDocument/2006/relationships/notesMaster" Target="/ppt/notesMasters/notesMaster1.xml" Id="R8a46e34be7864f78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52fdb34ba63d429a" /><Relationship Type="http://schemas.openxmlformats.org/officeDocument/2006/relationships/notesMaster" Target="/ppt/notesMasters/notesMaster1.xml" Id="R2b37939b02e6468d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82d4aa203acd4049" /><Relationship Type="http://schemas.openxmlformats.org/officeDocument/2006/relationships/notesMaster" Target="/ppt/notesMasters/notesMaster1.xml" Id="R092031a1977c441c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e95aecd2f9d0499e" /><Relationship Type="http://schemas.openxmlformats.org/officeDocument/2006/relationships/notesMaster" Target="/ppt/notesMasters/notesMaster1.xml" Id="R2aadd67318444c43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3db92e0ff5a44c82" /><Relationship Type="http://schemas.openxmlformats.org/officeDocument/2006/relationships/notesMaster" Target="/ppt/notesMasters/notesMaster1.xml" Id="R96f5cc9a3ebb4447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775c367345fe4089" /><Relationship Type="http://schemas.openxmlformats.org/officeDocument/2006/relationships/notesMaster" Target="/ppt/notesMasters/notesMaster1.xml" Id="R936572e9f79249b8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c576a3b4bf2a4cff" /><Relationship Type="http://schemas.openxmlformats.org/officeDocument/2006/relationships/notesMaster" Target="/ppt/notesMasters/notesMaster1.xml" Id="R82a0e080697e4488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b3d1f3a49eb940d8" /><Relationship Type="http://schemas.openxmlformats.org/officeDocument/2006/relationships/notesMaster" Target="/ppt/notesMasters/notesMaster1.xml" Id="Red8884662bfc4ea1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f834ae0baad247ac" /><Relationship Type="http://schemas.openxmlformats.org/officeDocument/2006/relationships/notesMaster" Target="/ppt/notesMasters/notesMaster1.xml" Id="R0cd453c21f5f49d4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624f2e3040bc481d" /><Relationship Type="http://schemas.openxmlformats.org/officeDocument/2006/relationships/notesMaster" Target="/ppt/notesMasters/notesMaster1.xml" Id="R63e77ad17ead40e1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fc83962fc97a4343" /><Relationship Type="http://schemas.openxmlformats.org/officeDocument/2006/relationships/notesMaster" Target="/ppt/notesMasters/notesMaster1.xml" Id="R55297bc300194f1f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f5356656ec1446fd" /><Relationship Type="http://schemas.openxmlformats.org/officeDocument/2006/relationships/notesMaster" Target="/ppt/notesMasters/notesMaster1.xml" Id="R361deef140d24b6c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97f31d1d93724b7a" /><Relationship Type="http://schemas.openxmlformats.org/officeDocument/2006/relationships/notesMaster" Target="/ppt/notesMasters/notesMaster1.xml" Id="Ra394f90876074450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61d0f98419bb498a" /><Relationship Type="http://schemas.openxmlformats.org/officeDocument/2006/relationships/notesMaster" Target="/ppt/notesMasters/notesMaster1.xml" Id="R5e2a20851b824fcb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e4822999bb9e43f9" /><Relationship Type="http://schemas.openxmlformats.org/officeDocument/2006/relationships/notesMaster" Target="/ppt/notesMasters/notesMaster1.xml" Id="R9f6df904789f4730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a04cd78802fa4679" /><Relationship Type="http://schemas.openxmlformats.org/officeDocument/2006/relationships/notesMaster" Target="/ppt/notesMasters/notesMaster1.xml" Id="R40df1443db5547c5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66b4092ebc8d4bee" /><Relationship Type="http://schemas.openxmlformats.org/officeDocument/2006/relationships/notesMaster" Target="/ppt/notesMasters/notesMaster1.xml" Id="R40fb1ea642d3463e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e2da475006b64d37" /><Relationship Type="http://schemas.openxmlformats.org/officeDocument/2006/relationships/notesMaster" Target="/ppt/notesMasters/notesMaster1.xml" Id="R6b529d6a722f4e51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3cf2e767ce1947af" /><Relationship Type="http://schemas.openxmlformats.org/officeDocument/2006/relationships/notesMaster" Target="/ppt/notesMasters/notesMaster1.xml" Id="R2ce8cb34167b471d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f63acb8e01f249d2" /><Relationship Type="http://schemas.openxmlformats.org/officeDocument/2006/relationships/notesMaster" Target="/ppt/notesMasters/notesMaster1.xml" Id="R71596540288c4d61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df0f84677a743f0" /><Relationship Type="http://schemas.openxmlformats.org/officeDocument/2006/relationships/notesMaster" Target="/ppt/notesMasters/notesMaster1.xml" Id="R429090824a8a4310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9c244f41a8404cce" /><Relationship Type="http://schemas.openxmlformats.org/officeDocument/2006/relationships/notesMaster" Target="/ppt/notesMasters/notesMaster1.xml" Id="R0f4265565732488b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0937f2bd6ecb4e6d" /><Relationship Type="http://schemas.openxmlformats.org/officeDocument/2006/relationships/notesMaster" Target="/ppt/notesMasters/notesMaster1.xml" Id="Rfe6ba1e8c8c449d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e0813a216f6b42bc" /><Relationship Type="http://schemas.openxmlformats.org/officeDocument/2006/relationships/notesMaster" Target="/ppt/notesMasters/notesMaster1.xml" Id="R8332349acecc4241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9458b275be6f4979" /><Relationship Type="http://schemas.openxmlformats.org/officeDocument/2006/relationships/notesMaster" Target="/ppt/notesMasters/notesMaster1.xml" Id="R0c0da77ca56f4592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2571738e2b254188" /><Relationship Type="http://schemas.openxmlformats.org/officeDocument/2006/relationships/notesMaster" Target="/ppt/notesMasters/notesMaster1.xml" Id="R1939dab090e84796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40a7279fbeda49f8" /><Relationship Type="http://schemas.openxmlformats.org/officeDocument/2006/relationships/notesMaster" Target="/ppt/notesMasters/notesMaster1.xml" Id="Rc9ad18f7006e4ec0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ec0d835dfff64b18" /><Relationship Type="http://schemas.openxmlformats.org/officeDocument/2006/relationships/notesMaster" Target="/ppt/notesMasters/notesMaster1.xml" Id="R2b72199f38d9406c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7606e46d5f5646cd" /><Relationship Type="http://schemas.openxmlformats.org/officeDocument/2006/relationships/notesMaster" Target="/ppt/notesMasters/notesMaster1.xml" Id="R40ad5e21badc4f43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39275363288f48e8" /><Relationship Type="http://schemas.openxmlformats.org/officeDocument/2006/relationships/notesMaster" Target="/ppt/notesMasters/notesMaster1.xml" Id="Rd8df38be8c9a4a13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2a66204306814ca0" /><Relationship Type="http://schemas.openxmlformats.org/officeDocument/2006/relationships/notesMaster" Target="/ppt/notesMasters/notesMaster1.xml" Id="Rcf528d0ca1974888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ad6e470df169412d" /><Relationship Type="http://schemas.openxmlformats.org/officeDocument/2006/relationships/notesMaster" Target="/ppt/notesMasters/notesMaster1.xml" Id="Ra21410b092994ece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bc1c18d24c1a4ef3" /><Relationship Type="http://schemas.openxmlformats.org/officeDocument/2006/relationships/notesMaster" Target="/ppt/notesMasters/notesMaster1.xml" Id="Ra16f9f5dd0a245b9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150b9a8cbb064114" /><Relationship Type="http://schemas.openxmlformats.org/officeDocument/2006/relationships/notesMaster" Target="/ppt/notesMasters/notesMaster1.xml" Id="R1954bf16514643b6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633ec7c5ef1d4ac9" /><Relationship Type="http://schemas.openxmlformats.org/officeDocument/2006/relationships/notesMaster" Target="/ppt/notesMasters/notesMaster1.xml" Id="R4eb92ab0e8b24e20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89273e4b83a54253" /><Relationship Type="http://schemas.openxmlformats.org/officeDocument/2006/relationships/notesMaster" Target="/ppt/notesMasters/notesMaster1.xml" Id="R7db16ff63b554eea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5023a02e481846d7" /><Relationship Type="http://schemas.openxmlformats.org/officeDocument/2006/relationships/notesMaster" Target="/ppt/notesMasters/notesMaster1.xml" Id="R62ec366d10f24ee6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d71a3550fc38431b" /><Relationship Type="http://schemas.openxmlformats.org/officeDocument/2006/relationships/notesMaster" Target="/ppt/notesMasters/notesMaster1.xml" Id="R1f66dd9d70864f2c" /></Relationships>
</file>

<file path=ppt/notesSlides/_rels/notesSlide241.xml.rels>&#65279;<?xml version="1.0" encoding="utf-8"?><Relationships xmlns="http://schemas.openxmlformats.org/package/2006/relationships"><Relationship Type="http://schemas.openxmlformats.org/officeDocument/2006/relationships/slide" Target="/ppt/slides/slide241.xml" Id="R6b4e67557efe43c9" /><Relationship Type="http://schemas.openxmlformats.org/officeDocument/2006/relationships/notesMaster" Target="/ppt/notesMasters/notesMaster1.xml" Id="Ra780df276e7d4954" /></Relationships>
</file>

<file path=ppt/notesSlides/_rels/notesSlide242.xml.rels>&#65279;<?xml version="1.0" encoding="utf-8"?><Relationships xmlns="http://schemas.openxmlformats.org/package/2006/relationships"><Relationship Type="http://schemas.openxmlformats.org/officeDocument/2006/relationships/slide" Target="/ppt/slides/slide242.xml" Id="Rb303225c884840a7" /><Relationship Type="http://schemas.openxmlformats.org/officeDocument/2006/relationships/notesMaster" Target="/ppt/notesMasters/notesMaster1.xml" Id="R7edaa1fed1d94128" /></Relationships>
</file>

<file path=ppt/notesSlides/_rels/notesSlide243.xml.rels>&#65279;<?xml version="1.0" encoding="utf-8"?><Relationships xmlns="http://schemas.openxmlformats.org/package/2006/relationships"><Relationship Type="http://schemas.openxmlformats.org/officeDocument/2006/relationships/slide" Target="/ppt/slides/slide243.xml" Id="R44ce64a2274f4475" /><Relationship Type="http://schemas.openxmlformats.org/officeDocument/2006/relationships/notesMaster" Target="/ppt/notesMasters/notesMaster1.xml" Id="Rac9547d550434da4" /></Relationships>
</file>

<file path=ppt/notesSlides/_rels/notesSlide244.xml.rels>&#65279;<?xml version="1.0" encoding="utf-8"?><Relationships xmlns="http://schemas.openxmlformats.org/package/2006/relationships"><Relationship Type="http://schemas.openxmlformats.org/officeDocument/2006/relationships/slide" Target="/ppt/slides/slide244.xml" Id="Rde9f614846334556" /><Relationship Type="http://schemas.openxmlformats.org/officeDocument/2006/relationships/notesMaster" Target="/ppt/notesMasters/notesMaster1.xml" Id="R638c6ce3515f482f" /></Relationships>
</file>

<file path=ppt/notesSlides/_rels/notesSlide245.xml.rels>&#65279;<?xml version="1.0" encoding="utf-8"?><Relationships xmlns="http://schemas.openxmlformats.org/package/2006/relationships"><Relationship Type="http://schemas.openxmlformats.org/officeDocument/2006/relationships/slide" Target="/ppt/slides/slide245.xml" Id="R5ba8c50c2fa44e9b" /><Relationship Type="http://schemas.openxmlformats.org/officeDocument/2006/relationships/notesMaster" Target="/ppt/notesMasters/notesMaster1.xml" Id="R34bb5bfaebb64bb9" /></Relationships>
</file>

<file path=ppt/notesSlides/_rels/notesSlide246.xml.rels>&#65279;<?xml version="1.0" encoding="utf-8"?><Relationships xmlns="http://schemas.openxmlformats.org/package/2006/relationships"><Relationship Type="http://schemas.openxmlformats.org/officeDocument/2006/relationships/slide" Target="/ppt/slides/slide246.xml" Id="R3e0ae0ead9cc4d31" /><Relationship Type="http://schemas.openxmlformats.org/officeDocument/2006/relationships/notesMaster" Target="/ppt/notesMasters/notesMaster1.xml" Id="R69eebb3eb0324d4b" /></Relationships>
</file>

<file path=ppt/notesSlides/_rels/notesSlide247.xml.rels>&#65279;<?xml version="1.0" encoding="utf-8"?><Relationships xmlns="http://schemas.openxmlformats.org/package/2006/relationships"><Relationship Type="http://schemas.openxmlformats.org/officeDocument/2006/relationships/slide" Target="/ppt/slides/slide247.xml" Id="Rce2843ffe3724727" /><Relationship Type="http://schemas.openxmlformats.org/officeDocument/2006/relationships/notesMaster" Target="/ppt/notesMasters/notesMaster1.xml" Id="R54264cb4e3d94d12" /></Relationships>
</file>

<file path=ppt/notesSlides/_rels/notesSlide248.xml.rels>&#65279;<?xml version="1.0" encoding="utf-8"?><Relationships xmlns="http://schemas.openxmlformats.org/package/2006/relationships"><Relationship Type="http://schemas.openxmlformats.org/officeDocument/2006/relationships/slide" Target="/ppt/slides/slide248.xml" Id="Ra7574aba37514b2d" /><Relationship Type="http://schemas.openxmlformats.org/officeDocument/2006/relationships/notesMaster" Target="/ppt/notesMasters/notesMaster1.xml" Id="R495ea5408de44d46" /></Relationships>
</file>

<file path=ppt/notesSlides/_rels/notesSlide249.xml.rels>&#65279;<?xml version="1.0" encoding="utf-8"?><Relationships xmlns="http://schemas.openxmlformats.org/package/2006/relationships"><Relationship Type="http://schemas.openxmlformats.org/officeDocument/2006/relationships/slide" Target="/ppt/slides/slide249.xml" Id="Rfbc4de0ba67941a4" /><Relationship Type="http://schemas.openxmlformats.org/officeDocument/2006/relationships/notesMaster" Target="/ppt/notesMasters/notesMaster1.xml" Id="Rbf8ac8994b9a4bfd" /></Relationships>
</file>

<file path=ppt/notesSlides/_rels/notesSlide250.xml.rels>&#65279;<?xml version="1.0" encoding="utf-8"?><Relationships xmlns="http://schemas.openxmlformats.org/package/2006/relationships"><Relationship Type="http://schemas.openxmlformats.org/officeDocument/2006/relationships/slide" Target="/ppt/slides/slide250.xml" Id="Rd920c0d3480d4908" /><Relationship Type="http://schemas.openxmlformats.org/officeDocument/2006/relationships/notesMaster" Target="/ppt/notesMasters/notesMaster1.xml" Id="Rb0a61d04a9a2477e" /></Relationships>
</file>

<file path=ppt/notesSlides/_rels/notesSlide251.xml.rels>&#65279;<?xml version="1.0" encoding="utf-8"?><Relationships xmlns="http://schemas.openxmlformats.org/package/2006/relationships"><Relationship Type="http://schemas.openxmlformats.org/officeDocument/2006/relationships/slide" Target="/ppt/slides/slide251.xml" Id="Refebef0fa04a4568" /><Relationship Type="http://schemas.openxmlformats.org/officeDocument/2006/relationships/notesMaster" Target="/ppt/notesMasters/notesMaster1.xml" Id="R31f5f9b4b6924ee0" /></Relationships>
</file>

<file path=ppt/notesSlides/_rels/notesSlide252.xml.rels>&#65279;<?xml version="1.0" encoding="utf-8"?><Relationships xmlns="http://schemas.openxmlformats.org/package/2006/relationships"><Relationship Type="http://schemas.openxmlformats.org/officeDocument/2006/relationships/slide" Target="/ppt/slides/slide252.xml" Id="Rfd4c6d6548bd4186" /><Relationship Type="http://schemas.openxmlformats.org/officeDocument/2006/relationships/notesMaster" Target="/ppt/notesMasters/notesMaster1.xml" Id="Rb60c1c05e9194178" /></Relationships>
</file>

<file path=ppt/notesSlides/_rels/notesSlide253.xml.rels>&#65279;<?xml version="1.0" encoding="utf-8"?><Relationships xmlns="http://schemas.openxmlformats.org/package/2006/relationships"><Relationship Type="http://schemas.openxmlformats.org/officeDocument/2006/relationships/slide" Target="/ppt/slides/slide253.xml" Id="Reeba031b4abc41cc" /><Relationship Type="http://schemas.openxmlformats.org/officeDocument/2006/relationships/notesMaster" Target="/ppt/notesMasters/notesMaster1.xml" Id="R19297ccc64aa4041" /></Relationships>
</file>

<file path=ppt/notesSlides/_rels/notesSlide254.xml.rels>&#65279;<?xml version="1.0" encoding="utf-8"?><Relationships xmlns="http://schemas.openxmlformats.org/package/2006/relationships"><Relationship Type="http://schemas.openxmlformats.org/officeDocument/2006/relationships/slide" Target="/ppt/slides/slide254.xml" Id="Rf2c64c70a3e7499c" /><Relationship Type="http://schemas.openxmlformats.org/officeDocument/2006/relationships/notesMaster" Target="/ppt/notesMasters/notesMaster1.xml" Id="Re42a9899d5cd467f" /></Relationships>
</file>

<file path=ppt/notesSlides/_rels/notesSlide255.xml.rels>&#65279;<?xml version="1.0" encoding="utf-8"?><Relationships xmlns="http://schemas.openxmlformats.org/package/2006/relationships"><Relationship Type="http://schemas.openxmlformats.org/officeDocument/2006/relationships/slide" Target="/ppt/slides/slide255.xml" Id="R723af02890944710" /><Relationship Type="http://schemas.openxmlformats.org/officeDocument/2006/relationships/notesMaster" Target="/ppt/notesMasters/notesMaster1.xml" Id="R1a873eb0bac64763" /></Relationships>
</file>

<file path=ppt/notesSlides/_rels/notesSlide256.xml.rels>&#65279;<?xml version="1.0" encoding="utf-8"?><Relationships xmlns="http://schemas.openxmlformats.org/package/2006/relationships"><Relationship Type="http://schemas.openxmlformats.org/officeDocument/2006/relationships/slide" Target="/ppt/slides/slide256.xml" Id="Rdf949f26d0494a92" /><Relationship Type="http://schemas.openxmlformats.org/officeDocument/2006/relationships/notesMaster" Target="/ppt/notesMasters/notesMaster1.xml" Id="Rfc25cc55f3ab4abd" /></Relationships>
</file>

<file path=ppt/notesSlides/_rels/notesSlide257.xml.rels>&#65279;<?xml version="1.0" encoding="utf-8"?><Relationships xmlns="http://schemas.openxmlformats.org/package/2006/relationships"><Relationship Type="http://schemas.openxmlformats.org/officeDocument/2006/relationships/slide" Target="/ppt/slides/slide257.xml" Id="R60af6cf98e2b4a0d" /><Relationship Type="http://schemas.openxmlformats.org/officeDocument/2006/relationships/notesMaster" Target="/ppt/notesMasters/notesMaster1.xml" Id="R90459595804448c9" /></Relationships>
</file>

<file path=ppt/notesSlides/_rels/notesSlide258.xml.rels>&#65279;<?xml version="1.0" encoding="utf-8"?><Relationships xmlns="http://schemas.openxmlformats.org/package/2006/relationships"><Relationship Type="http://schemas.openxmlformats.org/officeDocument/2006/relationships/slide" Target="/ppt/slides/slide258.xml" Id="R79449b1c74954393" /><Relationship Type="http://schemas.openxmlformats.org/officeDocument/2006/relationships/notesMaster" Target="/ppt/notesMasters/notesMaster1.xml" Id="R8760950cd1934afe" /></Relationships>
</file>

<file path=ppt/notesSlides/_rels/notesSlide259.xml.rels>&#65279;<?xml version="1.0" encoding="utf-8"?><Relationships xmlns="http://schemas.openxmlformats.org/package/2006/relationships"><Relationship Type="http://schemas.openxmlformats.org/officeDocument/2006/relationships/slide" Target="/ppt/slides/slide259.xml" Id="Re355d64d337149f2" /><Relationship Type="http://schemas.openxmlformats.org/officeDocument/2006/relationships/notesMaster" Target="/ppt/notesMasters/notesMaster1.xml" Id="Rf56da87c08894207" /></Relationships>
</file>

<file path=ppt/notesSlides/_rels/notesSlide260.xml.rels>&#65279;<?xml version="1.0" encoding="utf-8"?><Relationships xmlns="http://schemas.openxmlformats.org/package/2006/relationships"><Relationship Type="http://schemas.openxmlformats.org/officeDocument/2006/relationships/slide" Target="/ppt/slides/slide260.xml" Id="R4ec01b53283f4de0" /><Relationship Type="http://schemas.openxmlformats.org/officeDocument/2006/relationships/notesMaster" Target="/ppt/notesMasters/notesMaster1.xml" Id="R210943c313e54b8c" /></Relationships>
</file>

<file path=ppt/notesSlides/_rels/notesSlide261.xml.rels>&#65279;<?xml version="1.0" encoding="utf-8"?><Relationships xmlns="http://schemas.openxmlformats.org/package/2006/relationships"><Relationship Type="http://schemas.openxmlformats.org/officeDocument/2006/relationships/slide" Target="/ppt/slides/slide261.xml" Id="Rcb01b48c47994750" /><Relationship Type="http://schemas.openxmlformats.org/officeDocument/2006/relationships/notesMaster" Target="/ppt/notesMasters/notesMaster1.xml" Id="R5f2107a9e4324237" /></Relationships>
</file>

<file path=ppt/notesSlides/_rels/notesSlide262.xml.rels>&#65279;<?xml version="1.0" encoding="utf-8"?><Relationships xmlns="http://schemas.openxmlformats.org/package/2006/relationships"><Relationship Type="http://schemas.openxmlformats.org/officeDocument/2006/relationships/slide" Target="/ppt/slides/slide262.xml" Id="R08ef3bfdfed34617" /><Relationship Type="http://schemas.openxmlformats.org/officeDocument/2006/relationships/notesMaster" Target="/ppt/notesMasters/notesMaster1.xml" Id="R767286c89d5246bb" /></Relationships>
</file>

<file path=ppt/notesSlides/_rels/notesSlide263.xml.rels>&#65279;<?xml version="1.0" encoding="utf-8"?><Relationships xmlns="http://schemas.openxmlformats.org/package/2006/relationships"><Relationship Type="http://schemas.openxmlformats.org/officeDocument/2006/relationships/slide" Target="/ppt/slides/slide263.xml" Id="Rfe87802d2ad140da" /><Relationship Type="http://schemas.openxmlformats.org/officeDocument/2006/relationships/notesMaster" Target="/ppt/notesMasters/notesMaster1.xml" Id="R489e897c259e45ab" /></Relationships>
</file>

<file path=ppt/notesSlides/_rels/notesSlide264.xml.rels>&#65279;<?xml version="1.0" encoding="utf-8"?><Relationships xmlns="http://schemas.openxmlformats.org/package/2006/relationships"><Relationship Type="http://schemas.openxmlformats.org/officeDocument/2006/relationships/slide" Target="/ppt/slides/slide264.xml" Id="R2ebc95261b72486d" /><Relationship Type="http://schemas.openxmlformats.org/officeDocument/2006/relationships/notesMaster" Target="/ppt/notesMasters/notesMaster1.xml" Id="R4466e888f4f4453e" /></Relationships>
</file>

<file path=ppt/notesSlides/_rels/notesSlide265.xml.rels>&#65279;<?xml version="1.0" encoding="utf-8"?><Relationships xmlns="http://schemas.openxmlformats.org/package/2006/relationships"><Relationship Type="http://schemas.openxmlformats.org/officeDocument/2006/relationships/slide" Target="/ppt/slides/slide265.xml" Id="Ra8cb955893a74861" /><Relationship Type="http://schemas.openxmlformats.org/officeDocument/2006/relationships/notesMaster" Target="/ppt/notesMasters/notesMaster1.xml" Id="Rb0e8e24090ed4ea1" /></Relationships>
</file>

<file path=ppt/notesSlides/_rels/notesSlide266.xml.rels>&#65279;<?xml version="1.0" encoding="utf-8"?><Relationships xmlns="http://schemas.openxmlformats.org/package/2006/relationships"><Relationship Type="http://schemas.openxmlformats.org/officeDocument/2006/relationships/slide" Target="/ppt/slides/slide266.xml" Id="R94f13fb8f3d2435c" /><Relationship Type="http://schemas.openxmlformats.org/officeDocument/2006/relationships/notesMaster" Target="/ppt/notesMasters/notesMaster1.xml" Id="R881b6bccea5a41ac" /></Relationships>
</file>

<file path=ppt/notesSlides/_rels/notesSlide267.xml.rels>&#65279;<?xml version="1.0" encoding="utf-8"?><Relationships xmlns="http://schemas.openxmlformats.org/package/2006/relationships"><Relationship Type="http://schemas.openxmlformats.org/officeDocument/2006/relationships/slide" Target="/ppt/slides/slide267.xml" Id="Rdc77e94f17904c4e" /><Relationship Type="http://schemas.openxmlformats.org/officeDocument/2006/relationships/notesMaster" Target="/ppt/notesMasters/notesMaster1.xml" Id="R9d36bc15ee464ad7" /></Relationships>
</file>

<file path=ppt/notesSlides/_rels/notesSlide268.xml.rels>&#65279;<?xml version="1.0" encoding="utf-8"?><Relationships xmlns="http://schemas.openxmlformats.org/package/2006/relationships"><Relationship Type="http://schemas.openxmlformats.org/officeDocument/2006/relationships/slide" Target="/ppt/slides/slide268.xml" Id="R4a8cf52793814ac0" /><Relationship Type="http://schemas.openxmlformats.org/officeDocument/2006/relationships/notesMaster" Target="/ppt/notesMasters/notesMaster1.xml" Id="Rfee9763a43b4446e" /></Relationships>
</file>

<file path=ppt/notesSlides/_rels/notesSlide269.xml.rels>&#65279;<?xml version="1.0" encoding="utf-8"?><Relationships xmlns="http://schemas.openxmlformats.org/package/2006/relationships"><Relationship Type="http://schemas.openxmlformats.org/officeDocument/2006/relationships/slide" Target="/ppt/slides/slide269.xml" Id="R8c37bcbee5d840b9" /><Relationship Type="http://schemas.openxmlformats.org/officeDocument/2006/relationships/notesMaster" Target="/ppt/notesMasters/notesMaster1.xml" Id="R14e9973df9cd4be6" /></Relationships>
</file>

<file path=ppt/notesSlides/_rels/notesSlide270.xml.rels>&#65279;<?xml version="1.0" encoding="utf-8"?><Relationships xmlns="http://schemas.openxmlformats.org/package/2006/relationships"><Relationship Type="http://schemas.openxmlformats.org/officeDocument/2006/relationships/slide" Target="/ppt/slides/slide270.xml" Id="Rf1d0a03b8c11425f" /><Relationship Type="http://schemas.openxmlformats.org/officeDocument/2006/relationships/notesMaster" Target="/ppt/notesMasters/notesMaster1.xml" Id="R066e4303b349480b" /></Relationships>
</file>

<file path=ppt/notesSlides/_rels/notesSlide271.xml.rels>&#65279;<?xml version="1.0" encoding="utf-8"?><Relationships xmlns="http://schemas.openxmlformats.org/package/2006/relationships"><Relationship Type="http://schemas.openxmlformats.org/officeDocument/2006/relationships/slide" Target="/ppt/slides/slide271.xml" Id="Rbe3698857a244dc9" /><Relationship Type="http://schemas.openxmlformats.org/officeDocument/2006/relationships/notesMaster" Target="/ppt/notesMasters/notesMaster1.xml" Id="R6fd4992a6de24127" /></Relationships>
</file>

<file path=ppt/notesSlides/_rels/notesSlide272.xml.rels>&#65279;<?xml version="1.0" encoding="utf-8"?><Relationships xmlns="http://schemas.openxmlformats.org/package/2006/relationships"><Relationship Type="http://schemas.openxmlformats.org/officeDocument/2006/relationships/slide" Target="/ppt/slides/slide272.xml" Id="Raf0acb1a0e3747b2" /><Relationship Type="http://schemas.openxmlformats.org/officeDocument/2006/relationships/notesMaster" Target="/ppt/notesMasters/notesMaster1.xml" Id="R0993112f576d4114" /></Relationships>
</file>

<file path=ppt/notesSlides/_rels/notesSlide273.xml.rels>&#65279;<?xml version="1.0" encoding="utf-8"?><Relationships xmlns="http://schemas.openxmlformats.org/package/2006/relationships"><Relationship Type="http://schemas.openxmlformats.org/officeDocument/2006/relationships/slide" Target="/ppt/slides/slide273.xml" Id="R6dc4d9a5fd9a421d" /><Relationship Type="http://schemas.openxmlformats.org/officeDocument/2006/relationships/notesMaster" Target="/ppt/notesMasters/notesMaster1.xml" Id="R497b1e7624914713" /></Relationships>
</file>

<file path=ppt/notesSlides/_rels/notesSlide274.xml.rels>&#65279;<?xml version="1.0" encoding="utf-8"?><Relationships xmlns="http://schemas.openxmlformats.org/package/2006/relationships"><Relationship Type="http://schemas.openxmlformats.org/officeDocument/2006/relationships/slide" Target="/ppt/slides/slide274.xml" Id="R153a70449d4e431e" /><Relationship Type="http://schemas.openxmlformats.org/officeDocument/2006/relationships/notesMaster" Target="/ppt/notesMasters/notesMaster1.xml" Id="R01f2752f7c574e55" /></Relationships>
</file>

<file path=ppt/notesSlides/_rels/notesSlide275.xml.rels>&#65279;<?xml version="1.0" encoding="utf-8"?><Relationships xmlns="http://schemas.openxmlformats.org/package/2006/relationships"><Relationship Type="http://schemas.openxmlformats.org/officeDocument/2006/relationships/slide" Target="/ppt/slides/slide275.xml" Id="R80761edf287145b6" /><Relationship Type="http://schemas.openxmlformats.org/officeDocument/2006/relationships/notesMaster" Target="/ppt/notesMasters/notesMaster1.xml" Id="Rbf8638e24bf1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1ed80fb4a44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8b8dd363184f77" /><Relationship Type="http://schemas.openxmlformats.org/officeDocument/2006/relationships/slideLayout" Target="/ppt/slideLayouts/slideLayout1.xml" Id="R1b0bd7f140fd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bd7f140fd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65494724d4e79" /><Relationship Type="http://schemas.openxmlformats.org/officeDocument/2006/relationships/notesSlide" Target="/ppt/notesSlides/notesSlide1.xml" Id="R193c72e1eef0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b8ea311294e53" /><Relationship Type="http://schemas.openxmlformats.org/officeDocument/2006/relationships/notesSlide" Target="/ppt/notesSlides/notesSlide2.xml" Id="R15957a0aeef34c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b2ca2dc1a47ae" /><Relationship Type="http://schemas.openxmlformats.org/officeDocument/2006/relationships/notesSlide" Target="/ppt/notesSlides/notesSlide3.xml" Id="R3f7f46a0275d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44a8055bd4047" /><Relationship Type="http://schemas.openxmlformats.org/officeDocument/2006/relationships/notesSlide" Target="/ppt/notesSlides/notesSlide4.xml" Id="R33def2864fe542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01df7f554e59" /><Relationship Type="http://schemas.openxmlformats.org/officeDocument/2006/relationships/notesSlide" Target="/ppt/notesSlides/notesSlide5.xml" Id="Rf41ea24e9be24a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165571ca24a3b" /><Relationship Type="http://schemas.openxmlformats.org/officeDocument/2006/relationships/notesSlide" Target="/ppt/notesSlides/notesSlide6.xml" Id="R7e1b167619c5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46d4f13d4d34" /><Relationship Type="http://schemas.openxmlformats.org/officeDocument/2006/relationships/notesSlide" Target="/ppt/notesSlides/notesSlide7.xml" Id="R76256d9bc59e45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1498897124c11" /><Relationship Type="http://schemas.openxmlformats.org/officeDocument/2006/relationships/notesSlide" Target="/ppt/notesSlides/notesSlide8.xml" Id="R7d6af4b89ad9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01112398c4817" /><Relationship Type="http://schemas.openxmlformats.org/officeDocument/2006/relationships/notesSlide" Target="/ppt/notesSlides/notesSlide9.xml" Id="Rdf9fa3d3a2df4e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871ce3b0c4ecf" /><Relationship Type="http://schemas.openxmlformats.org/officeDocument/2006/relationships/notesSlide" Target="/ppt/notesSlides/notesSlide10.xml" Id="R463ae114903d4f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c33e95b2e430d" /><Relationship Type="http://schemas.openxmlformats.org/officeDocument/2006/relationships/notesSlide" Target="/ppt/notesSlides/notesSlide11.xml" Id="R8df71e232ea047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1e75b79a4387" /><Relationship Type="http://schemas.openxmlformats.org/officeDocument/2006/relationships/notesSlide" Target="/ppt/notesSlides/notesSlide12.xml" Id="R66ca1144778b40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34dd4cb845f4" /><Relationship Type="http://schemas.openxmlformats.org/officeDocument/2006/relationships/notesSlide" Target="/ppt/notesSlides/notesSlide13.xml" Id="R6f3a7d4e3b2f43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ec32a6e964997" /><Relationship Type="http://schemas.openxmlformats.org/officeDocument/2006/relationships/notesSlide" Target="/ppt/notesSlides/notesSlide14.xml" Id="R7c1399c30ce14c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081d996a4386" /><Relationship Type="http://schemas.openxmlformats.org/officeDocument/2006/relationships/notesSlide" Target="/ppt/notesSlides/notesSlide15.xml" Id="R9705299c47854f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7b8593ce4c28" /><Relationship Type="http://schemas.openxmlformats.org/officeDocument/2006/relationships/notesSlide" Target="/ppt/notesSlides/notesSlide16.xml" Id="R115d194e2bc04f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1056db7564a9a" /><Relationship Type="http://schemas.openxmlformats.org/officeDocument/2006/relationships/notesSlide" Target="/ppt/notesSlides/notesSlide17.xml" Id="R424f1b51b5ae43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d00b806d44942" /><Relationship Type="http://schemas.openxmlformats.org/officeDocument/2006/relationships/notesSlide" Target="/ppt/notesSlides/notesSlide18.xml" Id="R8eaef4a1ff724c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193e9b67d4efa" /><Relationship Type="http://schemas.openxmlformats.org/officeDocument/2006/relationships/notesSlide" Target="/ppt/notesSlides/notesSlide19.xml" Id="Re9df0008b3874e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b0d8424684a8a" /><Relationship Type="http://schemas.openxmlformats.org/officeDocument/2006/relationships/notesSlide" Target="/ppt/notesSlides/notesSlide20.xml" Id="Re2403aa0dfe64d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4808e1ed74625" /><Relationship Type="http://schemas.openxmlformats.org/officeDocument/2006/relationships/notesSlide" Target="/ppt/notesSlides/notesSlide21.xml" Id="R8dfa9326690344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35e13988b4a37" /><Relationship Type="http://schemas.openxmlformats.org/officeDocument/2006/relationships/notesSlide" Target="/ppt/notesSlides/notesSlide22.xml" Id="Rd959043be2d24d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6312c7464a8c" /><Relationship Type="http://schemas.openxmlformats.org/officeDocument/2006/relationships/notesSlide" Target="/ppt/notesSlides/notesSlide23.xml" Id="R32486ed600a349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7a1ed5e74d65" /><Relationship Type="http://schemas.openxmlformats.org/officeDocument/2006/relationships/notesSlide" Target="/ppt/notesSlides/notesSlide24.xml" Id="R4f95c27d239b47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0fe83e0144c44" /><Relationship Type="http://schemas.openxmlformats.org/officeDocument/2006/relationships/notesSlide" Target="/ppt/notesSlides/notesSlide25.xml" Id="R64256056eec441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b88c33a14b3e" /><Relationship Type="http://schemas.openxmlformats.org/officeDocument/2006/relationships/notesSlide" Target="/ppt/notesSlides/notesSlide26.xml" Id="Rd3d3db45c69e46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12b4f4c0a4065" /><Relationship Type="http://schemas.openxmlformats.org/officeDocument/2006/relationships/notesSlide" Target="/ppt/notesSlides/notesSlide27.xml" Id="Rdfe9c2f5fede44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91745209740f3" /><Relationship Type="http://schemas.openxmlformats.org/officeDocument/2006/relationships/notesSlide" Target="/ppt/notesSlides/notesSlide28.xml" Id="R5ef6307af96d4f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78cf283c549a6" /><Relationship Type="http://schemas.openxmlformats.org/officeDocument/2006/relationships/notesSlide" Target="/ppt/notesSlides/notesSlide29.xml" Id="R48f1a4699566492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02741c4ef4a84" /><Relationship Type="http://schemas.openxmlformats.org/officeDocument/2006/relationships/notesSlide" Target="/ppt/notesSlides/notesSlide30.xml" Id="Ra89249e88365469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676490f1642d4" /><Relationship Type="http://schemas.openxmlformats.org/officeDocument/2006/relationships/notesSlide" Target="/ppt/notesSlides/notesSlide31.xml" Id="R54a5b31ba544448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78205d4254b6b" /><Relationship Type="http://schemas.openxmlformats.org/officeDocument/2006/relationships/notesSlide" Target="/ppt/notesSlides/notesSlide32.xml" Id="Rcc8ff8da7c5f432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bad3370714875" /><Relationship Type="http://schemas.openxmlformats.org/officeDocument/2006/relationships/notesSlide" Target="/ppt/notesSlides/notesSlide33.xml" Id="R15d32201097e4bc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cc5fdb2c44cd2" /><Relationship Type="http://schemas.openxmlformats.org/officeDocument/2006/relationships/notesSlide" Target="/ppt/notesSlides/notesSlide34.xml" Id="Rac98e4effc1b49b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eb7b00e544058" /><Relationship Type="http://schemas.openxmlformats.org/officeDocument/2006/relationships/notesSlide" Target="/ppt/notesSlides/notesSlide35.xml" Id="Rc4ff78fe78ad4f2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d86816c5541c2" /><Relationship Type="http://schemas.openxmlformats.org/officeDocument/2006/relationships/notesSlide" Target="/ppt/notesSlides/notesSlide36.xml" Id="Rd8da8c04af6b4a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4ce2372c24273" /><Relationship Type="http://schemas.openxmlformats.org/officeDocument/2006/relationships/notesSlide" Target="/ppt/notesSlides/notesSlide37.xml" Id="R25333409159c47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3be2fb4a64ca5" /><Relationship Type="http://schemas.openxmlformats.org/officeDocument/2006/relationships/notesSlide" Target="/ppt/notesSlides/notesSlide38.xml" Id="R1aea52eac2204a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04986001b40f0" /><Relationship Type="http://schemas.openxmlformats.org/officeDocument/2006/relationships/notesSlide" Target="/ppt/notesSlides/notesSlide39.xml" Id="R2be8fc3d2892476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c3ebf98474053" /><Relationship Type="http://schemas.openxmlformats.org/officeDocument/2006/relationships/notesSlide" Target="/ppt/notesSlides/notesSlide40.xml" Id="R63c6666abc414f9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5043bf0d94054" /><Relationship Type="http://schemas.openxmlformats.org/officeDocument/2006/relationships/notesSlide" Target="/ppt/notesSlides/notesSlide41.xml" Id="R865d88b81f544b5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75f6fb1b54e73" /><Relationship Type="http://schemas.openxmlformats.org/officeDocument/2006/relationships/notesSlide" Target="/ppt/notesSlides/notesSlide42.xml" Id="R2dd15e9f74f0418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39f8516c2431a" /><Relationship Type="http://schemas.openxmlformats.org/officeDocument/2006/relationships/notesSlide" Target="/ppt/notesSlides/notesSlide43.xml" Id="R088c26b966b2403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88cd01f944e0b" /><Relationship Type="http://schemas.openxmlformats.org/officeDocument/2006/relationships/notesSlide" Target="/ppt/notesSlides/notesSlide44.xml" Id="R636ed5405b13440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ba3fbadd24fc6" /><Relationship Type="http://schemas.openxmlformats.org/officeDocument/2006/relationships/notesSlide" Target="/ppt/notesSlides/notesSlide45.xml" Id="R1547d29aaf554f2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077082ce64f95" /><Relationship Type="http://schemas.openxmlformats.org/officeDocument/2006/relationships/notesSlide" Target="/ppt/notesSlides/notesSlide46.xml" Id="R5351e3f0ca5e44e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6e41c9cae46da" /><Relationship Type="http://schemas.openxmlformats.org/officeDocument/2006/relationships/notesSlide" Target="/ppt/notesSlides/notesSlide47.xml" Id="Rf7dddaee49e549f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d8b88be8d44a7" /><Relationship Type="http://schemas.openxmlformats.org/officeDocument/2006/relationships/notesSlide" Target="/ppt/notesSlides/notesSlide48.xml" Id="R60c3f549ede749e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97f845c1b47c5" /><Relationship Type="http://schemas.openxmlformats.org/officeDocument/2006/relationships/notesSlide" Target="/ppt/notesSlides/notesSlide49.xml" Id="R0e423989fb95442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ef1a48fdb4f02" /><Relationship Type="http://schemas.openxmlformats.org/officeDocument/2006/relationships/notesSlide" Target="/ppt/notesSlides/notesSlide50.xml" Id="R18e383a20dbb469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c8eca1f964c24" /><Relationship Type="http://schemas.openxmlformats.org/officeDocument/2006/relationships/notesSlide" Target="/ppt/notesSlides/notesSlide51.xml" Id="R826ecfa696004a0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a325d8cb7476c" /><Relationship Type="http://schemas.openxmlformats.org/officeDocument/2006/relationships/notesSlide" Target="/ppt/notesSlides/notesSlide52.xml" Id="Refa5d4a2342b422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1b8cc51b94c11" /><Relationship Type="http://schemas.openxmlformats.org/officeDocument/2006/relationships/notesSlide" Target="/ppt/notesSlides/notesSlide53.xml" Id="R73971929bb034c1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52b9c5d6b4744" /><Relationship Type="http://schemas.openxmlformats.org/officeDocument/2006/relationships/notesSlide" Target="/ppt/notesSlides/notesSlide54.xml" Id="R3831ecb2796c4d5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f4d15341b425d" /><Relationship Type="http://schemas.openxmlformats.org/officeDocument/2006/relationships/notesSlide" Target="/ppt/notesSlides/notesSlide55.xml" Id="R359bdbb6d4ba4bc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add9f4943482b" /><Relationship Type="http://schemas.openxmlformats.org/officeDocument/2006/relationships/notesSlide" Target="/ppt/notesSlides/notesSlide56.xml" Id="R4af76584727b46e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e24e77498494f" /><Relationship Type="http://schemas.openxmlformats.org/officeDocument/2006/relationships/notesSlide" Target="/ppt/notesSlides/notesSlide57.xml" Id="Ra319fd31e5dd47d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963b4e76415f" /><Relationship Type="http://schemas.openxmlformats.org/officeDocument/2006/relationships/notesSlide" Target="/ppt/notesSlides/notesSlide58.xml" Id="Rfe3c40576fbb446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907f1b380481e" /><Relationship Type="http://schemas.openxmlformats.org/officeDocument/2006/relationships/notesSlide" Target="/ppt/notesSlides/notesSlide59.xml" Id="R85e60d4195ea48e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746129dfb480d" /><Relationship Type="http://schemas.openxmlformats.org/officeDocument/2006/relationships/notesSlide" Target="/ppt/notesSlides/notesSlide60.xml" Id="R6258b2f245c24a0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e5ae2d5f44df" /><Relationship Type="http://schemas.openxmlformats.org/officeDocument/2006/relationships/notesSlide" Target="/ppt/notesSlides/notesSlide61.xml" Id="R3855bbb20f04487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397c3eaa54180" /><Relationship Type="http://schemas.openxmlformats.org/officeDocument/2006/relationships/notesSlide" Target="/ppt/notesSlides/notesSlide62.xml" Id="Rc6f64837e52b44f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ceee72a94b08" /><Relationship Type="http://schemas.openxmlformats.org/officeDocument/2006/relationships/notesSlide" Target="/ppt/notesSlides/notesSlide63.xml" Id="R7dd4edc553644d7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7eacd321149e6" /><Relationship Type="http://schemas.openxmlformats.org/officeDocument/2006/relationships/notesSlide" Target="/ppt/notesSlides/notesSlide64.xml" Id="R28a2c1e8eaae43c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5a91a94014852" /><Relationship Type="http://schemas.openxmlformats.org/officeDocument/2006/relationships/notesSlide" Target="/ppt/notesSlides/notesSlide65.xml" Id="R236e5213e4cd4d34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c48daeb6f40d8" /><Relationship Type="http://schemas.openxmlformats.org/officeDocument/2006/relationships/notesSlide" Target="/ppt/notesSlides/notesSlide66.xml" Id="Rc34adced0bad46c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f7274c93a45ca" /><Relationship Type="http://schemas.openxmlformats.org/officeDocument/2006/relationships/notesSlide" Target="/ppt/notesSlides/notesSlide67.xml" Id="R0d5e895d073a466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2d14e25b4add" /><Relationship Type="http://schemas.openxmlformats.org/officeDocument/2006/relationships/notesSlide" Target="/ppt/notesSlides/notesSlide68.xml" Id="Rf6623af7c98a493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1171b9bd4541" /><Relationship Type="http://schemas.openxmlformats.org/officeDocument/2006/relationships/notesSlide" Target="/ppt/notesSlides/notesSlide69.xml" Id="Ra103ac76e7e3450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3899d4d9b47cd" /><Relationship Type="http://schemas.openxmlformats.org/officeDocument/2006/relationships/notesSlide" Target="/ppt/notesSlides/notesSlide70.xml" Id="Ra81eafa56480452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44e3f7c464611" /><Relationship Type="http://schemas.openxmlformats.org/officeDocument/2006/relationships/notesSlide" Target="/ppt/notesSlides/notesSlide71.xml" Id="R9e6648ebe0a4413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adb8dfa7d4fe7" /><Relationship Type="http://schemas.openxmlformats.org/officeDocument/2006/relationships/notesSlide" Target="/ppt/notesSlides/notesSlide72.xml" Id="R3a28c04d2aff4c7b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06d9a09e348e6" /><Relationship Type="http://schemas.openxmlformats.org/officeDocument/2006/relationships/notesSlide" Target="/ppt/notesSlides/notesSlide73.xml" Id="Rb700b9095f8c400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9def047714e8d" /><Relationship Type="http://schemas.openxmlformats.org/officeDocument/2006/relationships/notesSlide" Target="/ppt/notesSlides/notesSlide74.xml" Id="Rb557744d3fda42c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ed5ab60e64372" /><Relationship Type="http://schemas.openxmlformats.org/officeDocument/2006/relationships/notesSlide" Target="/ppt/notesSlides/notesSlide75.xml" Id="R2ca7148989ba4a10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8ced109364719" /><Relationship Type="http://schemas.openxmlformats.org/officeDocument/2006/relationships/notesSlide" Target="/ppt/notesSlides/notesSlide76.xml" Id="R6adc090e9c67462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8d437bda04529" /><Relationship Type="http://schemas.openxmlformats.org/officeDocument/2006/relationships/notesSlide" Target="/ppt/notesSlides/notesSlide77.xml" Id="R477d223f234d401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90d2938dd49dd" /><Relationship Type="http://schemas.openxmlformats.org/officeDocument/2006/relationships/notesSlide" Target="/ppt/notesSlides/notesSlide78.xml" Id="R3bbd469063bf427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1f77060ce4424" /><Relationship Type="http://schemas.openxmlformats.org/officeDocument/2006/relationships/notesSlide" Target="/ppt/notesSlides/notesSlide79.xml" Id="R3c190b6eaa88411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2e9b969c04e30" /><Relationship Type="http://schemas.openxmlformats.org/officeDocument/2006/relationships/notesSlide" Target="/ppt/notesSlides/notesSlide80.xml" Id="R3ef988f89f8f4f3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0ae25e3494b2c" /><Relationship Type="http://schemas.openxmlformats.org/officeDocument/2006/relationships/notesSlide" Target="/ppt/notesSlides/notesSlide81.xml" Id="R00deef58690a444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85b948d6f421b" /><Relationship Type="http://schemas.openxmlformats.org/officeDocument/2006/relationships/notesSlide" Target="/ppt/notesSlides/notesSlide82.xml" Id="R862b070b564e4a6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f368b5454fd1" /><Relationship Type="http://schemas.openxmlformats.org/officeDocument/2006/relationships/notesSlide" Target="/ppt/notesSlides/notesSlide83.xml" Id="R5e27733eda3d441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1d1f1f7454e3c" /><Relationship Type="http://schemas.openxmlformats.org/officeDocument/2006/relationships/notesSlide" Target="/ppt/notesSlides/notesSlide84.xml" Id="R92386c152f314a99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e54f78681434d" /><Relationship Type="http://schemas.openxmlformats.org/officeDocument/2006/relationships/notesSlide" Target="/ppt/notesSlides/notesSlide85.xml" Id="R76190f8c45c84d5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5a0271e5c4478" /><Relationship Type="http://schemas.openxmlformats.org/officeDocument/2006/relationships/notesSlide" Target="/ppt/notesSlides/notesSlide86.xml" Id="R94accc48382e4c5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c9b69ac2e4229" /><Relationship Type="http://schemas.openxmlformats.org/officeDocument/2006/relationships/notesSlide" Target="/ppt/notesSlides/notesSlide87.xml" Id="Rb9fe63468e624dea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0297650df4d15" /><Relationship Type="http://schemas.openxmlformats.org/officeDocument/2006/relationships/notesSlide" Target="/ppt/notesSlides/notesSlide88.xml" Id="R44a886d9b4aa4e3f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58eb409144f6" /><Relationship Type="http://schemas.openxmlformats.org/officeDocument/2006/relationships/notesSlide" Target="/ppt/notesSlides/notesSlide89.xml" Id="R146ff4cc198b42f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957606d4245c8" /><Relationship Type="http://schemas.openxmlformats.org/officeDocument/2006/relationships/notesSlide" Target="/ppt/notesSlides/notesSlide90.xml" Id="Rf93300ca577f487d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65cdf713b495a" /><Relationship Type="http://schemas.openxmlformats.org/officeDocument/2006/relationships/notesSlide" Target="/ppt/notesSlides/notesSlide91.xml" Id="Rb8997489fa5c4f4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684c2d8e346eb" /><Relationship Type="http://schemas.openxmlformats.org/officeDocument/2006/relationships/notesSlide" Target="/ppt/notesSlides/notesSlide92.xml" Id="Rfdbbce6225c9441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17a04c818408f" /><Relationship Type="http://schemas.openxmlformats.org/officeDocument/2006/relationships/notesSlide" Target="/ppt/notesSlides/notesSlide93.xml" Id="R49d3aa5ea40d403d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e1f545c0446c9" /><Relationship Type="http://schemas.openxmlformats.org/officeDocument/2006/relationships/notesSlide" Target="/ppt/notesSlides/notesSlide94.xml" Id="Rdb8af552db3545e3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59de980cd4ece" /><Relationship Type="http://schemas.openxmlformats.org/officeDocument/2006/relationships/notesSlide" Target="/ppt/notesSlides/notesSlide95.xml" Id="Rf9fb20ed3f0f4d9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979c281224e46" /><Relationship Type="http://schemas.openxmlformats.org/officeDocument/2006/relationships/notesSlide" Target="/ppt/notesSlides/notesSlide96.xml" Id="Rb6c2519405b44d0c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72be3f230445b" /><Relationship Type="http://schemas.openxmlformats.org/officeDocument/2006/relationships/notesSlide" Target="/ppt/notesSlides/notesSlide97.xml" Id="R641b71cbcf5f4008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0ae7b6205436d" /><Relationship Type="http://schemas.openxmlformats.org/officeDocument/2006/relationships/notesSlide" Target="/ppt/notesSlides/notesSlide98.xml" Id="Rb665719ea8a84cf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4f3f8726747a6" /><Relationship Type="http://schemas.openxmlformats.org/officeDocument/2006/relationships/notesSlide" Target="/ppt/notesSlides/notesSlide99.xml" Id="Rbe1541d909fe4cf8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72a4c3dee4a38" /><Relationship Type="http://schemas.openxmlformats.org/officeDocument/2006/relationships/notesSlide" Target="/ppt/notesSlides/notesSlide100.xml" Id="R2464b42caea646af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bcc65e6fb499a" /><Relationship Type="http://schemas.openxmlformats.org/officeDocument/2006/relationships/notesSlide" Target="/ppt/notesSlides/notesSlide101.xml" Id="R91e70323debc4ca2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9f73ecd0f4e01" /><Relationship Type="http://schemas.openxmlformats.org/officeDocument/2006/relationships/notesSlide" Target="/ppt/notesSlides/notesSlide102.xml" Id="R6944cb9397c546e4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3872fb5794242" /><Relationship Type="http://schemas.openxmlformats.org/officeDocument/2006/relationships/notesSlide" Target="/ppt/notesSlides/notesSlide103.xml" Id="R5d8f5d0de15641c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bc35916da4498" /><Relationship Type="http://schemas.openxmlformats.org/officeDocument/2006/relationships/notesSlide" Target="/ppt/notesSlides/notesSlide104.xml" Id="R9893aea1d6bf456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8f5e95b7c4f4a" /><Relationship Type="http://schemas.openxmlformats.org/officeDocument/2006/relationships/notesSlide" Target="/ppt/notesSlides/notesSlide105.xml" Id="R643df1cfdbc04b7b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5719664e74aa3" /><Relationship Type="http://schemas.openxmlformats.org/officeDocument/2006/relationships/notesSlide" Target="/ppt/notesSlides/notesSlide106.xml" Id="R8d8e69e82aa44b7c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2aed62c554850" /><Relationship Type="http://schemas.openxmlformats.org/officeDocument/2006/relationships/notesSlide" Target="/ppt/notesSlides/notesSlide107.xml" Id="R4a463f1df421444a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1093f8a5f4a56" /><Relationship Type="http://schemas.openxmlformats.org/officeDocument/2006/relationships/notesSlide" Target="/ppt/notesSlides/notesSlide108.xml" Id="Rf95bbfd80b854a8e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9b04b2ddc42b5" /><Relationship Type="http://schemas.openxmlformats.org/officeDocument/2006/relationships/notesSlide" Target="/ppt/notesSlides/notesSlide109.xml" Id="R539ae8635bd5427f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2566c3c7341f3" /><Relationship Type="http://schemas.openxmlformats.org/officeDocument/2006/relationships/notesSlide" Target="/ppt/notesSlides/notesSlide110.xml" Id="Rbb01a6c1eaf04b10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ccd946b6454e" /><Relationship Type="http://schemas.openxmlformats.org/officeDocument/2006/relationships/notesSlide" Target="/ppt/notesSlides/notesSlide111.xml" Id="R68ff5168e88446e3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c4a8e3d342bc" /><Relationship Type="http://schemas.openxmlformats.org/officeDocument/2006/relationships/notesSlide" Target="/ppt/notesSlides/notesSlide112.xml" Id="Ra699a5a01d484036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d8463311842a9" /><Relationship Type="http://schemas.openxmlformats.org/officeDocument/2006/relationships/notesSlide" Target="/ppt/notesSlides/notesSlide113.xml" Id="Rfd2816ad1a194ae6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13bb37e2f4aaa" /><Relationship Type="http://schemas.openxmlformats.org/officeDocument/2006/relationships/notesSlide" Target="/ppt/notesSlides/notesSlide114.xml" Id="Rca8bd4e931df485c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b907b3b684e14" /><Relationship Type="http://schemas.openxmlformats.org/officeDocument/2006/relationships/notesSlide" Target="/ppt/notesSlides/notesSlide115.xml" Id="R08ef92778f9547c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8268a189d425c" /><Relationship Type="http://schemas.openxmlformats.org/officeDocument/2006/relationships/notesSlide" Target="/ppt/notesSlides/notesSlide116.xml" Id="Ra7df635d90bb4e62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cf0c1173049e7" /><Relationship Type="http://schemas.openxmlformats.org/officeDocument/2006/relationships/notesSlide" Target="/ppt/notesSlides/notesSlide117.xml" Id="R7f23194056cd470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24d7688ce46b0" /><Relationship Type="http://schemas.openxmlformats.org/officeDocument/2006/relationships/notesSlide" Target="/ppt/notesSlides/notesSlide118.xml" Id="Ref1d41a9bcbf44e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07660c41d4f86" /><Relationship Type="http://schemas.openxmlformats.org/officeDocument/2006/relationships/notesSlide" Target="/ppt/notesSlides/notesSlide119.xml" Id="R602bf8e234f04a1f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c0407bb8f422b" /><Relationship Type="http://schemas.openxmlformats.org/officeDocument/2006/relationships/notesSlide" Target="/ppt/notesSlides/notesSlide120.xml" Id="R5eaac903d8b3493f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a6a2581384d37" /><Relationship Type="http://schemas.openxmlformats.org/officeDocument/2006/relationships/notesSlide" Target="/ppt/notesSlides/notesSlide121.xml" Id="R2a1c12dad50244eb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a3b56e804ee9" /><Relationship Type="http://schemas.openxmlformats.org/officeDocument/2006/relationships/notesSlide" Target="/ppt/notesSlides/notesSlide122.xml" Id="Rdc2c7e0013ee4bcf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d23a2ada64a20" /><Relationship Type="http://schemas.openxmlformats.org/officeDocument/2006/relationships/notesSlide" Target="/ppt/notesSlides/notesSlide123.xml" Id="Rcdf2c4c10741486b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67725a31e4227" /><Relationship Type="http://schemas.openxmlformats.org/officeDocument/2006/relationships/notesSlide" Target="/ppt/notesSlides/notesSlide124.xml" Id="Rb8cb917eab8f425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5021f648e4bc2" /><Relationship Type="http://schemas.openxmlformats.org/officeDocument/2006/relationships/notesSlide" Target="/ppt/notesSlides/notesSlide125.xml" Id="Reeb7a90c2d4c4149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c80940a9f4b23" /><Relationship Type="http://schemas.openxmlformats.org/officeDocument/2006/relationships/notesSlide" Target="/ppt/notesSlides/notesSlide126.xml" Id="R1bf62e68337240ca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caea394b4990" /><Relationship Type="http://schemas.openxmlformats.org/officeDocument/2006/relationships/notesSlide" Target="/ppt/notesSlides/notesSlide127.xml" Id="R85c9a099f8a8474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1d0fbd41405c" /><Relationship Type="http://schemas.openxmlformats.org/officeDocument/2006/relationships/notesSlide" Target="/ppt/notesSlides/notesSlide128.xml" Id="Rbb244f9edf434aa6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bd7c27b7a4bb9" /><Relationship Type="http://schemas.openxmlformats.org/officeDocument/2006/relationships/notesSlide" Target="/ppt/notesSlides/notesSlide129.xml" Id="Rc817a990045f4cf4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293aa67354a5e" /><Relationship Type="http://schemas.openxmlformats.org/officeDocument/2006/relationships/notesSlide" Target="/ppt/notesSlides/notesSlide130.xml" Id="R8645a78d7b824b04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6faf9d66d40b4" /><Relationship Type="http://schemas.openxmlformats.org/officeDocument/2006/relationships/notesSlide" Target="/ppt/notesSlides/notesSlide131.xml" Id="Rd62f99f1dd75494f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72875bfe04ada" /><Relationship Type="http://schemas.openxmlformats.org/officeDocument/2006/relationships/notesSlide" Target="/ppt/notesSlides/notesSlide132.xml" Id="Rc292d61b7b8a4ecf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c54ea86b04004" /><Relationship Type="http://schemas.openxmlformats.org/officeDocument/2006/relationships/notesSlide" Target="/ppt/notesSlides/notesSlide133.xml" Id="R12efa7c2bd574770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ca9048cf44ff2" /><Relationship Type="http://schemas.openxmlformats.org/officeDocument/2006/relationships/notesSlide" Target="/ppt/notesSlides/notesSlide134.xml" Id="R00d20ec417624a1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3b53bf66f4ff4" /><Relationship Type="http://schemas.openxmlformats.org/officeDocument/2006/relationships/notesSlide" Target="/ppt/notesSlides/notesSlide135.xml" Id="R0f07659adddf46e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396293a84106" /><Relationship Type="http://schemas.openxmlformats.org/officeDocument/2006/relationships/notesSlide" Target="/ppt/notesSlides/notesSlide136.xml" Id="R203da5c79668480a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0b3e2824649b6" /><Relationship Type="http://schemas.openxmlformats.org/officeDocument/2006/relationships/notesSlide" Target="/ppt/notesSlides/notesSlide137.xml" Id="Rba4e8f38c3024f93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8e51ee33b4041" /><Relationship Type="http://schemas.openxmlformats.org/officeDocument/2006/relationships/notesSlide" Target="/ppt/notesSlides/notesSlide138.xml" Id="Rb26b1cf42eb04ff4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91d2f61104a32" /><Relationship Type="http://schemas.openxmlformats.org/officeDocument/2006/relationships/notesSlide" Target="/ppt/notesSlides/notesSlide139.xml" Id="Rfb2013c5c963425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e271a5494473c" /><Relationship Type="http://schemas.openxmlformats.org/officeDocument/2006/relationships/notesSlide" Target="/ppt/notesSlides/notesSlide140.xml" Id="Ra260ca66001f4ca2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bd85f0a6841e1" /><Relationship Type="http://schemas.openxmlformats.org/officeDocument/2006/relationships/notesSlide" Target="/ppt/notesSlides/notesSlide141.xml" Id="R337a2429ca2e4ce3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efec141b2452a" /><Relationship Type="http://schemas.openxmlformats.org/officeDocument/2006/relationships/notesSlide" Target="/ppt/notesSlides/notesSlide142.xml" Id="R9c38e4e5296c4c62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c3c562f8b4c56" /><Relationship Type="http://schemas.openxmlformats.org/officeDocument/2006/relationships/notesSlide" Target="/ppt/notesSlides/notesSlide143.xml" Id="R8ecb47d970744cad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5d17b935b4d75" /><Relationship Type="http://schemas.openxmlformats.org/officeDocument/2006/relationships/notesSlide" Target="/ppt/notesSlides/notesSlide144.xml" Id="Ra940353996054a8c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66885e110467e" /><Relationship Type="http://schemas.openxmlformats.org/officeDocument/2006/relationships/notesSlide" Target="/ppt/notesSlides/notesSlide145.xml" Id="R79b7ab0c74574bc5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eab95d8704146" /><Relationship Type="http://schemas.openxmlformats.org/officeDocument/2006/relationships/notesSlide" Target="/ppt/notesSlides/notesSlide146.xml" Id="Ra5d9acb8282a491f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e7372e1af45ef" /><Relationship Type="http://schemas.openxmlformats.org/officeDocument/2006/relationships/notesSlide" Target="/ppt/notesSlides/notesSlide147.xml" Id="R602262b5cd1448e7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d6b10e3ee4c1b" /><Relationship Type="http://schemas.openxmlformats.org/officeDocument/2006/relationships/notesSlide" Target="/ppt/notesSlides/notesSlide148.xml" Id="R2d176642b9cf47e7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642673e984580" /><Relationship Type="http://schemas.openxmlformats.org/officeDocument/2006/relationships/notesSlide" Target="/ppt/notesSlides/notesSlide149.xml" Id="Rcf977bfe3cd94fcf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34ed6ca94a1b" /><Relationship Type="http://schemas.openxmlformats.org/officeDocument/2006/relationships/notesSlide" Target="/ppt/notesSlides/notesSlide150.xml" Id="R91273092ba4343ec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a6f6cb43e404c" /><Relationship Type="http://schemas.openxmlformats.org/officeDocument/2006/relationships/notesSlide" Target="/ppt/notesSlides/notesSlide151.xml" Id="R64141ebe916f4b37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b0e0f43e64c19" /><Relationship Type="http://schemas.openxmlformats.org/officeDocument/2006/relationships/notesSlide" Target="/ppt/notesSlides/notesSlide152.xml" Id="R513e7ea0fde94fb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8a3ccdae744d5" /><Relationship Type="http://schemas.openxmlformats.org/officeDocument/2006/relationships/notesSlide" Target="/ppt/notesSlides/notesSlide153.xml" Id="R5f0a12ac67e94379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7be1ecd0d40f9" /><Relationship Type="http://schemas.openxmlformats.org/officeDocument/2006/relationships/notesSlide" Target="/ppt/notesSlides/notesSlide154.xml" Id="Rf272250f2dba4cec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24b82bd374cb3" /><Relationship Type="http://schemas.openxmlformats.org/officeDocument/2006/relationships/notesSlide" Target="/ppt/notesSlides/notesSlide155.xml" Id="R0dab8e16d4c144bc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af7727e694267" /><Relationship Type="http://schemas.openxmlformats.org/officeDocument/2006/relationships/notesSlide" Target="/ppt/notesSlides/notesSlide156.xml" Id="R1bc805a2bdf84235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06b29b704275" /><Relationship Type="http://schemas.openxmlformats.org/officeDocument/2006/relationships/notesSlide" Target="/ppt/notesSlides/notesSlide157.xml" Id="Rd8c1c5fc128f4c3c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3e7dfb6714154" /><Relationship Type="http://schemas.openxmlformats.org/officeDocument/2006/relationships/notesSlide" Target="/ppt/notesSlides/notesSlide158.xml" Id="R83bc89ba1d964abc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f927dfd84e26" /><Relationship Type="http://schemas.openxmlformats.org/officeDocument/2006/relationships/notesSlide" Target="/ppt/notesSlides/notesSlide159.xml" Id="R8fbf50b2ac6d4810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f7be6e1cf4242" /><Relationship Type="http://schemas.openxmlformats.org/officeDocument/2006/relationships/notesSlide" Target="/ppt/notesSlides/notesSlide160.xml" Id="R3909042e4fa848a9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6edcd8df34723" /><Relationship Type="http://schemas.openxmlformats.org/officeDocument/2006/relationships/notesSlide" Target="/ppt/notesSlides/notesSlide161.xml" Id="Re8d4398e87b54324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78cb05804717" /><Relationship Type="http://schemas.openxmlformats.org/officeDocument/2006/relationships/notesSlide" Target="/ppt/notesSlides/notesSlide162.xml" Id="R6fdd2af6d4574948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2fc6cc334451" /><Relationship Type="http://schemas.openxmlformats.org/officeDocument/2006/relationships/notesSlide" Target="/ppt/notesSlides/notesSlide163.xml" Id="R44c42884708e4b00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aac8dafdc4bc7" /><Relationship Type="http://schemas.openxmlformats.org/officeDocument/2006/relationships/notesSlide" Target="/ppt/notesSlides/notesSlide164.xml" Id="Rfabb96a43653480e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10535075410e" /><Relationship Type="http://schemas.openxmlformats.org/officeDocument/2006/relationships/notesSlide" Target="/ppt/notesSlides/notesSlide165.xml" Id="R4f03a2722d244ae5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e2a2086274187" /><Relationship Type="http://schemas.openxmlformats.org/officeDocument/2006/relationships/notesSlide" Target="/ppt/notesSlides/notesSlide166.xml" Id="Ra463bcadfaff48cf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f83ebbb5445d3" /><Relationship Type="http://schemas.openxmlformats.org/officeDocument/2006/relationships/notesSlide" Target="/ppt/notesSlides/notesSlide167.xml" Id="R4580ddec74f94596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e431ccd584cb3" /><Relationship Type="http://schemas.openxmlformats.org/officeDocument/2006/relationships/notesSlide" Target="/ppt/notesSlides/notesSlide168.xml" Id="R03e889407fbd44f6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7beb944e94196" /><Relationship Type="http://schemas.openxmlformats.org/officeDocument/2006/relationships/notesSlide" Target="/ppt/notesSlides/notesSlide169.xml" Id="R3dfc46daccbc4856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e03a7acdb4957" /><Relationship Type="http://schemas.openxmlformats.org/officeDocument/2006/relationships/notesSlide" Target="/ppt/notesSlides/notesSlide170.xml" Id="Rb3bdf5f5a23e4461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4bb1344cd4458" /><Relationship Type="http://schemas.openxmlformats.org/officeDocument/2006/relationships/notesSlide" Target="/ppt/notesSlides/notesSlide171.xml" Id="R3292cb9b4b1e441a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383ec6144681" /><Relationship Type="http://schemas.openxmlformats.org/officeDocument/2006/relationships/notesSlide" Target="/ppt/notesSlides/notesSlide172.xml" Id="R20dfa58dd09747a3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72ebccc1e4546" /><Relationship Type="http://schemas.openxmlformats.org/officeDocument/2006/relationships/notesSlide" Target="/ppt/notesSlides/notesSlide173.xml" Id="R1c19620b2f3243ca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884801f3c4621" /><Relationship Type="http://schemas.openxmlformats.org/officeDocument/2006/relationships/notesSlide" Target="/ppt/notesSlides/notesSlide174.xml" Id="R21d39542c0d84876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0c6aad7b1413b" /><Relationship Type="http://schemas.openxmlformats.org/officeDocument/2006/relationships/notesSlide" Target="/ppt/notesSlides/notesSlide175.xml" Id="Rcfa4d25dae454cb0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016e03cf74721" /><Relationship Type="http://schemas.openxmlformats.org/officeDocument/2006/relationships/notesSlide" Target="/ppt/notesSlides/notesSlide176.xml" Id="Rca9bb32bb00a494a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7f18e3c24567" /><Relationship Type="http://schemas.openxmlformats.org/officeDocument/2006/relationships/notesSlide" Target="/ppt/notesSlides/notesSlide177.xml" Id="R2831f4185ac344ee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7e71c99e84318" /><Relationship Type="http://schemas.openxmlformats.org/officeDocument/2006/relationships/notesSlide" Target="/ppt/notesSlides/notesSlide178.xml" Id="Ra3b92fb27c574f9e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4de34f3e84c21" /><Relationship Type="http://schemas.openxmlformats.org/officeDocument/2006/relationships/notesSlide" Target="/ppt/notesSlides/notesSlide179.xml" Id="R3bfbc76c61c3450e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83318e70d4a5b" /><Relationship Type="http://schemas.openxmlformats.org/officeDocument/2006/relationships/notesSlide" Target="/ppt/notesSlides/notesSlide180.xml" Id="R0b30640054d34077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39e7045bb46d5" /><Relationship Type="http://schemas.openxmlformats.org/officeDocument/2006/relationships/notesSlide" Target="/ppt/notesSlides/notesSlide181.xml" Id="R14396e0e82994944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68dc9acf84799" /><Relationship Type="http://schemas.openxmlformats.org/officeDocument/2006/relationships/notesSlide" Target="/ppt/notesSlides/notesSlide182.xml" Id="Raf94cd7afea943c1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0b3555da248d9" /><Relationship Type="http://schemas.openxmlformats.org/officeDocument/2006/relationships/notesSlide" Target="/ppt/notesSlides/notesSlide183.xml" Id="Rb4d1a6eb82e64846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931042cbb4bbc" /><Relationship Type="http://schemas.openxmlformats.org/officeDocument/2006/relationships/notesSlide" Target="/ppt/notesSlides/notesSlide184.xml" Id="R32ce8d839f324380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79826d7b1447f" /><Relationship Type="http://schemas.openxmlformats.org/officeDocument/2006/relationships/notesSlide" Target="/ppt/notesSlides/notesSlide185.xml" Id="R43d585ede0ea495b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c23c5e87942f0" /><Relationship Type="http://schemas.openxmlformats.org/officeDocument/2006/relationships/notesSlide" Target="/ppt/notesSlides/notesSlide186.xml" Id="Rb4b5336082e24366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b3896fb9749d8" /><Relationship Type="http://schemas.openxmlformats.org/officeDocument/2006/relationships/notesSlide" Target="/ppt/notesSlides/notesSlide187.xml" Id="R30d94a0585af4ab5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1722f9e54813" /><Relationship Type="http://schemas.openxmlformats.org/officeDocument/2006/relationships/notesSlide" Target="/ppt/notesSlides/notesSlide188.xml" Id="Rac48c09ecde14380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c3c428644b1c" /><Relationship Type="http://schemas.openxmlformats.org/officeDocument/2006/relationships/notesSlide" Target="/ppt/notesSlides/notesSlide189.xml" Id="R8f8a4f21ba8f48a7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a40389f94927" /><Relationship Type="http://schemas.openxmlformats.org/officeDocument/2006/relationships/notesSlide" Target="/ppt/notesSlides/notesSlide190.xml" Id="Rcaf2cfc051ec4a53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e62a8fe174697" /><Relationship Type="http://schemas.openxmlformats.org/officeDocument/2006/relationships/notesSlide" Target="/ppt/notesSlides/notesSlide191.xml" Id="Rb074fc11f7c8466e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8abbff8684f2b" /><Relationship Type="http://schemas.openxmlformats.org/officeDocument/2006/relationships/notesSlide" Target="/ppt/notesSlides/notesSlide192.xml" Id="R1f2a8eafcea541b9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8995bd8b24f46" /><Relationship Type="http://schemas.openxmlformats.org/officeDocument/2006/relationships/notesSlide" Target="/ppt/notesSlides/notesSlide193.xml" Id="Rb935193e9d6844be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22252d7f849e6" /><Relationship Type="http://schemas.openxmlformats.org/officeDocument/2006/relationships/notesSlide" Target="/ppt/notesSlides/notesSlide194.xml" Id="Rcae1e0c9347b4af7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531fcc0ca41b5" /><Relationship Type="http://schemas.openxmlformats.org/officeDocument/2006/relationships/notesSlide" Target="/ppt/notesSlides/notesSlide195.xml" Id="R76a88b86352e4a5d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c3645bb1840b8" /><Relationship Type="http://schemas.openxmlformats.org/officeDocument/2006/relationships/notesSlide" Target="/ppt/notesSlides/notesSlide196.xml" Id="R6fa2653db77b4519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2106221de42fe" /><Relationship Type="http://schemas.openxmlformats.org/officeDocument/2006/relationships/notesSlide" Target="/ppt/notesSlides/notesSlide197.xml" Id="Ra4e7c1763b0c4e67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de09966c249a9" /><Relationship Type="http://schemas.openxmlformats.org/officeDocument/2006/relationships/notesSlide" Target="/ppt/notesSlides/notesSlide198.xml" Id="R24fb668188d549e6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85596e8544ae8" /><Relationship Type="http://schemas.openxmlformats.org/officeDocument/2006/relationships/notesSlide" Target="/ppt/notesSlides/notesSlide199.xml" Id="R3762fa47ecc34a98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114e812aa4388" /><Relationship Type="http://schemas.openxmlformats.org/officeDocument/2006/relationships/notesSlide" Target="/ppt/notesSlides/notesSlide200.xml" Id="Ra030657014f3418a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cce99e5694cc5" /><Relationship Type="http://schemas.openxmlformats.org/officeDocument/2006/relationships/notesSlide" Target="/ppt/notesSlides/notesSlide201.xml" Id="Re94fda1e525d4599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a7a6194f04a47" /><Relationship Type="http://schemas.openxmlformats.org/officeDocument/2006/relationships/notesSlide" Target="/ppt/notesSlides/notesSlide202.xml" Id="R77bdb3b3facf4785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929125f424123" /><Relationship Type="http://schemas.openxmlformats.org/officeDocument/2006/relationships/notesSlide" Target="/ppt/notesSlides/notesSlide203.xml" Id="R9a61b086cc0a4078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279889927444d" /><Relationship Type="http://schemas.openxmlformats.org/officeDocument/2006/relationships/notesSlide" Target="/ppt/notesSlides/notesSlide204.xml" Id="Rb878f2c7a6ae4370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a6154586e4f6f" /><Relationship Type="http://schemas.openxmlformats.org/officeDocument/2006/relationships/notesSlide" Target="/ppt/notesSlides/notesSlide205.xml" Id="R15856e1843064cef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7a8c65d044b5c" /><Relationship Type="http://schemas.openxmlformats.org/officeDocument/2006/relationships/notesSlide" Target="/ppt/notesSlides/notesSlide206.xml" Id="R1e68edd180324ec3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1a25a2ceb4c94" /><Relationship Type="http://schemas.openxmlformats.org/officeDocument/2006/relationships/notesSlide" Target="/ppt/notesSlides/notesSlide207.xml" Id="Rc859da323aa44021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0c440a83f4949" /><Relationship Type="http://schemas.openxmlformats.org/officeDocument/2006/relationships/notesSlide" Target="/ppt/notesSlides/notesSlide208.xml" Id="R224f2bf41bc949bd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43c463a454c0d" /><Relationship Type="http://schemas.openxmlformats.org/officeDocument/2006/relationships/notesSlide" Target="/ppt/notesSlides/notesSlide209.xml" Id="R614297f241124faf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020167aae483d" /><Relationship Type="http://schemas.openxmlformats.org/officeDocument/2006/relationships/notesSlide" Target="/ppt/notesSlides/notesSlide210.xml" Id="R91fcdb4963bf4fe0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cdfac7094e68" /><Relationship Type="http://schemas.openxmlformats.org/officeDocument/2006/relationships/notesSlide" Target="/ppt/notesSlides/notesSlide211.xml" Id="R99c0c4804b34460e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93d3725d04d71" /><Relationship Type="http://schemas.openxmlformats.org/officeDocument/2006/relationships/notesSlide" Target="/ppt/notesSlides/notesSlide212.xml" Id="Rf7700daafda54988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81e3bfabb4aa9" /><Relationship Type="http://schemas.openxmlformats.org/officeDocument/2006/relationships/notesSlide" Target="/ppt/notesSlides/notesSlide213.xml" Id="Raa2575805c2e401b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c06276fe04f1c" /><Relationship Type="http://schemas.openxmlformats.org/officeDocument/2006/relationships/notesSlide" Target="/ppt/notesSlides/notesSlide214.xml" Id="R740e7c8a5c774451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d2d3e30874c53" /><Relationship Type="http://schemas.openxmlformats.org/officeDocument/2006/relationships/notesSlide" Target="/ppt/notesSlides/notesSlide215.xml" Id="R01cf48c479d549b2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e158f02ae47bc" /><Relationship Type="http://schemas.openxmlformats.org/officeDocument/2006/relationships/notesSlide" Target="/ppt/notesSlides/notesSlide216.xml" Id="R86e93bdf20444845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771ddc47846a1" /><Relationship Type="http://schemas.openxmlformats.org/officeDocument/2006/relationships/notesSlide" Target="/ppt/notesSlides/notesSlide217.xml" Id="R7bbaef0d209e4821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803077be4d7d" /><Relationship Type="http://schemas.openxmlformats.org/officeDocument/2006/relationships/notesSlide" Target="/ppt/notesSlides/notesSlide218.xml" Id="R280777738a734ab9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f7e549dd4cab" /><Relationship Type="http://schemas.openxmlformats.org/officeDocument/2006/relationships/notesSlide" Target="/ppt/notesSlides/notesSlide219.xml" Id="R6629f1d6a8984ab4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6d4e6827e4ba6" /><Relationship Type="http://schemas.openxmlformats.org/officeDocument/2006/relationships/notesSlide" Target="/ppt/notesSlides/notesSlide220.xml" Id="R2d806fffd1c1425f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00017fc904a5c" /><Relationship Type="http://schemas.openxmlformats.org/officeDocument/2006/relationships/notesSlide" Target="/ppt/notesSlides/notesSlide221.xml" Id="R276af2b154824f28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6c9384223447a" /><Relationship Type="http://schemas.openxmlformats.org/officeDocument/2006/relationships/notesSlide" Target="/ppt/notesSlides/notesSlide222.xml" Id="R9ed1a7e7a6594a36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9a7e786444eb0" /><Relationship Type="http://schemas.openxmlformats.org/officeDocument/2006/relationships/notesSlide" Target="/ppt/notesSlides/notesSlide223.xml" Id="Rbe68b95ea8004fab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aa40e327d452d" /><Relationship Type="http://schemas.openxmlformats.org/officeDocument/2006/relationships/notesSlide" Target="/ppt/notesSlides/notesSlide224.xml" Id="Rd313b0eeffae47f3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0dd92e7b04122" /><Relationship Type="http://schemas.openxmlformats.org/officeDocument/2006/relationships/notesSlide" Target="/ppt/notesSlides/notesSlide225.xml" Id="R3bb0049da2814721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6049514d24fe7" /><Relationship Type="http://schemas.openxmlformats.org/officeDocument/2006/relationships/notesSlide" Target="/ppt/notesSlides/notesSlide226.xml" Id="Ra67860dec6f74c80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c961e202e41ed" /><Relationship Type="http://schemas.openxmlformats.org/officeDocument/2006/relationships/notesSlide" Target="/ppt/notesSlides/notesSlide227.xml" Id="Re73adebe28f4439f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004b5d0d24936" /><Relationship Type="http://schemas.openxmlformats.org/officeDocument/2006/relationships/notesSlide" Target="/ppt/notesSlides/notesSlide228.xml" Id="R4f2c5ee325c8418a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06dcda0b84a54" /><Relationship Type="http://schemas.openxmlformats.org/officeDocument/2006/relationships/notesSlide" Target="/ppt/notesSlides/notesSlide229.xml" Id="Ra129848011ab4642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849db9c7d4ebd" /><Relationship Type="http://schemas.openxmlformats.org/officeDocument/2006/relationships/notesSlide" Target="/ppt/notesSlides/notesSlide230.xml" Id="R0d0e0b0e651647f2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8defdc5a44a97" /><Relationship Type="http://schemas.openxmlformats.org/officeDocument/2006/relationships/notesSlide" Target="/ppt/notesSlides/notesSlide231.xml" Id="R400cc626a4d447b4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6dd509c0b4845" /><Relationship Type="http://schemas.openxmlformats.org/officeDocument/2006/relationships/notesSlide" Target="/ppt/notesSlides/notesSlide232.xml" Id="Rff4e23c473344fa7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6c46f45a44fc2" /><Relationship Type="http://schemas.openxmlformats.org/officeDocument/2006/relationships/notesSlide" Target="/ppt/notesSlides/notesSlide233.xml" Id="Rf8d1eac7b8b745f4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2ba434b304d88" /><Relationship Type="http://schemas.openxmlformats.org/officeDocument/2006/relationships/notesSlide" Target="/ppt/notesSlides/notesSlide234.xml" Id="Rcf5a7dcdea23454c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d91ec762b4992" /><Relationship Type="http://schemas.openxmlformats.org/officeDocument/2006/relationships/notesSlide" Target="/ppt/notesSlides/notesSlide235.xml" Id="Rcdd94b404cd94d4d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cefc405394deb" /><Relationship Type="http://schemas.openxmlformats.org/officeDocument/2006/relationships/notesSlide" Target="/ppt/notesSlides/notesSlide236.xml" Id="Reefa37891a4648d3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c9fa8855241a4" /><Relationship Type="http://schemas.openxmlformats.org/officeDocument/2006/relationships/notesSlide" Target="/ppt/notesSlides/notesSlide237.xml" Id="R4256458989ab44c4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f9659074449ce" /><Relationship Type="http://schemas.openxmlformats.org/officeDocument/2006/relationships/notesSlide" Target="/ppt/notesSlides/notesSlide238.xml" Id="R9fa1cd04f4c64e5e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4ad5013f0422c" /><Relationship Type="http://schemas.openxmlformats.org/officeDocument/2006/relationships/notesSlide" Target="/ppt/notesSlides/notesSlide239.xml" Id="R8e5340ff095845d7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202b739204aa0" /><Relationship Type="http://schemas.openxmlformats.org/officeDocument/2006/relationships/notesSlide" Target="/ppt/notesSlides/notesSlide240.xml" Id="R7b49291978144411" /></Relationships>
</file>

<file path=ppt/slides/_rels/slide2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fd5857910404b" /><Relationship Type="http://schemas.openxmlformats.org/officeDocument/2006/relationships/notesSlide" Target="/ppt/notesSlides/notesSlide241.xml" Id="Rbd7a0c23b83a45fa" /></Relationships>
</file>

<file path=ppt/slides/_rels/slide2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2129dd54a4071" /><Relationship Type="http://schemas.openxmlformats.org/officeDocument/2006/relationships/notesSlide" Target="/ppt/notesSlides/notesSlide242.xml" Id="R2f86a44439d94469" /></Relationships>
</file>

<file path=ppt/slides/_rels/slide2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ff89f23cb4aec" /><Relationship Type="http://schemas.openxmlformats.org/officeDocument/2006/relationships/notesSlide" Target="/ppt/notesSlides/notesSlide243.xml" Id="Rd09f71144d37416b" /></Relationships>
</file>

<file path=ppt/slides/_rels/slide2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5673b27dc481f" /><Relationship Type="http://schemas.openxmlformats.org/officeDocument/2006/relationships/notesSlide" Target="/ppt/notesSlides/notesSlide244.xml" Id="Rc66f55e665b242f6" /></Relationships>
</file>

<file path=ppt/slides/_rels/slide2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84c462f664880" /><Relationship Type="http://schemas.openxmlformats.org/officeDocument/2006/relationships/notesSlide" Target="/ppt/notesSlides/notesSlide245.xml" Id="R8e614bbd402a40ca" /></Relationships>
</file>

<file path=ppt/slides/_rels/slide2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37ae07e124f5d" /><Relationship Type="http://schemas.openxmlformats.org/officeDocument/2006/relationships/notesSlide" Target="/ppt/notesSlides/notesSlide246.xml" Id="R3fedfbb8f0c245dc" /></Relationships>
</file>

<file path=ppt/slides/_rels/slide2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240d6c08b445a" /><Relationship Type="http://schemas.openxmlformats.org/officeDocument/2006/relationships/notesSlide" Target="/ppt/notesSlides/notesSlide247.xml" Id="R57fa67fe377e4b88" /></Relationships>
</file>

<file path=ppt/slides/_rels/slide2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cfc5c5f0c411c" /><Relationship Type="http://schemas.openxmlformats.org/officeDocument/2006/relationships/notesSlide" Target="/ppt/notesSlides/notesSlide248.xml" Id="R6b21bc2040c74440" /></Relationships>
</file>

<file path=ppt/slides/_rels/slide2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fc47bd279470d" /><Relationship Type="http://schemas.openxmlformats.org/officeDocument/2006/relationships/notesSlide" Target="/ppt/notesSlides/notesSlide249.xml" Id="R359e4af458d14466" /></Relationships>
</file>

<file path=ppt/slides/_rels/slide2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d8ede4e364827" /><Relationship Type="http://schemas.openxmlformats.org/officeDocument/2006/relationships/notesSlide" Target="/ppt/notesSlides/notesSlide250.xml" Id="R9de3d2c3eadc4d7b" /></Relationships>
</file>

<file path=ppt/slides/_rels/slide2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69cf46b54864" /><Relationship Type="http://schemas.openxmlformats.org/officeDocument/2006/relationships/notesSlide" Target="/ppt/notesSlides/notesSlide251.xml" Id="R651cdf9e83d046e7" /></Relationships>
</file>

<file path=ppt/slides/_rels/slide2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c0c2fba8c4f75" /><Relationship Type="http://schemas.openxmlformats.org/officeDocument/2006/relationships/notesSlide" Target="/ppt/notesSlides/notesSlide252.xml" Id="R709abe4f0a1e4f6f" /></Relationships>
</file>

<file path=ppt/slides/_rels/slide2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56539722542ec" /><Relationship Type="http://schemas.openxmlformats.org/officeDocument/2006/relationships/notesSlide" Target="/ppt/notesSlides/notesSlide253.xml" Id="R1d729bf25d924619" /></Relationships>
</file>

<file path=ppt/slides/_rels/slide2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67c582fec49f4" /><Relationship Type="http://schemas.openxmlformats.org/officeDocument/2006/relationships/notesSlide" Target="/ppt/notesSlides/notesSlide254.xml" Id="Rcd1cebd2d3194f98" /></Relationships>
</file>

<file path=ppt/slides/_rels/slide2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62e9a64a9483b" /><Relationship Type="http://schemas.openxmlformats.org/officeDocument/2006/relationships/notesSlide" Target="/ppt/notesSlides/notesSlide255.xml" Id="R8719e2b2ce334f88" /></Relationships>
</file>

<file path=ppt/slides/_rels/slide2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c51e452b847d2" /><Relationship Type="http://schemas.openxmlformats.org/officeDocument/2006/relationships/notesSlide" Target="/ppt/notesSlides/notesSlide256.xml" Id="Rf60d125e276d4943" /></Relationships>
</file>

<file path=ppt/slides/_rels/slide2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3dc26d4ff4a7b" /><Relationship Type="http://schemas.openxmlformats.org/officeDocument/2006/relationships/notesSlide" Target="/ppt/notesSlides/notesSlide257.xml" Id="R6c69a03a0d7f433a" /></Relationships>
</file>

<file path=ppt/slides/_rels/slide2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ef060ea56499f" /><Relationship Type="http://schemas.openxmlformats.org/officeDocument/2006/relationships/notesSlide" Target="/ppt/notesSlides/notesSlide258.xml" Id="Rfec4d4e17bdf4652" /></Relationships>
</file>

<file path=ppt/slides/_rels/slide2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2a6c324a3427a" /><Relationship Type="http://schemas.openxmlformats.org/officeDocument/2006/relationships/notesSlide" Target="/ppt/notesSlides/notesSlide259.xml" Id="Rcd40e5e54b3f41bf" /></Relationships>
</file>

<file path=ppt/slides/_rels/slide2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f6d8a3e74d6d" /><Relationship Type="http://schemas.openxmlformats.org/officeDocument/2006/relationships/notesSlide" Target="/ppt/notesSlides/notesSlide260.xml" Id="Rd9376d35580d4d13" /></Relationships>
</file>

<file path=ppt/slides/_rels/slide2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0042133114ca4" /><Relationship Type="http://schemas.openxmlformats.org/officeDocument/2006/relationships/notesSlide" Target="/ppt/notesSlides/notesSlide261.xml" Id="R56599f4f475942f9" /></Relationships>
</file>

<file path=ppt/slides/_rels/slide2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f8de297a8426a" /><Relationship Type="http://schemas.openxmlformats.org/officeDocument/2006/relationships/notesSlide" Target="/ppt/notesSlides/notesSlide262.xml" Id="Rd0650c41647e4155" /></Relationships>
</file>

<file path=ppt/slides/_rels/slide2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6631458154f6e" /><Relationship Type="http://schemas.openxmlformats.org/officeDocument/2006/relationships/notesSlide" Target="/ppt/notesSlides/notesSlide263.xml" Id="R261fc1390b134138" /></Relationships>
</file>

<file path=ppt/slides/_rels/slide2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81e82a8849ae" /><Relationship Type="http://schemas.openxmlformats.org/officeDocument/2006/relationships/notesSlide" Target="/ppt/notesSlides/notesSlide264.xml" Id="Rff81e346da434c0d" /></Relationships>
</file>

<file path=ppt/slides/_rels/slide2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2f3525ac34586" /><Relationship Type="http://schemas.openxmlformats.org/officeDocument/2006/relationships/notesSlide" Target="/ppt/notesSlides/notesSlide265.xml" Id="R5fa8acc9fd8b4fc6" /></Relationships>
</file>

<file path=ppt/slides/_rels/slide2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2e5cf491044df" /><Relationship Type="http://schemas.openxmlformats.org/officeDocument/2006/relationships/notesSlide" Target="/ppt/notesSlides/notesSlide266.xml" Id="R6daa31e658a94196" /></Relationships>
</file>

<file path=ppt/slides/_rels/slide2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8672ed4dc49b3" /><Relationship Type="http://schemas.openxmlformats.org/officeDocument/2006/relationships/notesSlide" Target="/ppt/notesSlides/notesSlide267.xml" Id="R18d8ac6bddb04de9" /></Relationships>
</file>

<file path=ppt/slides/_rels/slide2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73cdc46984654" /><Relationship Type="http://schemas.openxmlformats.org/officeDocument/2006/relationships/notesSlide" Target="/ppt/notesSlides/notesSlide268.xml" Id="R4380ee1ae66248f9" /></Relationships>
</file>

<file path=ppt/slides/_rels/slide2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00703997a4576" /><Relationship Type="http://schemas.openxmlformats.org/officeDocument/2006/relationships/notesSlide" Target="/ppt/notesSlides/notesSlide269.xml" Id="R018711a4597643e2" /></Relationships>
</file>

<file path=ppt/slides/_rels/slide2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a712d9b664543" /><Relationship Type="http://schemas.openxmlformats.org/officeDocument/2006/relationships/notesSlide" Target="/ppt/notesSlides/notesSlide270.xml" Id="R6c4ae31df3014756" /></Relationships>
</file>

<file path=ppt/slides/_rels/slide2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6b009922347ad" /><Relationship Type="http://schemas.openxmlformats.org/officeDocument/2006/relationships/notesSlide" Target="/ppt/notesSlides/notesSlide271.xml" Id="R3eb38f5b03fa4b7b" /></Relationships>
</file>

<file path=ppt/slides/_rels/slide2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693dd893a435f" /><Relationship Type="http://schemas.openxmlformats.org/officeDocument/2006/relationships/notesSlide" Target="/ppt/notesSlides/notesSlide272.xml" Id="Ra080b4727f2e4de1" /></Relationships>
</file>

<file path=ppt/slides/_rels/slide2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fcc2932842e1" /><Relationship Type="http://schemas.openxmlformats.org/officeDocument/2006/relationships/notesSlide" Target="/ppt/notesSlides/notesSlide273.xml" Id="R7783161247684ae3" /></Relationships>
</file>

<file path=ppt/slides/_rels/slide2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262cc57ea4244" /><Relationship Type="http://schemas.openxmlformats.org/officeDocument/2006/relationships/notesSlide" Target="/ppt/notesSlides/notesSlide274.xml" Id="R83bb684693a84830" /></Relationships>
</file>

<file path=ppt/slides/_rels/slide2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0503b03ef45ec" /><Relationship Type="http://schemas.openxmlformats.org/officeDocument/2006/relationships/notesSlide" Target="/ppt/notesSlides/notesSlide275.xml" Id="Re24b5fb0fc5d44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56178C-F1D1-4381-A446-2933E032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C298A-DABC-4D6D-AACE-A5B5A4B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94B97-5ED7-4E7D-84C1-D30EECC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7D1A3-484D-4B74-BDA4-48F74C86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RESEARCH SLIDE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AC0D8-487F-4B36-AD69-D46FDBAC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Arm/RISC-V TEE、CCA/CoVE、内存与 I/O 数据路径的技术演进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DA806-4537-4BAF-8C36-EAB33948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硬件辅助机密计算</a:t>
            </a:r>
          </a:p>
          <a:p xmlns:a="http://schemas.openxmlformats.org/drawingml/2006/main">
            <a:pPr algn="l">
              <a:defRPr sz="39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与可信 I/O 安全综述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85535-1BC9-43D8-849C-19E63888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面向体系结构、系统安全与云基础设施的研究型技术演进报告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49C8D-3399-4253-A36F-50C8DA7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6572B-A5C5-4BE4-A291-A47E1FB1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DFF98-1AF7-41B6-9F18-7DE65FD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技术方向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772E4-9717-44F3-9331-68B818AC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覆盖 CPU TEE 到可信设备路径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277AD-A807-48D4-A15B-BB5BE7E6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8055A-9905-4D56-AD31-5587871C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155B6-D7B0-4891-8976-640C4B5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代表材料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5262A-E3FF-4E9B-95E7-74B0814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2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规范、系统论文与 SoK 分层引用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BE195-B250-4F6B-A35A-FD90B0D0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43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14260-1A61-4DAC-9DB2-1A99AB1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FD5E6-1271-4336-8975-1D5662C4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EA153-36CD-4833-A319-89617468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2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封面、总览、方向页与总结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8F98E-A491-4651-91E2-0841080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9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F6FA9-C766-4DF3-B3A0-326A28CA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E0-E5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7E3C9-7455-4C36-844E-29C863E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38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证据体系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8EEDE-4BAC-4E7C-9159-B87C33C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2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每页保留 claim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A5A65-9933-4F13-A4FC-9F63A10D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4E5B8-1780-4E49-AAE1-F460E25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1FE43-2627-4620-9F74-C563860D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报告主线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63221-199A-4DE6-AD25-A9586DF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EEB72-C870-40B8-81D7-D7F19491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33675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A29B7-76C7-4E95-80BC-95A5036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812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分类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396D8-F503-4778-82CC-3125D11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4BC51A-E2D7-4863-B5AE-F063F7EE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43E5D1-193E-42E3-9AF1-81BDD386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6445D-FD44-4C6E-9CBD-2F6CC41C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50CBF9-739D-4670-9279-789AD4DE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38575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83F3A-21BB-4C07-B71D-B639C3CC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861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DF71F-E475-41EE-8A80-0DDE4F7B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79F3C0-11C7-496C-9000-FB1D77F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91025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3CE2EF-DDFF-465C-A8AD-72FA77C5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38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内存与 I/O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74B41B-7EBF-4689-A7FB-CC029F5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1F38CB-CE36-4177-BDD2-BC8EAAA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43475"/>
            <a:ext cx="251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F25783-E876-46EA-BDC4-ED858D18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910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DPU / SmartNIC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B2B7BB-E69C-4A4E-9E3E-375F12E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26FD38-8F63-4168-B62E-2EEB25E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硬件安全研究综述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7E6068-2CC5-4576-9300-3CD38C7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8614641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7BEBE-499F-41F7-A661-DA043703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CC5BF-1ED6-4379-95F4-359B2EE7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01F71-1E01-436C-AF1D-FC0CAD93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报告定位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BA62-709F-42AB-A5EE-38F1C931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C575C-6570-49E5-8E25-A328049F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F6A61-08F7-41F5-852F-53C5774D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平台管理者不可信，但仍掌握 CPU 调度、内存、I/O 和设备资源。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982E3-21BB-4044-A73A-0A0AECFD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F4BBD-5472-46CD-8B3B-BF3A29FC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343D6-B839-4610-8F58-2EA402F6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49B0C-4440-495C-9565-69B088C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68F9C-D289-49FF-AFBC-89B7839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 仍控制调度、页表、DMA、interrupt 与设备分配。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B2CDF-182F-4284-BE46-E8FF584E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C360D-07D6-4543-B8CC-5CA3AF8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机密计算要把访问控制下沉到硬件边界与证明链。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C6710-03A7-406A-8759-CC1058F0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3162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2217B-64F8-41CC-8074-0DC2146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7E76B-B739-4653-90E7-0E23C581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报告范围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8262F-592A-4E59-B28F-98334F8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97B9F-AE8E-41AF-84F1-38A3926A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/ CCA / RME / RMM。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DB832-D1B6-4F45-9757-306F6AC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5FC28-D9C1-44F9-912C-2AEA2D1E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primitives、TEE lineage、CoVE / AP-TEE。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B4544-FAA3-4C6E-96B9-6C9DA6E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0639C-88E4-4431-B4EC-F9E6BA4E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Memory、CXL、PCIe IDE、SPDM、DPU、SmartNIC。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864B0-8611-4974-BC4B-742283E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31623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5701B-AFF5-4B6A-B9A0-86AA6190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D279-874A-4F96-A991-3F35EDA9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2819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阅读主线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5E3AF-C4E2-40BE-A1EA-FF3FC84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46C2A-76F8-4A1D-8242-D4A213C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taxonomy -&gt; Arm CCA / RISC-V CoVE。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8A045-489D-4A4B-9EB7-2316254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55F995-793F-4937-A046-FD8B5E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ownership -&gt; I/O fabric -&gt; trusted device interface。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00094-6AB5-4DE8-993F-D2A6AEE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F5C5C-C1F7-47DC-B5B5-6CDD7F5D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67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/ TDISP / IDE -&gt; DPU / SmartNIC / storage endpoint。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893175-6FF9-4F6C-88D7-B73E4A7F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C5A00-ADAD-4165-903F-AEB5FAF1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总览 | 报告定位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291C0-8085-483B-B927-6AB7106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002</a:t>
            </a:r>
          </a:p>
        </p:txBody>
      </p:sp>
    </p:spTree>
    <p:extLst>
      <p:ext uri="{BB962C8B-B14F-4D97-AF65-F5344CB8AC3E}">
        <p14:creationId xmlns:p14="http://schemas.microsoft.com/office/powerpoint/2010/main" val="13343912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56581-7AE7-439D-9020-EEBE71E5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F083-CAE6-427D-8A1F-DD68874D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988D5-3AD2-465C-876F-BF88191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C208A-F68C-4122-BC59-104576C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1E87A-A00D-42BB-A819-9C6AFE9B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E0-E5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374D2-542A-4E40-B541-60579C5E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所有机制和实验结论都必须落在证据等级允许的范围内。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0F3B9-F7A5-4491-8D72-EE8CA2DA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CD99E-5125-4BEC-B598-A6993000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46254-3583-425D-A0BC-55886BF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E0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9754B-221A-4A1E-A443-D9697B5B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规范性机制、状态、接口和术语；没有独立实验时写“规范，无新实验”。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4DEEE-6903-45BC-82D7-384D5A4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70967-5E3C-4108-81B2-690B7F4B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E4A73-7B52-4E5A-B4A1-B9E34AA2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C57E5-A7E8-468B-88BD-F0C2C3C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003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同行评审系统论文可支撑系统设计、实现和实验结果，但限定在论文 threat model 和 workload 内。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1E613-804A-493F-8B61-4447F634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ED400-57FA-4452-B7F8-F662DDB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FB0F3-8010-451A-8C4E-EB2E99A9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E2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504FF-FB66-4969-88B2-328A17D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05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SoK/Survey 用于 taxonomy、覆盖范围和 related-work framing；机制结论回到原论文或规范。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11982-6968-4508-B6D6-563A45E7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CD1DB-4ED7-4401-99A5-EEE118F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61562-A831-4B27-A371-7E986FA7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83180-4DA4-4954-B3E0-5E86392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emerging direction 与草案状态；显式标注 draft/not ratified。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A1E4E-347B-48D7-BAB9-AC23969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6DA4F-1D91-442F-9881-24027F21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8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A5ADE-F829-41B1-8F5E-035BBCE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E4/E5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8E264-56E9-4D1E-A47A-E4B50F3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149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厂商材料或来源受限材料只支撑产品行为、工程背景或研究线索。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268967-A66B-4AF8-8607-5585D27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62F30-7C01-418B-908E-A9D209B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总览 | 证据边界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4FAE7-2F2A-4050-9828-00DBFB4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003</a:t>
            </a:r>
          </a:p>
        </p:txBody>
      </p:sp>
    </p:spTree>
    <p:extLst>
      <p:ext uri="{BB962C8B-B14F-4D97-AF65-F5344CB8AC3E}">
        <p14:creationId xmlns:p14="http://schemas.microsoft.com/office/powerpoint/2010/main" val="857987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1F0B0-D3C0-49A7-A3E7-7EB622A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0842E-AFD1-4AB7-8034-84E45E7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8F79C-9FF7-4663-B548-96FC1142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BCBD1-6AC8-4AED-A6CF-DA247A79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F3A72-8BA3-4AC6-AA1A-6421EC5A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57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F2271-E457-4AC1-A3EC-DB135FF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15 个技术方向按保护对象、资源管理者、证据链和设备边界展开。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85F3B-A9A4-4BCA-85C1-03E203C8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A7557-AE06-4000-A996-4AD5575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基础与 Arm 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CBE8D-8C44-49EC-8BC8-06C69D2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01-05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0F50-1BCB-42CB-BAA9-C9FCEA1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240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TEE taxonomy；TrustZone；Arm CCA/RME/RMM；部署与 I/O 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2E42C-B5B2-49D6-B642-CA9BFC26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76372-31DF-4B28-BDDB-3E327AD0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 与 RISC-V 基础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B685C-E7CD-4DB5-B2C8-AF72564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CABA4-45EA-4726-9E27-1AA3D34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RATS/boot/lifecycle；RISC-V primitives；TEE lineage；CoVE/AP-TEE；CoVE-IO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EA7C8-AAFA-405D-903B-39EA51D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76BAA-96D2-4EBC-886F-7CE7979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/ Fabric / 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546C0-008E-4007-9052-7A6CB0DC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11-13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9D983-4BE5-4412-A8CB-EE313531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encryption/integrity；CXL/PCIe IDE/RDMA；SPDM/TDISP/TLS+RA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A5950-9CD0-439B-AA3B-752AA22B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50986-BAB2-4388-AA0C-19938BCF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/ DPU / SmartNIC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3C5EE-77A9-4D7A-B382-E35DEAD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14-15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DE599A-CBAA-4301-BCC3-1F3C9B5C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GPU/FPGA/DPU confidential offload；trusted NIC；secure storage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FE646-6736-47D4-A55F-56B6F6B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62C63-3A77-4A91-B5CF-76FF22D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全局总结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DB5C1-9DCB-47FF-8903-BB4C7BD0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结尾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EF48F-AE1E-45A6-817A-A621F8B7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证据边界、研究空白、工程落地优先级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8EA92-1D1C-402D-9C4B-7C23E6E6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666BF-7091-4A8A-B940-8D6A4CA6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总览 | 方向索引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9EE6CC-1CA9-4944-96E5-206C60E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004</a:t>
            </a:r>
          </a:p>
        </p:txBody>
      </p:sp>
    </p:spTree>
    <p:extLst>
      <p:ext uri="{BB962C8B-B14F-4D97-AF65-F5344CB8AC3E}">
        <p14:creationId xmlns:p14="http://schemas.microsoft.com/office/powerpoint/2010/main" val="7946149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3E18DB-8A5A-4A86-9203-986B4538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4A71F-8352-4EF1-9FDB-B2EF620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AACF1-2833-4FB7-B5FF-FE820E2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5D99-AEF1-4C8F-A935-EDDCA58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E5CA8-393A-4DEC-8D0C-14AD8FD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硬件辅助 TEE taxonomy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F1B34-9181-494D-9C68-E51B688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 SoK/Survey 固定 design space，避免把 SGX、SEV、TrustZone、CCA、CoVE 和 accelerator TEE 混成产品罗列。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B192E-45EE-4C6C-967D-93CD6242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EA361-9D2B-4BE3-8E24-C2541D79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640B3-F810-4D99-A4B6-F76EA811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032A0-C443-4B8C-8CA2-D1F8AB45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4EB1B-D7F7-42DF-AA13-CD7D5786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6FF88-44BA-4899-AC46-F9CB80EB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5E4B9-B36D-4E4D-A4B4-AFFCACDE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9C42A-B383-4E35-B14F-34E3E7F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71C6B-840E-49A0-A438-D72B3E4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SoK: Analysis of Accelerator TEE Designs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F45B2-69C3-43B2-BC88-72352244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6279-3EEC-4E5D-8310-A6411906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33286-E9D3-4253-B66C-FC49FA21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1B1AF-CF23-48DE-8345-371AB24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08B00-E41E-4F56-AD39-FD3E610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硬件辅助 TEE taxonomy  |  01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39AA6-CDD6-471D-B48D-56615ED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005</a:t>
            </a:r>
          </a:p>
        </p:txBody>
      </p:sp>
    </p:spTree>
    <p:extLst>
      <p:ext uri="{BB962C8B-B14F-4D97-AF65-F5344CB8AC3E}">
        <p14:creationId xmlns:p14="http://schemas.microsoft.com/office/powerpoint/2010/main" val="784732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4D980-EE30-4EBF-A12C-53891DF0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575B7-5406-4664-BF4C-170B5BF9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4CB6E-B445-4F00-9A12-825D752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18694-01A8-459C-8992-313B847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硬件辅助 TEE taxonomy：方向开场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D6AC-4062-45C4-B707-E15B9303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2F8F6-24FF-4646-AA53-7A2DE05B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71BB8-EEAC-4BD1-8AC6-8EFCA19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D50DF-9F75-4839-B15E-5479B88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 的任务不是罗列 SGX、SEV、TrustZone、CCA、CoVE，而是建立一张能解释 protected object、resource manager、evidence chain 和 device boundary 的总分类图。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AB097-6FB5-4CC7-B061-0A18BCB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3A30-A084-4CC4-B4A3-B80F6454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0ABAD-D0D1-47BF-8039-8D1B51A5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45603-25F2-48E2-995F-7DDEB612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DFE2F-167B-4B64-9432-E14B4E0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的共同问题是：远程用户不信任平台管理者，但平台仍要调度 CPU、分配内存、处理 I/O，并给 verifier 提供可信证据。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AEB87-5C76-417B-B464-5F5DA76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C918-E50C-496F-9A49-2DDE4BE7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本方向用 Li 2024 固定通用 server-side TEE runtime taxonomy，用 Boubakri 2025 补 RISC-V 开放 ISA 谱系，用 Wang/Huang 2026 补 accelerator/device TEE 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C417E-3620-4E2B-8AF5-C49C36F8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08B15-1436-4C8F-88B3-70D0B7E3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三篇都是 SoK/Survey，因此只作为 design-space anchor；具体平台机制、协议状态和性能数字仍回到原始论文或官方规范。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E5382-9BB5-4C9C-91DA-5835F047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0AC347-A4BB-421A-98EE-6B65AEAF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讲法上先建立分类轴，再进入后续章节的 Arm CCA、RISC-V CoVE/AP-TEE、CoVE-IO、SPDM/TDISP、accelerator TEE。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AD853-8B6B-4CB6-852E-32001AF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D2FC8-D8DE-4A7F-8287-841B85C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EDBF9-19A1-48B4-9C21-F1364FCA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的分类轴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4A190-466E-4A10-A02A-CF322B78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分类轴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4B09A-6BE2-491C-892F-DA4BE46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7285B-C7D8-4F0F-B770-B92D194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后续章节映射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FF4F9-41B8-4737-B3C5-9688C6C8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0ACC7-1075-4578-B0E8-856D6A9D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Protected object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BB6D4-7FF0-469A-9DCD-50F9371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保护 enclave/CVM/Realm/device workload 的哪一段状态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7903A-8137-4110-B53B-0F5FF837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TrustZone、CCA、CoVE、accelerator TEE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F21FA-1E06-47E3-92B3-C8B0EED7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78C5D-AC98-4503-B191-ACCE6599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Resource manager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D6963A-1CF5-4FC8-BB4A-7861AC41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host、RTPM/RMM/TSM、TEE instance 或 device controller 谁管资源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2F313-1918-4AEC-A8AC-EC9051BF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runtime、memory ownership、interrupt、I/O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57559-9894-42C5-AD0E-BF1B8BFE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669C35-1DAF-4149-8D5F-33C183C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 chain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6301A0-8432-417B-BD66-70ACDCF0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attestation report 覆盖哪些初始状态和配置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8EF606-CAB3-4AF8-9DB9-67F16F9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RATS、CCA token、TVM/device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AFC81D-370C-4F8B-B24C-A3F54FA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426B96-1CD9-40D0-B09A-F081289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boundary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7BC211-D3A7-497C-9989-32EBDBDB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数据离开 CPU TEE 后是否仍有身份、隔离和加密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46D6EF-BB70-4BA4-A423-342A1B44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CoVE-IO、SPDM/TDISP、IDE、DPU/GPU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E3D7F3-4A02-401F-B231-A48F84AE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43DEC-77FE-4E0C-8DDD-9557B38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来源：本页用三篇 SoK/Survey 建立方向边界，不把它们当作一手机制证据。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C1232-2551-424E-9E55-9B7415BD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5688AD-D504-40C6-B738-9B3B6A73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958085-0881-494A-A02C-B2469301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557CEE-CC41-4001-8179-C7C20A5D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方向开场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426938-5F7F-4325-A825-98CEFB67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006</a:t>
            </a:r>
          </a:p>
        </p:txBody>
      </p:sp>
    </p:spTree>
    <p:extLst>
      <p:ext uri="{BB962C8B-B14F-4D97-AF65-F5344CB8AC3E}">
        <p14:creationId xmlns:p14="http://schemas.microsoft.com/office/powerpoint/2010/main" val="9858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FEDF7-ED52-43F4-81D2-A80CB7C4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4EF8-F045-43CB-82F7-BA8116F2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11C4D-464D-407D-9F11-621BA37C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5AD2F-1398-4BE5-8C65-3DFD9A1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23F3-12F8-4A00-805E-59783AF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E52B9-6B61-42C5-B839-D401C82E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AF1EF-2EBC-445E-B530-E5475726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89BC-DC0E-45A8-BF04-3ED72A74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 2024 的核心贡献是 TRAF：把 TEE 生命周期和 CPU/memory/I/O runtime event 映射到四种 resource-management mode。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0673E-CA0E-4F7E-9595-7F7F011F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84DAB-DC95-4C73-8792-CBD3E1C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14DB6-25E1-4A7E-B7E9-EBFBD803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CA0FC-2642-4AA3-AA59-71C5BBE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9902-282B-45B0-AC88-27FA6A2C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动机：server-side TEEs 设计差异大，读者只按产品名学习会看不清 host、TCB、TEE instance 的职责边界。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B2021-52FE-4FE1-B748-425BCE6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1437F-0140-4FD4-AAAA-CE7E7577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工作：提出 TEE Runtime Architectural Framework，先分 remote attestation 与 runtime management，再分析 CPU、memory、I/O 事件。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B53E5-9040-46FD-B7CC-F617A5A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29907-057D-461D-B4D4-0DB2CF9A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关键设计：unprotected、RTPM-only、RTPM-guarded、instance-assisted 四种 mode 解释安全、可管理性和 TCB 规模之间的取舍。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C862B-17C1-446C-944C-89D284D9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573A-8B9F-41FE-BE4D-D9865FFD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在本报告中，它是 01 的主 taxonomy anchor，但不替代平台论文或官方规范。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1ACE9-CC8B-41D5-97C5-E648DFE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BC39B-82A2-479B-8168-6F4C456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13A21-A544-4D73-B81C-879D9BD1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TRAF 分析管线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346CB-5896-444E-A280-45A7EA09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21BC0-01E4-4A46-A225-9C849E24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9307-A9A4-4D18-8C98-495913B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lifecycle: attestation vs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21AC8-D5F1-4FC1-8BEC-3AE031EA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84994-C0E1-4D1E-BB99-30AC614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6399F-A7F2-4E63-91A5-3171253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2566B-B7A3-4A21-ABB6-39EE9C07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runtime event: CPU / memory / I/O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44CF6-0650-48E9-AA16-FE24B7C7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6E543-62D4-49A5-A666-284D4A3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8489C-0C67-4C14-A734-3E8B7EA5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F18B0-7C2C-4062-B76D-5BBC52C3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manager: host / RTPM / TEE instance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F90EB0-A60A-4923-9DCC-D99D2E9E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2115D-E5E9-4F11-A432-4D2342B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1F1CE-7D73-4CF9-9AE6-2551EE12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mode: unprotected / only / guarded / assisted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5CDF42-45F6-4F24-938D-F2B610A5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34950-7CFB-439C-A81E-0B3F74CF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CC798B-8CEF-4E6D-9957-C1875204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0AF23F-299C-4A4A-86C3-1496DCDA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implication: security / TCB / manageability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2004B8-2F56-42FE-B052-468DC75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4E4DD2-1363-42D2-BF96-8CD4109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804FEE-3C8F-46B8-BAB3-268A22B0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919DD-40BD-4FC7-A2BD-4DF119B9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pitfall mapping: design flaw -&gt; known attack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7AF140-74B8-4A73-B224-F8B3B742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92E2A1-E75F-4C9A-9AF1-5C3B90BA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来源：机制图按 Li 2024 Figure 2-Figure 5 重绘。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4A59BA-7F95-4FEF-A4DA-476585D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673F2A-022C-4371-B68B-3CC4F3AC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6D8AF5-6BA1-4E2D-92AD-F86CE59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F233A8-D17E-458E-B571-9DC85C19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内容摘要  |  01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0B267F-32C9-4CAD-A3F0-37B4399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007</a:t>
            </a:r>
          </a:p>
        </p:txBody>
      </p:sp>
    </p:spTree>
    <p:extLst>
      <p:ext uri="{BB962C8B-B14F-4D97-AF65-F5344CB8AC3E}">
        <p14:creationId xmlns:p14="http://schemas.microsoft.com/office/powerpoint/2010/main" val="10361213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0B595-D7B0-4BAA-8E6A-8AE4C37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6E73D-6872-46F4-BBAB-BCAE28C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2C2AF-0CE0-4FF8-AEF9-E3F614F5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B0237-DC0D-4E78-B287-06CF598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6932-0E5B-4B14-A4A7-2BB0324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C84A-697C-4F39-9447-10FCF0BA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C1E07-D530-4BA9-9E69-BAC9A891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A14BE-8EED-468C-8765-702C84E8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的根本矛盾是：host 被 threat model 视为不可信，却仍必须管理调度、页表、I/O 和实例生命周期。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ED70B-3152-48FA-8368-3FCEA152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2E31D-583C-4BDD-871D-6EE646C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12F61-82B0-4BB3-AD07-EACEE86C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F176F-AAD6-4F99-81E5-B53FE5A1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AB399-92B1-4226-8751-128CA84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论文把 Secure Remote Execution 目标写成 secure measurement、confidentiality、integrity；这些保证依赖 hardware-backed TCB。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45762-F58D-43E7-A46F-546C1F45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CB863-0C23-47EA-A5C3-10F5AFA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攻击者模型假设 adversary 可控制 privileged software，并管理 non-TEE world 的 memory mapping、I/O devices 和 CPU scheduling。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466BD-7D6D-48EB-81E4-2E5355DD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C70A2-9D30-4EEF-AF2F-D59A16AE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attestation 只能证明初始状态；运行中是否安全，取决于每个 runtime event 的管理权如何被限制。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EFCF1-191A-4532-B404-AC8F69B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73087-FC8B-4F9C-B9CC-B7E37C8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 TEE 常排除 DoS 和 microarchitectural side-channel，因此页面需要显式标出安全边界。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84951-F23A-4DB2-AE22-E0A8E82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0E8ED-FE75-45E0-8CA0-92D93C6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C9000-0FF6-4B41-B366-51FFBD9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三条必须先讲清的边界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9F8DB-15C8-419A-B054-BD079A2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E79A8-C6BB-449A-9200-CBF8920A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谁参与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BC2D8-FD15-4D46-9897-B8DEBD1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为什么影响 taxonomy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58AC3-BFFE-4894-B972-B212278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A31DEE-84E9-4554-AA56-2415D17A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63EA4-7A0D-4FD3-B832-4AC2A2C6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 vs TCB vs TEE instance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59CBB-C51C-4C80-8381-F789E722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决定 attacker 能操作哪些资源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6741B-828E-4D1A-94BF-3CDEC76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A204AC-DE7D-4098-9F55-047DCD0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TCB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A1C532-609F-41D9-BAFE-6CCF14D5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manufacturer TCB vs ISV TCB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EF0379-71E9-41C0-964F-784D45FE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决定漏洞责任和验证范围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D888C-966A-44CE-A390-B4FA828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B78822-91B8-4411-A187-5CCB564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7AD86-24FE-4287-A6D3-0EA61492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attestation/spec/paper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32DA8-BA96-4C99-BFE7-BA68F21D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决定 verifier 可以相信什么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62451-11EA-484A-9DAE-37965E5C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1B6C5-A912-480C-BC17-918B0B39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来源：背景页强调 threat model 和 evidence boundary，避免把 SoK 写成平台安全证明。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0EA1FE-C022-471B-B977-9891D2BB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C79762-A063-448F-A5BE-A8D4AD7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4E46E2-1929-4C4A-84B3-D566D722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E59A02-17BE-4444-AD4A-B09A3E7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研究背景  |  01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6ECA0E-D44F-40FA-A8E5-9087A558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008</a:t>
            </a:r>
          </a:p>
        </p:txBody>
      </p:sp>
    </p:spTree>
    <p:extLst>
      <p:ext uri="{BB962C8B-B14F-4D97-AF65-F5344CB8AC3E}">
        <p14:creationId xmlns:p14="http://schemas.microsoft.com/office/powerpoint/2010/main" val="13633944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5C65E-7D63-4EB6-A565-F80060E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252F8-6FF7-4731-9B45-64FC3CA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4F63D-1AEE-4E8F-85BB-15B20840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96D66-8B10-4639-A51A-B11AAAC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3DF47-C6E0-4668-A844-E5358714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2D205-5005-4D58-9CE1-52AC72C2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272DC-829A-4662-BF08-32908B21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C7A48-DE45-4048-97A3-882D9D6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TRAF 的妙处是把“TEE 安不安全”转成“这个 runtime event 由谁管理、谁校验、谁承担 TCB 成本”。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D099B-6DD8-4BC7-9581-A0834DA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D4817-CF20-4A4B-B139-80D44D7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D2801-6ED7-413A-98A1-5147CED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38B7-A616-4F8B-89A4-0D9F6FEE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EDCC-03FA-4309-9ECA-5FF5EBB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scheduling 多为 unprotected mode，因为云平台需要调度效率；但 host 可通过中断和调度观察 workload。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55DB3-5BA8-4F73-8066-E923268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47539-BBA4-402E-BFFE-9DD3BC3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context switch 多为 RTPM-only mode，因为寄存器和处理器状态必须由 TCB 保存/恢复。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2ED88-A4E6-4F97-8BC4-6BA2CD7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E07D2-5BB0-4DE6-895A-EAFEF69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allocation、page fault、virtual memory 常在 guarded 与 assisted mode 之间取舍，是 corner case 高发区域。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4F887-CE07-408A-8BC5-86A61687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D2943-99DA-4828-B960-4541ACE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I/O data transmission 在很多 TEE 中仍依赖 unprotected path 或应用层保护，直接引出 trusted I/O 和 device attestation 章节。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28802-1EAC-4F0B-895C-328DC679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0353F-EAD8-4535-A37D-8786B6D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13D7F-42CD-42A5-96CC-CB1A80A5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四种 management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DAE73-EA61-4268-8773-84685F79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4E2D5-7635-43A4-84A8-0F44260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谁主导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737A2-5551-4ED3-8D1A-7C4314EE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BD3C8-7F8E-4E6F-80B3-5DE68CA3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6191B-1D87-4319-B5CE-64E02AA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D0899-09B3-4079-B348-176DE24D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Unprotected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31D69-8F65-4910-91A8-374E42DB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7A4C0-162C-4556-A30B-830BEA91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资源管理简单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816F8-B585-4614-A7D8-B81012E8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观察和操控面最大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D47E0-3D9E-4E70-9493-E06B0BD4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E7F5DA-1BD0-41AD-B6DE-5E2D5795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RTPM-only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24DC3-4EC4-42A0-AD62-95179294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TCB/RTPM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2CBA8-9AC4-45F4-97D3-2B85D1C8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安全边界清楚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B9D19E-FE92-420F-9084-30C50BF5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TCB 变大、复杂度升高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394F7-EB4E-4113-8F67-2300F92B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EC9667-8828-4D0E-A836-0ACB0F65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RTPM-guarded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CA6D34-7791-44F9-8A9B-1FE2B17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 + TCB check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FF7C89-6362-453E-8603-8195CE1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兼顾可管理性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66C49-83E4-4EDA-8449-B385E00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校验遗漏形成漏洞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68ECB4-16AF-452A-B9E4-5C42DE8F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FCE24-69BB-486F-8C8F-90117DA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Instance-assisted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860880-5D0F-4289-BB20-0833D445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TEE instance runtime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5CD570-F503-432F-BDFC-65A63EF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减少 host 观察面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1122C-A077-4A8E-A9A9-DD08A120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runtime 复杂度和 DoS 风险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16086E-4E14-4D70-AA9F-ECE9E8C1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1F5E83-E3ED-4D67-961F-2120C90E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来源：矩阵按 Figure 4 和 Section 4 的 CPU/memory/I/O event 说明重绘。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7F63E9-52F2-460C-B555-6160085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36FFC-EB4C-4D0F-BDF7-5AAC135A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F5FCE1-DABC-4B5E-A911-D4E17305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6A5FC6-5B0A-4A14-BC13-3608BE3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解决方案  |  01 / 15 方向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5DF1D7-EAEB-48E5-BADC-399DE97A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009</a:t>
            </a:r>
          </a:p>
        </p:txBody>
      </p:sp>
    </p:spTree>
    <p:extLst>
      <p:ext uri="{BB962C8B-B14F-4D97-AF65-F5344CB8AC3E}">
        <p14:creationId xmlns:p14="http://schemas.microsoft.com/office/powerpoint/2010/main" val="7067646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F689C8-A504-4F58-BCA3-66F8CAFB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BBBC5-3894-48A8-B987-DE85324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89C0C-8246-4B68-8006-E6D5FC7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0DD6A-B27A-406B-A7E9-CABB831A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58010-E54A-4A6E-8E43-DCF6E6D8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D6698-FA45-427A-A7F5-D5D2A144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39420-7B0F-403E-B08E-90C6394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C1A92-9867-4127-BA98-1807EA7D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这是一篇 SoK，无新实验；它能支撑 taxonomy、coverage 和 pitfall framing，不能单独支撑某个平台的安全或性能结论。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0D193-B92D-4FA3-98C7-E1FB6B15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78B0B-C863-4ACC-B6E1-38CB3A9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78E96-F5CB-495A-B802-CE088D3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79F02-0135-42B7-AB0C-103E288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3AFBC-D544-4BEA-94AC-9CE4E23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证据对象是 Figure 1-Figure 5、Table 1、Appendix Table 2，以及作者对代表性 TEE 和 known attacks 的整理。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9DE8C-D54F-43B9-A9D5-F551EF1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52935-800D-47EA-87C6-DC5A3A0F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Figure 5 把多种 TEE 的 CPU、memory、I/O event 映射到四种 mode，说明同一分类轴可跨平台比较。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4D7BF-816E-4F3A-A6EF-8AE75B0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C3D79-3E97-466B-9970-A6341DC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 1 把 vulnerable design flaws 与 known attacks 对齐，用于解释 pitfall，不用于证明某平台已修复或已量产。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58546-5488-4BB5-8066-33E4EA9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05547-5151-4DD7-B811-C03A4EFB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PPT 中具体机制、协议状态和数值必须回到原始平台论文、官方规范或厂商资料。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39B0F-B939-4936-ADAD-A6FD6FA9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9BCDE-4524-450E-B9B6-1CFF750E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A7441-C039-401E-848F-6C8EC8EF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证据使用边界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D293D-E254-4E25-97FE-3D8A63DF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25A76-9130-4421-87BC-E04876D9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E6FB3-8BB9-4740-B322-6D7FA328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不可支撑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061EA-C42F-41A7-BF35-A9550CBB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E50F8-FA6E-40E0-BAFA-63EE65DD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Figure 3/4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D9057-7E08-4724-9BE6-B9107F4E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runtime event 与 mode 分类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D4204B-9C06-4132-A60C-3BF9CC6B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单个平台正确性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2AE3A9-BC0C-4C95-A15E-DB6EE06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65C9FE-376E-4FF1-B941-1BFEBD1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Figure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15116-F200-4443-A28C-9BE644F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跨平台 design-choice 对比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A8625F-B085-409B-9EE5-45EA819D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同等级安全排序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B0A7C7-64BD-4C28-9DF4-3758371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1F9C88-FFCD-48CC-970B-5C0C9CA7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 1/2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640A1C-9760-4C67-A88B-C4336511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pitfall 与攻击类型映射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4DFFDD-1A85-4150-80A5-2AD728ED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修复状态或生产状态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146023-A277-479B-A78B-EAD3512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243E26-DC59-432F-826B-611A8482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SoK status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7B0545-D359-4277-ACFF-8F29E48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研究框架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62B234-C56E-42E4-9B5B-FDD272E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新系统实验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22AC25-BDA2-4B55-B573-EC4A3BDB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83CF95-211E-44EF-B0FC-46438D7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来源：实验页保守表述：SoK，无新实验。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F2F03D-F91C-4093-86E0-E62DECBD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1E25BE-A6C6-4A5E-9C18-306F37AC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FC80D1-CF1F-4DEB-9B35-78B5DB9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9F3C95-C48C-49E9-9F15-D0EE68E2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实验结果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E60D48-AACB-4881-B8CA-4B68F160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010</a:t>
            </a:r>
          </a:p>
        </p:txBody>
      </p:sp>
    </p:spTree>
    <p:extLst>
      <p:ext uri="{BB962C8B-B14F-4D97-AF65-F5344CB8AC3E}">
        <p14:creationId xmlns:p14="http://schemas.microsoft.com/office/powerpoint/2010/main" val="5497171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19CD5-6045-4CC4-859A-1B9430D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B1D3C-714D-47EE-BF85-F046900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FA7A6-1CA9-48C9-87B5-04795B09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4A236-DBF3-4DA9-A3D1-4C045F76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Understanding Design Choices and Pitfalls of Trusted Execution Environments：文章评价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3E063-0390-4A03-9097-0286446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A15B-8CCB-4F8B-8098-4EAB4FBC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980F1-3D60-4FCD-BCC1-0744B138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taxonomy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F4F0A-D457-48C4-8C76-830D3512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评价：Li 2024 是 01 最适合的主线语言；作为 SoK，无新实验，落地价值在 checklist，而不是直接给平台背书。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CC227-9944-45D4-8AE9-187BBA5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853C6-3F2E-48A7-BE42-F077CCB6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2CE14-E3A8-490A-8164-3226D99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DEA88-D629-4902-9BB2-D91F8FA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DCC87-2F26-4F9B-BE4D-2E501CB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优势：把产品名转换成 host/RTPM/instance 分工，适合贯穿后续 Arm、RISC-V、I/O 和 accelerator 章节。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68003-B96C-48F4-9A0F-A6AB0739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86662-5D31-4CA4-BECE-AF656DA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局限：范围偏 server-side general-purpose CPU TEE，不完整覆盖 embedded TrustZone、纯软件 TEE 和 accelerator/device TEE。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064B0-E1CD-4F44-B648-154C939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15843-4930-4206-BFC9-022756A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商业化潜力：可转为 cloud TEE 选型 checklist、verifier policy checklist、architecture review 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E21E9-A7FB-4059-921A-23E2F316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EBB90-277E-479B-8AF3-A872323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使用原则：用它解释分类和风险来源；平台机制、部署状态和采购判断仍需一手证据补强。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D0DA4D-C451-415F-8803-6E9FFF74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B4BA2-0B81-4F21-84F6-70E389FD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AD3D2-5A31-48DB-8BC4-15DC5BA6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91E19-53A5-48F7-B598-0F61D95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29C35-2550-45A4-86A2-F74CB67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EA64F-AFEA-42CF-A409-F6BDEDEA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1CA9E-1994-4D8C-8FD8-9810A0D3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D9E4E-6A96-44A7-9F2F-EC931D7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TRAF 抽象清楚，可统一解释 CPU/memory/I/O runtime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CD0FA2-3D1B-4AD6-8766-F68844C7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8B6CF-794C-4DCE-93F3-5BC3808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76ECA4-3F47-4A7E-95E3-A97EA771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不是平台机制证明，device path 覆盖不足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42C82-A9F1-4128-B113-400BF72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BA51A-9AE1-4D30-8BE4-621AA1CA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B622F-C249-4E50-80EF-CF1B431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高：适合作为架构审查和 verifier policy checklist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1608B3-DFC9-421A-BF3A-F1FED6B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E6355-08D4-4181-999E-4018AB8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15A8E-2BEF-40C0-A426-DD10CCD3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 taxonomy anchor，不作性能或生产状态证据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31AFC2-8F3A-4CDA-B9FF-5C7C818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8A72FB-2602-45E5-8AA4-1DF6B2B6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8E9140-8334-44C2-8D87-34B2ACD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C68483-0A33-42BB-8621-21D86944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8F3008-8A47-4AB6-A47D-B7C887C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60C351-9E91-4639-9127-0A9B31F6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文章评价  |  01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AF036F-2B2D-44D8-ABF8-76B7BDC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011</a:t>
            </a:r>
          </a:p>
        </p:txBody>
      </p:sp>
    </p:spTree>
    <p:extLst>
      <p:ext uri="{BB962C8B-B14F-4D97-AF65-F5344CB8AC3E}">
        <p14:creationId xmlns:p14="http://schemas.microsoft.com/office/powerpoint/2010/main" val="1278006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A0ED5A-ADD2-4121-BBE2-F319700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7199E-4F98-4072-A426-0351010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22105-265A-4EC9-8473-CACF023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7B10D-5C8A-468B-98FE-6B55D23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AC4D-9AFB-4C32-9B36-10AF799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484C4-F6FD-4194-BC37-653AE9F3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F2B09-5DB1-4924-AA3D-F1717C31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6C13-60FC-4CF3-ABA7-01365B7A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Boubakri 2025 的作用是把 RISC-V TEE 从 PMP/monitor enclave 串到 CoVE/AP-TEE confidential VM 谱系。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E991A-257B-4142-B6F9-8F62F052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F6CFC-CA0A-4291-9D78-6C2134DB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52081-166B-434F-B61E-6B32557A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1498-3283-4788-B954-79831998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C1FEA-CB3A-4364-9D1D-9E496F93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动机：RISC-V 的开放性带来可定制安全硬件，也带来 secure enclave、TEE、CVM、monitor、runtime 的术语碎片化。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87D22-C5CD-401A-A9C0-BE8B9E80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4E7D9-F687-469C-92E8-8792507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工作：按 RISC-V primitives、representative systems、comparison matrix 和 open challenges 组织 2016-2025 谱系。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70FFE-26AB-4A4A-808F-F94DE43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7D3F3-06DC-4EF2-9625-03FC5889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关键材料：Figure 1 给 timeline，Table 1 横向比较 isolation、memory、secure I/O、TCB、SDK、compliance。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7D77A-1C8A-41DA-AA68-6520AAA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6F2DC-61F4-4009-9C22-D29855F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 01 中，它是 RISC-V branch 的辅助 SOTA；具体 Keystone/Penglai/SPEAR-V/CoVE/AP-TEE 机制仍回原始材料。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09193-8A7F-4D0E-9B94-86118151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3A211-C875-4E67-8A75-72E460D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F2E1C-A1B1-4EB4-A532-F3E1C7D5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RISC-V TEE 谱系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61DD9-9F16-44E1-B67A-3E659161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2016 Sanctum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29D38-9646-48E4-9236-839EBDF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D72F0-207D-4250-9805-8D746A8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open-hardware enclave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987A6-452E-4EC8-8065-D40D891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Figure 1 timeline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C1638-A636-4640-8AE2-36C350FC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2020 Keystone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7F4CB4-32C1-427B-A818-D37089C3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33DB8-C85C-4472-9343-15EA7903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 enclave framework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7CA16-EA49-40D4-9965-B9F30C7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Figure 1 timeline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EAE5A-894D-4490-B0AA-B1E1974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3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2021 Penglai/CURE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C0E46-92B7-4157-9851-F48E06FB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481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6E026-4C1A-4BFB-9F38-2941A24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scalable and customizable protection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FF2B5-C4E5-40CF-9A57-60BDE2A1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Table 1 comparison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14635-CA78-41F7-B628-6D796DB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434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2023 CoVE/AP-TEE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E06E6-B7E4-4C9B-B9B2-C90CE899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57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D293A-3345-4B5E-9C6A-0FCC175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05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TVM/TSM confidential VM direction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4FC64-9E2D-4B55-85E9-CC868A8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72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Section 3.7 and Section 3.14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0FC22F-E2FF-46A8-AC63-EC6CA378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81F12B-2236-4F33-9F1B-2E7E2571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来源：时间线按 Boubakri 2025 Figure 1 和 Table 1 重绘。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54D9F7-0C17-42E9-BE32-A3317A46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E777D6-6D2E-4B82-A0A3-0994957E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B2AE29-2C47-4709-98BB-D59581C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A66DD0-EBB1-407E-A6D6-E641E886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内容摘要  |  01 / 15 方向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4A4162-6A93-42A3-8D0B-B451208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012</a:t>
            </a:r>
          </a:p>
        </p:txBody>
      </p:sp>
    </p:spTree>
    <p:extLst>
      <p:ext uri="{BB962C8B-B14F-4D97-AF65-F5344CB8AC3E}">
        <p14:creationId xmlns:p14="http://schemas.microsoft.com/office/powerpoint/2010/main" val="130867821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3B2BF-4286-4BA3-BCCF-ECAB5A21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0D9D-9921-40AE-B6BE-551FB897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3EE05-7AC5-4736-A0A2-8C8EAE44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974D7-F031-4FBC-8747-10EAB94E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36298-A1C9-49AA-A6BF-CF44F2B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146A2-1C1D-402A-91CE-FA053D1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3A7C0-1E54-450E-ACB4-B692C2E3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1AC4A-655D-4A88-817E-E3CD376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的背景瓶颈是 substrate 丰富但成熟度不齐：PMP/ePMP、privilege stack、MMU、H-extension、MTT/TSM 并不自动组成可量产平台。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5F461-1DFA-45F0-BB7A-A5F58FB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9FA6E-FE50-483E-BFD0-C695CA16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F0C05-41DE-46F5-8272-C77F5C06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7FC98-32D5-4E67-BA6C-56497F87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87C47-36CC-4E13-A1CD-7FD358A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轻量 enclave 通常复用 PMP/ePMP 和 M-mode monitor，部署简单但受 region 数量、granularity 和 monitor 设计限制。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B7229-7A4F-4FB0-9F91-03765064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655C6-88F6-4B03-9470-9B9E7A9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更强的系统会修改 page table walker、cache/memory metadata 或安全 monitor，带来移植和验证成本。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C256E-0F44-4275-B6A5-53B99A5A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DFED0-9479-4CC9-8086-5EB52E6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CoVE/AP-TEE 把问题提升到 confidential VM，需要 TVM、TSM、ABI、memory ownership 和 attestation 组合。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09434-6072-4ABD-85FF-000FFE8D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AFACC-78CD-467F-9B68-39FAFA49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因此 01 不能把 RISC-V TEE 简化为一个系统，而要先分清 enclave lineage 与 confidential VM lineage。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EADED-AFD7-4949-B5F8-322C0D67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53324-F812-448E-BB0F-3CA8ECC6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51C90-DBAE-4C49-B533-82F1B842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RISC-V TEE substrate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45D06-0632-45D5-A4E9-ACD7932D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3A2A1-0F29-4C09-A55C-6A1872A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7C1AE-CFF7-4F57-A4F5-3FB8971C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U/S/M and HS privilege modes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F0BB5-B02B-40FA-9313-846CCAE8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9C354-8992-429E-ADD5-CA32CCB3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94CC2A-A582-4DA2-8173-05E1C716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CD095-F276-4E82-AC3F-A3F6AB40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PMP/ePMP memory regions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66962-90FB-4860-929D-DB59CC2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72245-5F14-4BBC-B709-D1F1A61C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AFC0D-9AF2-4DAA-ACE8-980E305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45D0B-7B23-43ED-9873-B125C754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secure monitor or TSM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8AF3D5-D1F1-40B0-8DE2-BFB0CA20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511E9-1F9E-4AF2-83EF-33E2B259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7D54A-FD62-4A04-B022-577C881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virtual memory / hypervisor extension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8B294-AE26-4464-8A34-3FF03E43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3C2F73-0004-4995-A545-CADA7C51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7DBFFB-0E81-4799-A7EE-489F47F7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A2417C-A290-4642-A4C7-B1EAFC2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MTT/GPT/metadata ownership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481B0-059B-4094-9BC6-1999D8A1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D47D2C-CB59-4D40-9215-E3F8DEBF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331FED-A0E2-42C5-BA32-71C4677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C0E788-F372-4B4A-B180-A4BF007E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 evidence and verifier decision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F61EBD-281B-46F4-AFCF-B11D93F6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B082D8-D10F-49A0-A89D-46BE96B9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来源：机制链条按 Section 2.2、CoVE 和 AP-TEE 小节抽象，不替代规范细节。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7B68C9-DB5C-42F7-8887-D1BF7A5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5E54F0-34B4-47B6-8D7E-1B3BF78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03AB45-A357-4F0B-B0B2-224D9F8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475F6B-BB85-42B5-A601-8D0907BC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研究背景  |  01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B753F6-2954-48F2-B784-FAFC255C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013</a:t>
            </a:r>
          </a:p>
        </p:txBody>
      </p:sp>
    </p:spTree>
    <p:extLst>
      <p:ext uri="{BB962C8B-B14F-4D97-AF65-F5344CB8AC3E}">
        <p14:creationId xmlns:p14="http://schemas.microsoft.com/office/powerpoint/2010/main" val="8491462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2DEC4-38F1-4C20-8B8C-696A0606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4B38C-27C0-46A6-AE57-BCB9005D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B488F-20F3-4A41-9B48-5C4D84F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5CD7F-B2E8-408B-AC26-5389B569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572EA-2DC2-4927-BAED-9F3BFD33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5029-0AAB-4301-BD96-FF7EA15D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79CF6-7741-4A60-8DC2-29E730EF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69FCF-3B8B-4967-86BF-08E9C07F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这篇 survey 的核心用法是分层：primitive stack 决定隔离基础，system lineage 决定保护对象，open challenges 决定落地缺口。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8F425-EA87-4F1F-B5A0-5926715D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B853D-5AA4-4716-A48E-15664DA1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AE4C5-8D58-4475-8216-FF46F59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C1993-E85C-42BC-9649-08DFB2D0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94223-A14A-42A2-9559-2B07537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Primitive stack：privilege mode、PMP/ePMP、MMU、H-extension、crypto 和 memory tagging 是 RISC-V TEE 的底座。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0F14A-517E-4587-BF51-87F29B9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F849B-AAB8-45DD-9530-B91957B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System lineage：Sanctum/Keystone 建立 open enclave，Penglai/CURE/SPEAR-V 展开 memory primitive 分支，CoVE/AP-TEE 走向 confidential VM。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07C9-0798-4619-8A04-4D2D7342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6A0A3-C055-402C-ADFB-DF6CB056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Comparison matrix：Table 1 让读者看到 secure I/O、cache side-channel、implementation validation、SDK、TCB、compliance 的差距。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752E6-C70A-43F0-9FE3-AB6154E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E6EBC-AA85-4A5B-91FB-945955AA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 challenges：Section 4 把 fragmentation、programming model、standardization、production validation 作为后续研究入口。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9DEED-AC39-406C-A045-F04A0BA0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CAA91-4908-4844-996E-69B9F4A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AEF23-47C5-4A16-8916-A55390C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RISC-V TEE 三层读法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277F1-BB83-4192-B307-416A507A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43F88-B1D0-4F85-9D2C-5486943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代表对象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2DC11-7098-465E-8E5D-5F01BB68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中的讲法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29D91-A062-4F49-B36A-2A3BEE4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87683-1CF8-40F1-941E-19AB4BD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Primitive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0779AF-FBEF-4E56-B069-F6E631C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PMP/ePMP、privilege、MMU、H-extension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2C8FF-A96D-497A-B29A-5E4616EA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决定隔离和 ownership 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A9210-C183-4D92-997C-F384E533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3CB42-6130-4566-B3EF-EF18FDC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System lineage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96231F-895B-4FE5-B7F5-AD69946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Keystone、Penglai、SPEAR-V、CoVE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817FD-6919-48DC-87D0-23F33ACE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决定保护对象与 TCB 位置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E5BD09-832B-4950-B6C8-A631125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900E63-C0EF-4CA3-A0EB-D2EF553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 matrix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D07A2B-7792-4593-B8D9-E4189FF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Table 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07C3AD-39A9-4879-BF1B-4E54AE94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标出 secure I/O、SDK、验证和成熟度缺口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658A22-7475-4BB0-A2E9-01940B31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DF8D74-808F-434F-9CF8-A01CDE49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 challenges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D2B50A-D8A0-44C1-A4D8-1A75FA3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Section 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51970-BFCA-42C9-8356-92067D8F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连接后续标准化和商业落地判断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29FB7A-0610-40C3-873A-36614909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25F3B-5A4F-4B22-B40D-E246294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来源：三层读法把 survey 内容转成 PPT 结构，不引入原文之外的机制结论。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57B1F-B9E7-48A6-8B12-6E11DC91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B17641-FD7B-4D26-B791-7A91FDD1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A523EF-681D-4B5E-8623-8A863A0B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ED80D5-D8FB-4FFF-89FE-A4F699A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解决方案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2C4939-83BF-481A-9301-F7EDDB81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014</a:t>
            </a:r>
          </a:p>
        </p:txBody>
      </p:sp>
    </p:spTree>
    <p:extLst>
      <p:ext uri="{BB962C8B-B14F-4D97-AF65-F5344CB8AC3E}">
        <p14:creationId xmlns:p14="http://schemas.microsoft.com/office/powerpoint/2010/main" val="10788255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560D4-7966-4102-9862-7121999E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FB3E1-91D9-4D8C-BEF7-32B239D4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DE585-7992-4F6A-BD2F-4D5C9812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02C43-B086-46B2-8807-3580BBD3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8811-7BD0-44BE-897E-55F3FDDF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C717D-36D8-47E9-8E6F-0C3B09AE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D86BE-C11A-438D-82F8-45BD5966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097D1-4E67-4CC7-B3C1-DDAFF913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这是一篇 Survey，无新实验；它能支撑 RISC-V TEE 谱系和差距图，不能支撑单个系统的安全证明或数值结论。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82537-B37F-431B-BB56-3A80F6F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61439-189C-49F7-B095-4A6E47C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21411-FDAA-4470-95AB-84F8AE5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0021C-497D-4BBE-A146-8FE5E5E9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49998-2D1F-4984-AF97-51ADCE7B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证据源是 MDPI HTML 与本地 PDF，核心对象是 Figure 1 timeline、Table 1 comparison matrix 和 Section 4 discussion。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07DA7-BD16-4BEA-8446-E161920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61426-EB5C-4C17-BF19-D843AF4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 1 可直接用于说明 RISC-V 方案在 secure I/O、SDK、TCB、compliance、validation 维度上差异很大。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E3088-8DC0-45F2-88BA-C44BA0EB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B3A53-2225-4198-8D3D-210F337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论文中转述的系统细节和数值，PPT 只作为阅读地图；若要展示，必须回引 Keystone、Penglai、SPEAR-V、CoVE/AP-TEE 原文。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B6086-70D9-4588-AD69-A6178C8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AEC8C-2609-4FCA-9EBE-EC5BDD6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这页的输出应是 evidence matrix，而不是把 survey 写成系统评测页。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336D1-A903-4EA5-8567-6EEE9D50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4E262-7CB0-4917-8633-0595043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A7292-5BC2-49D8-893D-B863325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A5A7B-0F2E-47EF-B236-0DC3160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1FF15-D216-450F-9527-C73D76FF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不可用作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78C87-6408-437D-9E35-3025205E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处理方式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DB767-2E5B-4E61-B98D-77CCF62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AEC99-7BE7-493C-83E1-39DBF3F0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lineage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781270-B384-4F3D-8051-E2B8D7BC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系统安全证明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BD87C-5C5F-49CF-A504-DB48311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回原始论文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41401-4E80-48FA-9ECE-3582D50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AB3DF-6EFC-4B93-A12B-C0ADA28E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 1 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DE217-EA3B-43D9-A935-59211C7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性能数值来源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3AADD5-D491-4781-8C83-89D8612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回原始图表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73DA2-7B31-40ED-9381-4ABEDFD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D813EF-7105-4AEF-82F4-F226E74F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standardization gap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B7775E-673A-42C8-934F-5DFD4B4A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规范最终状态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7015FA-92BF-4703-9638-F57CDA3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查官方 spec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00141-998A-4179-B478-565901CA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41669E-FC97-44DB-992B-829B5CE4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 challenges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9D8039-FD0E-4605-9868-B2B11EA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单系统采购判断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D461E-E759-4214-A1DA-F271035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与厂商/实现证据结合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4F2E31-875E-4EA8-B6D6-9C599AAD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F52773-504D-4637-B2CE-6918E269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来源：实验页保守表述：Survey，无新实验。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288711-E328-4611-8E52-3A0EA06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D496FE-7110-45FA-9694-BCE74C2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24F8F-D85D-4827-A039-F5986DF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751600-29A3-4A69-B2CC-4B5A27C9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实验结果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92FF63-5933-4D78-A36F-6B58B585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015</a:t>
            </a:r>
          </a:p>
        </p:txBody>
      </p:sp>
    </p:spTree>
    <p:extLst>
      <p:ext uri="{BB962C8B-B14F-4D97-AF65-F5344CB8AC3E}">
        <p14:creationId xmlns:p14="http://schemas.microsoft.com/office/powerpoint/2010/main" val="86284121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E29912-DCBF-4243-B8CA-678757DA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A5051-89D2-4388-A9CE-F6B09473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578D2-28EC-429A-9B64-757EE72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8468E-C74A-4188-AF05-D4DBFC79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 Survey of RISC-V Secure Enclaves and Trusted Execution Environments：文章评价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F13C3-6F60-4FE8-AB90-AC163B0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DE037-312E-4AD4-ABF2-EADF8E20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F67F8-3616-45CD-AD3D-F3E6A913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7E688-F8A5-4611-9020-014FDD2F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评价：Boubakri 2025 是很好的 RISC-V 地图；作为 Survey，无新实验，正确用法是辅助定位，不是证据终点。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DCEB3-0EEC-488B-9AA9-545D212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7F34D-43CF-4608-9C11-11F3CD2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C6EA5-64EF-42B7-B318-85227A1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A8937D-FFB9-4784-83A3-B5DD912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7024F-5378-45A9-95A3-5EDA569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优势：覆盖 2016-2025 RISC-V secure enclave/TEE 谱系，能把 Keystone、Penglai、SPEAR-V、CoVE、AP-TEE 放进同一张图。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45964-3450-4E14-82B0-71DB3DC5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071BB-DCA9-46B9-9E42-45D6AFA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局限：不同系统 threat model、验证平台和成熟度不一致，Table 1 不能被读成同等级安全排名。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8DB78-3BF9-490D-98F8-4F7D8CF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07D6F-3D4B-4F67-8C0B-4E1756F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 RISC-V confidential computing 选型入口和 gap analysis。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F07CD-F689-4853-826A-565A2E2D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8FB22-DF75-4C19-83D5-B0B816A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落地依赖：AP-TEE/CoVE、IOMMU/IOPMP、SDK、attestation、secure I/O 和厂商生态继续成熟。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7192C-722A-408F-AC11-1177A72D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2C891-FD02-47DE-82C1-9A91624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6120C-4C6F-47BC-9BDC-A36C92B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80DCD-745F-4DA2-8933-D3A358E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FFDDD-4A38-4788-B2CC-EA43C50B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09C01-E39B-454D-8BA8-2BD287E7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58EFE-2543-4B13-BDD5-B2A6E87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BFCB84-EF15-4BBA-8E51-1D47C6C4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谱系和比较矩阵清楚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9D96D-9A4C-4E0D-93FD-D56AA42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82673-79C1-49EF-BB53-079447D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ED900-C797-40CF-9D47-405D48DF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二手证据，且 draft/spec 状态可能变化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37586-F378-46DF-80A2-380AAF2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12C9F-4B59-4E72-8E4C-30D2327F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EC469-8F89-4C40-9EA2-8BD877E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中：适合 roadmap，依赖标准和生态成熟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4531F-D980-4DA3-AB20-E6406A2F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5D480-D5D8-498C-A0D1-2BBE682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150F4-30D3-47C5-AE46-B57B0DB9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辅助 SOTA，连接 08/09/10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4812F-A57E-4AFB-B7EE-412FE2B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858D0A-61F2-45C9-BC7D-2B74A17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来源：评价结合 Section 4、conclusion 与本仓库 E2 survey 边界。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6C3E25-6903-4EC6-A3D4-463CFE0E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62ABCB-BF1D-4A7A-B345-5B2D4676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AF10BB-4E2B-4F2C-BCD7-226A7164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B4393E-719F-42F3-AEB1-779ADA47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文章评价  |  01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AC3BA5-EAEA-4E3F-8DE8-46BC28FA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016</a:t>
            </a:r>
          </a:p>
        </p:txBody>
      </p:sp>
    </p:spTree>
    <p:extLst>
      <p:ext uri="{BB962C8B-B14F-4D97-AF65-F5344CB8AC3E}">
        <p14:creationId xmlns:p14="http://schemas.microsoft.com/office/powerpoint/2010/main" val="5206518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A9442-E927-4A26-9261-586A8FB7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88BD2-3079-4B48-8A08-2CEBFBE8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F80C1-3C79-42E2-99E1-F5BB06C4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A7078-F045-43F9-B12E-C1121AE3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Analysis of Accelerator TEE Designs：内容摘要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DF934-EED6-40F8-9313-51BF787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28F3C-7FD3-4AB1-BC15-8BA6CF2D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BA5B0-5C31-4BAC-8518-45FEEBC3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1961E-8E61-4BA0-9B28-D766F81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Wang/Huang 2026 的贡献是把 TEE taxonomy 从 CPU/enclave/CVM 推到 GPU、NPU、TPU、FPGA、DPU/SmartNIC 等 accelerator path。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8936F-0AC3-4373-A552-B55BD04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EC3B6-F667-47E1-97E1-0A4E93B8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76A43-7BD9-462E-8852-5446440D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0E26C-E294-463E-87C8-7C822705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02014-0275-4E7F-AC49-AA7DB6F5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动机：confidential workload 使用 accelerator 后，数据进入 driver、queue、device memory、I/O bus、firmware/controller 和 scheduler。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9B007-CD2B-40A3-BD71-6C99154E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AB4CB-2B2F-42B9-BA3F-CA4B5A4B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工作：分析 51 个 accelerator TEE studies，提出 Host-type、Acc.-type、Mix-type，并围绕 access control、memory encryption、attestation 组织设计空间。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D18C0-AAEF-46C9-B36F-3ECC1169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95001-CF66-4E79-A7CE-5841239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关键统计：41/51 studies 在 2022 年之后提出，42/51 依赖 CPU TEE，40/51 支持特定 CPU architecture，43/51 只支持一种 accelerator。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7D531-7DCB-4074-8BC9-C6CE300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6AC15-E6C0-4ADE-81B2-B8DF7DD3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 01 中，它补齐 Li 2024 对 device path 覆盖不足的问题。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9E1F4-FAF6-4A7A-9927-B0BE57E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61BCD-A820-4672-ACFF-9C93BB0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DDC89-C312-491F-8D8F-35E52EE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Corpus statistics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CDB2B-6BAB-47B6-A4D7-61119713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studies analyzed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12877-A715-44FD-B730-304A1076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5D8FE-4C52-4323-975C-8B3DFCCB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5BCEF-1083-42D8-A9CC-9F17A92E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C1613-20F1-4117-984B-AE02225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Table I corpus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22315-A0A3-455B-9BF0-E49A4248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proposed since 2022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FB9553-A28A-43A7-B669-7944A1A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41/51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C31927-27C0-4781-9364-C0B54420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4E404-85D8-45FF-9F31-CA95C28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171CD-875B-476A-A68D-F9640BE5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661EBE-E4FE-4186-8589-8103EE85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rely on CPU TEE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46E73-7DF2-4937-96C3-60D495D1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42/51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21F38-CC19-4CBE-9204-B90680C6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DDAF8-A7AD-4E05-A130-5DF04866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0934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5421C-A91E-48EE-AE48-0B1FF1B7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7C89F9-C295-4857-B54D-6CB93F5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specific CPU architecture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7741FC-1FDC-4842-BC88-C546B010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40/51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22CEA-86B1-4212-99BF-3268621E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BDD93-E9A4-4776-84A6-A593251E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0401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CFF4A7-2108-4E29-9673-5CFB5EF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067978-AE5B-466C-ABD6-75FF947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 accelerator type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6965E6-42F1-4A67-80B5-2FD45DD6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43/51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447A5B-452A-403C-BF2C-4735C95D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C51D0-BD07-47E7-9585-EBEC7E4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11201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68A45B-8DB7-47F7-B38E-BE09C3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motivation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039260-A459-4072-A5A3-0CDF9117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BE33CE-DE40-427F-9605-5FA9A32C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来源：统计数字来自 SoK corpus，不等同于某个系统的测量结果。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F87935-84AF-4C23-862F-82574540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1D498F-E779-499E-B86B-362C76F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16A938-5364-43F4-8FF0-7EB7412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5D71F1-0BC1-4F23-A658-9AA78C3F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内容摘要  |  01 / 15 方向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EBE1E0-8867-4CF0-94D8-638E073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017</a:t>
            </a:r>
          </a:p>
        </p:txBody>
      </p:sp>
    </p:spTree>
    <p:extLst>
      <p:ext uri="{BB962C8B-B14F-4D97-AF65-F5344CB8AC3E}">
        <p14:creationId xmlns:p14="http://schemas.microsoft.com/office/powerpoint/2010/main" val="1964047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C524D-5A4C-44FC-98A2-DE8F7685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1630E-4277-471D-B046-5F1B2314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912A4-788D-4277-B1C1-BCD3664E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124EF-0CD1-4C2B-BCB1-7844DA2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Analysis of Accelerator TEE Designs：研究背景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3FDA7-20B4-4B79-89F4-1C679B20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BD498-4AE7-4751-A4B6-842CCDE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8AAC9-396B-4696-93DF-CDE1F0E7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F9B90-D350-4382-BF00-0B30F17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TEE 只保护 CPU-side execution/memory；一旦 workload offload，敏感数据和控制状态会跨过 device memory、DMA/MMIO、I/O link 和 firmware。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44CE8-EF85-413C-AF6E-C085086C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4955-B5AC-4AFA-AFAC-98D82731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C8117-F767-4742-851A-D9D901F1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9C2BB-D9BA-4BD7-B776-AFAD76B1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36BE5-757E-4E8F-83BF-B91FC9BE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Figure 2 将 accelerator computing 分成 task preparation/termination 和 task computing 两阶段，攻击面贯穿数据准备、传输、计算、释放。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5EEB9-E19C-44F1-B5D6-498B52D3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67527-7CDD-4C55-B77B-596C181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攻击目标包括 input/output、model parameters、task code、page table、metadata、driver/runtime 和 accelerator environment。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855CE-BB95-47B4-ABAC-A30A3671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FE674-BFD3-4869-AA90-41C23F10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攻击来源可能是 host OS/hypervisor、malicious task、device/firmware adversary 或 link/physical adversary。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62AEB-EC36-4F7F-B56A-6375D3C6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41DE9-BFE7-4716-95FE-CD282AD8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因此只讲 CPU TEE 的 memory ownership 不够，必须把 device identity、device memory、queue state 和 bus protection 纳入 taxonomy。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78C29-2A32-4BF6-8F10-F879A3DD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14A56-D5A2-4F9D-8ED0-E2B17F1B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FC3D7-E386-48BB-91E8-76A80E36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offload path attack surface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FB8A8-0EC6-46F4-99D9-CE3A17E1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EC140-1926-4484-9460-241960F0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C3B69-5B3C-4077-A36C-FBC525E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CVM/enclave task prepares data/model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91007-57D2-4D5E-BF10-C84726F2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C5A21-DF17-44A4-B7B2-9B5E82F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270D9-E14C-43E1-B627-B187E26A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6CC3C-EAB5-405B-96A4-2827AA10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driver/runtime configures page table and queue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BFBA3-CAE4-4B92-A155-4B2472C7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4F098-304C-4FE8-AC0C-A794E1FF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D8671-A27A-496F-88C6-8EEA4EF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88F9E-1C19-485D-934B-6232A11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DMA/MMIO crosses I/O bus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B45982-DAA9-4778-BA3D-A35B5E79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F40891-0B2A-4032-AF81-92777FC0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A46BE6-4E1D-4CF0-BDFE-0E4D022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memory stores plaintext or metadata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E485D6-F447-4153-8B46-5A37D477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A7FF85-8550-4D90-99A5-CFD90A08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0C891B-6E0B-4391-ADA9-E28E63F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4C2F7C-ACE5-4D6F-85DF-ADBA45F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compute engine executes workload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4C35EF-42EC-479A-84D0-EB3597D3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74F78-0C94-4452-B6F2-26E50571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659F59-0533-47B2-A801-1DAA48C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12828B-3CD3-40B5-BE35-3B65B126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output returns through host-visible path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487633-38DE-40DB-AD4C-A4547C6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5DF51D-6067-49D6-A140-737BE9AD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来源：攻击面流程按 Figure 2 重绘，避免给出可执行攻击步骤。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46E114-857C-40E8-B13E-6CAA43B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329C89-62F1-4B7B-B20B-78332B2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7C03F5-AA04-46E9-BC59-DBC32BE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1A5A25-5973-4966-99EC-825380C6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研究背景  |  01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7D4A26-FDF3-44B6-BA81-9D184FD2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018</a:t>
            </a:r>
          </a:p>
        </p:txBody>
      </p:sp>
    </p:spTree>
    <p:extLst>
      <p:ext uri="{BB962C8B-B14F-4D97-AF65-F5344CB8AC3E}">
        <p14:creationId xmlns:p14="http://schemas.microsoft.com/office/powerpoint/2010/main" val="161967843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C01BE-75F2-4B7D-A98C-98C4B30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1E529-FF14-4EFC-9F4F-9AA6019F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17467-269C-458E-86D7-720504B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41895-741D-4061-9CA2-DEA355B2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Analysis of Accelerator TEE Designs：解决方案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ABD96-1F8A-4EEE-A69F-AD6FBAC4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B3C06-CD83-4902-A989-597DF0E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8FEDF-FD4D-466B-814D-D5A1D6B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B4800-57B9-4506-97DB-03B52C63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至少同时回答三件事：谁能访问设备路径，数据在哪些位置被保护，远程 verifier 如何确认设备身份和配置。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E5E03-6A26-4C25-83EE-AA3A8C38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29CD9-D7D9-43B9-9FCA-0EDF48F3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5894F-FA20-4396-BF04-9BBCFDB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8C3F4-7C3D-49A7-B262-6FA9110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1105D-5EF0-4F58-BAE3-1754FB6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Architecture：Host-type 复用 CPU-side TEE；Acc.-type 把控制逻辑放进 accelerator；Mix-type 组合 CPU-side 与 device-side trust chain。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F2811-BD3A-4813-A5D7-EC92FB2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49D59C-D60F-4DA9-A680-0B48F262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Access control：CPU TEE、TSM/RMM/firmware、I/O bus filter、accelerator controller 可能共同决定 DMA/MMIO 和 task access。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E9E23-50C1-4CC0-A803-9902812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67394-9C33-44A1-B939-7380E5B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protection：host memory、device memory、I/O link 和 security metadata 的粒度必须贴合 accelerator access pattern。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F6CA5-4EBF-4C9F-87DC-0158001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F80B6-2CBB-4AC9-A3CB-7C282DF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Attestation：CPU TEE report 不足以证明设备侧环境，还需要 accelerator HRoT、endorser、reference values 和 verifier policy。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1FD8F-C71A-424F-B697-1AD8031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4E217A-39D8-4FB2-A39C-8DB0E22E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49BE6-AAA5-4FFB-B678-3834AAF6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三类架构 + 三类机制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7FC9E-7325-439A-BEB7-5A484AE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E4771-CDC1-4BC8-8A97-3F82A9F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关键对象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9748B-BB5C-443D-AEF3-A095CFA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中的作用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EF673-AD96-4197-BBBA-C8624C91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0919E4-01DD-4A94-BAB7-7507A4CF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490A06-12B6-462D-A261-60C3CCA6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 / Acc. / Mix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913B15-3383-48CE-9583-2E342AE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 trust 放在 CPU 还是 device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991F0-1AEC-4DB1-9DDB-5D74DD63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9DF1C-4DFC-4AC3-820F-27ADD1F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Access 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3BFD5-0F96-4A5E-8FBB-81C3BCC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CVM、firmware、bus、controller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F1D3EA-7097-4681-8E08-ED6B06F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说明谁能触达 workload 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48735-7607-4E75-A1F3-8EE67EA4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2A49D1-3206-4A8A-95B8-A2ED116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protection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82271F-17AF-44AB-8779-4BC1CC8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host/device/link/metadata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6B6E3D-F8F3-466C-8B47-D1DEB4B3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说明数据离开 CPU 后的保护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D082DD-A159-4AFA-AEA5-4B58336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6590A-B4DF-41A1-89C0-1936C68B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68940B-E834-4D16-9105-8280E036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HRoT、endorser、reference values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93E716-A279-4AD5-BD4E-E4A8CA76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 verifier 如何信任设备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DF9FA7-88DA-4981-8514-2519E4D3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EA43EF-8962-4BE1-8AE1-38F2C28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来源：矩阵综合 Figure 1、Table III、Figure 3、Figure 5/6。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170951-3D0A-4C95-B782-7EBD428B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36037-CBD8-460E-9B83-FC7F4125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D0358E-F87C-4EE1-BEA2-ED098F88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8A30BC-4C63-4F71-AB03-BBE3945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解决方案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297FD8-B589-4F96-9282-4CBB735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019</a:t>
            </a:r>
          </a:p>
        </p:txBody>
      </p:sp>
    </p:spTree>
    <p:extLst>
      <p:ext uri="{BB962C8B-B14F-4D97-AF65-F5344CB8AC3E}">
        <p14:creationId xmlns:p14="http://schemas.microsoft.com/office/powerpoint/2010/main" val="9139007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7B8A5-EB1A-40DA-80BE-4FB69E74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97776-A2E7-4C45-BA8D-2A207B63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2E4D7-7257-4B24-B42C-5CE32B4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CC948-3228-44E3-8B1C-A9D29143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Analysis of Accelerator TEE Designs：实验结果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D63D3-BC0E-4A74-95A2-C2FB594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BF679-702D-4861-91F5-186407A2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3261C-A7A1-4B30-972D-DE11465D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CF363-53AD-405B-8298-34F01ED5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这是一篇 SoK，无新 end-to-end 系统实验；它的价值是 corpus、taxonomy tables 和设备侧 checklist，而不是替代具体 accelerator TEE 论文或规范。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E264-93DE-464F-A0A5-3E65521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5B90D-C3AA-4C9F-9C4C-60A7FC6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36C4C-283A-4706-8E37-D4F911DF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9D6B5-1236-4AE2-B85C-DF178086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37161-1481-4B82-8C74-0B64835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证据对象包括 Table I 51-study corpus、Table III security solutions、Table IV/V access-control preference、Table VI-IX memory/attestation analysis。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CD8F2-C5CE-46E0-8F99-3E508AB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E4257-290A-4D14-B21E-D9C99FE4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Table X-XIII 把 TCB size、software stack size、multi-type support 和 plug-and-play support 纳入部署评价。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0ACB8-63A5-494F-8708-86CA510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D700A-195C-4B49-8D78-DE8EFB2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Figure 4 给出 memory-encryption granularity mismatch 的示例分析，适合说明设计风险，不应扩展成所有设备 TEE 的通用数值结论。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A9E9B-F764-44D1-928C-4BB1AD6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CB0FC-1346-4481-8F8E-54731A4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PPT 中对 TDISP、SPDM、PCIe IDE、CoVE-IO 或具体 GPU/DPU 系统的协议/状态判断，必须回到官方规范或原始论文。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3B7D4-6421-4EE2-AB66-3990A9D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C6F09-D804-48AD-9EC6-11057936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B698E-7B65-44CE-92E1-2CF554B2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EDD268-B765-48EF-8F5E-12544F5F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4F8E3-83E9-4CF6-9E97-9A956B1A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不能支撑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9C5A2-935A-438A-830C-161E995B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处理方式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4EDA7-5779-4A0D-8E9D-94AC0172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211B9-50C9-40ED-9196-4FDD84E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design 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4A333-E49F-4301-AA35-F8130D31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单系统安全证明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B938CE-8D7C-413D-BE94-1E63B068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回原始论文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488B69-9EFD-4A18-B07E-5DF5390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6E4DAB-A98E-472C-AA2D-CEDA2FB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mechanism taxonomy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A4FF0-42A6-4662-AE2C-CDD1537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TDISP/SPDM/IDE 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29DE4-1D2E-46DA-92C0-BB2DE2B5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查官方规范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D0D836-DD6A-4D71-A060-2B59E195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BEBC4D-7B0B-4FEA-A822-05D60C84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TCB/compatibility lens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71428A-7577-4D33-89D4-95994255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通用性能结论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664801-2E05-49DB-BF57-8980CBDD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标为 SoK 示例分析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4145B0-5B04-4458-B265-6CC3502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D913CD-C165-4AA4-9994-AD793D2F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 checklist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BBEBB-4301-44D8-80ED-537AC7B9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厂商支持状态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A08649-6692-4685-81F5-2223160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补 vendor/spec 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C0A5D0-6D4E-4C08-B71E-AE3C19D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9E3FE5-204C-4977-AB9E-C430E1B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来源：实验页保守表述：SoK，无新实验。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5FFE5-30B4-405C-ACC7-442E7135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574CF-0698-4AF8-BA37-401E2A45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801FA-F2B3-488A-B3D2-4219176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F52AD2-C88B-413D-9C89-6AA5300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实验结果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50ABFC-4843-40B6-8709-F4D02A8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020</a:t>
            </a:r>
          </a:p>
        </p:txBody>
      </p:sp>
    </p:spTree>
    <p:extLst>
      <p:ext uri="{BB962C8B-B14F-4D97-AF65-F5344CB8AC3E}">
        <p14:creationId xmlns:p14="http://schemas.microsoft.com/office/powerpoint/2010/main" val="118532022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30234-44EB-4D06-8140-5F2B0861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FA06F-7B0F-435C-9753-4679273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BCD99-5081-491A-9F2F-3753F016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16A5C-95A9-42AE-AE9B-E0F4477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SoK: Analysis of Accelerator TEE Designs：文章评价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DFD99-9B4A-4AD6-9102-45D6FC56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CE4B8-A14B-4654-8155-2757C303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0F389-7E43-4A27-AACF-D51C1FB8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BD4A4-C54D-4924-80D8-6CC6A02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评价：这篇 SoK 让 01 看到 device path；作为 SoK，无新实验，商业价值高但必须接上厂商 HRoT、标准接口和云编排证据。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8501F-731E-40CB-905C-CB23CFA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FB3BB-6220-40F7-9A28-1D720284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A59AE-61FC-46AE-AC8A-E08BE320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5356D-068C-4020-8BDA-3033375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27D80-E023-4767-AA6D-B56A16CA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优势：RQ、corpus、architecture taxonomy 和多张安全机制表格非常适合转成 accelerator TEE checklist。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9D091-B521-432A-8110-16560A25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6754D-6F8C-44F3-9CA3-1704397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局限：51 个 studies 成熟度不一，很多方案只支持单一 accelerator 或特定 CPU，source availability 也有限。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22380-D22C-40D6-91BE-62D00BDE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ED8A8-E50F-4D6A-AA8F-86F499C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商业化潜力：confidential AI、GPU cloud、DPU/SmartNIC offload 和 secure device assignment 需求强。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5EFEB-D3E1-4801-A007-6A368D0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CAF77-9AFF-41AD-9D83-E266BA4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落地难点：driver/runtime TCB reduction、device attestation、TDISP/SPDM/IDE、IOMMU/SMMU/IOPMP 和 orchestration stack 需要共同成熟。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7C354-181A-4479-AC1E-DC664ABC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78E00-1F91-4E4A-9DDF-73AEF142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940FC-218B-4580-8D0B-84EBFB9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4FAB4-C227-488F-801C-F50FC4E6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7EE79-E7AB-4F67-953D-D06F6864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679DF-6932-4C28-8808-F428F19E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02A64-5183-4C92-95FB-459B46D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CE22B-9F18-4DE2-942E-08D37B20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把设备侧 access/memory/attestation/TCB 放入统一 taxonomy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7F3C3-B66C-425E-93E6-59B5CE3F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F6989-3A8D-4FF8-AC8C-D9EA67DD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BBDEA-B31B-4CD8-A093-04B664E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二手 SoK 证据，不能替代原始系统或规范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D8833-7235-43B2-9A15-1077159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C5972-63DB-42B0-8928-3EB2039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6D607F-3463-41B0-9D6A-0B9ACF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高：confidential accelerator 与 GPU cloud 需求明确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8E9AE-7083-43BF-9966-8CB6DE6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8BC5C-18F9-4067-88ED-FF43653F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7BFF1B-3593-402C-9251-F6CC9D7E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辅助 SOTA，连接 05/10/13/14/15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58432D-41EA-4CBD-9EF6-E4BC1DB2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BADF7-4F2C-46A9-A142-18C71B27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来源：评价结合 TCB/compatibility tables 与 conclusion，不扩展为具体产品判断。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2B7FE-BE8D-47C9-8287-6C3EA0C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1B77D5-F0E4-4E10-AD16-889CF90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86C2AF-4069-4F44-8010-D84B7BC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AF96F8-5B15-4027-AE1F-323CCAF3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文章评价  |  01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DACBC6-CDD7-48DC-9A54-73962067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021</a:t>
            </a:r>
          </a:p>
        </p:txBody>
      </p:sp>
    </p:spTree>
    <p:extLst>
      <p:ext uri="{BB962C8B-B14F-4D97-AF65-F5344CB8AC3E}">
        <p14:creationId xmlns:p14="http://schemas.microsoft.com/office/powerpoint/2010/main" val="96825665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1A189-8FA7-4734-8F72-DF20FBBB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F611B-1357-4A56-939F-0FAF57D8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45E95-9ED2-42FF-A170-355EA0A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A4DAD-8AF7-4FB4-854E-72416221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硬件辅助 TEE taxonomy：方向总结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44ADA-B63F-4C57-9558-75B71EE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C86B1-50CD-4200-8F97-0A6FF436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4D5BC-828F-4391-9A3C-5AF40CF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553E-56C5-4B73-83FA-6FA74FBB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 的最终结论：TEE taxonomy 应从 CPU runtime 分工开始，向 RISC-V open-ISA lineage 和 accelerator/device path 扩展，最后用证据等级控制结论强度。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A1F9F-F7B0-4F1B-8263-12C1D57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42C04-5137-44DF-989F-A5303D40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8D8F7-672A-4F00-84DA-04F1EDA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F4D92-E71E-41A7-95AE-BB3C30E5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8A3B7-202B-4897-AC0A-3F77CE19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 2024 解决总语言：host、RTPM/TCB、TEE instance 如何在 CPU/memory/I/O runtime event 上分工。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092D4-2339-463A-AA67-F70B5BF6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F3B3A-F44E-47B1-ADFD-94EEF64E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Boubakri 2025 补 RISC-V 分支：PMP/monitor enclave、scalable memory protection、CoVE/AP-TEE confidential VM 和标准化缺口。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57106-9D30-494E-8281-C951E01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DC96-95A5-483E-B4A6-2F30FAA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Wang/Huang 2026 补设备分支：accelerator 的 access control、memory protection、attestation、TCB 和 compatibility。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48692-F491-45FC-BCAE-AF0157EE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52BA9B-3E70-4663-976A-C4C20C5D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仍未解决的问题：SoK 只能固定 design space；后续章节必须用原始论文、官方规范和厂商证据支撑机制、状态和部署判断。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B786A-D274-470E-B2DD-5B9E34F0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10249-E683-4E7D-93ED-DAE5F6F4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3BE7F-A2F9-4CCA-A7AD-47536E1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13897-3EE8-4C97-9695-E711C699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DF361-6606-4B42-9C07-903130B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C669A-E6F7-421F-A72C-16BF0DEB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14334-CCA3-4BFF-AB9D-7AF96BE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34A0E-9A00-4728-A9B8-2DF428D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 2024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54343-07B8-4E6D-B2F5-B88132C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TRAF: runtime event -&gt; management mode -&gt; pitfall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1CBA14-8EE6-4F61-BC85-694B103F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偏 CPU/server-side TEE，不能证明平台机制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370A7-09C0-4CE0-AAE4-A96F9651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E3D37-DE27-40C1-99D7-55C39A4D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Boubakri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D0B57-CD28-40EC-89B1-414FD371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primitives -&gt; systems -&gt; open challenges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1BCE3-FD69-4798-8068-124F68B8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二手 survey，状态需跟官方 spec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17AA1-BC00-49A9-B29B-A8993E18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8DE54-56C2-4B57-B994-D211AC5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Wang/Huang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9B03E-10F5-4BC9-9133-679F655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TEE: access/memory/attestation/TCB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DB6B8E-35CD-4838-B0D2-AD0CD4F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 device/system 原始证据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67C19C-4B3B-405A-8909-7581EF7C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C79ED8-A4A2-40FD-9A98-F772D5A3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01 takeaway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0AEE2-8111-4E30-9FFE-9AA6393E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分类先行，证据分级约束结论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553848-715B-4CA4-8E9A-863E6FE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后续章节必须补一手材料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B1C00B-894D-4EC9-9573-C64596F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0B592C-A158-4929-98DA-12FD0B0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来源：总结页把三篇 SoK/Survey 的互补关系和证据边界放在同一矩阵中。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B040F-2F91-48E8-AE9C-027DD97C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65A60D-4132-4A50-B63F-20ED5F5A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F204F8-C43C-47E5-9BAF-AEB17580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3BC6C7-4458-4256-A1DC-59C5A51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硬件辅助 TEE taxonomy | 方向总结  |  01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2D16B9-DDA1-4552-B92B-678CB8E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022</a:t>
            </a:r>
          </a:p>
        </p:txBody>
      </p:sp>
    </p:spTree>
    <p:extLst>
      <p:ext uri="{BB962C8B-B14F-4D97-AF65-F5344CB8AC3E}">
        <p14:creationId xmlns:p14="http://schemas.microsoft.com/office/powerpoint/2010/main" val="45592314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F0F5B1-C6C6-4529-A9F4-0DE88F9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5113F-313C-4588-AF77-46148174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E565-508D-49BD-9480-9F70045C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251C9-0B2F-472A-8739-E80D2ECE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74F53-B752-49FC-92DA-A631A53F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TEE 与漏洞谱系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3CBCA-A9F7-4342-8745-AEBE64C3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TrustZone 作为 CCA 前史和边界对比，不把 TrustZone threat model 误写成 CCA。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EBF20-C983-4EB8-A00D-5BA0C272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5F248-EC42-4DCB-A4FF-C36516C5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73E87-1CC0-41AD-9DB1-EEE4F86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白皮书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08AB-B552-4D9A-A434-29A04553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85A3B-25A2-4BF3-82BA-55688EA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60957-5EC2-4558-9733-FF8068C1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Demystifying Arm TrustZone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7DE39-16D6-4AB5-A8FB-51B9CA06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8C4C7-D967-4C38-93BF-34F6A1A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869FE-7BA8-492E-9681-71ABC83E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TrustZone-assisted TEE 漏洞 SoK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D4C5E-F6AD-434B-A981-25E01BD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C8814-0D47-4E95-89F4-125C3C4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36878-B2F7-43FC-A2FC-110782CD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5BF45-E2A2-47EC-853B-AF3683B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BF4CA-C63A-4FF3-AD6A-A91D343C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Arm TrustZone TEE 与漏洞谱系  |  02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0AC9B-4E66-4BF3-8767-1AD1767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35802327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4E8D3-E588-4183-BE4F-C470A944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87E32-B5D6-4A99-82AE-9491D4E4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1D559-4A7F-4A76-A0E0-801B0E8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75645-3F8F-44E0-A640-C8F1CD6A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TEE 与漏洞谱系：方向开场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DF171-F025-4068-891A-E9EFF54B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AA583-D594-4576-A3AD-49997B20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9524-138A-453C-A4CE-AC875D77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A21AB-7B01-4C81-A2E0-6D4349B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TEE 与漏洞谱系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0EBB4-E914-492A-B3B9-8B6B22B4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06D01-423F-424E-A4B6-1AA8CC1F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BB40B-5755-40CF-8898-3193F8B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BA9CA-448B-4624-821C-8C97D2F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A9973-43D9-4209-AEBA-F745F378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TrustZone 作为 CCA 前史和边界对比，不把 TrustZone threat model 误写成 CCA。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9C0EE-ED6A-470D-A8CC-7C0BBA64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F8E35-C9B6-4237-A8F4-D9B34F2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固定三篇主讲材料；TrustZone 白皮书、survey 和漏洞 SoK 只支撑历史背景、生态和迁移动机。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20168-CAC6-4B34-A2F1-CE102CC3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F925E-D9F1-4029-910C-0B2FD95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F2C36-20AC-47A9-AB0D-254BF02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64A56-3E7B-4EA1-8C45-6A8980DD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7A312-39AC-4AA7-8A25-839392C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69F1C-3456-4C18-8380-00B61FB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95EA6-72C2-4FB1-B17D-2A5D7749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BAE14-7605-4C37-BDD3-3232DF07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D2942-2794-42BD-909C-60FA9AA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DB90B-D279-41EC-812C-C17222F4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04C00-2EB5-4118-BA83-DCEF9DE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19EE68-E6AB-4F66-A6E8-09B50DF5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白皮书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439E-E83B-495E-86BA-8DF6E875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E1CB5-0362-4766-AA16-26A8B58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DD979-36C1-4BA2-8BA2-4D6C6F8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D2729-A182-4E06-9D52-5AB2113A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Demystifying Arm TrustZone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B0D7C7-AE14-4B7A-BCD8-6EEBB1B1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BC7C85-5099-49A6-991F-0723E1F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3C6333-0AB3-40A7-976E-4AD6C0C4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CADC35-6E1D-4DA5-8C4F-D00C220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TrustZone-assisted TEE 漏洞 SoK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C84807-8F5C-4854-8AB9-366640A1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57F2C-84F0-44C0-A9CD-53D180E8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BF74A8-B09E-40C5-A32F-2B7EF392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FF0AE-57A2-4891-B4BF-BB67488D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1715C9-8B97-4FA7-873F-FF01EC0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1C94B-7394-4017-9C91-979DBF4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7D9D20-BA50-44BF-ADED-68F3D09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FB114A-FE2A-4390-8111-B02A42D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方向开场  |  02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478D14-397D-4123-9EC1-17021096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024</a:t>
            </a:r>
          </a:p>
        </p:txBody>
      </p:sp>
    </p:spTree>
    <p:extLst>
      <p:ext uri="{BB962C8B-B14F-4D97-AF65-F5344CB8AC3E}">
        <p14:creationId xmlns:p14="http://schemas.microsoft.com/office/powerpoint/2010/main" val="183724205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2525C-704A-44A9-A00D-4B7D9211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FEF9A-50C1-47F2-9EFA-CA8E7B3F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AEDAA-85F6-4749-B7DD-CF710075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80EFE-FBBA-4C5D-9813-81430A0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白皮书：内容摘要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84E3E-0F98-4552-8160-845CCACF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09514-4EB3-4AC7-B3EE-2EEA5C79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945D0-9025-4ACE-A129-40387D3B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14909-C3A0-42A4-B0E1-5FF8AE2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介绍 Secure/Non-secure world、NS bit 和 SoC 级隔离的基本模型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89337-4B4B-487D-BC2E-9543ED1C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101FB-012D-43C1-8E09-76482321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29CA8-55C3-4ED1-ACCD-D58903F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48013-48EB-408A-9039-0E67730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1BFCB-E054-4EBA-AA60-D3730E94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介绍 Secure/Non-secure world、NS bit 和 SoC 级隔离的基本模型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E334B-8FE4-47DA-B519-4EDDD68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B83F0-1A33-4D5F-8A39-1D0FFB49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First-party Arm TrustZone whitepaper is the strongest foundational mechanism source 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ACB25-6C75-40A4-89E5-4F2B760F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F5885-B386-4AC8-B1A9-A1F307A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57E05-6ECE-46B7-8DD7-C8C0B7EF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CE905-A111-466F-8CD6-CB335B0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64455-DBA6-4C2A-8DFD-C3A967EF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6EF7B-7B8E-48AF-84E1-82B20C9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9BF8B-6DE3-4C94-BE9C-11C9332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3C56C-E090-4652-8993-2454191F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7DEB3-4507-4CB9-81C2-D49ACD2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89C83-093A-48EE-A220-F1C4690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F27F1-5279-4DFA-80BC-D59FA5AA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厂商白皮书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19213-B09A-4888-B7A0-08D49B7C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2F35A-E7FA-4BFE-9856-9E4E4E9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D86CA-E1C4-44B7-ABF3-683ED898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FF793-4CFB-4A05-9C1B-326A787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144C8-1A0D-422B-B350-19E6DA9B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AA0660-D085-4DDA-8F3A-D00EEA93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8CA379-0250-43CE-9C1B-2FFB568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DFEE74-2A50-45E0-9358-2C700766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TrustZone 白皮书｜证据等级：E4 / 基础产业证据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5ECBC7-F3A7-4C94-AC1F-938036CB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E9AA8-F815-4348-9C66-723F2C05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9D0A7-1D2C-4864-8109-3C01AE0A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705FCA-7C86-403D-9839-90365D8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内容摘要  |  02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FC0DC7-7505-4EB3-B3DD-676726F1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025</a:t>
            </a:r>
          </a:p>
        </p:txBody>
      </p:sp>
    </p:spTree>
    <p:extLst>
      <p:ext uri="{BB962C8B-B14F-4D97-AF65-F5344CB8AC3E}">
        <p14:creationId xmlns:p14="http://schemas.microsoft.com/office/powerpoint/2010/main" val="148920377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0F055-D7BE-4484-B6F1-09562D1A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3E92E-593A-4CB0-A82B-0E3F1CF1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EACD0-66BA-46C1-A319-73B3F293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C8D0A-B408-4473-B514-71B0ECC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白皮书：研究背景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FAE40-2077-434F-BF3A-411C6E2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DA985-9D1F-4BBC-9C3E-9B7E4E56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26171-B449-4BE6-A0BE-693C2C9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D7B6F-3122-421A-9420-0F1993AD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移动和嵌入式平台需要把安全服务从普通 OS 中隔离出来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EF6DB-2DAC-414C-BB5F-3B8C031B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C579B-CBA3-4293-9941-45C92F64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22E8-702A-4F06-9476-99E6116A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F4D71-6467-4953-886C-5FED1FD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0D66A-EDED-4E7D-9EF6-F05B0768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移动和嵌入式平台需要把安全服务从普通 OS 中隔离出来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8C676-1D96-4535-B48C-6A7C6D43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BF10E-2B4A-43DF-BD87-990D1EBB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7B833-F574-47E1-A6A1-909BA917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1A6A0-0F24-4F99-801A-C5306985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4D7DE-89EB-4629-B4F5-A29B714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222C5-7A1A-4BC4-B41E-0E320D8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36B1B-C4E9-4EEB-95C2-1D0A81A9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921B4-E1DC-427F-BB9F-F670CD98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TrustZone TEE 与漏洞谱系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37EDD-CB3F-4857-8B7B-724EB5A6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7E002-DFEB-42F0-8678-FF8E936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EC131-B2B8-4398-901B-81CA2A56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TrustZone 作为 CCA 前史和边界对比，不把 TrustZone threat model 误写成 CCA。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3E3C5-C965-4091-8A99-0CA91EF4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A933D4-B9C7-4F77-8F27-5DA6EBBF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CF006-BDFE-401E-98E3-BEB7CD27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TrustZone 白皮书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CBD89-7E76-4B6A-B496-1FCFAF2D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24D5CA-17F1-4224-B925-7BFE852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18C53-0926-4265-9F61-E63AA40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01BB66-C25B-403A-B5B3-15B206A5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E28B9A-75F1-4DB2-8C3F-8D734495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TrustZone 白皮书｜证据等级：E4 / 基础产业证据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F7E22-E347-412A-83EB-3045B40E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43479A-4B91-4A2C-BD6B-B08FEEF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537C8-6911-4E41-A8E7-E69CED8B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66E5F-238A-4199-88CE-F2C934D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研究背景  |  02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FE3FF-5DB3-4774-9702-C5D69E30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026</a:t>
            </a:r>
          </a:p>
        </p:txBody>
      </p:sp>
    </p:spTree>
    <p:extLst>
      <p:ext uri="{BB962C8B-B14F-4D97-AF65-F5344CB8AC3E}">
        <p14:creationId xmlns:p14="http://schemas.microsoft.com/office/powerpoint/2010/main" val="113210186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50D590-6FBB-4607-991E-682692DA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B5F71-C1C1-41FA-AF0A-407557EA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AAD1B-B1F3-44BA-9CF2-C61A931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0FFA9-78BD-4CFA-8E6A-A7043CE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白皮书：解决方案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6E07B-8A7C-4F66-B8E4-463C805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DC60D-C29F-4872-843A-4EAEED6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66889-13A3-4D56-96C5-CE8219F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6DD79-8BF1-473B-BC5A-7F5BDB2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在处理器、互连和外设路径传播安全状态，形成双世界系统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1F684-1691-4209-9B96-7F2E84A7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BDBEE-AC52-4BE1-A3B9-04C8FBF9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70D9E-9E2E-4B3C-A9C0-60CD9D7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0330E-4F85-4ADE-BF7F-4D27C771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06F08-04CB-41C6-B0D3-EE6131E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在处理器、互连和外设路径传播安全状态，形成双世界系统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9954D-62E9-4B5D-9D31-C2E2F7AB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0FB18-3591-4726-966A-386A7A7D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BA87C-763A-4F50-9987-89D7C108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BED5F-E190-443B-BC7A-853B4B6F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01A59-46F0-481D-AAA5-B8E5C2E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11200-D91A-4E4E-988F-831EE4D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Secure world / Non-secure world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B4E40-05AB-4A99-A1D9-8A6408E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E2638-8B31-4FBF-9C2D-D8B40318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72477-B0FA-4342-9AD5-4752C76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8EFFE-E5B4-470A-B4F0-67F7306F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NS bit and SoC security state propagation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6A698-C2EB-40A3-800D-524CEB06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0CC64-17BA-4EC4-B18E-72008AEB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57A0E-1C7E-4471-B68A-DF956A7A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C72F38-9E52-4381-99FD-B71A253D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Secure monitor and trusted service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360FE-23A8-4FE9-ADB3-EBB4AF0E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384F1-DF19-49E5-829F-38FA3C7B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TrustZone 白皮书｜证据等级：E4 / 基础产业证据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D7110-C028-409E-908E-C667AB2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89710-F826-4139-88F6-CD0D4D1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0D6ACB-5A02-47A0-BE99-D084BD20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6847F-3E20-4FD8-8976-074BC20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解决方案  |  02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335F7-DEBC-42B1-BBA8-728CE2AA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027</a:t>
            </a:r>
          </a:p>
        </p:txBody>
      </p:sp>
    </p:spTree>
    <p:extLst>
      <p:ext uri="{BB962C8B-B14F-4D97-AF65-F5344CB8AC3E}">
        <p14:creationId xmlns:p14="http://schemas.microsoft.com/office/powerpoint/2010/main" val="1386376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C45DA-EA9F-4F68-AA3F-70624A3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1A718-3465-484C-97A1-2BD7CEFB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51BA5-248B-45D2-907C-2C034E8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B3724-392D-4EEF-A866-37006A8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白皮书：实验结果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79D7E-4175-49FD-9DF2-5ED016A6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49E00-F81C-43E0-93E6-3431651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29F32-F03A-4CBC-B112-7DC7FFBC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2952E-3D11-4084-AA64-9CE686D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白皮书/industry evidence，无独立实验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C88EB-3F98-45E0-89BC-3D414C7E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917F8-4196-4FC9-9E36-4C3FDFF7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7142A-2EAC-415A-A4CE-941D8364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A26A3-C42D-411B-A168-F1BA015D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46469-4ECB-449A-824B-01101BA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白皮书/industry evidence，无独立实验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5CD57-54E3-4606-B04A-4FF13E3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B541E-A39A-4A85-8223-C34B8A8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只支撑 TrustZone 基础模型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6CE60-56C5-4419-8F18-7537B8A9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BE7E3-613F-4067-A565-BC3859E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8D0E8-5B3B-45FD-85CB-959ABF7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9654E-E9E7-411F-BA91-FF96232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A9593-A252-4B31-BAE9-8875C19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F2489-5D68-429F-8AFF-6FF0D62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4F321-AA82-425E-B234-D2B08EA2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759F69-B13A-4575-B8D8-3219371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2BC07-FADA-4B60-8A54-764B3D8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TrustZone 白皮书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0AC72-6CC8-4F66-93A9-A4ECF93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7232D-548C-4AD2-9C36-CDE59AFE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1EF4C-145E-4608-B77F-5A2ACCF7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006AD-2CF7-4640-B0D8-DAB36A3A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0926C-28EA-403F-92F1-45986961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577FC-7BD6-4E23-A2D3-399D6397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34B76-6E41-4FFA-8AE9-CDB9B0BD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F57E1-1684-429A-8419-E14841A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D4AE7-86ED-4A05-ABA4-CC2DFEED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A4A874-418C-4B76-B5B3-E73C294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3FA275-D186-45F2-AB6A-D295B1C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0B0926-3B36-4C09-9BDF-3EFC94C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22804F-0B7B-41B7-95A8-940F3AD4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FC5561-2C08-499F-9F9A-761D12B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9BEF3-10D2-4A6C-A4B3-9B0B3D3C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TrustZone 白皮书｜证据等级：E4 / 基础产业证据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6C3A25-0AC5-4040-85FF-2E66A07E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0B5946-1200-4490-9408-A48E75D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143E1D-408A-4BB8-8733-94DD6122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770C06-A590-4A1E-825F-84FEAF98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实验结果  |  02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A8C3CE-531A-43D8-BBF7-F026710A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028</a:t>
            </a:r>
          </a:p>
        </p:txBody>
      </p:sp>
    </p:spTree>
    <p:extLst>
      <p:ext uri="{BB962C8B-B14F-4D97-AF65-F5344CB8AC3E}">
        <p14:creationId xmlns:p14="http://schemas.microsoft.com/office/powerpoint/2010/main" val="29650936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88DB7-A730-4944-93AC-FC2B12DA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8E65-C0B9-4452-B5DB-A7ECDD75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D50D9-6E5D-4EE9-9563-76A9F63A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54FA0-7478-4579-9FD6-503183A7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白皮书：文章评价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934F1-DFB6-4498-933C-DAB44E5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0093E-2A20-46E4-867C-BDB29061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947FD-9854-4B89-8D70-2F05FE8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基础产业证据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3CC1C-93A9-4E81-858E-E83BF545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历史基础价值高，能解释 Arm TEE 的双世界起点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37C76-E24D-42F2-99CF-FFA08DB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5C33E-FF2B-4ABD-A530-8C94F64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2A7D-7AEF-448A-99B0-90EC27D8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30089-57D7-407E-878B-6AE22694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50848-A521-4D9D-9393-956F1A8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设计优势：历史基础价值高，能解释 Arm TEE 的双世界起点。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41505-6D57-42EC-9BDF-6C267EB0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86312-90CD-44C3-A06D-2DA95A7F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局限性：不代表 CCA/RME/RMM 或 confidential VM threat model。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3E264-7441-4EAA-85BF-10FA6E3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B5413-BBF8-4F88-B7F6-37375BE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商业化潜力：已长期进入移动和嵌入式 SoC 生态；风险在 TCB 大、接口复杂和迁移到 CCA 时边界不同。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E916F-FF0A-4248-9E6D-A9A5F7D3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16815-7B13-4BD6-A4DD-5E27EACB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证据边界：E4 / Foundational industry evidence；本地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6CFF6-1FB3-4694-A3CD-425B1422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CD36F1-A3E2-481D-BEB8-01B9313C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CB337-8F21-433C-8B1D-A4A8815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C76A1-73A9-4EDB-8EBB-60A9FFC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15825D-3A82-4768-A88A-FE73747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2BDC3-EE00-41CF-A201-6126A665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70E54-F263-4788-A60A-051B826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C0781-809A-40C7-BBA6-205A94D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历史基础价值高，能解释 Arm TEE 的双世界起点。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09FD2-B778-4531-981C-8765A181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75C5E-28BE-4BD0-9BF4-57E63D46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48FB5-F3E9-4CF5-A2E3-28EA67B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不代表 CCA/RME/RMM 或 confidential VM threat model。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6CC9AB-122D-4FC1-9897-E16F8D66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5495B-5FE4-47F2-8248-1FA98BC4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FA5DC4-3614-4628-8AFC-0413B4F1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已长期进入移动和嵌入式 SoC 生态；风险在 TCB 大、接口复杂和迁移到 CCA 时边界不同。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33FEFD-A808-4F34-A4C3-2F05B0C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F3159-0E96-4BD2-A42C-596F786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1F136-0AB0-4D3B-8DC8-FE9D9DA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3C254-4E86-465D-A7F8-3B972219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0F844-A004-4CC1-A10D-43360FF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TrustZone 白皮书｜证据等级：E4 / 基础产业证据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1F4A71-5D58-4AF6-9C18-68EA5C59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22B9B-8832-461A-B528-27245265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EB449D-E996-4953-B407-0D0B835C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8C1443-FCA7-43D6-A50C-525AEC89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文章评价  |  02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1586E0-EDDD-4B7B-BC72-09554DF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029</a:t>
            </a:r>
          </a:p>
        </p:txBody>
      </p:sp>
    </p:spTree>
    <p:extLst>
      <p:ext uri="{BB962C8B-B14F-4D97-AF65-F5344CB8AC3E}">
        <p14:creationId xmlns:p14="http://schemas.microsoft.com/office/powerpoint/2010/main" val="62522687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3B58-8C56-4533-AFD1-AD4224E3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59ACD-ED61-4172-BF3B-D518325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EB5CD-E1AC-40C5-95B8-5A67F463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0C688-7340-4C1A-865A-0FBD2415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Demystifying Arm TrustZone：内容摘要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3BE39-74E7-4A7A-B325-99C3B2B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33122-EE7C-44BA-9989-E05D7F05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4FAA8-A59D-461E-9477-E21CB48F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E0655-259C-4A56-9E21-B8D13C0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全面梳理 TrustZone 架构、TEE 软件栈、应用和虚拟化相关工作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F1C68-7291-4C50-B9B2-A2D2EC9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B17E6-D487-4B7F-89A3-CBDFB30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F6C20-6599-4CF0-BA0B-2192D4BF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A4051-1C11-456A-941E-0D2FCE5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2BC06-C47A-477E-8C7E-BFA3CFFD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全面梳理 TrustZone 架构、TEE 软件栈、应用和虚拟化相关工作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4728D-229E-4A32-BCCE-1204B854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D33C8-0BDB-4969-AF9E-AFBA00D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Systematic survey of TrustZone-assisted TEEs for mature mobile and embedded TEE lineage.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ACC3C-8014-4825-B004-B033331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759AA-B08A-4F37-8CB3-3E0A316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AE171-54E6-49B9-8501-B0707320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6C7AB-EB65-472E-A4D7-0DC33F5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658BF-FBA3-4269-AF66-DFEC8707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9B245-1C5D-4A03-B823-1EB50B18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E42D7-3B96-4B46-B67F-CFFAD585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D727A-3583-4538-AF03-70608332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2425F-5156-4AA4-9518-2F110DA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B52F8-4987-463D-9A2D-663E00E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B7757A-3B9A-46AE-8CF1-C0A410BD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SoK/综述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8C0CF-77BA-48D0-B03B-FFFA9174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E9C6BF-D6F1-4A3B-BD38-7F32E1F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0E7A5-334B-4002-84B2-8F95F5D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4E82C-93DE-4D49-A4B6-07E3BA2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E45C2-3763-4371-A8A4-4B38C979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31E68-AE61-40A4-A1A3-56F4119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B0BC2-F932-47AB-AE22-35B63BE9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EBF14E-8FE7-4A7E-A4FD-CCDEAAD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来源：Demystifying Arm TrustZone｜证据等级：E2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C3C0B-5129-4F4D-82C7-57649E5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4B6AD4-DF05-41D2-B9F4-8BA3331E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CCCC1-3AD2-4187-9548-BCFA028F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02265-B068-442A-A9E3-8DFC7275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内容摘要  |  02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CAE6D-0F4F-4608-BCCF-354AE1F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030</a:t>
            </a:r>
          </a:p>
        </p:txBody>
      </p:sp>
    </p:spTree>
    <p:extLst>
      <p:ext uri="{BB962C8B-B14F-4D97-AF65-F5344CB8AC3E}">
        <p14:creationId xmlns:p14="http://schemas.microsoft.com/office/powerpoint/2010/main" val="197093952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004D7-419F-4751-B5CA-E7CE983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FFCC-A5FA-4441-9D7D-3DA8DC1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C7E0C-5A99-4233-A5F5-512F9014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3CB09-FD7E-4E7D-801C-20C935E8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Demystifying Arm TrustZone：研究背景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02648-29CE-44F6-88F5-4AC72334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4523A-552E-4FB4-9D22-A91A560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1839E-4D0C-4726-BC7C-27B2CE9C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96971-3531-4EA2-952F-5FCA5B8A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 长期被广泛部署，但公开系统化资料不足，学术系统和产业 TEE 栈边界不统一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A9076-1B6F-42AB-9831-EAF6DC7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BC5C9-B87C-44C4-B298-D55C925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9C698-2F3E-4DE1-90AA-7EAA4F4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DE0CB-B3E9-469F-951F-4FE236B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69AAC-4EA6-4044-8826-3FA4835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 长期被广泛部署，但公开系统化资料不足，学术系统和产业 TEE 栈边界不统一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14AC2-1DD3-449D-A114-69EE8052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C1064-B9D2-43C4-9098-81024F34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B9841-163B-4537-A9C9-901E916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CF968-022F-468B-A02B-FBD8B20B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EFD28-1CDC-4977-B42B-51E08F78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0A3F3-6C3B-40DA-9EAB-1C0F284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B3430-0BDD-40A1-9B00-E2D5CC4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26DEA-AC2A-4F08-91F0-E8AE9ACA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TrustZone TEE 与漏洞谱系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EFD99-D74A-4BA4-9487-F6B30EE8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EA02D-83E1-4495-B14D-7550BE7B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FFC31-FC4A-4472-A24F-85F8DBDF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TrustZone 作为 CCA 前史和边界对比，不把 TrustZone threat model 误写成 CCA。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81929-8AD1-4AB2-AA1F-3BC4D19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09895-AB8B-4FC0-A677-D5C9976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18624-FD57-4DE2-A239-68AE61E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Demystifying Arm TrustZone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ECE63-7B3E-4109-AB87-BABCA7F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41DC5-8BDB-40FA-B321-A964D5AF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49D1F3-0F24-4B3A-9700-E66CA4D4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43555-D1F4-45AD-A40A-1CFE61A4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C62EC-520C-47D9-BDD8-E1F8D87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来源：Demystifying Arm TrustZone｜证据等级：E2 / Background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B2AEEF-EA40-4163-B4F0-8971573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3C095-43E9-4815-8C1D-F3802A1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94FBAD-A565-4509-8164-7CE2A31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9BC39E-C0E9-4F80-992D-52DCB8E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研究背景  |  02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82E9F9-4839-4004-95E3-C26D0B9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031</a:t>
            </a:r>
          </a:p>
        </p:txBody>
      </p:sp>
    </p:spTree>
    <p:extLst>
      <p:ext uri="{BB962C8B-B14F-4D97-AF65-F5344CB8AC3E}">
        <p14:creationId xmlns:p14="http://schemas.microsoft.com/office/powerpoint/2010/main" val="146138753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30C42-7507-4B42-9793-CEEF3499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F2FD0-4645-45B2-BBDF-F01CAED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65D6C-61F7-4D4D-9934-D61FCE2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FAA84-CEB6-4A73-A009-791B02EB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Demystifying Arm TrustZone：解决方案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998B6-A3E6-4EDD-9A70-4525843F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22E8D-8F58-41B9-BFD4-6FFF910F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1400C-9E1A-40BC-8CB3-6541B4D6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FC21D-6852-47E8-8681-C6F320FC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按系统软件、TEE、虚拟化和应用场景分类，给 TrustZone 生态建立 survey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6FAF9-23FA-4105-B9FE-9F5477F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0B102-0AB0-406F-982F-8E81061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7F9EE-DE5F-4E1F-8702-10D80E3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A1F21-989B-4721-80C4-2CAFAAA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F0AC4-F89A-4772-8DE4-2847469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按系统软件、TEE、虚拟化和应用场景分类，给 TrustZone 生态建立 survey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6B7A8-B834-4F2D-8850-B70000B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B68B3-C0B3-49F0-B56C-CDABEE4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04042-6E93-4BFA-80E8-D60D1BF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27D6D-C93F-4A17-849F-15E84C11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21A8E-23F9-4FED-BA6E-71638E0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8B550-2D09-4FC4-8EA1-2692897B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OS and trusted applications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0647D-5CAA-4EBC-9837-7E4541D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60424-F8FA-4B91-8EF0-1BC6F349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20905-3906-4EF5-A377-15F5393B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CC501-3308-4407-8028-BE83395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Hardware-assisted virtualization use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65B3B-FF37-426B-9B3F-3E4A09E8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201C2-615D-4F2D-B489-F76E8228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D4E50-5435-4A9F-94E5-9280C3F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27AE6-9BD4-40D0-8E26-A1FE3332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IoT and mobile deployment patterns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BF8F5-3827-418E-9392-95EEADF2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E056A8-FCE3-4F80-AE33-A25B334B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来源：Demystifying Arm TrustZone｜证据等级：E2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00DE5-EFA9-451C-A965-B633C54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FBF7A-ED3F-4BED-8464-B3ADFAC2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D179B-1323-4492-AE03-6CF2D0E7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69DFA7-4C16-4F41-AA4A-D8C062F9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解决方案  |  02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C31F5-2A4E-4A54-ABD6-5B9833A3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032</a:t>
            </a:r>
          </a:p>
        </p:txBody>
      </p:sp>
    </p:spTree>
    <p:extLst>
      <p:ext uri="{BB962C8B-B14F-4D97-AF65-F5344CB8AC3E}">
        <p14:creationId xmlns:p14="http://schemas.microsoft.com/office/powerpoint/2010/main" val="4719827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2B181-D0F3-4002-BE56-31D14A88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BEE39-E926-440F-83E4-7C88980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F9922-9980-4D49-95B0-2A0F07F2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B5884-5BDC-4621-AC84-555F42BB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Demystifying Arm TrustZone：实验结果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3A3A3-37E5-4705-BF2D-672113D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3910C-B358-437D-A1B5-D2C6D694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7CE83-78CB-443A-9DC2-7C48951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1F29F-F593-48AE-B046-DECBD5F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规范/Survey，无新实验；Demystifying Arm TrustZone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CC9BD-ECB4-4B1B-AC2A-EDE8190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C01B6-5F82-4B77-8F93-5A08A72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8F1D5-3FAC-42F7-9585-9497350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02140-532B-40E7-AB13-4D94AB56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69D9E-E481-4435-A16F-8DA49A5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A0114-24A7-46D9-9D4B-A1318909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813A8-0E5E-43C6-872B-71EE295C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可支撑：Systematic survey of TrustZone-assisted TEEs for mature mobile and embedded TEE...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3744A-A4FE-4294-A7B0-751C6B8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0623F-7729-4258-BD3F-AC3C354A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证据等级：E2 / Background substrate；来源状态：本地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32193-E1F5-4540-BE44-7803CC2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42EBB-4D4C-4D9C-BA6B-C72E9B99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D470E-E4B8-4137-A1A4-1AF7D1CB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F40DC-E091-4BBA-B5C7-4AF1631B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E66D4-F4CE-42B2-8739-F25FF71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6A738-6B21-44A3-9686-BA80A1D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ECC49-FFF8-4627-B3DB-A892C842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F57EB-04B2-49CE-ABCB-D75C0254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C430E-A6B8-4CF3-96B0-7931BF8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BFC3D-09F9-455D-800F-0240A16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A1F43-A883-47D6-9652-17935B25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Demystifying Arm TrustZone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DE570-10F9-4869-9F8F-4ECBDA6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C4E68-0EFF-41AE-A6EE-DBEC35D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B285B-1E73-4AAD-8E6F-EE7968B5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70640-8F84-4E97-9834-4F301317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7D1518-7782-4408-970E-27072E30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9214D3-1A5D-4AAD-B31B-8ECD888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B860E5-6882-4084-8815-AD54243E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8FD59-E85D-4192-9F1F-3766C954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7F22AB-7372-4544-AB6C-2D38F191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EDFAE7-2B62-402C-93FB-09A7A76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29407F-8D59-4497-AAFB-86B21F8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0EE224-7ECD-4FAD-BC6A-A2BF50C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31EC5A-8DF2-4817-94CA-71CDEFF9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B57B25-4A3C-409B-B4FB-23D8824D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69EF01-5014-4989-A2D1-E4E7948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来源：Demystifying Arm TrustZone｜证据等级：E2 / Background substrate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DED69A-FE41-42FC-A4FD-3334E0DC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9AF0F2-C7CF-44DC-8A4A-680F3E0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90FF06-DC17-40BA-B8CF-8BC1D82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6AEE75-F5C4-4DF8-9A9B-256CD888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实验结果  |  02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1E0DAA-FF92-4FF0-AA4A-E233A21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033</a:t>
            </a:r>
          </a:p>
        </p:txBody>
      </p:sp>
    </p:spTree>
    <p:extLst>
      <p:ext uri="{BB962C8B-B14F-4D97-AF65-F5344CB8AC3E}">
        <p14:creationId xmlns:p14="http://schemas.microsoft.com/office/powerpoint/2010/main" val="12323825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AF2EC1-7E10-49A4-952B-5D06EFE3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B345-D47F-4AD3-9374-CF1298D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CB5B5-AE25-4362-AA50-F24C700B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AAFDE-3A3C-48B5-B6C4-028FAEA9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Demystifying Arm TrustZone：文章评价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EAE38-F1CD-42C5-B482-F67A3BC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EE598-9291-454F-BCBE-6AEB13C5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7A746-24D0-45AE-AC3A-BD5056C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57D5C-812B-499F-9551-C0A1F746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评价：Demystifying Arm TrustZone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29F6E-7E2A-4248-9355-9420247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3F441-FFC6-4F88-9CAC-2BBD0C6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CF82F-0E9B-48B3-8255-C541174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77CE1-30A8-4DA2-939F-F584E80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F98F9-C2C2-4352-99A0-858A2905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设计优势：适合写 TrustZone 背景和生态谱系。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2F59E-9524-47A5-8697-939A64A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94C70-2494-4C3A-A91B-736A4845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局限性：对 CCA/RME 不完整，不能直接支撑 Realm 或 confidential VM claim。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7AA3C-0438-4348-9A43-13CE9CA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A4792-27A6-4BEE-B694-BDD6780F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商业化潜力：有助于厂商盘点旧 TEE 生态和迁移成本；风险在 legacy API/TA 兼容性与审计负担。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D135D-26DC-4935-8E40-36E8C32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29C31-8604-4103-8418-2BAD71A1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95650-2247-43AA-802F-072A01A7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1D02D-39FF-4A92-9383-EADDB1A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47021-57F9-4E5F-A6B6-19080562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052A9-1EBB-48CE-A546-6C93549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D6E27-7E2D-4096-819F-FD1A6C8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43619-9110-46BD-A082-CBE5CC0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ED8D3-AA6D-47DB-8728-33863F5C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825BC-7F37-4989-956E-99982A8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适合写 TrustZone 背景和生态谱系。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1B78B-0624-4862-B62C-073141D7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298A6-DE46-4382-B02C-AB734FDB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1BC1C-629C-453C-8CF1-F292F04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 CCA/RME 不完整，不能直接支撑 Realm 或 confidential VM claim。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CDD1F-687B-4E64-A70A-C4A961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B497D-B376-427F-842E-F22795E1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CCC086-C46D-4711-866C-02EF652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有助于厂商盘点旧 TEE 生态和迁移成本；风险在 legacy API/TA 兼容性与审计负担。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BF3BD2-D16C-4D22-9BEA-846D5D8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35A1E-D819-4F31-B0F3-CFA1E43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65BF1F-E1A3-4C1B-B2CA-935D9D02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E0EA0C-97B8-4885-A5C9-4B8B410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1A0266-280E-4B93-B5F5-42F59369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来源：Demystifying Arm TrustZone｜证据等级：E2 / Background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0974C4-3216-4805-B5DA-05842DD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F9E8B4-A9AD-4115-B178-66D551A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02B5E1-66B4-4A07-8302-A5FD887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60733-4748-4C2C-B64C-CB27D77A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文章评价  |  02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3437E2-3520-491E-80F9-CA5FB80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034</a:t>
            </a:r>
          </a:p>
        </p:txBody>
      </p:sp>
    </p:spTree>
    <p:extLst>
      <p:ext uri="{BB962C8B-B14F-4D97-AF65-F5344CB8AC3E}">
        <p14:creationId xmlns:p14="http://schemas.microsoft.com/office/powerpoint/2010/main" val="181425026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1DDE4-85AB-4625-93FB-4046AC1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D2B59-1E38-4F79-BF5D-0F481D23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D8CFA-703A-4CA6-9864-E6523EB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C2767-49F1-4A98-9D6A-CC4B8BCB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TrustZone-assisted TEE 漏洞 SoK：内容摘要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0137-C25C-45EC-BA5B-74A5E739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C97B2-222C-421A-B18B-88531DB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3C713-7672-4134-8942-CB78E065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34416-53FD-438B-9C1F-1EBE0EA5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归纳 TrustZone-assisted TEE 的主流漏洞类型和根因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A7C3E-8336-4CCB-89AE-7A26137E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CB8F5-4007-4BFC-B17A-8EECCB10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11766-43C8-45D0-9B09-97926C1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5411B-AC77-43B2-944F-975C1071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11DFA-5416-4315-B8A0-8928BAE0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归纳 TrustZone-assisted TEE 的主流漏洞类型和根因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D9C26-206F-4E12-A1E5-C89750AD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60CD0-FF71-404C-85C1-8299D10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S&amp;P 2020 SoK anchors the TrustZone vulnerability and attack-surface narrative.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95532-3DD2-4646-91B7-053826E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82065-E941-4875-97EA-4912020E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0123B-49C6-447F-8813-D52054DA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BCE49-F388-4A5A-879E-A18F388F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53471-909B-4A72-8CC7-B945469A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D2669-438E-4BF8-8F0F-B0FCFD61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3A55D-7627-491F-9281-FFD13CB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9F85F-04BB-418B-AA1F-7ED036E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835BE-2268-43F7-95C4-6256742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D00A4-3362-40BA-8EDB-A62EFEEC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14F83-4A1B-46F8-B0B3-3C04405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SoK/综述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D8933-F774-446F-8F85-5E7EB06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3A289-15D3-49EF-8B06-8F6EDB9A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E584D3-8091-4EA1-B8B8-E7416C7A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515E4-86F0-4D0A-A26B-48F2A98A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C4501A-F9CD-4C59-9FCC-F0527F28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9796C-10E1-4A4B-A1B1-48EF0187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B0FCD-1621-463B-B4E0-D1A4610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6F3E8-9D45-4D90-B781-697887D0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来源：TrustZone-assisted TEE 漏洞 SoK｜证据等级：E2 / Peer-reviewed SoK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24A356-8D79-4756-886C-70516C8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6B97E-E737-47A0-A722-694FFBB6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84E6E0-EB17-41F6-9C46-3FA42028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F50364-8538-42EF-BE4B-F14BD45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内容摘要  |  02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7352F-B8A5-40C3-A2B2-071E6B4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035</a:t>
            </a:r>
          </a:p>
        </p:txBody>
      </p:sp>
    </p:spTree>
    <p:extLst>
      <p:ext uri="{BB962C8B-B14F-4D97-AF65-F5344CB8AC3E}">
        <p14:creationId xmlns:p14="http://schemas.microsoft.com/office/powerpoint/2010/main" val="193266211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EBD8D7-914F-412C-8C66-26A12ACA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00907-CDDC-4AA6-BEB0-12627D39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9E6E1-1DC0-4851-90D4-28526F54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25C03-4AE9-4682-9C70-76A8FD61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TrustZone-assisted TEE 漏洞 SoK：研究背景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B82B8-62D1-4CDE-902E-DCFBBDF5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218A1-60B8-4BAE-B550-D4530DE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F2C7C-8079-42E7-B77A-8986572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8435E-E93C-432A-ACF1-A030CE2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 TEE 暴露接口复杂、TCB 变大，真实系统反复出现漏洞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6C7D0-13A7-4EFB-A9EE-8AF183F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E4AF6-2899-40BD-8CC6-FDC40B57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F3BC5-DD82-4422-BDFF-328D826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1F41-C88E-499C-A59F-55399EA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7AD40-C1DD-4467-855F-1AD8D6F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 TEE 暴露接口复杂、TCB 变大，真实系统反复出现漏洞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48224-1F8C-45A3-B135-391BAEB6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E5BB9-F98B-470E-802D-BEC39714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A0FCA-ED14-4695-8C15-9B735AC5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2F11A-9D66-402B-A91E-1FD723D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53A67-CC19-4937-84CB-BC4C22B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04CAA-4748-4B59-9675-958BA39F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7D3D9-8189-462E-9B98-52DD004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4B6FC-7A56-4C45-BD3A-68C12F8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TrustZone TEE 与漏洞谱系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10FAA-4B1D-47A5-BDBA-45B5702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B27839-2AE5-4225-936B-C4BD8E00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7F5329-56D4-408A-A93C-96E8D698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TrustZone 作为 CCA 前史和边界对比，不把 TrustZone threat model 误写成 CCA。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95F73-C292-4B6A-A630-30EDE3C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45E517-F042-4694-A73D-BFDF6BD5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B73E5-1F0A-48D6-A432-4E7E77D0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TrustZone-assisted TEE 漏洞 SoK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983F1-97D8-440A-BE3D-224D20A0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D390A-DE5D-4DB6-9495-F6BA23C3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04983-2A38-48F0-A436-BFEA5329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E7AAE-1455-4DB2-BA15-CDDF44F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FD860A-769E-486D-A011-B5A45877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来源：TrustZone-assisted TEE 漏洞 SoK｜证据等级：E2 / Peer-reviewed SoK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B8CAC-C4F7-4739-ADC2-4A6AC1B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A218B8-FD3B-4DBC-877D-707928AB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E21C70-5285-43A3-9410-1530D39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FD607A-3CC0-48A8-A48A-208B3C39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研究背景  |  02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0DCBF-D90E-4BE0-A8A7-D828FDB3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036</a:t>
            </a:r>
          </a:p>
        </p:txBody>
      </p:sp>
    </p:spTree>
    <p:extLst>
      <p:ext uri="{BB962C8B-B14F-4D97-AF65-F5344CB8AC3E}">
        <p14:creationId xmlns:p14="http://schemas.microsoft.com/office/powerpoint/2010/main" val="198134838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900E7-CBDF-4492-9354-50AC241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FD267-2097-4C1A-B191-CED5E335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1E02-135E-4034-943A-3A9BE3CF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C7247-C86A-4D68-BC91-CE8BFF6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TrustZone-assisted TEE 漏洞 SoK：解决方案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807C3-A379-4514-89C4-E5CE998F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1278A-4037-481E-9863-F83D92E8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8F782-55F3-4C76-8ACA-015719B2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EC658-3732-4CEB-BD00-FC9F38C6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按漏洞面、接口、权限边界和实现缺陷建立 taxonomy，解释为什么后续 CCA 需要更强边界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EAC84-CE38-4519-B0F2-671B7B12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4CFD9-DF8F-490B-9CAD-AADD2A9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5B711-33BD-413D-8FA0-D828CDE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87FAE-AC85-4DEB-A5E1-AAEBAD9C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16AD0-A53A-499C-BFBD-60F9FC2A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按漏洞面、接口、权限边界和实现缺陷建立 taxonomy，解释为什么后续 CCA 需要更强边界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EAD06-E667-4F11-8D3B-F2ACAB93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65CE-A132-45C1-B3D6-E358E371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1E144-5BE0-444E-95C6-146D16A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58B97-83AA-4C6A-BC60-5F74E54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62C0E-2DD6-47FF-9937-76EBB8D0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D6EAB-99DD-4D88-BC56-8BD63681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Trusted application and TEE OS attack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48240-4CE1-4106-988E-390DC44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23738-C711-49B8-B2CF-2540913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C6465-69EA-474C-A80C-E90F866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4960BF-2AE2-4F67-BA9B-3C3D9690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Secure monitor / driver interface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0D445-CA8B-4FD2-9F60-685AD1F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9A867-C88B-4D43-BEFC-B78F1D2E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A7D8A6-FB20-4D4C-B951-22ADAF62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10C2D-E0EE-4141-8D6E-416E3339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Vulnerability taxonomy and root-cause grouping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3EEE2-BDC5-4136-8A45-D239639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690FA-21FD-43EE-BB3B-40294CA9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来源：TrustZone-assisted TEE 漏洞 SoK｜证据等级：E2 / Peer-reviewed SoK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D0134-2F2E-4F39-ADDC-1F620B4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26246-90E6-48D8-BE0F-DF0F5836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4C8C7-74E8-4C36-914B-51DCA85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DD03B-3B7E-4767-91A1-D4BB66F4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解决方案  |  02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FF7A6-84AB-43D1-9D02-021FEB9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037</a:t>
            </a:r>
          </a:p>
        </p:txBody>
      </p:sp>
    </p:spTree>
    <p:extLst>
      <p:ext uri="{BB962C8B-B14F-4D97-AF65-F5344CB8AC3E}">
        <p14:creationId xmlns:p14="http://schemas.microsoft.com/office/powerpoint/2010/main" val="38767875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D4495-7DD8-48D8-8638-64E000BE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9CF7C-D630-4B5A-8DAE-C965FFC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F7899-246B-4E49-9819-B343BAD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54FEA-8814-444D-88BB-13C5C95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TrustZone-assisted TEE 漏洞 SoK：实验结果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23E5A-7406-4B84-A5B6-5BC7629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02F78-61FE-4138-A797-C5C39704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D0AC9-9477-4BCF-A369-727E30B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1A418-B905-4267-BD86-01D2D21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规范/Survey，无新实验；TrustZone-assisted TEE 漏洞 SoK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BBC19-CDA5-462B-A28E-B6763CAF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8194B-CF6C-4869-A7B9-A9E5A19A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DB182-A81F-4471-ADE7-DFC75D01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392A5-C828-4D49-B447-176AF07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A4C25-B74E-4134-809E-1DF1667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0C061-48ED-4E88-BDBF-40F36C9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F6009-499F-4EE0-BA4C-5BF7D0C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可支撑：S&amp;P 2020 SoK anchors the TrustZone vulnerability and attack-surface narrative.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DD2B6-A2EC-437F-8649-3DFCCC20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7A256-5A54-4750-9B04-709A375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证据等级：E2 / Peer-reviewed SoK；来源状态：本地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52DA5-F618-4A52-83C1-9B5A436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2B4FF-26CF-4867-B781-81C4CB1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32F2D-FB3A-4275-B9E9-80816BA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61D08-F6E9-42E2-8256-02F03D77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6A402-6147-4D2C-9837-D2CF986A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626070-85D4-4FEE-9DDE-FED01DD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02101-FCEB-477C-AADF-03BFA64A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8D53BA-4BEA-43BE-BA05-27306CA7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05D2-049B-411F-9BD8-51FA25F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32BD3-66BE-46B0-ADC1-B7DDC6A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D410E-5F95-440B-B67B-BCBE9B60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TrustZone-assisted TEE 漏洞 SoK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02393-2C1C-43A3-9E7C-596BC15A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A76AE-4557-4B50-9F9C-91B3150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2FEC7-BC58-4D23-96DB-B7E1DE4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7E2C4-4776-400C-9650-A74A934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28A49-7A47-4F5E-9D81-7193523B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2E35A1-1066-4B01-B3FC-080D517C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9AEFA0-8D55-492B-9712-4CCD8D56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90443A-024E-4B98-BBB5-E5E4E3EF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E0A621-FEAE-4A9F-AA71-3B7484E5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D57ED4-BDA6-4108-B334-E713C4FC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A9DCCC-805B-49D0-82E6-29BA214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34838D-8CEC-47FB-9099-F3194CB1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0CCC9D-52A0-4C74-9668-E025EB65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280EA5-9787-49E3-A910-37EC851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C27BF0-C2AE-4E3F-8907-F7BFFCA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来源：TrustZone-assisted TEE 漏洞 SoK｜证据等级：E2 / Peer-reviewed SoK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AFA212-0D95-42E1-8E5E-8586C7A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58F0CC-D92E-4228-8766-9C3F0903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D126AA-1DFD-4B89-A2AA-B499D676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0A2C84-816D-42FB-83AD-0ED2C136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实验结果  |  02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E0F914-6F52-4550-A1E1-38A5B88D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038</a:t>
            </a:r>
          </a:p>
        </p:txBody>
      </p:sp>
    </p:spTree>
    <p:extLst>
      <p:ext uri="{BB962C8B-B14F-4D97-AF65-F5344CB8AC3E}">
        <p14:creationId xmlns:p14="http://schemas.microsoft.com/office/powerpoint/2010/main" val="6442003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491F5-04CC-4B2A-BAF1-BBD603A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B3B56-EEB7-4271-9F21-C4028D4B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13EE7-8AA3-4DEC-A642-82BE2286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8907B-8005-4D92-BCE2-D7FDF51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TrustZone-assisted TEE 漏洞 SoK：文章评价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AE5F-BAB5-4FEA-BE33-A76E77EA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3A346-2AF9-4BAD-A341-DDFCFE2A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72D0D-99B5-4C12-B405-3FE81DE4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Peer-reviewed SoK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A700B-FAB2-4169-A428-F9B836C4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评价：TrustZone-assisted TEE 漏洞 SoK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A7367-7364-402E-9CEF-FC6AA0E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AC6FC-2501-4B52-B81A-45D2BFB1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95E7B-9E62-4772-A803-C3BE29E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1E9E5-3915-4358-AFF3-E400AC6E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8F21B-F7D1-48FF-BEC3-FF0225C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设计优势：能支撑“为什么需要更强 CCA threat model”的历史动机。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C0559-E7F0-49AA-9300-3529848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AC2C2-9A86-44BC-8F3A-3A638109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局限性：不能替代 CCA/RME/RMM 机制分析，也不能直接推出 Realm 安全结论。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DE96C-0CC6-4E04-9FFD-249709F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A37C0-B8F5-46AA-BC8D-97A7372F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商业化潜力：可用于安全审计和迁移评估；落地条件是缩小 TCB、规范接口并建立持续漏洞治理。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5CF2AD-D3CD-446D-B98D-FECB8861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88704-35C2-4B08-A0CC-523359ED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C1E97-2816-40A5-A9E0-D64DB716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61F1A-B2C2-4AD1-8E0B-8F42305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AE59E-099F-46BB-9A32-E27DA49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993DE-08C5-45EC-8CA3-F184C45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7B057-4443-4881-886E-ACDE3EE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CFBD4-BF4F-4E4F-8DAD-CF7B703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36669-93C5-49EF-8EBD-D475594C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D0F92-039C-4A6C-9C8F-9BA2FFD4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能支撑“为什么需要更强 CCA threat model”的历史动机。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06FE0-6AE0-406A-B089-5AD2A9F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7AA5E-D6A1-41CD-BF71-EF2A2CEC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AB0E4-CFE7-48FD-997A-907CCED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 CCA/RME/RMM 机制分析，也不能直接推出 Realm 安全结论。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0A52D-0672-443A-B92F-38D49E67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2C4B1-3D78-4BAD-A16C-76162D1D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C5F9BC-6B53-4591-8E68-A09F8C3E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可用于安全审计和迁移评估；落地条件是缩小 TCB、规范接口并建立持续漏洞治理。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95AE98-3B01-43FD-9C7C-241CBD3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3526E-C19B-4BCC-A300-5975EF8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2D6B85-6853-4824-BD1C-CA9B821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81A92-591D-4863-9DBE-639D8AA9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34E6E0-D283-4793-9ECE-899A6A9E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来源：TrustZone-assisted TEE 漏洞 SoK｜证据等级：E2 / Peer-reviewed SoK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646827-B28B-4555-B4BF-D1A917D8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139820-CE46-4A84-A123-1A55A233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F5ECD6-0FA9-453D-8A53-F4294503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3DB591-E384-4786-AACD-001017F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文章评价  |  02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9EE1D4-97CE-4D6E-9BE3-7606098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039</a:t>
            </a:r>
          </a:p>
        </p:txBody>
      </p:sp>
    </p:spTree>
    <p:extLst>
      <p:ext uri="{BB962C8B-B14F-4D97-AF65-F5344CB8AC3E}">
        <p14:creationId xmlns:p14="http://schemas.microsoft.com/office/powerpoint/2010/main" val="214485858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7ED91-B84D-487F-BD25-FBC9612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575CC-24FF-4860-8C14-84733751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592A4-AB3E-432A-861B-48F43A58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1F6D7-EE47-4987-B0B9-5997CB5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TrustZone TEE 与漏洞谱系：方向总结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28635-30EA-418F-BDE7-30BBA94B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33217-BD62-4D9C-B98F-841B2CB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DBA30-997F-47D9-A6AF-C4D0A737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9E6F7-89AF-412C-B9BF-91FC8918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TEE 与漏洞谱系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6B61A-08DB-40D7-99C5-B9F65547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24EC8-08C9-443A-827B-AF01FB7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C096F-B774-4308-89EA-A91BFDC0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A3E04-5656-417D-B1FD-8B4CDAE1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E1E60-DC30-4612-87B6-82673E89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白皮书：开创/基础入口，E4 / 基础产业证据。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A2E0B-6F43-42DE-98DE-80CD18CF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D5CFA-43DF-41BE-8BC4-020BF41B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Demystifying Arm TrustZone：代表性改进，E2 / Background substrate。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E78B7-FA27-4507-9D88-63CBEAA9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181FA-E11C-4E9A-AD08-9BD7481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TrustZone-assisted TEE 漏洞 SoK：当前 SOTA/补充边界，E2 / Peer-reviewed SoK。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17C32-7C81-437D-B2A0-F8F1E6E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63D11-362E-4CDE-8809-1307B1E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C3FE2-C024-493F-A52A-65E9DE2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BC879-5E04-4216-B87D-660E0F39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E2D55-F833-4FB1-B16C-54EEC522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C34D0-0B01-488C-89AE-ED1AE942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6247D-69EA-49ED-85DB-3066AC38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F6B33C-F9A0-47BE-A90B-77BB0BCC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80A55-6728-413B-9B35-4DDD42D0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A07C4E-3A96-4A95-BF1C-8F5FC70A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TrustZone 白皮书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0534C1-0A34-4174-BA43-F6616ACC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8BA68-94FC-450F-BDBA-6D7002DE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First-party Arm TrustZone whitepaper is the strongest foundational...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6ABEF-C4E6-4BF0-86E4-B7BB373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39504-1068-43E3-A67E-F58D09D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Demystifying Arm TrustZone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ACF446-067E-44D2-A196-9C695B3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41871-D678-46A6-B6F5-22BB49E9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Systematic survey of TrustZone-assisted TEEs for mature mobile and...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09F55E-C20B-4C4E-865A-79B09D3F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42D2C-36DC-42CA-935D-F84297C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TrustZone-assisted TEE 漏洞 SoK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2199F3-14CB-4435-8360-BD254AA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A19ED4-15B2-4E7C-8015-545CB9D4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S&amp;P 2020 SoK anchors the TrustZone vulnerability and attack-surface...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1FE34F-F46F-4EFA-B275-CA08B63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DD0041-AF97-4D80-AD9E-7BBE9730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4E3AB2-D042-4D30-984B-3EE69DCF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C2D47C-3185-4AF1-B173-CB49F881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20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733E52-0CED-4B8D-AE61-655DC409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18344-2766-41D6-A4D9-96F4A9B0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TrustZone TEE 与漏洞谱系 | 方向总结  |  02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72586E-B3B4-433B-8C74-1FF1FDBC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040</a:t>
            </a:r>
          </a:p>
        </p:txBody>
      </p:sp>
    </p:spTree>
    <p:extLst>
      <p:ext uri="{BB962C8B-B14F-4D97-AF65-F5344CB8AC3E}">
        <p14:creationId xmlns:p14="http://schemas.microsoft.com/office/powerpoint/2010/main" val="182759299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E4410-DF29-480A-9AC3-3E88A5E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7F0A1-44B7-4044-993D-6C97835F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6D8D-59BF-47A5-B9CE-A35EC14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CB318-2F90-4BE3-A174-D6DC0F4F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E65F4-D12D-4FB4-B872-15C1117F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/ RME / RMM 基础架构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2E374-B303-408D-AD3C-514486BF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Realm、RME、RMM、granule ownership 与 lifecycle 建立 Arm CCA 主线。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17EA0-4CBF-4E89-B6FC-167E775F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4E1AD-778F-496F-9EC4-16671AD7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03037-D6E1-4EFD-B027-45B985D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Confidential Computing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303F9-0F19-47C8-B810-CB9DD35D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FB6CB-D0F5-41C7-836C-BFBB8E6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F5A97-D9BC-4EAF-8A00-036E6E1D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架构规范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7A2AC-ECFE-4134-BDCB-09DDEC9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45642-B725-4CC7-83D6-576A4A6A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E3123-A194-4231-9016-AF736EB8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Management Monitor 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E1E86-3881-4A16-A8E6-2E441538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C3C05-0C54-4986-ACFC-0FA266F0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EEFC2-8B0A-420E-960F-769D3DBE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A3869-432D-4ECE-A1AB-FB011B33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3833-E1A7-4657-BB89-7862D40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Arm CCA / RME / RMM 基础架构  |  03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6FC91-E92E-4E3C-A3BC-F94F567F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041</a:t>
            </a:r>
          </a:p>
        </p:txBody>
      </p:sp>
    </p:spTree>
    <p:extLst>
      <p:ext uri="{BB962C8B-B14F-4D97-AF65-F5344CB8AC3E}">
        <p14:creationId xmlns:p14="http://schemas.microsoft.com/office/powerpoint/2010/main" val="79386456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BB879-396C-408A-BE69-A32B0941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C39C1-FA70-4B6D-A11A-402DBC3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8175C-17AF-4C96-9856-0A8018F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4335F-9F09-4BD0-A8EA-A6788A10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/ RME / RMM 基础架构：方向开场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2B53C-C3D7-4A05-AFA5-83473DA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C32CB-DDB0-489F-8BAE-E34C870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BFF02-B11C-49FD-B216-D212CB9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5B434-EFA0-4924-B17D-4B9755F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/ RME / RMM 基础架构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62C21-1334-4004-93CA-D8587011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1F119-0A8D-4BF2-A455-A1ABE9CC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5FB13-E459-47F1-BE3B-CFD03F36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AF0F1-935C-4A7C-874E-4F58C2C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5F2C0-C259-47EC-8DF6-30220AB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围绕 Realm、RME、RMM、granule ownership 与 lifecycle 建立 Arm CCA 主线。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29B1D-3E11-45D9-8CDF-61F106F7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A3ED7-98F6-4F8E-A69E-79F967D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固定三篇主讲材料；`wu2024rmm` 作为 RMM verification auxiliary，不计入三篇主讲。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D3F7B-E026-4D02-9AE9-C6E6F83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78B8F-C483-4525-8CCC-B66A02C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DC431-194D-4611-ADE2-5869A7A2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8625F-12D4-4B10-A759-DA680C98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CB796-FA99-4646-A52B-981B36A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A17EB-E98B-4C96-9B35-A94E8595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FE5CB-BAE3-4FB1-97F0-0974345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59B3A-53E7-49B6-91C4-7FAF1EB1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77233-F707-4D37-9F40-265718B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1E605-D1A5-496A-A7D7-A600DCB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60404-6BCD-46C0-8385-0755D969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E69A5-B581-4A5B-82CF-3D89B45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Confidential Computing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EE76B-792F-4ED7-9036-EFC4F6E8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53EC0-7205-4A36-A2C0-418C6032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79357-7122-4ABD-9D5C-E9206786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6DCE6-C05E-4E3C-BF2F-E7559D55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架构规范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A8E83-9F98-4024-80BA-6268C12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59D90-5578-49E3-A60E-38746452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1BD2B0-6A9C-46CC-852F-BB76EECA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1AD768-DFD7-4191-8A4E-BC663CD4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Management Monitor 规范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3A5DF5-DACB-48D6-A09A-16F37B7B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A7819F-174A-42F4-8B4C-ABD4256C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FF80A9-E0EC-417A-882B-434C0E2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BE1AB-5F83-4DC0-A4FF-B0FE9AA9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50B7F1-D4F5-47AA-9089-0436AEA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C869F8-9169-4656-9970-E145070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35C542-51A6-4879-8C70-6EF0F99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93190E-1766-4AEA-B18C-7F5DF6D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方向开场  |  03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E83C97-EBE1-49FB-9E05-912029F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042</a:t>
            </a:r>
          </a:p>
        </p:txBody>
      </p:sp>
    </p:spTree>
    <p:extLst>
      <p:ext uri="{BB962C8B-B14F-4D97-AF65-F5344CB8AC3E}">
        <p14:creationId xmlns:p14="http://schemas.microsoft.com/office/powerpoint/2010/main" val="57450387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D587E-B308-4135-9DDD-D02D1BA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4884D-9736-45F8-8A8E-44B79E7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C8FC9-91B5-4B6B-A614-797578D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AD7DC-D9A1-4C5F-B0AB-4DE2FF0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Confidential Computing Architecture：内容摘要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B6261-112D-4692-8011-966C3AE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D54D4-E068-4D92-B7AE-24BB03EB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631BA-8428-4B7A-A5ED-143B96AF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63292-F6A8-4425-B63F-60F5D6C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提出并验证 Arm CCA 的核心设计，包括 Realm、RME、RMM、GPT/GPC 与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1AF1F-2B9A-4EAE-98F6-EF8F60F1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25B21-E803-444F-8E0A-7D3841B3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44F01-F52A-487E-94D2-A21B1B9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BC3B5-E426-4B71-B64F-609A0173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A76AE-EA0B-42C9-8BCE-80FFEDB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提出并验证 Arm CCA 的核心设计，包括 Realm、RME、RMM、GPT/GPC 与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945CB-110C-43AA-92B5-669812E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2D5A0-B02A-4912-8DAA-8F8CF40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2022 paper is the foundational peer-reviewed system treatment of Arm CCA, RME, and RMM.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5CB59-A928-43D0-AAAF-32F4863E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82C67-93E2-4C5F-81B8-09EB299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753F9-A532-4219-8353-8E79D252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B98D3-F8B5-4178-8903-9509288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4D7CE-4396-4305-A1D9-A146C036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141DC-B40E-400E-81D4-C8D30C3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B7AD7-824F-45EB-A45A-D92C33D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041ED-3CFF-4679-A21C-E7602103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41B4B-FE8A-4641-90A1-D1DB676D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538FB-3859-4925-9B97-BEB5C173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BA042-5949-4247-984A-179C062B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35B47-1E6F-4C3B-B22F-A94D9D67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C7DDF-B34D-4787-8946-8DB557C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5364C-753D-43FB-A5B9-1C9D0AB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192F7-FDDC-4DD7-B201-E80B201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802D4-63FF-4DEA-8E71-E00D011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CCDCA-E137-4F37-931E-5BF6B720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429AD-3A9A-4964-A528-4C2F4290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D455FC-E4EE-4093-AEE0-9A08206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Confidential Computing Architecture｜证据等级：E1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08FBE-2BF4-40D6-A5F7-55EFA9D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CF0F2-8204-40DD-9B6D-12D689F2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7B4755-535B-42EF-BA20-1A80FEDE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672098-D6A4-4BCA-B2E0-D2519454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内容摘要  |  03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66F07D-52B4-4389-B487-D5D8664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043</a:t>
            </a:r>
          </a:p>
        </p:txBody>
      </p:sp>
    </p:spTree>
    <p:extLst>
      <p:ext uri="{BB962C8B-B14F-4D97-AF65-F5344CB8AC3E}">
        <p14:creationId xmlns:p14="http://schemas.microsoft.com/office/powerpoint/2010/main" val="24626381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266821-C9A4-463B-8CA4-7127491C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5EF30-A750-4050-9C10-6762E731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43D01-74E3-4C83-8B5B-ACF13AD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0E76-3855-4415-A58D-577128F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Confidential Computing Architecture：研究背景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6E00-80FF-4996-939C-A4005F95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0C584-34B9-49CB-8EDD-28059F1C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6FA4D-3399-4BE6-9E46-E3CF4B8B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9E54F-E984-4C67-8888-69DF447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云场景下 host 仍需管理资源，但不应看到 tenant workload 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FCC49-3E57-4DDC-87B5-51FC1BD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0019B-8FF5-4C34-9A83-616017B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C1A5C-1F12-4936-9BE5-7C9219D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0FFF7-6AB1-4997-9F60-F8A33F6C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78CFD-E821-447F-8549-3D3F4CAB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云场景下 host 仍需管理资源，但不应看到 tenant workload 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D5BE8-B8E7-4B6F-A51B-5BEBB43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AC441-1ADC-4358-8096-0BE87C48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C88B6-65C5-4E7B-96F6-AE95742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9CBD6-A5E9-4C60-92ED-E88B7ED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D3187-EC5E-4C06-BA40-8426D9B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AA054-7A25-4B05-B1F6-95272EE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57CE3-4916-4E3B-8DD2-B2500282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C7523-A576-4353-BE22-87FB5C31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/ RME / RMM 基础架构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29529-DA8C-4F54-A8D7-DFB91159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DBA8C-6AFD-4AED-9691-075AF0CE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7BE30-618F-4982-9C47-FFB6CE7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Realm、RME、RMM、granule ownership 与 lifecycle 建立 Arm CCA 主线。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22939-05EB-46C4-A2DA-AF060393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77927-AFBA-4347-9F79-A2BD0A7D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9A83B-2F60-48F6-B466-A182E8B5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Confidential Computing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3C740-C88C-48EB-9741-D79EBB0B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A129C7-DDFA-4BA4-B447-555537FB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07AA2-E7A2-4FE3-AB60-101E2EC7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15BEC-0BEA-470C-B774-53676919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4A249-B191-4BBE-8D1B-2D830CF3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Confidential Computing Architecture｜证据等级：E1 / 基础证据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697A1-9036-4F5E-91D8-1180FFAB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B25285-9495-4142-8191-E3FEAA11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50F66E-6030-4000-8EB2-12DAE27D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FAAFD-2447-4C43-AA37-4BC8D64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研究背景  |  03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540994-A4FD-482E-88DE-A3CFB5CD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044</a:t>
            </a:r>
          </a:p>
        </p:txBody>
      </p:sp>
    </p:spTree>
    <p:extLst>
      <p:ext uri="{BB962C8B-B14F-4D97-AF65-F5344CB8AC3E}">
        <p14:creationId xmlns:p14="http://schemas.microsoft.com/office/powerpoint/2010/main" val="29026828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E9B9D-F26F-457F-B64A-341DE1B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E61D2-30AD-48D2-8884-CCB13EF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41525-4360-4E0C-B39B-1EA54F43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F65C7-0D58-417C-BCFD-EF8841F7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Confidential Computing Architecture：解决方案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BDEA7-F24A-4055-A1D5-0F71FE80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81F3D-D1DD-4239-B65B-F3E605C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4E0DE-0927-4C21-84F3-99DB441A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DB75D-DE70-47F2-BA06-F38CCB47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把资源管理和数据可见性分离，用硬件 granule ownership 和 RMM lifecycle 管理 Realm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73966-04B9-475C-BF64-FF725A18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5F044-799B-4174-ABF8-7FACC01F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A78E0-9614-4B56-94C5-1FD0C272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B06E5-4715-4DAB-A0A0-2A29AE84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07596-0DED-40C5-BF35-76217A59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把资源管理和数据可见性分离，用硬件 granule ownership 和 RMM lifecycle 管理 Realm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2F709-D42D-41ED-AF86-B98F152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9A7E9-232D-45D6-B665-92CF872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149C0-D544-470C-927C-B07A2572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545AE-56A0-446C-8DB9-7323BE00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6F0F0-7FAD-445A-98BD-AB460C74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72C9B-F89C-4A95-92E2-D90EBCBC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world and host/tenant separation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0CECB-D101-495F-B42A-853B3DE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8B5E0-C0BE-43B2-A4B5-30BE18F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F0C37-BA52-42B7-B893-F7E6C0C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E1383-9B1D-4F7E-B0BB-FD361DE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Granule ownership and GPT/GPC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E42D2-5D43-498A-8BBD-89CB798C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95557-48AF-424C-B196-E62C9116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C4255-060A-47F7-B9C2-D2156BD5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B8E301-D21E-4A1F-8C5A-C92427FB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RMM-mediated lifecycle and attestation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E3A08-97B8-4D36-ABAD-17153262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AE663-E13D-4D54-A181-8B2A12D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Confidential Computing Architecture｜证据等级：E1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C01F2-CCC0-4803-9192-B9EB822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32D3F-7610-485E-B3FD-6B49B0E8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557B4-B045-4A89-9430-FBCB013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DF0B07-B9BF-4B92-B153-29A340D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解决方案  |  03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D4570-0D67-40D2-9482-EE54305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045</a:t>
            </a:r>
          </a:p>
        </p:txBody>
      </p:sp>
    </p:spTree>
    <p:extLst>
      <p:ext uri="{BB962C8B-B14F-4D97-AF65-F5344CB8AC3E}">
        <p14:creationId xmlns:p14="http://schemas.microsoft.com/office/powerpoint/2010/main" val="167093068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B4E98C-215D-40AD-92C3-9968D0A1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93577-CC01-4FA0-9866-8CF7918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8800F-91EA-4800-A099-E979A55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0463-7D4F-41BA-858E-FDB538F3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Confidential Computing Architecture：实验结果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4814-FDF6-4B6A-879E-2B759154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76C8-A6E2-4A76-9553-B751ECEC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642D0-A15F-487F-877B-A77523E5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DA5AB-DA46-4305-8633-C65B26E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系统论文提供设计验证和原型评估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6A24D-DC55-46F7-8088-793C241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7E0BB-9E77-4B4D-88E0-91E2D22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B3CD0-3FB4-4FEF-B557-81740B11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DB131-E8B5-4833-8086-55DA746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4957B-C741-4768-A29C-1803BCD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系统论文提供设计验证和原型评估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C5DC0-D566-4BDA-BF93-AB0573B7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48B39-49E2-48F3-B162-722A417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本阶段只记录可核对的证据类型，定量细节在 页面重写 中回引本地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88321-249E-4F1E-88B0-4E75634F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B67F2-A872-444D-8F9F-505E7E1B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C64A7-5B20-46ED-8E9B-FDF8713C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A19CA-2707-490A-9E39-0F2A035A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BF069-D9D4-4162-9000-41E967BF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8B3D6-BE23-4A7F-88E1-04CD502B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F358B-BCB7-49EF-8D13-A1325C15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C9B9E-0183-4AD4-932D-E1183717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2E9EB3-860F-41AB-A76D-CEF6202A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Confidential Computing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EAA57-C673-4125-809F-A3461F7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47B3D-3660-46C9-BC16-42EFE86E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4ECB5-9A51-46D1-BB34-7F71F30D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F56B1-095A-4146-ABFC-4010131B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0CFF2-BDA2-47E7-9D77-903E67C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CFA92-E56D-42BD-8ECF-A190A29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BE550-4D6C-4AE0-A00F-D19BBE9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A0550-FB1D-4EED-A4DC-7F5B6CB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229AD-FC7F-4C59-AD98-0609D02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D4F9C6-BC6B-426B-809D-1173DBEA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7FEE2D-F6C0-414E-B2F3-EB7A34F5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450068-0411-49FF-BE92-1139D035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72B0B-6AD4-44BE-96E7-B9DBC34D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6412E-BA80-4F64-908A-62E6F2E6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C7B906-2B93-4532-AA18-0A3725E4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Confidential Computing Architecture｜证据等级：E1 / 基础证据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1DFAFC-1EAE-4F12-AE68-7DC441FF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3C75FE-93C4-467C-AE24-448947F2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9AAFF7-3E53-43F6-AEE3-3EAD2C5F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A583D5-B2C5-4926-BE59-0971430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实验结果  |  03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BBD9E-6CD8-47EF-B792-88471632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046</a:t>
            </a:r>
          </a:p>
        </p:txBody>
      </p:sp>
    </p:spTree>
    <p:extLst>
      <p:ext uri="{BB962C8B-B14F-4D97-AF65-F5344CB8AC3E}">
        <p14:creationId xmlns:p14="http://schemas.microsoft.com/office/powerpoint/2010/main" val="170447236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5FE54F-63B2-4C31-A4C9-ACF6DB9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A1D27-D8E7-4543-B89B-C050F282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72589-EC48-42FF-8E05-7E11DC1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01F75-6F4C-4474-9FB6-D74D54C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Confidential Computing Architecture：文章评价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D2DE4-A595-4FF8-8083-001EEA73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699A8-18C4-4255-A2CB-1E0B4A4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D1DF0-D437-4D42-870E-13F7D4E0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27E26-E34C-4EE8-9054-FC0FB05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主线入口，能把 Realm/RME/RMM 的安全边界讲清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9772D-6DCF-4E4A-A782-C8226972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0C9B9-CA32-4E97-92CE-D4C09E78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29E89-CF5D-4564-8564-BA50511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E5D82-1E41-429A-AF59-A1FBF53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33338-C4F3-4714-AFDC-DCC8ADB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设计优势：Arm CCA 主线入口，能把 Realm/RME/RMM 的安全边界讲清。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C003B-D920-431E-8413-9F5AED5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C60EA-BFA3-4BBD-AB43-060ECF0E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局限性：论文原型不等同于后续完整规范或量产实现。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B6A3A-5DCE-41A5-BB27-3934E5F8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14725-0749-4CE0-B1D1-C26EC35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商业化潜力：商业潜力强，因为机制进入 Arm 架构和 Linux/firmware 生态；风险在硬件普及、RMM 正确性和平台 attestation 集成。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0CBB0-61F1-4FA7-B689-CBA67469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AC1A5-6E09-4B90-BB07-9A7CD88D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Foundational；本地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4FEA7-150A-4C42-B29C-1B6C76B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6671C-9488-4C2D-8497-4148273B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E485F-6DB3-4132-9348-137A46FF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B5751-092A-4FF5-9A7B-E4681429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99A06-4812-45FB-9F98-D23454AD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D219A-298A-4438-A415-228ABA9A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9AB24-B74E-421C-BD98-82D5333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BF282-36B6-40AB-881B-93D1699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主线入口，能把 Realm/RME/RMM 的安全边界讲清。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B0E82-F563-466B-BCD7-F289108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910D2-FA52-410C-80BE-80F347B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D9DAA2-54E2-4A6C-A482-B6D9DFEA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论文原型不等同于后续完整规范或量产实现。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5BD19-33D1-437A-A00F-86AC6E3F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9BB250-B171-466C-9CB3-F3D6A04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4B7D8-19DC-4C2F-ADCC-CCFA1AEC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商业潜力强，因为机制进入 Arm 架构和 Linux/firmware 生态；风险在硬件普及、RMM 正确性和平台 attestation 集成。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DBE2CE-15E9-4E48-9789-12276DC6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49DBA7-1705-4021-AFDD-AB9CBFFE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865C6-DE54-4016-A6A8-F822BE4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7E5839-C033-4548-AC24-BD558E1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99C7B-13C5-4A0B-9141-993BE83E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Confidential Computing Architecture｜证据等级：E1 / 基础证据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113376-7EA5-46D3-877D-0FC4C0ED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CFB314-63BF-4EF1-BA15-D206AEF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96E31-133D-4A4C-A146-ECE9233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2E267-C54A-4E5E-BB59-27658FF8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文章评价  |  03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495AAD-A04C-4035-8015-8390420D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047</a:t>
            </a:r>
          </a:p>
        </p:txBody>
      </p:sp>
    </p:spTree>
    <p:extLst>
      <p:ext uri="{BB962C8B-B14F-4D97-AF65-F5344CB8AC3E}">
        <p14:creationId xmlns:p14="http://schemas.microsoft.com/office/powerpoint/2010/main" val="565646159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A4094-203C-4296-AA82-5D79963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5828B-3113-4F37-BC50-5191D12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591E7-29B7-4DA4-808D-8128700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7E176-6299-4EA1-9D92-D2A558A0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架构规范：内容摘要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76F8-2CA9-4747-B1DE-1D352968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743E0-E264-449B-BE53-F91A574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BD986-44D2-44EC-B514-4593B6E8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374D0-3FA5-4650-8C6C-F33FB01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 CCA 架构接口、Realm、memory ownership 和 attestation 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9B473-EC66-48E4-A189-6429EF1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0C872-EE8F-4C84-8E75-9237CA63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4F8A2-8887-48E2-A4FF-EB2E5BC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D0A0E-E4E4-4B73-80EC-EF7B43D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7710D-9A5F-4AC2-8515-7AE4C60A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 CCA 架构接口、Realm、memory ownership 和 attestation 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14B6D-5D38-46CF-A3CD-C74F72B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F2954-FDE5-4D1C-9676-0E8D532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First-party Arm CCA specification defines the current Realm model and standard evidence...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D7962-65FC-43C6-A8D9-39E785C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E4AE0-FBA9-40C4-8B8A-3944979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2C1F5-9024-46A5-ADA5-FCD9F9A6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B5691-932F-4B21-804D-250729A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CAD7D-8079-49E8-9D67-2AFFEF47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FCB3E-7F2E-40B5-B0D5-0AACAD9C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9786F-1256-4C61-B7B9-D4BD46B7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75E82-630A-49D9-B95B-6DF95BD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37970-49EA-471F-A727-F36FF612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A9706-B423-43E5-B5A7-15A1F0E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494D7-3157-4781-B976-6E60578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C0F19-E4F7-4A7B-AF29-424D0087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D420EF-15C9-4F1C-8ADD-8D7E8DE3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F4C52-3807-46B3-9E76-D66D7D42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ABFAB-8811-4176-B132-1E66E317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0C8899-691A-4318-B24E-75B3813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23BB43-6622-4865-BDF1-835635E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公开来源已核验，PDF 暂缺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09D1F-0916-4EDD-8CED-699F0696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242B3-D0D6-4F80-BCA6-A7F81595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CCA 架构规范｜证据等级：E0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71B6F-67CB-45E9-97D6-A5A3F7C8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9EC67C-5D78-4E8D-AF12-3DCC95F0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B0B820-D204-4845-9AB9-80C2F557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CCB7CE-E677-47D2-BFAC-9B3B51BB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内容摘要  |  03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132B0-B432-4196-B49E-6681B1FE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048</a:t>
            </a:r>
          </a:p>
        </p:txBody>
      </p:sp>
    </p:spTree>
    <p:extLst>
      <p:ext uri="{BB962C8B-B14F-4D97-AF65-F5344CB8AC3E}">
        <p14:creationId xmlns:p14="http://schemas.microsoft.com/office/powerpoint/2010/main" val="58583009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7883E-6BB9-4C43-9C76-A72C99C8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ED4CE-0118-41D9-9168-88CAF0B6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AF8D0-D1DF-4870-8B28-0399BDA6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7C61F-7B69-409A-8846-68DE6994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架构规范：研究背景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4EB59-95F6-44DA-9454-D8E359F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F3D5F-4AC3-4164-9D9E-C4ED0439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FF02A-253F-46B9-896A-3670BB91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929EC-6098-40A7-853E-6F978E1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研究论文需要落到稳定的硬件/固件 ABI 和平台行为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582B7-8BC2-40F4-87B8-3AF4D74F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33325-5660-418C-8F35-C3660243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851B7-D3ED-43AD-A752-317C9114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D901A-15B9-4C7E-AD65-4B2D98D9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EB520-3488-4EF8-8778-3C99EB13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研究论文需要落到稳定的硬件/固件 ABI 和平台行为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9926C-F037-4ECC-8FC8-2C4EE7EC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2FDEF-88C4-4DA0-846A-6B8573F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42595-3830-4B7D-B466-AD37686C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2F4C8-B793-4B43-8C64-05786D9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B0E9C-D4C6-4EF0-88BF-7467FCB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863A8-1B0F-4A4C-9353-C488B8E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89E51-7F0E-4D2C-BDDF-EACBC3D4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C1F64-C8CE-4264-AC32-9733186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/ RME / RMM 基础架构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EA870-45C4-41FB-AA47-90543839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50760-2DA0-4090-A1B9-BEB4475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9BDE5-0B32-4F03-9927-C0D2FEB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Realm、RME、RMM、granule ownership 与 lifecycle 建立 Arm CCA 主线。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45A77-1213-479D-8210-C4075E6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972F0-7B5F-4DF0-BBAB-DE294188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ED31B3-F39F-4D83-97E2-5B53DB63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架构规范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76D42-21B7-4BD8-A67C-97281BB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A7814-D98A-41D2-A4B0-9C0CB7D0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66B24B-555D-456A-AAB5-BAAF92A7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AE665-23E0-4E04-B45E-0EEF2FE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5DD0DE-D27C-4247-AA80-DD4CD4CB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CCA 架构规范｜证据等级：E0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F46B4-6F0F-48FF-A6B0-BB4E804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84D99-8663-474A-BEE0-AAAF269D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E22ADA-953C-4CDB-90D0-87797D41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6557A-F4A1-4501-B2C2-83F8935B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研究背景  |  03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76828C-84DC-4ACF-8219-D114936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049</a:t>
            </a:r>
          </a:p>
        </p:txBody>
      </p:sp>
    </p:spTree>
    <p:extLst>
      <p:ext uri="{BB962C8B-B14F-4D97-AF65-F5344CB8AC3E}">
        <p14:creationId xmlns:p14="http://schemas.microsoft.com/office/powerpoint/2010/main" val="184614805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982DE-84C0-4B3B-86F4-907EF6D0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F7645-7C6D-42CE-9E2A-47CBC978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1A0A0-0E08-44AD-88D3-DFB1F44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3FE51-D53D-4FCD-BD67-B105E49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架构规范：解决方案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B8462-62CF-4BBE-9C1C-F84AB3D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D7A8A-7BED-4855-9EAE-7576014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7E428-5C8F-4943-ACE6-876301B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EC504-CF6D-4521-AA0A-5EA04EC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规范化 CCA/RME 相关对象、状态、接口和安全语义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F455-BFE2-47C5-9196-1459ED6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FD4DB-F66A-4390-8E54-7FB03C9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77D3-143E-4EC3-B4DD-7EBDD49D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68525-4869-4D97-8BEB-DFAA4719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486F2-D684-451C-81F5-95F2D292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规范化 CCA/RME 相关对象、状态、接口和安全语义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0B343-A0E7-4CE7-B032-FD14EFC2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521C4-A170-4492-89C2-415EE02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92263-DF7C-4DA8-8B77-24811C01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DCC38-A513-4428-BEE9-1B38744E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399B1-91BB-4E07-9A0C-349D881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5F624-5523-4DCA-BC86-96DEAA9F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security state and PAS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ADDAB-1ED1-4BD9-9FD4-6B5AF4C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07999-7283-4B6F-A59D-ECCD830B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6450B-2630-44D0-A2D8-4B75574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11A77-1F85-4AAF-A39A-117E150F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delegation, RIPAS and lifecycle vocabulary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4D859-9B0E-47D5-AECA-190D96A6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FFA6F-74F1-4A44-99D8-E926E344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93D2F-80D7-4D36-9452-2BE40D5E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41B9B-8A7D-493F-8D8E-862E3CA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 and platform interface semantics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8F0BD-C4AA-4CC8-9F02-30AAB201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E645D-F45F-45C6-ACFF-C459AFED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CCA 架构规范｜证据等级：E0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171F7-CB63-411C-807F-8D195ED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E9409-4D95-47EE-A379-396C41EC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8F9A6-46FF-46AC-B817-E68D63E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F37DD9-8B39-4BFE-96DF-ACDEA38F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解决方案  |  03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4FBE5-4CAF-46FA-9638-65B1D76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050</a:t>
            </a:r>
          </a:p>
        </p:txBody>
      </p:sp>
    </p:spTree>
    <p:extLst>
      <p:ext uri="{BB962C8B-B14F-4D97-AF65-F5344CB8AC3E}">
        <p14:creationId xmlns:p14="http://schemas.microsoft.com/office/powerpoint/2010/main" val="1343882297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C7E38-8122-4AA6-A582-BFE76065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A0690-43A7-4EEE-8908-4F43E48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DC8FA-0A24-4A6D-9686-9C3E0C5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7E14E-1211-4B01-B4A9-6BA4CC28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架构规范：实验结果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4ACF6-19FE-43EB-B88E-13D9F05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44966-E977-4733-8D8C-3FD0AB49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56FE5-98D2-4E9A-86E0-C3DF245A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5A862-B21A-48F4-B999-1FA2A287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规范/Survey，无新实验；Arm CCA 架构规范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35041-92AB-4543-95DC-4E233B14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C3DF7-5803-47CA-8751-A05EC41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52B52-AC54-42BD-99B0-BBE55206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FCD66-FDDE-41E8-B12D-3F065702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CF932-108F-4BEF-B1D4-F5A3D172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CD2E6-3F01-4562-9F3B-2CF5D28A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45F78-BFA3-4378-B7D0-6A0F977C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可支撑：First-party Arm CCA specification defines the current Realm model and standard...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60E33-A25F-4039-8151-230F574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FAC1B-C02E-44F3-862B-9C0A9D52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SOTA；来源状态：公开来源已核验，PDF 暂缺。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50E01-5172-4135-B6CB-A522790A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D78F6-AE58-499A-9495-E443FF7F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DDA69-8B96-4CEF-8263-2AD66E6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BEB30-DD26-4481-8708-47AF49C1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8D328-BEC8-42DB-AEE4-01D87CEE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51A00-915C-4E1D-A551-2E11743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201D8-C3D0-4A21-8B10-B24C6818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8F09D-978F-4CF7-8AE7-52D55BC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0C831-3C4C-4F8A-BF54-DC6B3F1A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2E791A-7ECF-49A4-80B3-EE188335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04796-8F6C-4305-8F88-22687FC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架构规范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E37B06-E483-44F7-9633-285CA4C5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公开来源已核验，PDF 暂缺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682C0-974E-4D5A-B37E-19115FD4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208088-2C6E-4345-91BB-F8EB311E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9D48E3-EAB5-4045-8057-5DD8A704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1711F1-C553-4360-A0E1-FFBCB429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113D01-6236-4A26-BFB3-09255910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B57255-3416-4BDD-82D7-AD7FA744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AE239-3611-450F-AC1D-17B1AC38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D8AC2-27BF-4620-9541-3DA252F3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65C7A-C6A7-4043-AE4C-86E062D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32A0A1-188F-4B57-8533-D8257AC1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F08788-449E-46E0-B03F-ADFED7DB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39CCFB-8FF2-4390-9705-6195BCA5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A2E3EE-D205-425E-BC79-BE24FE50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1D0487-6DE4-4291-95DF-993B6FD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CCA 架构规范｜证据等级：E0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14B34B-3FF4-4AEB-90CA-E6DEED9C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7E516F-A45A-439F-BF25-DDF67F43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3E6D21-8428-464C-B22E-D910FA8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DDBD89-6EF9-4A75-B0F0-85E183D8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实验结果  |  03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7E6AEE-E4FE-4641-BF31-D8218E5B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051</a:t>
            </a:r>
          </a:p>
        </p:txBody>
      </p:sp>
    </p:spTree>
    <p:extLst>
      <p:ext uri="{BB962C8B-B14F-4D97-AF65-F5344CB8AC3E}">
        <p14:creationId xmlns:p14="http://schemas.microsoft.com/office/powerpoint/2010/main" val="17047946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8ED02-C8A2-473F-9277-24DFED2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08FF-38A7-42C4-99F5-4C2354F1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DC41E-8C00-4CE7-8204-7498A2DD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44668-C729-4CC0-8A21-7C44937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架构规范：文章评价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580DE-77A5-4154-A1EB-582BA8A3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B9143-344C-4092-9ECE-FC9C3AE7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3DCE5-27A5-4067-BC55-169ADF33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FF1D3-948C-47E4-B0A5-D1316E5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评价：Arm CCA 架构规范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95B92-672D-4B95-B881-2908237A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620BE-299F-4361-992F-9344EFC5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6F366-CD53-4345-89DD-89E70817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2D029-60AF-4F39-AAD2-42140626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EA6EC-F461-4D20-A774-B295189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设计优势：写 CCA 机制和状态语义时最权威。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5F6CF-1DC6-4201-BA0B-B82984BC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7F3A7-3B52-435C-8206-1DBED34C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局限性：不是性能、可用性或具体实现正确性的证据。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EE108-2D07-41E8-A8D3-AA80AAFB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DFBA6-46AF-4B1C-AC9F-14A80551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商业化潜力：商业价值取决于 Armv9 CCA 平台、firmware/RMM、OS 和 verifier 生态同步成熟。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44B40-F9D0-4127-BFDC-3F3D9849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4D90F-6BC5-465F-B705-B8C9F67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F8B52-9EF9-47D7-A569-E4F8BC76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D6A5E-1EDC-44AF-A9A6-4DFC5525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2B4D5-F5AE-49A6-8DDE-5C8A1CE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F8C42-2199-4182-837D-A72C3D6A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74C43-D9C6-4E5B-9653-63605C5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671AF-F24C-4657-90C3-107D1900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15AF1-01F3-4E83-B3F6-DB9DB965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54FC2-ABE9-47DE-A565-B9855A3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写 CCA 机制和状态语义时最权威。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472E56-6BD7-4066-8C8B-2A4B5650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7426B-73D7-4A42-9AD0-9D853DF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25A7B-1A42-4450-B3C4-BDEAD3D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不是性能、可用性或具体实现正确性的证据。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5DFD67-A58C-4907-848C-4F8BB77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CC0A0-B657-4183-8363-6AFB5621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BAE11-5F96-4EFF-80BE-0EB817BC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商业价值取决于 Armv9 CCA 平台、firmware/RMM、OS 和 verifier 生态同步成熟。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7DBA37-EBAF-43F7-B7D6-F4F18F4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53A65E-44DB-4A5A-B661-F6A9260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7226BF-280D-4A50-957F-D1278447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6B76C3-99B3-4258-A061-E031FBF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A0F55C-2E76-4B0F-B41B-B9294598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来源：Arm CCA 架构规范｜证据等级：E0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0F20B-6E62-4E2E-822F-6032A407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9AD1E1-C82D-46AC-8172-248BF5B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38F98-B675-4421-871E-69263FB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BABA3E-8ECE-46EF-99BB-47E4202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文章评价  |  03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FDA6B7-56A1-42E0-9BC2-51F83F9D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052</a:t>
            </a:r>
          </a:p>
        </p:txBody>
      </p:sp>
    </p:spTree>
    <p:extLst>
      <p:ext uri="{BB962C8B-B14F-4D97-AF65-F5344CB8AC3E}">
        <p14:creationId xmlns:p14="http://schemas.microsoft.com/office/powerpoint/2010/main" val="92550908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7A9AA-9F6C-40E5-AA53-D390283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1566F-E77F-4B17-98E3-35F2027D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13AE6-71A4-4E0C-BFCB-8700499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404CD-6145-4CD5-A948-CFAD6321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Realm Management Monitor 规范：内容摘要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091C4-4E47-43A9-AD7E-CF25974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CA999-8DDD-4D9F-9F0E-71F6679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7EDCE-4357-4B56-84A8-3B217C2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642C-D2B2-4A0B-835B-2D00DCC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RMM spec 定义 Realm 管理软件接口、RMI/RSI 角色和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E9EDF-19FB-4210-B2B7-5B39E1EF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B279B-08B5-408D-8BCB-F972352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573BC-855A-4B76-93DC-D8ED92C6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208F9-8D22-409A-8130-DE052D38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E81E4-87B6-4320-B2D1-4D5FFB8E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RMM spec 定义 Realm 管理软件接口、RMI/RSI 角色和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70574-FE55-4963-B15F-7E2A975D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66242-7D28-49C6-B364-9D44C0D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First-party RMM specification defines Realm management and lifecycle semantics for CCA...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02298-2FD5-4B05-8917-3D4A1A6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D9E43-9638-4CAC-B691-4E5FD686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1A4A9-3A66-49C4-88A6-F245920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A2C03-5B5A-4126-A6DC-414EAEE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A95CE-D8BF-4A6B-B040-196C19D3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3D513-89AC-4C1B-B25E-EA9C50D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A6149-01C1-4577-95E5-82DE7D7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5B6D6-45F1-4D12-9CF0-8D8571B3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B0F1C-E14F-4DFE-88E3-CE3E9574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5C4C7-9145-451A-8576-7EE7B96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007BE-3658-4D16-9D0C-3F2BC79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B0877-D27F-45CA-BDEC-B4E8019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1EDD8-4E01-4216-9A39-E163DEF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91CC8-412A-4874-B8C3-66182C2F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E83C3-A640-4855-AC6E-F16A2FC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A6A00-86DB-4478-BFFF-E106F2B6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E8C3CA-9954-4590-BCF4-27A87271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公开来源已核验，PDF 暂缺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EBBFBB-0FE6-464B-8242-ACA90B3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C0BC76-8BB6-462C-BE48-1434AC81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来源：Realm Management Monitor 规范｜证据等级：E0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4BAAE-D1DD-4E86-830F-A39120C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4760FF-366F-46A5-8553-8EFD3090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43A536-09FF-40C4-918C-C25FD231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3797C-91A7-4449-8752-5E6DFB0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内容摘要  |  03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693ACB-0FD7-46C1-8764-8845F26F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053</a:t>
            </a:r>
          </a:p>
        </p:txBody>
      </p:sp>
    </p:spTree>
    <p:extLst>
      <p:ext uri="{BB962C8B-B14F-4D97-AF65-F5344CB8AC3E}">
        <p14:creationId xmlns:p14="http://schemas.microsoft.com/office/powerpoint/2010/main" val="981029646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0EFE7-ED0A-441A-A410-6CA8591B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CBCFA-9ACC-43A0-B33B-5DEB76F5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2510D-3E81-49E2-A699-2BEDBB8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51760-42E9-4F69-A3AE-2E587E9C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Realm Management Monitor 规范：研究背景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BC665-4419-46C7-90F9-930D9A7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F33FB-16CB-41B1-815D-A7AA820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230DE-75E1-4576-83DB-2E66FBA7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35259-B3D7-4634-B2CD-F6ACFE80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RMM 位于 CCA TCB 核心，状态机或内存管理错误会破坏 Realm 安全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1736-1A72-4A15-A025-B0B5D55B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93541-DFBF-4CD0-9B8C-E548717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750F1-0015-4521-BB7E-FC50B82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1253D-AA41-434B-9A16-2E541BF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5D5FB-9EBC-4DAD-BF95-7B286A5F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RMM 位于 CCA TCB 核心，状态机或内存管理错误会破坏 Realm 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15971-53C3-44B7-97F4-4D8FCD9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68A55-B840-46DB-866C-93E56A8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5BCF9-A99E-4C16-A562-07ED841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EE7BC-96E0-4870-9EE1-62F9D62D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A1856-1A34-4207-9154-1144367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5F428-C6A5-4898-980B-B58F86D5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2626C-6E79-4B3C-AB46-391A184B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58018-4758-42EB-98E7-BF407501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/ RME / RMM 基础架构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06286-A8CF-4601-9A5F-9CB6313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D210B-C00E-4628-B13E-2EC3128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92B45-B1A5-4C24-A244-C0C17FE6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 Realm、RME、RMM、granule ownership 与 lifecycle 建立 Arm CCA 主线。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C4726-476E-48AF-99F3-3247515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2E7D6-0898-4AC8-BF49-37948A26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EA7F8-AAF7-49E4-BAE0-052DCF2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Realm Management Monitor 规范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98C90-84C4-4BF3-913D-D069F045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CCC3C-FBD6-41DA-9B84-33E18B0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AEBC7-2F88-4B09-B611-71EBCB5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A5CCF-5CF6-4969-9C27-A1906B82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96A0C-E2C4-4727-BCB4-E5C6BBC1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来源：Realm Management Monitor 规范｜证据等级：E0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51BA9-90B1-44B4-8E94-838A3A64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8AB78-4C2D-48A7-A9BD-B0AB6B60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6D561-BA1A-4A81-AFFD-8E259223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FE703-C505-4D51-9022-BF913128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研究背景  |  03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D45E2C-BBAF-4DD9-973F-CFB3910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054</a:t>
            </a:r>
          </a:p>
        </p:txBody>
      </p:sp>
    </p:spTree>
    <p:extLst>
      <p:ext uri="{BB962C8B-B14F-4D97-AF65-F5344CB8AC3E}">
        <p14:creationId xmlns:p14="http://schemas.microsoft.com/office/powerpoint/2010/main" val="679404106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85CA9-3E21-4D57-AC2E-AAE12B5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4790E-3FC8-4A90-961E-314DF0E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F4BDC-7D66-43BF-B8AF-3C2B3BAF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89612-024F-4E1E-AA95-9C56377C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Realm Management Monitor 规范：解决方案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E7E65-7F25-4829-BC13-90F5E34C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211E8-3F25-4E84-BB00-EDEEC2C0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93861-C42B-487F-B967-BAD3AAB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4EE01-9B81-467E-BC34-0871C81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用规范接口约束 Realm creation、memory transition、measurement、run/exit 和 attestation 相关状态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1FDE1-CA0E-4ED6-B7F6-C481BA29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FC4D9-7AD5-4996-837E-9DEB3F9F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10B60-F980-4FFF-93E2-3DF9082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F3E70-4EA3-43DB-91B7-256C61A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F886C-2E66-4B0C-80F0-1A5EC200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用规范接口约束 Realm creation、memory transition、measurement、run/exit 和 attestation 相关状态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E54F3-F37A-444F-B352-17C51DFD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10B3E-614A-4894-8920-3325551B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374F7-48F8-4D3C-BA09-E27E5FBB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17417-EE24-46B4-B100-2F6FE16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0571F-2657-4854-9CEB-0A68A407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43E64-DC8B-4985-8852-DF8955F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RMI/RSI interface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6C174-AA15-4A80-8D99-DCEAFE4C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B305D-6411-454E-A1EA-F8B376E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58C36-F6D8-4DAE-B821-9C820ED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0CC517-6F7C-437E-99DE-6A730242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and REC lifecycle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999FD-76E7-46AD-9E52-48CB7175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E1B7F-FB71-4CE9-9ECA-64AB9642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E63D43-8E71-46D7-8D6C-AB8DF610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4DC92-70A9-45F3-B25F-76220DEC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Granule state transition and measurement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1D941-8BF7-4A3C-9AE9-C4A8F69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F4A872-5CCE-4A26-BA24-02F16994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来源：Realm Management Monitor 规范｜证据等级：E0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2D4EF-341E-4973-9001-473087D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2119D-7A53-4897-BFE2-A277C5A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77DE9-5A33-4FB8-9C91-A6310CE5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D3D05-A5D8-4295-8A53-5618580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解决方案  |  03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E91F9-74A8-4B2F-A05F-885F060F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055</a:t>
            </a:r>
          </a:p>
        </p:txBody>
      </p:sp>
    </p:spTree>
    <p:extLst>
      <p:ext uri="{BB962C8B-B14F-4D97-AF65-F5344CB8AC3E}">
        <p14:creationId xmlns:p14="http://schemas.microsoft.com/office/powerpoint/2010/main" val="95988181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68EE4-238C-494C-AFCE-B8CF496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BF8BF-5435-4D6E-9955-DD2EF6D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7448A-FA48-44F0-9C49-281BFFA4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103F8-55FF-458D-B258-DB7D9536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Realm Management Monitor 规范：实验结果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2B2A9-43EF-4887-B2B5-0E739A5C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5DA9B-666C-4E1A-9EB1-10EFBC1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A464E-827C-4262-9F72-BBE7FBB5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1F45E-9A20-4C5A-B8A3-35F0FC0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规范/Survey，无新实验；Realm Management Monitor 规范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FBAD9-AFB5-4F9D-88B4-5E4C399B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88DC5-09CE-40FA-9C78-4203D4E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EB8CB-478A-4CE9-9E1C-D79AD5E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5C3BB-3A37-401A-A3FB-6852E1E9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3D3FD-2885-4824-960E-CF71500F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F0698-082D-4C4E-99B4-A1BD49F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1400-E146-4F50-A536-B2A3738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可支撑：First-party RMM specification defines Realm management and lifecycle semantics 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129D0-4F28-469D-92EF-CEC27CDF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F6976-AEF8-4737-8C27-F7A655D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SOTA；来源状态：公开来源已核验，PDF 暂缺。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F9051-25EB-4A36-B186-4D0F4AC7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79732-8E2A-44CB-A7A7-70AC4A5C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73A72-8EE1-4FB7-9028-3DF720F3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FCB71-913F-48B0-9C52-6E46F3B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FB766-EABD-4DF7-8706-40F3D138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491C3-47A5-451F-AEFA-E725754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81A45-6878-4BD5-8B0B-BE07A25F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3D13E-3BAC-49E2-8C9A-C59BE099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F42F6-770A-4D86-8A8A-8AC36904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50F64-6A0B-4AC0-AA6D-8875F82F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D5816-6896-4512-A45A-7386F098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Realm Management Monitor 规范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E2C1C6-2E02-4A73-AD81-8E312508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公开来源已核验，PDF 暂缺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909349-19C1-4113-B895-73D6AF4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2C1F5-9A5A-4E96-B597-81E246C9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1B501A-0A98-4DBE-8DF4-95E4EE9C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CBEAF-F3F6-412D-A7D6-5A9F3A1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4E214-6FCF-4ACF-A209-44AE794F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E74374-DF4D-4D59-93E3-61BB1EA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E315B-A3FF-4C2E-83D8-2506AAF4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2472C1-903C-4F8A-9051-CDC8D82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A53E3-8AC4-4651-9BD1-E489722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638532-29FE-44DC-A555-4574587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E7B85F-85AE-45FB-BCD0-E82A790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79B1BB-C43D-40C1-9952-ACB26F2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5883E5-2A2D-44FF-A515-5CBE9D35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A2FFA-78E8-4A0D-9312-695C807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来源：Realm Management Monitor 规范｜证据等级：E0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9476FD-891B-445A-A8A0-0155F546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6C4EF4-591C-4D73-BBC3-0A71A6A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79FB16-0062-480F-98B9-D20CB7F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9EC887-FC9B-4A08-9D5D-C03E2FAB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实验结果  |  03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231FE3-1C7C-4723-BDDD-DA1D7985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056</a:t>
            </a:r>
          </a:p>
        </p:txBody>
      </p:sp>
    </p:spTree>
    <p:extLst>
      <p:ext uri="{BB962C8B-B14F-4D97-AF65-F5344CB8AC3E}">
        <p14:creationId xmlns:p14="http://schemas.microsoft.com/office/powerpoint/2010/main" val="87666516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FF342-97A7-49C7-8724-26FC574C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695F8-F437-4359-9D8B-93517FE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7060-004B-45A6-92B7-7F601EF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A21B1-1F87-42C5-A15B-4317632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Realm Management Monitor 规范：文章评价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4F651-7589-4F84-BADD-5C520BB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来源状态：公开来源已核验，PDF 暂缺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E9DA9-80BD-4781-9FBE-62D178B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C95C9-4162-4918-8DFD-AD2DBBA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BB66E-BEDE-4AE7-89F2-16E9AB3C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评价：Realm Management Monitor 规范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25EBC-E270-436A-BE53-8E64EB15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5C18E-B6E2-4B3E-AB3B-460F3341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ECD40-7D98-4EA2-B52C-AD99BD9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B36BB-91A5-474D-9B14-E99616F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6976A-A32A-4D7C-898E-4EF5141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设计优势：能把 RMM 作为 CCA TCB 核心讲清。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5CE51-F327-4B2F-AC4C-A286923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28195-D70A-4AAD-B282-A47EF7B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局限性：不证明任一 RMM 实现正确，且本地 PDF 不可用时不能写不可见细节。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C2AD4-9681-43AA-BA5B-D94D6474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254E8-BA21-428A-9AC5-F4D7A40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商业化潜力：落地依赖 RMM 实现验证、firmware 更新、硬件支持和 verifier 能否检查关键状态。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B8096-0A40-46D1-9EF2-23A28E9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D9691-E6C1-4AE2-A5A2-B425A02F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611DF-5D65-4F7A-AC28-6F8BDB51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0ABA3-D300-47BB-AD34-D1C6DBC1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9AB9D-EEA0-4A25-A26B-F90558B0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68F7D-F456-4E89-A1D4-9F5621AB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CA245-4AE2-43EF-BDCE-186093BD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E2FB1-CA5F-4108-865A-FD6B7BB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0A3DE-089C-4D6D-8742-F24AF94E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6EFF2-D03C-4080-8E2D-D5370815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能把 RMM 作为 CCA TCB 核心讲清。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2FDF1-5D4E-4B56-9A8B-53528236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73167C-205B-4507-AB45-DD5F23C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841DA-F205-4E3C-9529-385DBE24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不证明任一 RMM 实现正确，且本地 PDF 不可用时不能写不可见细节。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84B2C-9A9D-40A6-837B-842EB454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3D96B-EE3A-4242-9CAC-E8C3381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01D7C-FCC0-477F-ACA1-6C3B1D40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落地依赖 RMM 实现验证、firmware 更新、硬件支持和 verifier 能否检查关键状态。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2A2B6D-5AF3-4913-9B00-5027582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45E6D1-7B8F-40E4-858D-02597E8F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255C7E-C261-4F20-9EE1-E963151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31C6F-904A-41E0-B7FF-80944190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AA333-FEA5-41CD-8002-81AC181C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来源：Realm Management Monitor 规范｜证据等级：E0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9CCDCA-D315-49DC-B2EA-202A002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130C95-D809-4F03-960B-0F26C91F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C055F-AE32-490D-B252-F8C12C4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4CBBD7-DFAF-4F03-91CB-C050E9AA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文章评价  |  03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1B24D9-77E2-4AE7-8F6C-B81A400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057</a:t>
            </a:r>
          </a:p>
        </p:txBody>
      </p:sp>
    </p:spTree>
    <p:extLst>
      <p:ext uri="{BB962C8B-B14F-4D97-AF65-F5344CB8AC3E}">
        <p14:creationId xmlns:p14="http://schemas.microsoft.com/office/powerpoint/2010/main" val="196087192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B2012-C539-45D7-8A66-A4A044E8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D092A-5AF9-4ABC-9A29-87F4165E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E75B4-2909-46BA-98EB-5B66513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0E285-263F-4F55-9767-65656E0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/ RME / RMM 基础架构：方向总结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9606F-FD04-44E1-B79D-0074A605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96871-5B85-404F-BE1A-5766154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4B9D5-BDCA-409F-859D-E88ACCA0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A1150-A888-458E-AD4D-2CE470C9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/ RME / RMM 基础架构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ADBA6-02CD-484A-9F4E-CEB83F3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70A1E-5AF2-4512-88D9-51F724F1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CA29A-7A77-491A-9741-84C02FE8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15E00-B0D1-4677-8C48-3FB82358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C291C-8471-4F7E-8FD2-D290763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Confidential Computing Architecture：开创/基础入口，E1 / 基础证据。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E529-A8C3-4307-B0A9-80D26C1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4FFEA-8CD6-484B-8E81-4848F0EC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架构规范：代表性改进，E0 / Spec-standard SOTA。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82E37-1843-4A54-BBFC-B18537E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25D79-F52D-4BC0-9FED-E68AA298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Management Monitor 规范：当前 SOTA/补充边界，E0 / Spec-standard SOTA。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50A77-E528-4C14-9633-55D5229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D4729-88C5-451E-AD8D-E4A0887C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C27D8-E859-4FFE-BD8F-EBDF294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03CB2-61BB-4DBD-BE67-110A2890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F2FD1-6E7E-4581-A08E-8C4D57F5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BC76C-C3FC-4AFF-979F-BE9E4EC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C95F8-7043-49E5-B757-F3F84409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1CF67-F810-4AAD-B331-B879FD72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D0263-D26B-469F-9855-582F7FBD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77B2D-C52F-4550-970D-878F1D5B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Confidential Computing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CD4A6-0387-401C-8582-E22E568C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935B2-93AE-4B52-A204-FA3F61C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OSDI 2022 paper is the foundational peer-reviewed system treatment of...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6107A-14B9-4FA6-BC54-FA918171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FFF1F-7089-4245-AA46-326973E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架构规范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6921C-EB83-4AB4-8322-158A1C8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90595-FECF-4783-BDDE-ED8C78FB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First-party Arm CCA specification defines the current Realm model and...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BB870A-6B61-4FCE-8244-E90B19EF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1C966-A2F8-4A76-ACDE-E5E0F6DC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Management Monitor 规范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5CE321-6D2B-433A-A01C-75F5E1DE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8B27F-EC47-443A-B5BD-9FDE38F7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First-party RMM specification defines Realm management and lifecycle...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106EA3-09F7-4EAB-B0F4-7239D30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BF6236-864F-4CE4-908E-C63C25AE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2FFDFB-513D-4E94-A7A1-0422BD77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B88521-EE43-4858-A657-CE0EBD8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4266ED-344C-4407-94A6-4DC54091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77361A-E224-47B5-8B94-6B5FF356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/ RME / RMM 基础架构 | 方向总结  |  03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706865-0DC5-4985-9F37-7A74EE98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058</a:t>
            </a:r>
          </a:p>
        </p:txBody>
      </p:sp>
    </p:spTree>
    <p:extLst>
      <p:ext uri="{BB962C8B-B14F-4D97-AF65-F5344CB8AC3E}">
        <p14:creationId xmlns:p14="http://schemas.microsoft.com/office/powerpoint/2010/main" val="275126433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838C2-537F-4D1D-8191-CE3682D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402FA-257E-4807-91D6-39879B6A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1B32-FEAD-4AA0-8D7F-8044B89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BB7F7-D71F-4DA5-8403-5F21EFCE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77FFC-9805-49CF-8D84-3689CAA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细粒度隔离与部署模型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9D270-2916-424A-97B3-A3753FEE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VM 级 Realm 扩展到用户态、容器、进程内与移动/Android 部署。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8FFE0-6D02-45DB-A274-2B4AD32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B087-8E79-40CA-A9DB-6578108A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0CDF2-438C-4FFF-A4D7-25166B7C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Shelter: CCA 用户态隔离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EE847-09A7-4E78-9E38-1EC5E83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81BD2-609B-4945-A50F-79E941D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AFD28-ED69-4B1A-9554-B0A49758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RContainer: CCA 安全容器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41391-D8FD-4AEA-8DB7-A6F98B8B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7D00A-9305-487E-8993-99DCA45F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9C660-412C-4289-A3C4-BFE5FD45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NanoZone: CCA 细粒度内存保护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ED38B-3642-4B86-8A42-CA77B59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2A8B7-EC6B-464D-BA12-304E72E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F5326-1446-49A7-91A5-7D1F1194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FDC05-94C8-4D57-971C-0514771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7A6F2-D4F4-4D9D-A249-FCF50041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Arm CCA 细粒度隔离与部署模型  |  04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4F48A-F7C4-4CB6-AB78-E2230F7D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059</a:t>
            </a:r>
          </a:p>
        </p:txBody>
      </p:sp>
    </p:spTree>
    <p:extLst>
      <p:ext uri="{BB962C8B-B14F-4D97-AF65-F5344CB8AC3E}">
        <p14:creationId xmlns:p14="http://schemas.microsoft.com/office/powerpoint/2010/main" val="1607227253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96B02-BE80-4F63-B4B1-11510FB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0D957-F2E5-4086-8611-03F4EE5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9D222-2788-439B-BEC0-78B1414B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075C-59DB-4E40-AD8C-1181F029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细粒度隔离与部署模型：方向开场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7E068-58FC-4857-97F9-91085F2E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19207-F908-4A4F-9A63-34783AF0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E337-52BE-42F4-8C76-6227129C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EDB1F-907E-4B89-8B59-6047B3DF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细粒度隔离与部署模型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BAE59-DE96-43D8-87D4-E671F61D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D7C56-D787-408D-9DD4-6DACE748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E3E0A-5498-43E8-8FE0-80743631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03D28-1AF7-4334-91A1-293665C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74EE4-28DC-40AE-84D8-77EE4D8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VM 级 Realm 扩展到用户态、容器、进程内与移动/Android 部署。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5058F-9D86-4B41-B5AB-2C1E941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E181E-981B-42DF-9100-7A208DB3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固定三篇主讲材料；`liu2025lesstrust` 作为 intra-process 辅助材料，不计入三篇主讲。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F6A8B-8DA7-4A2A-B808-C7FF8718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3AF75-A6D7-42DD-8A0A-B5089673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43C04-69DB-4AFE-AB7E-03A13E39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E3DBF-9CA8-4F48-827D-71105A7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C82FD-7885-4416-8F04-A8360A59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10519-B5B5-421B-99F5-B0E42106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C9F95-A002-424B-BE82-097675F3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DB61A-EDB6-455B-80EA-B6E89BB5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26467-2BA6-4605-BE50-2F0F01D0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9884E-232F-4243-A1A1-EF0A041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96850-0337-4D1D-9068-0C4CC6A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4F544-5892-4230-A458-8135477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Shelter: CCA 用户态隔离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16D543-8A20-48DF-BC49-8727CDD8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9B9E6-EEB6-4F88-8421-F8FBA3C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49221-075A-4A6B-9D74-4B29B12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21D22-0EA8-4C92-A18A-7D0D656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RContainer: CCA 安全容器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80902-6BE7-4F57-AFF9-0A5DAB2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5E4D06-BF84-4EB2-8666-5076134B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EAB97E-8423-4F81-80C8-81D71CED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C2136-EB17-4307-84C8-4227300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NanoZone: CCA 细粒度内存保护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2C924F-F343-414E-9D48-DF37F5B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5DE170-899B-4008-AA49-5B827EA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700DBF-0247-4FB0-AA59-1228E26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822531-1B9C-4A1A-829D-C795884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0F03E3-5177-4584-AE22-774C2CA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43C40-2E89-44E1-B843-376E1405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DFE78E-4453-4483-9645-2D844004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B79643-5D41-4CFB-9743-90BB513C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方向开场  |  04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934F77-FDDE-4A1A-8C5E-3CD79CCE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060</a:t>
            </a:r>
          </a:p>
        </p:txBody>
      </p:sp>
    </p:spTree>
    <p:extLst>
      <p:ext uri="{BB962C8B-B14F-4D97-AF65-F5344CB8AC3E}">
        <p14:creationId xmlns:p14="http://schemas.microsoft.com/office/powerpoint/2010/main" val="311335866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23823-5C34-4DAC-A946-B7690C7B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4AFE7-1AAF-4463-8E4E-79BCF6F7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1E8D2-CECE-43E9-A528-0FD3A141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60FB-11F3-496A-B811-C66BAA6B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Shelter: CCA 用户态隔离：内容摘要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3F59B-AF96-404A-BE98-783008FA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9D936-4CE8-4D4A-ADD0-191DF21E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9CE8-51D8-4BF4-9CE3-935A5158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CEF25-15A9-49CC-8B5F-3A8B8243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Arm CCA 支持用户态隔离，把 Realm 能力从 VM 级机密计算推进到 user-space compartment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29B28-44E5-43F8-A477-06B5BDD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0FE0E-9697-4AFE-B161-1578518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77211-5FF5-4EF5-A770-8F075267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DD448-47DC-422E-B1CC-66F17AA4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B32EF-C236-4DEC-967B-F538BC5C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Arm CCA 支持用户态隔离，把 Realm 能力从 VM 级机密计算推进到 user-space compartment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5A0CF-F8DE-4C90-B439-9CCFCDC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92BF9-ED0F-4EDA-AE9A-ADDFD551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Shelter is the entry peer-reviewed system for moving CCA from VM Realms to user-space...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3794A-A3BF-4A56-ACE0-A303AE54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9A95B-F4BF-4966-84E5-EBB28843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782A6-AC28-434B-883C-E561FD48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B802F-5991-4E56-A267-320883EA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1EE19-770F-4CB8-9F12-FD99537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0DCA2-6655-4D91-A6BB-AC3868C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CD9A0-75ED-4A04-9AFB-9245442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4191F-911C-4EB8-A0BF-8634C081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3F8CD-2EC5-41B0-9EDB-0609A34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4EAC6-345C-4721-81E4-9459314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8DA03-D15C-49FB-BB36-EB2A8A0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3E48E-8D57-45FA-A359-A2CBE0B0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7F3487-9010-4F29-BFC8-520CD75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45102-09F8-4179-874E-06AB5B1B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3ADB4-373E-4935-9587-C9C054BB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235D4A-9F83-4A15-AAD7-C88F7EA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7B5E54-2C50-49E1-A779-5C04345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13291-5BA6-4BC9-8555-3DAB8525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D6019B-8B48-40EA-A5F7-5FEADDCA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来源：Shelter: CCA 用户态隔离｜证据等级：E1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30004-4CAE-49F3-98FD-3C4B2E86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600932-EB36-4F7C-838E-81CF6025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03367-66B6-4A7C-A818-61B3C60A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04CCEA-3C09-4FFB-A278-F9280CE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内容摘要  |  04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3C0DD4-74A6-47B0-BEFF-318F410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061</a:t>
            </a:r>
          </a:p>
        </p:txBody>
      </p:sp>
    </p:spTree>
    <p:extLst>
      <p:ext uri="{BB962C8B-B14F-4D97-AF65-F5344CB8AC3E}">
        <p14:creationId xmlns:p14="http://schemas.microsoft.com/office/powerpoint/2010/main" val="88410768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626E6-648B-412D-B604-BD957DC1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E9E76-F9B6-44BA-9472-6E252CD9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B209A-4929-4894-B403-14B4EDB5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00937-E77D-41F6-9EB5-C79BBF05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Shelter: CCA 用户态隔离：研究背景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93F8C-C724-46AF-82EE-396C6DA5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D98BB-EC8C-40B4-A43C-5622CF83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3336-03BA-405F-BAA6-B9E2E157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B275F-E561-45A8-9C0F-15A3BC1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机制不必只服务 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09A91-6279-4E83-9423-6C149229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851B1-974A-4521-8314-36C22594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83F32-6CF9-4FB4-9B64-D043AE9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E3916-1A37-49D1-8E5D-C33F933E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3D693-0DCA-4164-B13A-50BDAFBB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 机制不必只服务 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E246A-80FA-4FE1-A0DE-D2CACFD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6CEFE-A871-4E3C-BDEB-36A44579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进程内敏感代码同样需要小 TCB、host-untrusted 的隔离边界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4DF44-4970-43C1-B56D-08C1A2D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5F9E1-7405-4ADB-8B5F-BCE78EF4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18EEB-AE1E-4100-A034-8978964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AB8E65-7D83-4F34-990D-36A40F56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639D6-8A47-4AA2-A212-1829C938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60789-CE5D-453C-8923-81A0DF36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8E5DE-67EF-418A-B1BB-7654D312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D0430-2424-45D7-A3C1-B9A94F55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细粒度隔离与部署模型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61937-1024-4C45-970B-252F8E06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97E6A-A8E3-479C-A2A5-649FA2B7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3FA5CC-B02E-4BB2-A9DB-4F4C41EA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VM 级 Realm 扩展到用户态、容器、进程内与移动/Android 部署。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B189D-ECEA-4FBB-A246-4EE2C71E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14574-9C4E-4D01-9405-237EB7E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3F069-F241-4343-837A-AECBFB2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Shelter: CCA 用户态隔离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A2043-A632-4A3A-BE27-B9E887D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84E30-DE92-4DD7-899D-8C3B612C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DEC067-4B13-4960-828C-301334E5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43CAA7-5C63-4C29-A872-25E5EBE1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251C7E-DBDF-4886-9827-4D223159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来源：Shelter: CCA 用户态隔离｜证据等级：E1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BBC7E-2BDE-4C6F-9BD5-FB2C1F9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F4F9BE-21FE-4C15-99FA-0643FC7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18097-A400-40F5-A990-91A730E0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B4DCC-1FC3-4098-80A5-35E996B5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研究背景  |  04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C891B-373D-4BDC-9DED-0F418A08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062</a:t>
            </a:r>
          </a:p>
        </p:txBody>
      </p:sp>
    </p:spTree>
    <p:extLst>
      <p:ext uri="{BB962C8B-B14F-4D97-AF65-F5344CB8AC3E}">
        <p14:creationId xmlns:p14="http://schemas.microsoft.com/office/powerpoint/2010/main" val="699358076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102B8-949C-4B19-8BE4-B827C17D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AD792-7970-4E49-A875-786AEC8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ECEA7-74FF-4145-8896-A6C672BA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DAC24-CBF6-4A4E-A215-3D80DF7C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Shelter: CCA 用户态隔离：解决方案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243B1-7B11-4C9E-AE59-0BA7A49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BEF43-1B7B-4C4F-A51E-0E31C92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EA7A7-FCF1-4E75-83E3-EE8F3C1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7E2AF-9AC7-4CAE-8608-DD7ECAC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CCA primitives 封装成用户态隔离模型，让应用 compartment 在不完全信任 OS/host 的前提下运行敏感逻辑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32AB7-C90A-40B4-A6FC-4B88149D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2509E-85DE-49FA-881A-160BB76F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6031B-EC34-4B83-B0D4-ABAF199B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3D6C6-EA0A-4632-83E2-FB3BB41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A83CC-18ED-44E5-87CC-EF36B4C8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CCA primitives 封装成用户态隔离模型，让应用 compartment 在不完全信任 OS/host 的前提下运行敏感逻辑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E9F2C-CC88-43CA-AB41-99369E8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4EF95-9C94-4F85-9D40-16653B5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2D7B3-EAEF-47DC-ACCC-A70E95C9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EC77F-B84F-448F-A329-9548980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33884-A4A9-43EA-9119-CF576462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67E3C-2C62-4667-A3B5-10417034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User-space compartment over Arm CCA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4F89E-31DC-47A8-9313-9D7DBAB1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CFA72-AEF9-4FAA-A93E-05702A6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519A1-3201-45FF-A7A4-3C4DBC2E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095D1-8C7E-4C10-8F67-EC174D22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Realm-backed isolation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08F78-889B-4C14-8B9E-7240052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BF3E7D-CB8A-4EE9-B194-6E32B57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D9249-675D-4D2B-A608-09E31E8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11AF1-2E6F-4176-8A98-806CF30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Runtime and OS integration path for fine-grained protection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B5890-8852-4E39-BB6F-9E736E7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329B0-85DB-45A6-A6ED-1784010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来源：Shelter: CCA 用户态隔离｜证据等级：E1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FD7D6-66F4-4E2A-8864-3A3C233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607E7-4E49-4CAA-98A8-926FDAED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FA9EB0-242F-4646-A9D4-8227B30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3CE16-8BB5-4BE7-9317-0B76FE5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解决方案  |  04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F9964-9C79-443C-8F33-A83212A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063</a:t>
            </a:r>
          </a:p>
        </p:txBody>
      </p:sp>
    </p:spTree>
    <p:extLst>
      <p:ext uri="{BB962C8B-B14F-4D97-AF65-F5344CB8AC3E}">
        <p14:creationId xmlns:p14="http://schemas.microsoft.com/office/powerpoint/2010/main" val="111225172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74E63-B8CE-41FA-8285-92D7C83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CA9D2-6E88-424F-ABB9-AAAFFD5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418F0-78ED-4FCB-8223-792E28A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DF261-3A8C-4B14-820F-D7AA9508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Shelter: CCA 用户态隔离：实验结果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CFA83-8874-40B2-A8DF-D35C1B4F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83D9C-252E-4D0B-BC00-A8346BF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42007-5073-45C4-9470-41993743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7594F-D630-4668-AF2C-7B73238B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Security 论文提供原型与开销评估；待补证据：需要核对原文 Table/Figure 后再写入具体数值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88D37-D557-4DA7-826C-B05841B6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F2BA2-A58F-4C5B-BAF8-1928C374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F1A21-9EE1-486B-9D27-CAD17E5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911E6-E381-45FB-89DB-5BF30B42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D360A-CC0D-4F82-81F3-F5A18A5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Security 论文提供原型与开销评估；待补证据：需要核对原文 Table/Figure 后再写入具体数值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0E983-59B0-4E36-BA9F-DFE6E2F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C0B45-0AED-467A-B2E8-D0984EA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8B35C-F4F3-4803-83D9-1C27303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30770-97EB-4812-B16C-77F6CE34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27307-5291-4BA4-AB29-C0888F85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B8769-1CFE-44E5-A5BD-14D134F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51EFB-2DF4-4A1D-B77D-E094B70E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B1F16-4042-4005-8E27-29635DC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43315-3DCD-4542-A40F-EBB812B3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Shelter: CCA 用户态隔离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2B8E5-A019-44F5-BB9B-F219567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085A4E-E1B6-4FFF-A9C8-9F9E7B33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3349C-C5E6-4E53-BC63-FAF2C2A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87669-CD51-4863-B08B-47BC475A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98EDD-D8E6-4024-A36E-ADCB391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68506-B334-4567-80CC-2FFCCCA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3EAAB-999A-4AD5-8B4D-F21F1C50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7B0E8-2AB1-4731-87A7-03CC89AE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8DA6E5-E032-46D3-8DB3-B6E8609E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B9CEFF-AA81-4103-8297-5A66EC00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DB3041-EA7D-4309-99E0-1024E8E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E7889A-8EB4-49D5-B291-C23E2A4C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6749CE-FE1D-4353-8CFB-FE0BA606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5E9B69-3632-41FA-9F4A-65D8C14E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809021-CF6A-40ED-9C2E-5A1AAF92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来源：Shelter: CCA 用户态隔离｜证据等级：E1 / 基础证据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03FF25-1FEA-43A4-B42B-7AD461A6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22C3AB-0AFA-4588-95EC-3A3988B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C3963D-196C-47DB-8A26-99374D73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73CF27-E8B0-4A43-AB8F-62670E4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实验结果  |  04 / 15 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282CD8-C1D7-49A9-BF1D-5D49E0E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064</a:t>
            </a:r>
          </a:p>
        </p:txBody>
      </p:sp>
    </p:spTree>
    <p:extLst>
      <p:ext uri="{BB962C8B-B14F-4D97-AF65-F5344CB8AC3E}">
        <p14:creationId xmlns:p14="http://schemas.microsoft.com/office/powerpoint/2010/main" val="253232192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E81A2-15C4-4B51-88C7-5337D96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55708-8127-42A2-A930-36FD4FA3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97371-66B5-43A0-BF02-92EC64C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35159-61A2-4E00-BCA2-6FE79C6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Shelter: CCA 用户态隔离：文章评价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D0380-5ED8-4600-B91C-3E072E0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B2F4C-60A7-46BB-8DAF-771C63AE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1764E-5F6A-4365-8375-10E3B4E0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F3B38-CFA0-4013-8583-F1716BD1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开辟 CCA 细粒度使用方式，是从 VM Realm 走向应用隔离的方向入口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6FB30-55F0-4B9F-8FF0-16B59169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3B6D-EFB0-4E5B-A15C-CC572A5E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93D9C-26E1-4265-B125-32ECE9E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4F0D2-A33F-4D3D-AB9F-6A018F40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C1322-3EEE-44C6-B294-703C6634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设计优势：开辟 CCA 细粒度使用方式，是从 VM Realm 走向应用隔离的方向入口。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D069D-DDCC-4786-88BF-216A82D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AD39F-F392-44D1-AFC0-980D90F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局限性：系统原型不等同于通用 ABI 或量产部署，生态依赖 runtime、OS 与 CCA 硬件支持。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FDA1D-406A-446D-9954-6703E3A9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45FF2-A761-4022-8EC1-EAB017EB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商业化潜力：对云端敏感函数、插件隔离和移动端安全服务有潜力；风险在开发者可用性和平台普及速度。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EE922-0C12-4B4D-B3E8-C560D749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E26CA-1934-450B-9619-4E64E19B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Foundational；本地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D8958-522B-4537-87DD-1B6641CE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5F649-13D6-4A1C-BB01-EB06FD8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EF673-CAA3-4D68-947D-0F9F1B9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3C332-DB34-45F2-8CA4-EC484352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84FD3-4D78-46AD-8509-BB8164F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274EC-6750-4533-B41B-70B0788B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1F255-DEAC-4A30-B38D-DF0643E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422BE-BE94-4C1C-87D1-0576869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开辟 CCA 细粒度使用方式，是从 VM Realm 走向应用隔离的方向入口。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C6CE3-9217-4096-BCCB-8E2BF703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14B90-2243-4CBB-8A9E-CF7D53F9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A2E3C-0B91-4426-B5EE-F75A846F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系统原型不等同于通用 ABI 或量产部署，生态依赖 runtime、OS 与 CCA 硬件支持。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2FD305-1EC9-4B17-9591-23837EE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F894D-DC15-4ADB-A9DA-744C42E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E312D-F91A-4C45-A8B7-C3CCEA79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对云端敏感函数、插件隔离和移动端安全服务有潜力；风险在开发者可用性和平台普及速度。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9E4372-9A78-47A2-8FD6-C6F0935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DA781-DB7B-4169-8F8D-A56EC93D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31457-F333-4166-B40D-30E73596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A4B1AF-DD5D-4570-9637-457E8E93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2F337-2A2E-4B56-BA17-C38E01EE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来源：Shelter: CCA 用户态隔离｜证据等级：E1 / 基础证据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25BD73-FAEE-4184-926F-AC713CBC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1A87D0-E3BE-4529-BF42-8F8F08CF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4E9D23-D241-446C-8BF4-8E17E803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BB0E79-5252-4069-8D64-D535F2A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文章评价  |  04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67BEF4-EFA8-468F-9C41-D2006AA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065</a:t>
            </a:r>
          </a:p>
        </p:txBody>
      </p:sp>
    </p:spTree>
    <p:extLst>
      <p:ext uri="{BB962C8B-B14F-4D97-AF65-F5344CB8AC3E}">
        <p14:creationId xmlns:p14="http://schemas.microsoft.com/office/powerpoint/2010/main" val="1101534351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84B9A-2FBE-4428-A3F8-65F0BAD1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69E29-55F8-41BE-B125-DAEC3301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F402A-B217-4569-850F-C5762F1D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675DE-D8D4-4104-9FCD-12F8CCE5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RContainer: CCA 安全容器：内容摘要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04814-3C93-4FAF-AF88-154670B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50FC9-1D36-4F33-8A5C-FCDEC519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F028E-C46E-4771-AA93-3758C8FD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6AA5-5618-4CA6-BE1A-19BB2C7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Arm CCA 扩展到安全容器架构，面向云原生场景重构容器隔离边界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7E2A7-4EBE-403D-9B29-D633A00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D32E0-7DCD-47FF-B1E9-59CFB7F3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7B1A4-E3FC-4F2C-9114-005090E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E5FE6-A44B-484F-8C92-77D0A518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77088-4A76-4A32-8FD6-EADC7A2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Arm CCA 扩展到安全容器架构，面向云原生场景重构容器隔离边界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C4944-B8AE-4640-ADCA-9240BA6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F9D43-4DCB-4744-A2D4-DBDD7314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RContainer is a peer-reviewed SOTA system for CCA-backed cloud-native container deployment.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22EE5-5CEB-401B-BBC5-7650299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5E607-F47C-4DBD-B338-3C0145FF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2F635-5DE9-4B62-B9B3-38FBABA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F369B-D9B7-4D6B-9665-5C294D5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C3626-CC06-4B55-8A8B-8E0BAB81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CF211-554C-41F3-A55C-C41F29CB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7187E-6279-46B0-8580-8135204D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D8B7B-59B3-41F5-8984-DD2C90F9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7EA54-262B-4E31-8928-4B20704D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E6DEA-016A-4026-85DF-A1BEF10E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53467-4EC3-4645-B5F6-04E59E55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D98A3-7F7C-466E-A2C5-59B3EFC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A58BE2-E56A-4897-BD8A-D6CBBCA6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FFBB4-6EBD-46AA-958E-6684132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D3503-307F-48C7-AD77-F670F2A5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2EEF83-9BFB-47AA-BFB3-9508E00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FE623-B8FF-44C2-B79C-A7E23BF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18D872-1E38-45D6-A129-E4F03DC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59547D-3BAB-4BFC-8BB1-AD3CDA7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来源：RContainer: CCA 安全容器｜证据等级：E1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54D51-9BAB-41D9-A9FD-52099FD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FA3D08-265F-477D-BDD1-77F6B9D9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8ACCA0-26C7-44EA-BB63-C95733EF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974D04-9EB5-44C0-8C03-D500AF02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内容摘要  |  04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57446-3F95-4507-9C0A-600B247C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066</a:t>
            </a:r>
          </a:p>
        </p:txBody>
      </p:sp>
    </p:spTree>
    <p:extLst>
      <p:ext uri="{BB962C8B-B14F-4D97-AF65-F5344CB8AC3E}">
        <p14:creationId xmlns:p14="http://schemas.microsoft.com/office/powerpoint/2010/main" val="519204768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1658E-93A1-4DA3-9C18-925CD9D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09AFA-FF99-4A88-A059-48FBFF2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09367-AA4B-4CB8-A34B-A2A08FD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3A83A-1741-42A5-BFEA-D3A139BC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RContainer: CCA 安全容器：研究背景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DE554-2547-45BD-A163-663B4DC2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86712-8521-41C9-9E30-D1EA8BE6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295CC-CA86-4BD5-8F32-C5BF623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80BA2-DD02-4A5B-9E66-278413C3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容器共享内核带来部署效率，但传统容器边界难以抵御高权限 host/内核路径的泄露风险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2A10F-454A-431B-AAE4-CFA46C25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00F5-96C1-4932-B4DF-0E14B2A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FE23D-352D-435A-8AE5-339AC47A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8F0A2-E390-4F07-B008-E1BA6D32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720AE-F823-4269-9910-B35E0FE5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容器共享内核带来部署效率，但传统容器边界难以抵御高权限 host/内核路径的泄露风险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F6B40-6CBA-42B8-B0A8-A29FBA17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9A3D6-C63A-436B-80A8-AC32FD1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89959-1967-4801-9901-27AAF3F4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406B6-2E98-4D34-8703-193EC48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C7DD4-39F6-48F3-85AC-ABC6E1A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C49D0-05BE-4556-BEDF-9AB879F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861CE-EFB0-420D-8BC9-690E999F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422C6-2FFD-445B-B20B-4DDEA7BA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细粒度隔离与部署模型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E0480-4D80-47E8-B0E1-85CE4F3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3F27E-4FA5-48E0-8003-D912EBA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74412-A166-421B-B76D-582A5B72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VM 级 Realm 扩展到用户态、容器、进程内与移动/Android 部署。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26AED-F1F3-4B66-8B2F-681DF2CE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709B4-ECC2-40DD-A895-338926EB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267C6-6687-4220-8C07-B821EBD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RContainer: CCA 安全容器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3982D-FFB6-4B78-98EE-4E292FA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69FCF-10FD-4899-8021-48DDDF48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DB120-33AD-4AE2-9918-463E5AB5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C23238-C697-4F30-8407-F3905D7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69AAFC-D598-4366-B320-2727E634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来源：RContainer: CCA 安全容器｜证据等级：E1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44CF59-42BC-4947-97BF-FEDCA5E5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75AE76-CEC2-454B-AFED-8AD52231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48EFC-B981-4F1E-B4FA-D424016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F7DDE4-74D2-4AC3-9FDE-8054E91F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研究背景  |  04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8471F-2830-4DF0-A0D2-61D414C3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067</a:t>
            </a:r>
          </a:p>
        </p:txBody>
      </p:sp>
    </p:spTree>
    <p:extLst>
      <p:ext uri="{BB962C8B-B14F-4D97-AF65-F5344CB8AC3E}">
        <p14:creationId xmlns:p14="http://schemas.microsoft.com/office/powerpoint/2010/main" val="533805696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D093F-165A-47B1-88ED-E53FC0A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828B6-4E93-4500-8519-7C2B458B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5F404-60D5-4B6B-BF7D-6902367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FE41F-67C9-4FC7-9608-318F5D9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RContainer: CCA 安全容器：解决方案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F6A4D-CB2C-4060-9C12-1E0C2A0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DEF85-6B24-4C92-BDDC-ACA8C662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3F57C-9F4F-4DA4-AFDD-6605C01F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48FB0-DDFC-4FE3-824C-A525D251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利用 CCA 硬件 primitives 为容器 workload 建立更强机密性边界，同时保留容器化部署模型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1CD53-A288-422A-B009-ED7C36D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9E80A-D2C9-48F9-9190-3B4500A5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7FB7A-99A1-451B-BAAF-CA5A5AA1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CAB2B-205D-4C50-92F8-757E8DC3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9064C-ADEE-4BB2-98A5-87542838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利用 CCA 硬件 primitives 为容器 workload 建立更强机密性边界，同时保留容器化部署模型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85B2D-B5F5-4E7E-8D22-2FF3AEB6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A87C1-E4FF-4D7E-B0BD-E3920997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E7886-2556-4A09-8427-93655DA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1A330-565B-4C76-BB48-0B5D8F5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EE558-A8A6-4C4A-B70E-D3481AE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BF33E-05C6-43EF-BF8E-47748A8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CCA-backed secure container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A3B88-79FA-4765-9193-4F78EE33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1D46F-AC41-4611-8073-6B474A56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652B6-89B5-4A17-A0A6-2D28273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ADCAC-11E4-4CAA-9B1A-65E1AC8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Container lifecycle and Realm lifecycle mapping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4F87C-17E6-4500-B1FD-A848110D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CCD9B-843E-45C8-AFC5-13E202A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7ADC1-438D-48C1-BE4E-DC7048D1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18613-80B6-44F7-AC77-C02E3C0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Runtime/orchestration integration considerations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2EB06D-BB7B-4FA1-9EA6-008B1CE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1061A-0C5B-4189-91E1-73D3B4CE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来源：RContainer: CCA 安全容器｜证据等级：E1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F37FC-D4D1-4692-B53C-4F6BFD48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AB17A-4C22-49DF-A463-78257D5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8D80A-4FFC-46C6-8B27-B0D6EA6A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2A5D8-DD29-44EB-903C-6AF4B2E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解决方案  |  04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11018-341D-40D9-832F-9C99E1E7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068</a:t>
            </a:r>
          </a:p>
        </p:txBody>
      </p:sp>
    </p:spTree>
    <p:extLst>
      <p:ext uri="{BB962C8B-B14F-4D97-AF65-F5344CB8AC3E}">
        <p14:creationId xmlns:p14="http://schemas.microsoft.com/office/powerpoint/2010/main" val="447080758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5C5B5-4502-41EF-9C0C-F1D4F36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F3E3B-9E06-4496-B20C-6C0689A6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4E29A-7CCC-4768-AAD6-F6BE96E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36FF8-7210-49C2-A582-80061874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RContainer: CCA 安全容器：实验结果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59126-E031-47C5-AE00-BC288A55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7F54A-E9EC-4040-963B-B3B3245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7F74E-4DCB-41E3-BF2B-F06073C7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829CB-A4D0-4EB4-929F-5948E3C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NDSS 系统论文提供原型评估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4DD2-9CDC-4925-A8C8-791D33F9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BC71F-80B1-4540-B56D-D4047472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8C9E8-58A1-4C74-8AD3-E923C9A1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5AA96-456A-4F98-9E32-C45E43F7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3A7CD-D306-4DB0-A180-B58F8DB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NDSS 系统论文提供原型评估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25695-ECE9-4292-8563-D7365C6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822D8-A273-49C8-B618-9F9B22D2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本报告 不复制未核对的具体性能数字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DF300-3D88-4551-AFE2-90F8DE0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DE381-9CBB-4C91-B92C-A9FE0EF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550AA-823E-4FFC-B8CF-D004228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58FB5-E743-42E0-80D1-30B65FE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4DB61-801D-46D5-948C-81268693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23E97-8EFF-45D7-B8A3-A0276D83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EA8DA-39A6-4680-9AD5-0B1F402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48773-9ACF-4B6B-A857-534DF56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0A035-F98D-4810-A717-C03334DF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RContainer: CCA 安全容器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A89FE-B2BB-4A69-90F8-FCC02520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BABAD-45AF-4513-B520-3740136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9BE01-D6BE-4E49-AFF5-0B52612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3356C-8A62-440A-9C1C-863321C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A8ABC-A5FB-4CDD-B1B6-7DC98C8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69715-BC80-4BBE-B204-2F42ED3C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256299-6682-487B-B5CD-743F4050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6BC44-F97F-4F84-AACF-E376B2AC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96295-6F0C-4DB3-9CEF-450856CF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3A7886-687B-4189-974B-0CE05F0D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D3BB57-898C-437E-B6BA-A392F47E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DCFC7E-774B-4E13-B2C4-36976E42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FF5679-ABC2-4EBC-9058-6A2A53B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0DA657-FC8A-47B1-936B-6B8836C3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57443F-1B27-4A17-953E-9F8B0E0F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来源：RContainer: CCA 安全容器｜证据等级：E1 / 同行评审改进证据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3A9DC-A8EB-4588-8815-C05468E2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9FF452-4BD8-4EAA-B0B1-2C5BEECF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AEEC2A-3B65-4F37-9C76-1D5B3E8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81D839-7460-4799-8B6B-ADD40F2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实验结果  |  04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98076-C974-4974-A34D-AE0C98A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069</a:t>
            </a:r>
          </a:p>
        </p:txBody>
      </p:sp>
    </p:spTree>
    <p:extLst>
      <p:ext uri="{BB962C8B-B14F-4D97-AF65-F5344CB8AC3E}">
        <p14:creationId xmlns:p14="http://schemas.microsoft.com/office/powerpoint/2010/main" val="97639425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9BE60-9F76-4527-B637-9079E3A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C2ED5-5E4B-4C6F-B159-2E0C63C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86C12-D1D9-4A05-9F48-21516116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0A9D8-8FB1-4137-8837-F7BE3808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RContainer: CCA 安全容器：文章评价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392BC-D1B0-4854-988F-786C4616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5EED8-8710-49A5-A62F-D2D3CC9C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72134-125B-4C8C-8EC2-210C051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B6311-470E-4C69-9961-EF157F15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贴近云原生落地，把 CCA 从 confidential VM 推向容器 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E0FEA-EB6A-4B13-8FAB-B5DF4EB2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2D5B8-3F80-4DFA-BF4A-1EF6245B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33199-1438-463A-B3E6-8A7D79E1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FA721-A25B-4C87-B1F5-FDE585FA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0CC3-741C-4A8C-A4F2-B8CA0BB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设计优势：贴近云原生落地，把 CCA 从 confidential VM 推向容器 workload。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4E420-62AD-4987-8AB5-9595095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AA347-ED27-45AA-86CC-CF905382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局限性：容器生态、编排系统和 CCA lifecycle 的耦合复杂，生产部署需要额外工程证据。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61E3E-8280-42D2-802E-2EC99FE2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D281F-A18E-4CEB-ADB3-7478155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商业化潜力：商业潜力高，适合云平台安全容器服务；风险在 Kubernetes/runtime 改造、调试可观测性和租户迁移成本。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C74FB-EFBB-4A51-9F6B-1A195E3B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C3273-0C17-47C3-BED6-2EA21D25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3CC36-6615-479D-A1C2-667926C2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0C042-2AE7-47C5-834C-F3D62B6B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D706C-FDF3-475D-A956-2E413D6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D4133-9B66-49B4-8C0A-E6795AC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D73B70-BD3F-4ADF-BB58-A7AE942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F00C3-AC27-46BC-83C9-980BD506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8B23C-6F0A-48A2-B36C-DB028F5D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A6FE76-F516-4905-811A-C9AD5DB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贴近云原生落地，把 CCA 从 confidential VM 推向容器 workload。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7390C-822F-4BF9-AB30-82A952E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DF3EC-B81E-4378-831D-6AE9CFA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39642-2CC6-4E4F-93CB-E39E5917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容器生态、编排系统和 CCA lifecycle 的耦合复杂，生产部署需要额外工程证据。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95D6A1-EACF-40E5-829A-2DFEA345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D4859-7977-437C-A882-1A5DA96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643A0-7640-4274-BF5E-64052CB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商业潜力高，适合云平台安全容器服务；风险在 Kubernetes/runtime 改造、调试可观测性和租户迁移成本。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73425-7238-42B1-9954-F8BD078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093C6C-CBB6-45E5-AE82-F5A850C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36C9A-10A8-4119-8BC9-76A5D8F8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1ED913-C4B9-4E3A-879A-7B4E84E0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85138C-0C27-4523-9D84-A6845C08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来源：RContainer: CCA 安全容器｜证据等级：E1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33B17D-765E-4E4D-9801-3DC5B920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CB554-C6E4-4AF7-A5FF-DC0EC0DB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D72815-AD45-4F0A-A82D-CF53D03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ADD9E1-C3C2-410F-9F6A-E821F88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文章评价  |  04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1CF120-B034-4453-A693-B31B8311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070</a:t>
            </a:r>
          </a:p>
        </p:txBody>
      </p:sp>
    </p:spTree>
    <p:extLst>
      <p:ext uri="{BB962C8B-B14F-4D97-AF65-F5344CB8AC3E}">
        <p14:creationId xmlns:p14="http://schemas.microsoft.com/office/powerpoint/2010/main" val="2039813068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2FC2B-F3B1-44F8-86CF-557281F4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70E48-786E-4F8D-A419-7298F94E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9CF2A-C68A-4228-85A7-711A9C7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5DB5F-9994-4C20-A51F-35D15198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NanoZone: CCA 细粒度内存保护：内容摘要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E6F40-972F-4EB5-8968-14B7434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95CD3-9C12-412A-9B2F-DD089FEA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42532-8324-40BD-A36C-C7BFF07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B69C6-1939-48EF-A08E-03C328A9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探索 Arm CCA 上更可扩展、更细粒度的内存保护域，缓解 VM/Realm 粒度过粗的问题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409BF-E6AC-4983-854B-621B0CA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1F70A-980A-445F-B380-9F1BC9F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A53F3-D3F8-4B4F-B8BF-113A585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5E0B7-8FE5-4D1C-BC2F-959AB6C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AC82E-72F0-4332-A6FC-9C1E6D97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探索 Arm CCA 上更可扩展、更细粒度的内存保护域，缓解 VM/Realm 粒度过粗的问题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0C69F-368A-441A-8995-180D123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6AB5D-9DA6-4579-AD44-D5EBFA1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NanoZone is retained as a draft SOTA item for fine-grained CCA memory protection, with...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68BA9-A953-4D72-AC1F-4404916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5AC81-5A88-4BA5-8D70-E82FA6B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9D932-87F9-415F-8A3F-43812AB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A0254-53F7-4482-BD10-D9011849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4D116-7866-4C77-A9B4-6901A93A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4843B-36A2-4CF4-A28F-CC776219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7D2AA-99D1-4E46-9E5E-AF88EAD5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B7F5F-C7C1-4111-9575-9135DBCB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BB4EC-1386-40BB-8BC0-CBC2C3F7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BD6F6-FCD7-4BD5-81D8-F311E360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F5095E-EED0-4FFE-B64B-0D593AF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2277F-9B7D-4CAA-8F9D-55D3C0B0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451A89-8E94-4E28-A516-82A38B3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59CD1E-EC92-4BD0-9D6A-FB86B26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E2BA2-5558-4DD4-8900-CF6293C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61137-0AB2-40D5-BE8E-DFF3D5D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0486E-4C94-4916-88B0-DDAA37D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8C5A9A-87BA-41E2-B8AB-E545B2E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AE02C-570B-488E-A27F-5222651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来源：NanoZone: CCA 细粒度内存保护｜证据等级：E3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FB8B2D-FAFC-4CB3-9350-0C8AD5FF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4EB82-A463-4FAD-9F63-187C871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95B93-281F-4EC5-A206-65C0442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FD7B51-92EB-43D9-A03E-7C1262A0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内容摘要  |  04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34C4CE-868C-4746-A1A7-BB191A2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071</a:t>
            </a:r>
          </a:p>
        </p:txBody>
      </p:sp>
    </p:spTree>
    <p:extLst>
      <p:ext uri="{BB962C8B-B14F-4D97-AF65-F5344CB8AC3E}">
        <p14:creationId xmlns:p14="http://schemas.microsoft.com/office/powerpoint/2010/main" val="265456615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6759F-D825-4F76-8275-458A45D3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5DA25-17EB-451A-9E38-CCD2A041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04552-F0C6-47BA-8C89-883619D7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FFAB7-38A7-4259-915E-535CC78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NanoZone: CCA 细粒度内存保护：研究背景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98E8-E20A-40E0-AD53-5E19234A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CA8BE-5862-4E6E-B09D-50CA870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2D9A7-15FC-45A7-9E4E-869B5CCD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84C99-514B-4226-803C-9A82A0B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只用 Realm/VM 粒度会在管理成本、保护域数量和应用内敏感数据隔离之间形成矛盾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05436-2890-45D8-AA82-809F1F9D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04998-785A-4F52-BE0E-7A9279F2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FB0DD-BF15-468F-86AE-76093528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A4C4D-0667-406C-8210-87740402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4AD09-2DCD-4BBC-A008-38B3194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只用 Realm/VM 粒度会在管理成本、保护域数量和应用内敏感数据隔离之间形成矛盾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3CE44-ADD6-4DB4-AB99-30CE0E3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BEFED-8480-4946-8F58-FA9BD6D4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FB8F6-7297-4BC0-AB16-3479E0C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0AAC4-DA3F-48BB-8151-4A9CF7D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C73B0-CB0C-42F5-9263-19C130F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426E4-C0C3-4E7E-891A-41D783F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E1792-1F05-4ABA-892A-1AEEE8B2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845FE-3E24-454C-8ED0-25327933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细粒度隔离与部署模型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BAC21-708D-4610-886B-EA93E38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AD983-5EF2-498C-8845-912427F4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8853B-6C1D-4F51-AEB9-6F8EBBC8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VM 级 Realm 扩展到用户态、容器、进程内与移动/Android 部署。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C0296-99A4-4E1A-BA6A-98E94A0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AD605-C57C-41EB-9F2C-0D21A94A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686CE-2E3B-48DE-9080-29CAB10E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NanoZone: CCA 细粒度内存保护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E67B4-E245-4C33-B281-9C238568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24E1F-9818-41AC-9F15-1BB09AF2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84BF1-6112-4F97-B0B9-16DD3680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7EF3D-CE9C-4968-8568-9DF17931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87413-57DA-434B-AB02-21D40106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来源：NanoZone: CCA 细粒度内存保护｜证据等级：E3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807BD-3C8B-405F-8723-0734FECC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B4253C-D5EF-4B3D-896B-32B77F8D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DC79A-2878-4CB7-9CC9-62A69C17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E4C871-3213-4024-BE29-F94084C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研究背景  |  04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04003F-2D93-4387-8A8B-E4388AA7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072</a:t>
            </a:r>
          </a:p>
        </p:txBody>
      </p:sp>
    </p:spTree>
    <p:extLst>
      <p:ext uri="{BB962C8B-B14F-4D97-AF65-F5344CB8AC3E}">
        <p14:creationId xmlns:p14="http://schemas.microsoft.com/office/powerpoint/2010/main" val="1066009491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01BE1-4600-45E8-B2B3-D651FD39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0AC64-52A5-4DCA-BA41-3F48E48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0F6E-170D-4CE7-9617-79CB069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973D8-63E5-426A-94F5-89E08174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NanoZone: CCA 细粒度内存保护：解决方案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87C0-F2D9-4A6A-BC73-011FAA75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CB4C9-8393-4565-B734-C11CBBFC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6C5B2-3645-47D0-AB8F-28D5B9E2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FD4FF9-4BE7-4B7E-8B27-C78043F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 CCA granule/lifecycle 能否支撑更小保护域，并用辅助材料 `liu2025lesstrust` 对照进程内信任收缩问题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E44DC-A75E-44B3-884D-DAB04F1A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C43DF-1E9A-47F3-8D05-8D0ECE4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1B266-E3D9-4A6C-8F24-A63B7F9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2F066-D5BB-4087-84F4-4337D5D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12E0E-3F50-4B5F-B25D-F17FC5B2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 CCA granule/lifecycle 能否支撑更小保护域，并用辅助材料 `liu2025lesstrust` 对照进程内信任收缩问题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3AB5A-8710-4444-A940-0F2F79FA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94AA6-3B29-49A2-8A8C-05DED14B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1C57E-7974-41BB-9DC6-028E921E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5A34C-042E-47F0-AE97-BAED8702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B1D11-8AD6-42AE-B0C9-D8ACB8E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35BFD-A98E-4E9B-BBBD-3C44AE6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Fine-grained memory protection over CCA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4F650-D4EB-46B3-85AC-CAD2CEE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7E1C1-0BEE-460A-9310-A5B34A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7D6F4-29FC-4790-A929-AAAF8085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23E05-56D6-4B44-BE76-93F60F05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Granule/lifecycle scaling pressure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944E1-45F5-40E9-BA1C-5C0770E6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565C8C-183E-4561-BA10-DB27977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C2A2E-2B70-4068-B903-FA7C0777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07C7C1-0915-4C26-9038-98F07D02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Intra-process isolation comparison with less-trust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37A93-9345-47E8-8CB8-BFA83E5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57384-A8A1-49B3-B1AF-0BDDC0FD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来源：NanoZone: CCA 细粒度内存保护｜证据等级：E3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60728-34A2-4114-AD1C-8ACD37EF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AF1936-FE61-42F9-9CBB-83190815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2CAF7-F1E4-4DC0-B617-3462277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27521-3F23-400E-BEAF-5B6CCEE6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解决方案  |  04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F1AC8-C743-44B2-AB0F-E4D1D6D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073</a:t>
            </a:r>
          </a:p>
        </p:txBody>
      </p:sp>
    </p:spTree>
    <p:extLst>
      <p:ext uri="{BB962C8B-B14F-4D97-AF65-F5344CB8AC3E}">
        <p14:creationId xmlns:p14="http://schemas.microsoft.com/office/powerpoint/2010/main" val="104374124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1072A-1755-456E-8346-44932DE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B97EB-862D-4D86-8B7D-C303FE9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BA5F7-678C-4526-BCB2-6226F304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C7ABC-AE0B-4E11-9479-19AE5D80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NanoZone: CCA 细粒度内存保护：实验结果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1B9FC-99BF-4F22-AE5D-D9F90BEA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C8915-F3B1-452D-B18F-62645679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49C2F-5F1A-45CE-8612-6AD2AF29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AD206-AEF7-42BF-844C-2602EBBE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预印本提供设计与评估线索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613C-23DD-41DB-BA8A-25C6359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2CC79-23CF-407A-A832-C90A393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41BE-C1F6-4B20-9278-5C78EB1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B919-4DFC-41F5-867A-15B843DC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743F1-178B-4BBF-92DF-45C1A39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预印本提供设计与评估线索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45ECB-35A0-432C-BD5C-16D2D8CE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22B9F-BD84-443C-AB5A-5B70674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draft/not ratified 状态下只作为前沿方向证据，不能写成同行评议共识或成熟生产证据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66D65-7196-4428-A410-58A27A0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5FB7C-8737-4D0C-B1BB-5BB6E9F2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A7528-902F-4E3B-9AD6-9D84318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1FD59-9AE8-45FC-B9E7-8E8A1DCC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8E36B-B5DD-4475-8AE3-E6EF36C8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5CC06-2B47-47AB-9D34-F50522B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8B3E3-C84A-4528-A609-9BA20FBA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C823B-AAEE-4A4B-9942-EA38C15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8620C-9E47-4B09-8278-3C58FBA4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NanoZone: CCA 细粒度内存保护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BE381-78E0-46C7-A296-2218835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66F17-C079-4BBD-9104-C5FC9973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0A70F-9088-41C2-BB7C-D7E93BDD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4DD29-1206-4DC5-8D3A-76A19E3E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DFB61-C382-4715-96D5-6B4DE6A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07702-EA19-4A60-A53F-392E826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E06470-3717-41AC-A3FC-41C1E0D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696939-AB76-42FA-BA6E-8A0D237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32534A-C6AA-4AA2-9F58-3936B541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912B8-6A9D-4D99-B3D8-1D48A2C7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C50A06-65E7-499F-8544-EAB31701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B367C3-4FFE-4170-A2B5-4FADDC26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6D268B-1CAD-411C-BC69-825A8DA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EB97A-C4B5-464F-8460-08777AE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647E2F-853B-4171-9B2F-9954FF2D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来源：NanoZone: CCA 细粒度内存保护｜证据等级：E3 / 草案/未批准规范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C6BA02-D9C2-4822-8E61-97C002DA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BDBF5B-E5A8-4E12-9A99-73379E7C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34BAA8-8F57-46DE-8BAF-889ED293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D2CC88-C49D-48B6-A69B-481CCF81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实验结果  |  04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20FE5-6C50-49EA-8A9D-1E3A3D3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074</a:t>
            </a:r>
          </a:p>
        </p:txBody>
      </p:sp>
    </p:spTree>
    <p:extLst>
      <p:ext uri="{BB962C8B-B14F-4D97-AF65-F5344CB8AC3E}">
        <p14:creationId xmlns:p14="http://schemas.microsoft.com/office/powerpoint/2010/main" val="2136978828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AE289-971B-4C26-8824-D6F4CA00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C5AB5-D848-40E5-BDDC-BEB9BFA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31B37-0097-4E60-ADF5-24E5FBCE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DEF61-64BD-47A8-A9E7-C5FF307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NanoZone: CCA 细粒度内存保护：文章评价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090E9-F63C-4F6A-B157-25486C9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AADE3-47FA-4ADF-9614-24D1C26A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95856-E607-4259-BBB3-98ED0A7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07948-8BBF-4126-B0C0-6747F6C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直接回应 CCA 保护粒度和可扩展性问题，适合作为细粒度隔离前沿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E4A82-DB25-4FB4-8E35-4933A58E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C55AA-1FB1-4515-A160-F3D1872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160D-CAF3-4FFC-ADAD-A5E53B4A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02B8A-92D2-4150-9F55-DDBAC54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13320-213B-426C-9B1E-21B9F19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设计优势：直接回应 CCA 保护粒度和可扩展性问题，适合作为细粒度隔离前沿。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D2462-F697-484D-A0B7-32112571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85792-C906-44AA-97A0-58303A83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局限性：预印本尚不能代表同行评议共识或硬件/OS 生态成熟度。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69C8C-3E5C-40EF-9147-E61A72D2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D7B2C-89DB-4C84-A257-6368BD4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商业化潜力：若硬件和 runtime 成本可控，可服务插件沙箱、密钥处理和多租户组件隔离；风险在 ABI 稳定性和开发复杂度。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637ED-95AC-4ABB-93D5-1639949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07B83-036A-4710-8D43-8A2ECE1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证据边界：E3 / Draft-not-ratified；本地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2ECBC-0570-4046-A781-A24DB3F0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49041-6D79-43DF-A77E-815FE687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D9F23-4CCD-46B1-A508-EC4332B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0C005-5C27-4193-BAFB-397E6B7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E12E0-9FD5-4134-A6B4-F06E7945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A107FF-1461-40A1-8D02-3D8A7D4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D195E-37C1-4EBE-B334-6D349EF8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FB74C-897B-484F-BAF3-63EE4508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直接回应 CCA 保护粒度和可扩展性问题，适合作为细粒度隔离前沿。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34E930-91E9-44C2-8AED-6E147B8F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6C870-ABD3-4E10-8001-6FA1785F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9777A-E1E2-4DC0-81F5-D9F87075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预印本尚不能代表同行评议共识或硬件/OS 生态成熟度。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7A3F8-EED8-4231-A2C1-4B0933AC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E329D-9D78-484A-8A93-A24DDED3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0DCF97-DBC0-40A2-A1B9-FF52975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若硬件和 runtime 成本可控，可服务插件沙箱、密钥处理和多租户组件隔离；风险在 ABI 稳定性和开发复杂度。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60F08-30AB-4768-BEEB-B4D5C066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BED32-2F1E-4A9C-B8C7-531E6CC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8B0D25-CCD6-4AC0-8FC7-086016A6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95DD84-B9CA-4502-B852-535C99E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235920-68FD-4A1E-BC46-8903877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来源：NanoZone: CCA 细粒度内存保护｜证据等级：E3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75CB9-A7B0-45EE-8297-4BA4C4F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8A4F81-7EB5-4111-8D48-0A96C39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FB11F4-FC46-424B-9AFC-CD2AF80E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83D94E-58CD-4574-AB84-18419DC7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文章评价  |  04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2378EC-748A-4462-ACBB-1E77953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075</a:t>
            </a:r>
          </a:p>
        </p:txBody>
      </p:sp>
    </p:spTree>
    <p:extLst>
      <p:ext uri="{BB962C8B-B14F-4D97-AF65-F5344CB8AC3E}">
        <p14:creationId xmlns:p14="http://schemas.microsoft.com/office/powerpoint/2010/main" val="1728522555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90E45-9C7E-4106-90A9-DFEBD769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15EFF-E3D6-4A13-A0F2-A7168B6B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EFB6E-44D2-4C9A-B1C7-2C6B40F9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AF797-64C0-4031-B5D5-8FFD72E3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细粒度隔离与部署模型：方向总结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7DE1E-1417-4386-BADD-59BFE09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5F376-7619-4AB0-AD0A-AC1C1CE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FF4BB-7D0B-47D7-AEDA-33B701F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73A6A-F4AD-42D3-8B59-4C7C1DFD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细粒度隔离与部署模型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1705F-4CF3-4F4D-8756-E046DD2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C9C8B-A7C8-4B4B-8099-2644AC1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C3ACC-79E0-4BDB-916C-C0F9DA09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828FC-DDAB-4F73-9E57-D9B58FCE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449E0-7BC6-49FD-A8A7-F5DEB40D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Shelter: CCA 用户态隔离：开创/基础入口，E1 / 基础证据。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C284E-12BB-43B1-8C55-A6E0F884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960BB-9A00-430E-90E0-FD743C58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RContainer: CCA 安全容器：代表性改进，E1 / 同行评审改进证据。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3C01F-8090-4353-8377-CD0CF044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C1F39-92F2-48C8-A455-B4D94B6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NanoZone: CCA 细粒度内存保护：当前 SOTA/补充边界，E3 / 草案/未批准规范。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B9915-B462-469B-992C-7ADF5842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72195-2BB8-4B31-8001-F9C696B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3EF43-15EA-464F-8228-034B4F24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94B02-5A05-4049-8AA5-DC92496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5140B-B178-4827-B305-DF2BFC1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73ED7-FF68-4A97-AA28-DF60DAA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EFE33-B0C8-4A47-9474-D2ACBA7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D09B34-97F1-43A9-8A3B-49B71B3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EFDF1-0C4C-44D7-9D83-FD10AA0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03722-FAB1-4EAE-BA99-BC381E99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Shelter: CCA 用户态隔离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6F7BE-2DFC-4DAA-878C-8B318E4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AEAC5-48A9-4478-B61C-DA311AA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Shelter is the entry peer-reviewed system for moving CCA from VM Realms...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117DC-B48D-45B2-92FE-115A9D8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42A4F-2F9C-499D-98F5-9603904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RContainer: CCA 安全容器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2C2C3-610F-465A-A04E-708C2E7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39E861-9D84-45BC-8952-7E29765C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RContainer is a peer-reviewed SOTA system for CCA-backed cloud-native...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2251A2-FE73-42A9-97C1-AAB696A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CF7CC-EC1A-42A3-B6FA-AD8F38E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NanoZone: CCA 细粒度内存保护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83CD1E-B567-45A8-B441-06FCCCA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5638D-9946-4141-B896-ABAA8377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NanoZone is retained as a draft SOTA item for fine-grained CCA memory...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4036C3-D96E-4BC1-9926-9199E202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1B7365-F2B9-44C0-9A51-4A6342B9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FC707E-FAD9-4FFC-B982-4F17A515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BDC6F-75E9-4528-91EF-A73543B6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40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A22CC4-FD19-4EAF-A21A-9173746D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592F1F-69CB-49A9-8D7E-FF8B4D5C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细粒度隔离与部署模型 | 方向总结  |  04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4BC593-4BE6-44AA-B552-B3523F6C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076</a:t>
            </a:r>
          </a:p>
        </p:txBody>
      </p:sp>
    </p:spTree>
    <p:extLst>
      <p:ext uri="{BB962C8B-B14F-4D97-AF65-F5344CB8AC3E}">
        <p14:creationId xmlns:p14="http://schemas.microsoft.com/office/powerpoint/2010/main" val="910827099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4E62E-1151-4272-9AA9-2AF54E09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32B6-5A3A-4DA3-A37D-883AC441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35544-79F0-4BFE-91E6-8A86EE46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50691-7539-4DCD-9A26-A9508FD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815DF-1740-48E5-88C3-E00A50D0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I/O、DMA、accelerator、interrupt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37E9B-BEB8-4BE9-AAC1-87B06C0E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把设备访问、DMA、interrupt ownership 与 accelerator workflowow 纳入 CCA 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497D5-2D86-4680-9AA0-08E55CC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46EF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4917-C37A-453B-B1DF-4350FAD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148D4-3275-471F-AC97-0B3BE3AD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ACAI: CCA accelerator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DEE7F-5AB1-4E62-B964-398E58FC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A248C-8E44-4590-A765-48C4B55E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2B6FF-FED7-4B33-BFA6-B271DF7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Devlore: device interrupt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CF9E3-C7DC-4A9D-9FB3-02753C7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FFDA9-EF08-48B1-AFBD-A8F25737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ABEB7-0BC4-4AE3-9EB5-4A2DA62B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SoK for CCA 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8BE0F-E67F-4C72-BC16-895A6A3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D0C3E-F61C-4A01-8B82-1ACE3C9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1D75F-E787-4A24-B3CA-21321BFB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D42AB-48F5-47DD-A2A1-599A1212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B5B8E-3F05-45E4-854C-C67DB8D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Arm CCA I/O、DMA、accelerator、interrupt  |  05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D0F17-256B-4F11-BB31-E927BA26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077</a:t>
            </a:r>
          </a:p>
        </p:txBody>
      </p:sp>
    </p:spTree>
    <p:extLst>
      <p:ext uri="{BB962C8B-B14F-4D97-AF65-F5344CB8AC3E}">
        <p14:creationId xmlns:p14="http://schemas.microsoft.com/office/powerpoint/2010/main" val="2062245718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71D33-020B-4AFE-ADE5-B3E1186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16F65-715C-43D6-B417-F1A1C9CD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81C1E-9F1F-4B5C-9BDB-74D0ECFE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B7C23-7ABE-4934-A952-900A43D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I/O、DMA、accelerator、interrupt：方向开场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DD746-0D5D-49B0-9AEE-DFD6936C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928F8-F7FC-40FC-A366-027DC7BD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F530C-5543-4176-940A-BB45343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3D42-9FDF-40FC-8D7A-968D636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I/O、DMA、accelerator、interrupt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A9A62-F649-4F21-8702-BF1525F1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0EE6C-9906-4E44-A3B3-B5646488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8F4C1-02D5-4DCC-9165-4331822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332B8-39B1-4405-BC71-F0CF513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C974B-CDB8-4506-A21A-F79264CC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把设备访问、DMA、interrupt ownership 与 accelerator workflowow 纳入 CCA 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C7964-7C71-4BA5-AE83-9D47A70F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621F4-B3C1-4F8E-8926-9E0C5250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固定三篇主讲材料；ACAI 和 Devlore 均保持 draft/not-ratified 状态，`sok-tee` 只作为 accelerator TEE taxonomy。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3A1BE-2CA7-49AC-BBD8-BAC6067E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7EDAE-527D-4E22-98EA-C41D6B85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D3C62-145D-4EEE-A56A-407A6BD8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6C1A7-CE83-41FA-9C61-E720E5A4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89136-BD62-4270-8148-250C745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C06BB-7E34-49FD-9ED6-5E4B54D3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B55F8-4307-4C39-A73D-66D0A9A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6C907-958D-4043-BD53-FF9BA15F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CD57B-1FAD-442D-B40D-068A458C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A06FF-D0D1-42C5-B24D-0C9AB49E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3E391-CF4F-4016-9647-6FFF69F7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C106C-7D7A-4FE4-9DAB-B924A8B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ACAI: CCA accelerator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0484B-6E9E-4288-9D92-BFA34A28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EE74C-B1EE-4003-99B6-1F72FC7F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14D57-25DB-425E-A907-1FB2F812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BE19B-9D10-4A54-9CA2-A529B6D3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Devlore: device interrupt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2C088A-30A2-49F8-81E1-A67701A8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7CDEF-08F4-4642-9425-AAF5335E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7BB05-7638-4D28-816A-5060E14B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C5AEB-4C87-4A6D-AC53-C9A201A9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SoK for CCA I/O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03F5C-A9E8-4F12-8E6A-5A8B0BC7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AA2D65-8230-46E4-86C1-2B4FB1E1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0112E-3447-4D49-9E3D-B2706F1D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74D344-448A-466A-8906-64F4DFB3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077D2-2466-4F93-A4E8-43631B01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939E2-E5C8-47B8-8F0A-748EF63C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8F54DD-225D-446A-B01F-EC8894B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6958A-6157-4F02-A301-D1BB8639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方向开场  |  05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997787-E5EA-4807-A301-ECF18F40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078</a:t>
            </a:r>
          </a:p>
        </p:txBody>
      </p:sp>
    </p:spTree>
    <p:extLst>
      <p:ext uri="{BB962C8B-B14F-4D97-AF65-F5344CB8AC3E}">
        <p14:creationId xmlns:p14="http://schemas.microsoft.com/office/powerpoint/2010/main" val="360313779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6DAD7-6C8F-4D5D-9F89-9352C67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3D103-77F3-4397-8817-EFC2596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29E9F-5375-465A-B1D8-4DCCD114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459FD-17FD-42A0-9914-5A4B95E2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ACAI: CCA accelerator execution：内容摘要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1FDBA-5E4A-4AE3-A536-046F37C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B7D1B-9169-41D9-8B88-920DF521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6F38E-6A73-40C7-BBA2-FED71C8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B1A86-AF7A-46BF-BE23-C26B8590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研究如何用 Arm CCA 保护 accelerator execution，说明 CPU Realm 之外的 offload path 不能默认。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87827-FF35-49DB-A1C8-3B8A1D2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07A82-D470-4BFF-A6D8-8C744C21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4C280-A2CD-4136-B956-EC5C748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87B55-CEE2-4FBF-876E-74E39F2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DB27C-FF40-498F-B4F1-488AF10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研究如何用 Arm CCA 保护 accelerator execution，说明 CPU Realm 之外的 offload path 不能默认继承机密性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B348E-376D-4CC2-8187-DFE517D4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7856B-276D-484D-92B7-10854D23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ACAI is the early design point for extending Arm CCA toward accelerator execution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0226C-571D-4227-A5A3-1EF0BE63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83F0-9C43-458C-97B8-8AB2ED4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7500B-ABCE-44E7-B031-852D76F3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2AB75-DE6A-405B-88E5-DB1A8BE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72D51-DAFB-4864-A953-2674881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A7C9C-28FB-4CCF-ABE4-6CFF42AF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903A9-0F68-44FF-A87E-FC5FF071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13030-80B3-48FA-B1C3-712F95E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93A64-F2FA-4A3A-8AEC-C7716460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0E2695-736A-4C4C-AF3A-D0580D51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43E38-1A7D-4F0C-9B15-E50A9310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4D38E-A058-43E0-8EF4-9CE7822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EA8DE-156D-4F96-A565-B0D0607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BD503-FEC1-400B-9FB7-A8D0154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D9C7B6-280B-4EB4-B192-D45B7EB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8BFB77-992B-4886-9AD0-D5CA1EE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6B256E-1718-4EBE-B41E-01B29F50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DD350-75DD-440F-A370-B881524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B55F7-34DB-4C69-AFD7-AE4D3A2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来源：ACAI: CCA accelerator execution｜证据等级：E3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80EE9-0A53-4549-8303-45CEE70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27B5F-F56E-40E3-BFFF-4D11335C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F2EA65-4CD2-4AF6-B11D-0B55ACB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72880F-6079-4309-85FA-7FB1AC5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内容摘要  |  05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1C32F1-6692-4495-BB8F-0AAE403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079</a:t>
            </a:r>
          </a:p>
        </p:txBody>
      </p:sp>
    </p:spTree>
    <p:extLst>
      <p:ext uri="{BB962C8B-B14F-4D97-AF65-F5344CB8AC3E}">
        <p14:creationId xmlns:p14="http://schemas.microsoft.com/office/powerpoint/2010/main" val="1747196686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A1D43-6ED9-4A39-96FF-DEB309D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B796D-373E-467C-971E-57D63C24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2BA2A-0151-4A96-8B4D-9B1BB16B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FEB3-EB0B-4B51-A5C0-5BAFBBCC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ACAI: CCA accelerator execution：研究背景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1F639-454A-4DF6-B51D-4954936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1D7C3-8009-4DAB-9698-AFB8FFD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D12F6-FA08-4200-8DDE-7E9267B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BD6EF-6510-4C05-B63D-0BCE6EC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workloads 需要使用 GPU/NPU/FPGA 等加速器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C55BD-CFA3-42F4-80BD-3FCC49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01E7F-48A1-41C0-A24C-D8D8623B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02254-935C-4E15-99A8-72E87FE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B4665-DB99-48CC-89E6-4BA80C6B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E6C6F-CC4B-4117-8454-527FC3E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workloads 需要使用 GPU/NPU/FPGA 等加速器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61D25-F67F-4102-AD72-B8D33A33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4BD67-6DDD-42D0-8CDB-956C2CC6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如果设备 DMA、队列和驱动仍由 untrusted host 控制，Realm 内数据会在 offload 路径暴露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90110-86F1-493D-BC23-41F938B2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4FCE9-0D5A-4219-8B8D-56C6CB5C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BE198-CD94-4D66-B2DF-460A14C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EA95E-E5D3-4C47-9B8A-C2DDCC8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5B42F-35A6-4C46-83AC-CCE469D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53670-9603-480E-BE74-FDB11C15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47993-2757-4986-917B-B84F03C1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FA6FF-A944-4A1E-9001-28080D86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I/O、DMA、accelerator、interrupt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DA36D-9B6D-44D4-84F9-15E86DAF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EEAE6-05A7-4309-9E53-4E38E8B9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093C8-44F1-42C6-B8C2-11528C0B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把设备访问、DMA、interrupt ownership 与 accelerator workflowow 纳入 CCA 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1823A-F481-48D1-9C46-C2EC758C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19977-38DE-4FB4-B767-918DD043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C1F71B-2188-415A-9699-BAC95873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ACAI: CCA accelerator 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045A2-648D-4BBE-861A-7762DB4B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71490D-DFF8-43B4-8572-225C59D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E8EEB5-2998-4650-A811-59A1F999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CB0EB-7849-489F-BF0E-86A726F4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ECB97B-C6AF-4032-B0F3-69B2D7E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来源：ACAI: CCA accelerator execution｜证据等级：E3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BD67C-2BA9-422C-9252-26B5968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16BCAA-900D-4E2F-BA98-DFD7398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17795A-8F04-47D2-B0D0-FB077A7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4E638D-28FF-4E99-B63F-D76A927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研究背景  |  05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3984A-7119-46F8-8A62-F513ACB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080</a:t>
            </a:r>
          </a:p>
        </p:txBody>
      </p:sp>
    </p:spTree>
    <p:extLst>
      <p:ext uri="{BB962C8B-B14F-4D97-AF65-F5344CB8AC3E}">
        <p14:creationId xmlns:p14="http://schemas.microsoft.com/office/powerpoint/2010/main" val="182612610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3721E-B7AC-4CD0-A693-48737A35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9C9E8-73BD-4278-B9FE-EB223B9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3C11C-553C-4EE9-8E0D-67A47A56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197CF-9F41-4EC5-8E0E-58955A4F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ACAI: CCA accelerator execution：解决方案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B2938-137E-4FEE-B34B-9D9D796B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2DC2C-BA1E-402A-BF98-0125F167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E97B6-605C-40A3-B6BF-814DAD82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0D3BB-E390-46A4-8AC4-CB488908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 CCA-aware accelerator execution path 连接 Realm、设备内存访问、队列管理和 attestation，缩小 host 可见面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F25F0-3783-4865-ACBB-8BA4909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6ABB0-0438-4941-A259-002E3290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EC23D-A260-455B-9ADD-B70826D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D92DB-15DE-4A26-A049-4A3FF3BB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7CEE4-35E7-4B68-AEB0-D5CE521F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 CCA-aware accelerator execution path 连接 Realm、设备内存访问、队列管理和 attestation，缩小 host 可见面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0004F-557F-4B72-98F9-DEA3A81F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2409-58FE-4EBF-BFF6-2A424F1A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97A70-ABBE-4E2A-ACA2-8E6B485D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C23A8-2096-433C-97B7-6EA3105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BD9F0-B1DD-44E1-A746-F9404A3C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C172C-B6E4-420D-879B-B795CAF9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CCA-aware accelerator execution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8F2BB-E4A0-4825-A746-01B6C26F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42BDB-8CFD-4ECE-8600-A13A44B1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EB2E0-50BC-4C52-89EA-DF717E3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E8A75-5C34-46DB-B3D8-EBB8B2A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Protected DMA and command/data movement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28CBE-7DA7-4A07-99F5-C8E57B9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E06F7-57F0-4ED2-874A-CF6DE1D0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39186-8333-4820-BEE9-DEE2437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13776-860B-4A3E-8375-BC926363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Driver/runtime TCB boundary for offload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9C341-E377-4E86-B15C-12F419A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59627-27B0-49F3-AD7F-3EF33DF5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来源：ACAI: CCA accelerator execution｜证据等级：E3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C8EA-94B7-42D0-8CB5-8E44D97F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DE253-ABAC-4395-839F-7190AF4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EE1755-0477-4482-98B6-43C78AA3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5AF0D-00E3-48DB-A8DB-9E0096E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解决方案  |  05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4FB591-E855-4367-9D2C-7617184D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081</a:t>
            </a:r>
          </a:p>
        </p:txBody>
      </p:sp>
    </p:spTree>
    <p:extLst>
      <p:ext uri="{BB962C8B-B14F-4D97-AF65-F5344CB8AC3E}">
        <p14:creationId xmlns:p14="http://schemas.microsoft.com/office/powerpoint/2010/main" val="1153111881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6E7F0-6528-400A-8FC5-115E185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A9F14-A6C9-4CDA-A120-1328F6F0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062DD-7D4E-460F-B55C-9EBD1E34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39F47-80AB-43AB-AAFC-EF2B2091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ACAI: CCA accelerator execution：实验结果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38107-D72A-49C2-9F6A-6CCC03F6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03252-8D48-4556-B294-661D239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FD65E-02E7-4A08-ACB5-DEEC246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1985D-B9E5-402A-AE2D-116654AE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系统论文提供原型/设计评估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6CF6C-098F-4CDE-829F-2AB028E1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CBA7C-FE06-4EA6-8E63-5434A65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E57CE-A190-4F87-8E39-BA7F3D40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CC391-43DD-432E-8EF7-ADB925CA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39569-7B95-4DB3-AB2D-631AC85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系统论文提供原型/设计评估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0DCD9-884A-4634-8192-6D65C06B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034E5-4F07-4566-80C3-19533A1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draft/not-ratified 状态下只引用本地 PDF 中已核验的机制方向与结果，不写成标准或生产事实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E0E73-2AF8-4FE2-8EE0-6F98A1E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1B11C-F24D-4D2D-823A-3E22B0B9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916E0-892C-4029-8C91-989A99D3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B2989-D2A6-405C-9A8E-86152CE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53121-5A6A-4E33-862B-63210C7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43369-99DA-4D5D-8B08-0CC378E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28C3F-8EB4-423F-BD7B-A2779D2C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C27FA-8167-44DD-B57B-1C10131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ABE57-5C17-4A78-839D-08A240E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ACAI: CCA accelerator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4477A-D524-460A-9CD1-93CD26D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B1E098-6664-41C7-9588-00833E7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F0851-8B14-448F-BFE1-B488F8FA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C851B-2EC3-424E-A9AE-2CDFAF3C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E2A90-798B-4786-8168-2A26EC9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14782-01D4-4023-833D-D5352113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6F78BA-13D7-4E40-8CC4-FE6FA2C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C8AF4D-3CC2-4354-AD5D-63275A9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0F311-0AE4-4876-AA8A-D571AD7B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7C88B-3532-4514-8F10-0848029E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D34D6-DD72-40D3-8F5A-9D47E87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E1373-7F95-447B-9A3E-9F9A7AD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71B5A1-5A37-48F5-86EC-F4AA066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F2AE20-9BDD-4FCA-970B-589DD90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E41830-7B28-45C4-AF9B-0AB7A5A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来源：ACAI: CCA accelerator execution｜证据等级：E3 / 草案/未批准规范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8A3C2-2647-4764-9CF3-EC33C81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AC5F7-F2B8-48DE-BCEE-21C74242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FDAF00-2C63-4113-B4CB-8A6EC683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1C6306-6912-464C-BCA0-EAA7EA92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实验结果  |  05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6B76EC-B183-41B5-84A2-D3E627AE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082</a:t>
            </a:r>
          </a:p>
        </p:txBody>
      </p:sp>
    </p:spTree>
    <p:extLst>
      <p:ext uri="{BB962C8B-B14F-4D97-AF65-F5344CB8AC3E}">
        <p14:creationId xmlns:p14="http://schemas.microsoft.com/office/powerpoint/2010/main" val="1182123483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CB7EA-7C3B-43FD-8223-D8F60E8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7854-44A4-4C8C-BB48-F1B1300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81F9-B4EA-4F39-B63B-1ECE5F1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CE7AF-F787-48F4-9181-56523EA8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ACAI: CCA accelerator execution：文章评价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4D0B2-CF9E-449F-8DF6-C236337D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33655-1E37-45B8-B7A2-3989BB33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90130-CDCB-45D6-B685-EDA49E26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403E7-0F4A-4C8B-B23C-C8FACDEF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Arm CCA 讨论从 CPU/VM 推到 accelerator workflowow，是本方向的入口设计点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9B266-45FF-4538-88BA-BFCEAA9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DF6FC-3F6A-44D8-9EEB-0E400532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38DF9-DDE5-4F35-B30E-6FF672D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E73F5-EAD6-497D-BC9E-7B05B2DB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B2C7A-B1AC-4A49-9F38-1BCB4CCA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设计优势：把 Arm CCA 讨论从 CPU/VM 推到 accelerator workflowow，是本方向的入口设计点。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ECA40-5064-49F7-9173-FA073E3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D937A-BD27-4278-B2ED-127B492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局限性：预印本不能代表标准化接口或量产设备能力，且驱动/runtime TCB 仍是主要工程风险。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0808F-A25E-4F15-A576-14947628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A852A-59E9-49BA-B868-84490045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商业化潜力：可服务 AI/HPC confidential offload；风险在设备厂商支持、驱动隔离和 attestation 生态不统一。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E1EB8-0F8B-4346-881E-2CD8A6C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B9070-7D22-4647-8A66-BC434882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证据边界：E3 / Draft-not-ratified；本地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E9103-4545-4995-8535-8084A91C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A9DA7-4A06-4E24-996B-AA6B16A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D3BD3-6FF4-47D6-9631-75F5FBD5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FA4EE-3CB6-4B77-8CBB-8BAAD87E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B3D514-B7EC-43E6-951D-DC7D30DA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E1C63-C1E3-48CB-BE6E-21C22C3B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944465-66D8-479D-B6CC-EEF9F008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77492F-525C-4211-8D4D-F62CB0C7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Arm CCA 讨论从 CPU/VM 推到 accelerator workflowow，是本方向的入口设计点。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2B5C9-9D1E-467F-AF2B-E2D92F5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95CC2-81CE-4AD1-A2B2-2171566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79097-5199-42B2-900C-8E490330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预印本不能代表标准化接口或量产设备能力，且驱动/runtime TCB 仍是主要工程风险。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623B38-BC36-4C02-BC4B-C15E314D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2F029-759E-4BE4-8A16-B8A1DFEB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A516C0-B438-4709-B573-B64C941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可服务 AI/HPC confidential offload；风险在设备厂商支持、驱动隔离和 attestation 生态不统一。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6D2754-FB96-4EE3-B89C-20E2266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FB0133-7403-4B99-A2BB-19E1DDB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67743C-DA1B-47E7-9F9E-0431A1AB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DB7E18-BC5F-4993-B4D3-61B60C7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8DC926-52A0-4BB6-ABA2-3BBE3012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来源：ACAI: CCA accelerator execution｜证据等级：E3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71881E-A9C5-4A44-98E7-FA1D337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409F06-F727-4D9C-95BB-9F9650A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399E10-CCE0-4D13-BFD7-58C62A83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D64AEA-5F9C-40A6-8B77-DA5746A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文章评价  |  05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09866-0001-4CB0-B472-D4B107DE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083</a:t>
            </a:r>
          </a:p>
        </p:txBody>
      </p:sp>
    </p:spTree>
    <p:extLst>
      <p:ext uri="{BB962C8B-B14F-4D97-AF65-F5344CB8AC3E}">
        <p14:creationId xmlns:p14="http://schemas.microsoft.com/office/powerpoint/2010/main" val="122877195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5D10B-1AF8-4BD2-B519-443886E6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F2A42-D7C5-47AF-AA64-D5E1B433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7DA16-2086-48EB-AE41-FBA3761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78215-A716-4273-8CA8-C85CAD7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Devlore: device interrupt protection：内容摘要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57AC-0283-4D99-8B9D-A7DE71A3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461BE-41CB-4E86-89F5-D673EA0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315A1-B664-41E4-A807-ED9A26D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158A5-5B52-493F-833F-509F8D21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关注 confidential VM 的 device interrupt protection，把 interrupt delivery 纳入机。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3B927-6902-4D5C-945F-6D98E105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05974-5DC5-49E7-8B3A-A2E6A49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ED146-3090-48DF-BEAA-A2236E2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1AA1E-473F-4EB5-8B7A-D0D89F4B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A6FAE-022E-45C1-8C56-C9C308E5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关注 confidential VM 的 device interrupt protection，把 interrupt delivery 纳入机密计算边界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F8BFB-D5A7-4054-AAB4-8E2BF72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75E2E-F191-470B-ADCF-5B918C2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Devlore is a recent draft on device interrupt protection for confidential VMs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BAB37-E4D7-4754-948D-A5E46A1C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E7E74-B0B2-4A48-B2A5-EAAAB085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71433-E95B-4CE5-82C6-0A6BA1B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F5C10-8D4A-4B88-99BF-3E3EF055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E574C-4600-465F-A854-AF67BBE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AF3B5-E773-40B3-9E2D-EC96BF6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A1C10-6B5B-43D1-A8CD-3838793C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2E8E4-CBE9-4ACD-B56B-DDF31421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B01CD-DD94-4C07-91AE-476E7E24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B2C4A-3293-49A8-BF72-6260BF0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8FE9A-43CB-46EA-ADA4-8D5AAED3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02B8D-860A-45B8-BB91-D6D22DA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E476B-1255-4AA4-8374-76DF9FCD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AD998-B232-482D-86F8-C4199DA1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BE9899-8884-49ED-9151-2E5E181D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EF77C-A211-4B53-9711-77C3A19F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9243E0-EDED-4F17-B7D1-50E7B75C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ACDF2-8D9A-4DE6-8BBF-4F9543F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C3DBED-4750-4264-8B51-632CF065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来源：Devlore: device interrupt protection｜证据等级：E3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63EAC-95C2-4F61-97EF-3EF854A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BD6541-B17D-455E-B228-A3486266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9F723-DAFC-4932-A468-7C11AC8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A19F32-EC04-4817-90DF-FA413370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内容摘要  |  05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2985C-9185-45EF-8B73-CE1BF25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084</a:t>
            </a:r>
          </a:p>
        </p:txBody>
      </p:sp>
    </p:spTree>
    <p:extLst>
      <p:ext uri="{BB962C8B-B14F-4D97-AF65-F5344CB8AC3E}">
        <p14:creationId xmlns:p14="http://schemas.microsoft.com/office/powerpoint/2010/main" val="946145010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E9ECE-3825-440D-923B-8208051F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6095F-952C-457D-A23C-49AC8BF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CC4E3-66ED-4941-8A73-55747FDC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A8E2F-D9A8-4450-816E-09D3EF82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Devlore: device interrupt protection：研究背景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74A77-4D46-4C8F-8F65-88CD3340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65BB0-8984-4923-8579-ECCF4B4C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7FDC7-ECD3-44BC-A2A3-E0BC369B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E1FDE-366C-4F37-AC6A-A0734BBF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即便 DMA 受控，设备 interrupt 仍可能泄露 timing/ownership 信息，或被 host 用来破坏 confidential VM 的状态机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24FD7-14C3-4C7D-8E79-4BA4F3B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43026-E5B8-41B4-88CE-53806656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0909-80BB-433C-AD89-0347FEA6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39AD8-84FF-41B7-839E-0874BCB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24764-2A4E-4B88-89D5-0665D12E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即便 DMA 受控，设备 interrupt 仍可能泄露 timing/ownership 信息，或被 host 用来破坏 confidential VM 的状态机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6087F-0280-4933-A0F7-E5CEB06A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2EAE1-60E6-475F-A7CE-9EE0927F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19AB7-56A9-430B-99C2-3B809678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4598B-537F-48FE-B7E6-3A7D12D7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995AD-CBF8-467E-8BD1-A72358D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3B10C-000B-484D-9318-BC5B0881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F96FB-585F-4F37-B8F4-19E9DA0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F965E0-72CF-46BA-9C4A-97CDF427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I/O、DMA、accelerator、interrupt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923DD-5095-4357-8399-F9F31740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33786-1C4A-4B18-A8C6-C8F921A0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4FFCF-9188-40AB-9426-EEB2E54C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把设备访问、DMA、interrupt ownership 与 accelerator workflowow 纳入 CCA 边界。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44C50-A13F-4253-9FE7-3C9F20E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1B19B-351E-4CFF-8EC5-3770D828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EB7D3-436B-4563-9D43-8B75C7BB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Devlore: device interrupt protection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D7BC0-5E65-41CE-AC58-7CE0FB1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7699F-DCA0-4AFE-87B2-D66C8EC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0EF775-A82C-466D-8198-F27B57E4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426EB-7796-446F-BC1F-955E2D0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55004-7BE5-4930-BE4C-569F0BCE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来源：Devlore: device interrupt protection｜证据等级：E3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D1BC47-3A31-49EC-A44B-CF4F6E0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B4156D-CD9B-432C-BF1F-C176A97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82A3B-BB67-45E5-8135-75E6FB3C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3CAAA9-A8FF-4D5D-AB24-CA781E36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研究背景  |  05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88A8FA-23D3-4AA5-A932-B2BE52E4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085</a:t>
            </a:r>
          </a:p>
        </p:txBody>
      </p:sp>
    </p:spTree>
    <p:extLst>
      <p:ext uri="{BB962C8B-B14F-4D97-AF65-F5344CB8AC3E}">
        <p14:creationId xmlns:p14="http://schemas.microsoft.com/office/powerpoint/2010/main" val="1113327610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E58C64-40EE-4EC6-846D-48CA4016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1980A-EA90-455E-BDEB-24B9C3BB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71498-5827-4F67-9095-52488B7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F709C-3D3E-4521-B9AA-5C71B56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Devlore: device interrupt protection：解决方案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E9D42-8E56-4B3B-B775-744BE8F6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A88EC-7C06-49CF-853D-10460D20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58E62-B0FA-4C4D-A164-DFB74BB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563D3-CF2B-4B33-AA80-BEE617C7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将 interrupt delivery、device ownership 与 confidential boundary 绑定，使设备事件不再只。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27CAE-4023-4D87-A2C3-59484659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F2159-0995-41A7-86AE-893794B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9ED79-BCCF-4AC8-B648-AFF7360C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6BD1E-C86A-4EA8-8D88-161DF1F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8F608-E7E8-46C3-9F26-E20C831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将 interrupt delivery、device ownership 与 confidential boundary 绑定，使设备事件不再只是外围控制面问题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CBF6E-418F-4403-8E48-BA04338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B7AA9-139B-42F1-BA08-FEB6201B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15041-0F33-4D73-9AC9-5E3D99F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3AA5F-87A2-41B3-8AAA-20653D54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5E57A-B64F-4B88-8FC2-3BBFE330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0A5A2-5F18-4B7F-892B-CC90AC8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Confidential-device interrupt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58AB8-0F3F-4376-B0FF-E836B260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F0102-F106-476B-ACC2-EF32A261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44999-35F4-4806-BCB2-A2B5D05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E16F3-4196-4D55-9AED-8BECD4E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Interrupt delivery mediation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C69D5-7A64-4D31-8E7B-CA992FC0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00B07-84F4-4116-A254-F322D7E6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85593-8E87-440D-A363-13FF1B1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19493-FD90-437B-B869-A2544675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VM/device lifecycle coupling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F3AEF-490F-4F23-9444-D1DBF404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E6EF8-D33E-4ED8-BC21-02CBFE6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来源：Devlore: device interrupt protection｜证据等级：E3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30BA1-2006-4400-A0DF-EC83E49D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B12929-C18D-490D-91B1-DB2D779A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13B24-CB87-4CBD-B957-969CC2DE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7619C0-3647-49E1-A85F-081CD397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解决方案  |  05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E1FEF-6AD9-4F89-8D6D-15C2BC40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086</a:t>
            </a:r>
          </a:p>
        </p:txBody>
      </p:sp>
    </p:spTree>
    <p:extLst>
      <p:ext uri="{BB962C8B-B14F-4D97-AF65-F5344CB8AC3E}">
        <p14:creationId xmlns:p14="http://schemas.microsoft.com/office/powerpoint/2010/main" val="474128588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D31E3-D9FE-4C57-8695-57D0E79A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A49A9-B2DA-4FD9-8FA5-2974D5A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D2CD5-EE1B-471C-B35F-1F2574AC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62967-7339-485E-88B7-DE9F7E2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Devlore: device interrupt protection：实验结果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A92A0-3F3F-40E4-BD2E-83E738F6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970CE-ABAA-47B2-9FA0-29647483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7462F-4D8D-41DD-834C-9AD401A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C4EA6-4FF0-4D7A-9AAC-18233CB9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本地已核验 arXiv PDF 提供 device-interrupt protection 设计/原型证据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19F78-5F56-4F4C-B5E4-522FA45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48E86-2464-491B-9DB0-09F8C7B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CCC02-F3F3-4D31-A9E1-9B1F108D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99B15-C775-46D7-BEE8-9C8DB7AA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1CCB8-77A6-477D-BB63-E9FF89D7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本地已核验 arXiv PDF 提供 device-interrupt protection 设计/原型证据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1D0C5-3948-4F19-A34D-56944E29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57CF6-6970-4C8D-B12A-95507766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本报告 只写机制方向和证据状态，不写未复核数字或成熟部署结论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3150-0EA6-416B-81A6-E7EC072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09D2B-9EF0-449E-8BDC-24BFB81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72095-9410-4604-B777-F6938AF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1FBE2-B017-4EB1-A1DB-B71D7BA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95764-1A97-4566-B108-2DAD473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80C2D-A47F-46B2-BFC2-F10FBA7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7DE48-35F9-42CB-94BD-B838BC99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C3CEB-4FBB-4050-AD4B-9F86C4E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BE1AF-ECE6-4599-9500-5715E4E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Devlore: device interrupt protection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63B97-4BF6-4893-B00B-ACE5BE7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D5F4C2-4661-40A6-8F28-A574DF1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91BE5-E3DF-41C3-B16B-30CBAC7E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27D7F-C6E8-4B4C-A5BD-712D7C89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36DC9-6822-415F-B69D-4A678CC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51EA0-17C6-45C6-97CC-19529BFD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C4708C-3D6A-4326-8D08-B549921B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DB0EB-1E36-44D2-997D-D9804541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3E402-3014-4497-9B94-C85CE0A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3FF902-BF5E-4541-9523-3B699BB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6D2C12-4DDA-4D63-A796-73500BB6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F453EA-FAC9-4C00-871A-36F9EF08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6D5D4-6A23-4AC5-B90E-8F18071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2FD90-ABE3-4746-A16F-020FACB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CB8499-4589-4219-9E6F-99AD58FC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来源：Devlore: device interrupt protection｜证据等级：E3 / 草案/未批准规范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7C4047-D2A4-45E2-9311-E3E9A95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5CCD5B-9FF2-450A-9AD2-05D63C6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F1FB34-25A2-4F8B-9566-1E8E8BB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FEF4DC-EF42-4D21-95B9-90F5808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实验结果  |  05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87906-CECE-4A93-9F66-BD6C40AE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087</a:t>
            </a:r>
          </a:p>
        </p:txBody>
      </p:sp>
    </p:spTree>
    <p:extLst>
      <p:ext uri="{BB962C8B-B14F-4D97-AF65-F5344CB8AC3E}">
        <p14:creationId xmlns:p14="http://schemas.microsoft.com/office/powerpoint/2010/main" val="745825508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9DD4FE-BA95-4BB3-A3D4-EECAB64C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BF177-8018-404F-AC47-CA964E2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9C023-E279-42FC-AD08-6D4AE220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0872D-8660-4A06-A88A-619DDD8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Devlore: device interrupt protection：文章评价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B40BF-1E42-4CF6-ABFE-39BFDAA2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C712A-BA3E-43F8-B8FD-77CC3CC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B6ACC-473B-40BD-BEA9-5E934F1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6DE10-B1A1-4522-A3FA-CF52E37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明确指出 interrupt 是 CCA device path 的核心安全面，不应只讨论 DMA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E76EC-5BA0-4BC4-A3F0-06BF1A1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6127A-55D6-4F9B-B983-3ACFFD03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CE570-3CD4-4E65-B15A-1E0A4E28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348F2-0E46-464E-9C3D-56A1091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24EA0-0D48-43D9-B403-79B3F125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设计优势：明确指出 interrupt 是 CCA device path 的核心安全面，不应只讨论 DMA。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1D1B2-3D29-4425-B596-236D7142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BB0D5-29CD-49FC-8FBD-ABC6115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局限性：Draft evidence，落地需硬件、firmware、OS、hypervisor 和 interrupt controller 协同。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98EFB-4EAE-4FE9-8757-399F39E5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FB67B-6F7C-44B2-B4BF-33343ED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商业化潜力：对云端直通设备和加速器租户隔离很关键；风险在 legacy 设备兼容和中断虚拟化复杂性。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B4DAC-E7B6-4EC2-9FAB-B36C625B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F8630-9788-4875-8A14-1B094708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证据边界：E3 / Draft-not-ratified；本地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7F73B-0975-4E82-90BA-02A9493D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478F3-3AD4-42B5-8A44-70FFB008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5CF35-8314-4948-9771-065F118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F680E-02CB-4C77-9851-3BDDA0C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3778C-F2CF-4250-8039-89440307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A6AE1-E2B8-4425-9453-A43CFC2A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09926-037B-41C3-962C-41AF6421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3F394-747C-446F-8754-99C3B6DD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明确指出 interrupt 是 CCA device path 的核心安全面，不应只讨论 DMA。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F026B-7AC3-445E-9C26-3D25E450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3072E-8295-48A6-90B0-2709D3DD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6D7C1-4E65-455A-A1D8-9746F1DC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Draft evidence，落地需硬件、firmware、OS、hypervisor 和 interrupt controller 协同。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ECF018-4134-4ED0-98D9-ABAAE32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7948F0-3991-4F5B-A14D-05E00D3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56082-2326-4196-90F5-31B58F55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对云端直通设备和加速器租户隔离很关键；风险在 legacy 设备兼容和中断虚拟化复杂性。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280308-1F0E-4CBF-9B4D-B80611A5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2F994-D483-4E66-B57D-65930259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6538F-B527-4661-B8AA-F9134025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0F7DB5-24E9-446C-9C58-C1F33F6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34F76A-3948-488D-839E-3598EF96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来源：Devlore: device interrupt protection｜证据等级：E3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34E60E-F46C-43EC-8BB4-C6BA11A5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F06F7-FFFD-4FD1-9F9E-C68B8F96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A7EE8-FBEB-4C06-A990-6642247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392511-FDA4-4EFE-87C8-5E38D82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文章评价  |  05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AA554E-8F28-4132-A521-C2D4141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088</a:t>
            </a:r>
          </a:p>
        </p:txBody>
      </p:sp>
    </p:spTree>
    <p:extLst>
      <p:ext uri="{BB962C8B-B14F-4D97-AF65-F5344CB8AC3E}">
        <p14:creationId xmlns:p14="http://schemas.microsoft.com/office/powerpoint/2010/main" val="1634332321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ACC35-819F-49DD-8520-A6DF9650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A7633-2051-4418-9562-67B30BBC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A4425-B5B0-4F56-BE5F-B54639F9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D5BD1-ED05-4D90-979C-4781AFCD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TEE SoK for CCA I/O：内容摘要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87A94-04C1-4D43-8E25-EC3F21DB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E58B8-F975-479B-9C41-4C71F8D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B6863-7931-4D4A-AA3B-D3C48E0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96529-4051-42D9-8B9F-30411CE2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 accelerator/device TEE 提供 taxonomy，帮助组织 GPU/NPU/DPU/SmartNIC 的身份、内存路径、runtime 与 attestation 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D1984-86DC-4396-A199-F252E04C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51F11-23B8-4F88-8B80-A1348F31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5FA93-E075-4D95-A574-F641A74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CA7C5-F4ED-4008-BF41-A8E3554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DAA8D-3D2C-4921-9A77-F14931B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 accelerator/device TEE 提供 taxonomy，帮助组织 GPU/NPU/DPU/SmartNIC 的身份、内存路径、runtime 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36A3E-733B-4213-821B-A5D8BD0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4A21B-1846-4F8F-94B2-F344C2A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SoK provides current taxonomy for device identity, memory paths, runtime...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6C6B2-6B46-4152-ACCC-45977CA1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D30AB-1C01-4007-94AC-43E95D8E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BBD3B-C655-4788-8298-E1288B1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37AE7-5EE7-4071-AA8F-0BCA293E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9ECDB-EC90-4944-AA82-3B103B0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E8206-2B54-4A71-8227-E6CCFD05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3475A-E182-425B-957E-993C63BF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EA035-5D07-4DF9-8E4A-47B4590A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CFCF3-82C5-4CF5-BC20-E5123596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5CE48-C8C2-46AB-A421-8AF1F282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180FDC-06B9-4D9C-837C-3DC41BA3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SoK/综述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B7C9C-DB3E-4DBD-87E5-D22D95B6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6CE5AA-B81C-4FAF-886A-886D2CF3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0A910-C012-4662-9624-2A1F116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D2E28A-CB89-45C7-8C49-E8D96500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35F60A-8AA1-48CE-8D7C-B7929DC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83F46F-4844-4F67-AD7E-8BBCA49B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439977-E3E6-4CBF-97D1-D8F9026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92268-86FD-4E0E-B0AF-765ED472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来源：Accelerator TEE SoK for CCA I/O｜证据等级：E2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9A5026-52B8-457F-907A-56D7D24A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CF7E6-57AC-4DEA-BB6F-19E53521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B1712-EF85-4B1E-AB3B-BD95C98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F8CA6-506F-4861-96C7-40DCAE21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内容摘要  |  05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1B49C1-D99A-4B67-8805-9073B805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089</a:t>
            </a:r>
          </a:p>
        </p:txBody>
      </p:sp>
    </p:spTree>
    <p:extLst>
      <p:ext uri="{BB962C8B-B14F-4D97-AF65-F5344CB8AC3E}">
        <p14:creationId xmlns:p14="http://schemas.microsoft.com/office/powerpoint/2010/main" val="1939307388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3FC85-E385-42BF-8AB2-60E73A97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97F79-2072-4055-A461-6F539DDA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1AD38-8CDB-41F4-8E34-1E3B8AB7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62598-34FA-40CD-9A6C-B90CDC38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TEE SoK for CCA I/O：研究背景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110B9-3212-4408-8E04-DB5F6FB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5F3D9-F897-4F92-A590-5960CD3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0D1BD-6912-47C1-9722-3C14764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51C0-1E84-451C-9AB3-D612266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设备 TEE 机制比 CPU TEE 更分散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1762F-0AE9-4E55-8488-92A58FD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B40EF-F8DD-4FA4-A64B-4D613DA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0D544-FE2A-4363-B752-46921A5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F5C02-60E6-43D6-B7A5-64424C33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35F0B-6FE0-4179-8CBD-8D10FEB3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设备 TEE 机制比 CPU TEE 更分散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1D370-F96D-4795-8A19-F9E85CD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78B3C-D4B2-4121-B637-CF5F77AA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不同 accelerator 的队列、固件、驱动和本地 root 差异很大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0EFA3-01E4-45B5-BED4-909E96D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11942-F981-4807-B338-A293C85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A09D8-757C-4F65-83CB-B185CA74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5A119-C81E-4371-B720-DBA1E89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3CC0C-99F7-4AAD-ADF6-BAC59A9F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F167F-A253-4C99-8386-B4A8C4A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075BB-9503-4F9B-9003-1E88B255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3863E-054C-4E93-984A-37ACCCD1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Arm CCA I/O、DMA、accelerator、interrupt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DBA37-47DB-44FA-B7DB-53FDB16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015A6-B6D9-4336-BBD9-F2401FD6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81B83-2818-41F9-9BD9-56A41B52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把设备访问、DMA、interrupt ownership 与 accelerator workflowow 纳入 CCA 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7A542-C3C5-42E1-82B7-A82D0E4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D2B04-8D04-477E-AE49-F17E3705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9E007-D8D0-4538-8A20-B5A9EAC0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TEE SoK for CCA I/O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75C966-E271-42EC-8402-6489746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A8118-EF72-4887-968E-F71E6483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E7B001-F845-4041-B1A3-F0D0C3D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05872-951B-4938-96D7-B699926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5C139-EEF7-4B35-A876-A04BF61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来源：Accelerator TEE SoK for CCA I/O｜证据等级：E2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81874A-6CED-4A96-BB1F-E937BCE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48A14D-F4EA-4D3B-9ABF-560AF8B2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BBD5CC-C1FD-43A0-A877-F65C9E5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DF28F-33EB-44B8-98B3-45E9E2D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研究背景  |  05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741A3D-88AB-4437-9F37-BCF04C92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090</a:t>
            </a:r>
          </a:p>
        </p:txBody>
      </p:sp>
    </p:spTree>
    <p:extLst>
      <p:ext uri="{BB962C8B-B14F-4D97-AF65-F5344CB8AC3E}">
        <p14:creationId xmlns:p14="http://schemas.microsoft.com/office/powerpoint/2010/main" val="1621653987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49D72-C4D3-4706-A2E2-CD88E81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B6F95-D2D6-4605-8EA7-31A44AC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84083-2857-4471-B718-2C8E3743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CD2A4-5217-49E5-84D5-9E86018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TEE SoK for CCA I/O：解决方案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0C8E4-DA5F-469E-B321-B803E8A8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F7566-90ED-49C2-B839-9D5D4056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264B9-6236-4569-9402-B773447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F194A-BE53-4C94-A2E3-91A03D6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taxonomy 区分设备身份、内存路径、队列、runtime、driver TCB 与 attestation，作为 CCA I/O 方向的。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C5E67-B5A0-4269-BFBC-BC7218A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B5B56-0EBB-492A-B2B0-4C02FFD5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5B0A3-15C7-4DA5-B580-2078BAE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9E484-6D80-4AE9-B5CB-5C84056C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32E1C-C8A0-45E5-B607-997F7595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taxonomy 区分设备身份、内存路径、队列、runtime、driver TCB 与 attestation，作为 CCA I/O 方向的背景基底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0D17B-6A54-47B6-B686-D25ADE7E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D67B7-6030-4EB8-9538-173CB4AE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BB4F7-D3A8-48A4-96D6-EF38EF2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0A820-CF60-47A2-8003-197C950A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1615E-94FF-4554-93FE-010F1C4C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0343D-AD5E-44D1-A7F8-214881D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Accelerator/device TEE design taxonomy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6E752-ED2F-45D3-B344-A1F09A9F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127024-3914-4A63-9968-9554094B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C6F69-2E19-4948-96E1-1264D2BC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15687-F3FF-4F13-997B-8A9CB2DC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identity and attestation vocabulary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201F7-A58D-421D-9CC4-5991D717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38289-20F2-40DF-BDC1-C4771898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96B9F-6E41-4D5D-989C-9323490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F67A1-9873-40AD-807C-EE7810A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Memory, queue, runtime and driver TCB dimensions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6920DF-BB22-4C65-A571-821CFD9F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3ED06-3762-4007-8F3D-F7082F0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来源：Accelerator TEE SoK for CCA I/O｜证据等级：E2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D650F-F210-42DC-A26C-832DA86F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FD504-A77C-47B8-B865-0684084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B3EDC5-F677-4855-97E7-06761F25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F51A0-F94E-4115-8951-B53EC172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解决方案  |  05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5A216-E79D-4078-B630-65BCDC8A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091</a:t>
            </a:r>
          </a:p>
        </p:txBody>
      </p:sp>
    </p:spTree>
    <p:extLst>
      <p:ext uri="{BB962C8B-B14F-4D97-AF65-F5344CB8AC3E}">
        <p14:creationId xmlns:p14="http://schemas.microsoft.com/office/powerpoint/2010/main" val="976187729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0E50E-8B99-491B-9010-52DD1684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960B-8114-4931-BF5D-EC6BD12D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0BA87-D5D6-44DE-9C72-590A9CAA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D13D1-5ED8-4271-BD3C-F4A08264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TEE SoK for CCA I/O：实验结果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59662-035C-427B-9ED1-96E444AB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60721-1CA6-4500-8DCE-5CAD63B8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27A61-58D5-4154-9F83-C369BAA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408B6-7DF4-4990-B92A-8E7A318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规范/Survey，无新实验；Accelerator TEE SoK for CCA I/O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C1EB3-217B-403C-A6ED-7F38053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00B14-4277-4951-90B1-6B8CAD2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1D05D-41C1-4B17-8CF6-DED7B4B0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7C583-D174-4F0C-9CCE-271BA1B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EE1F-D2F0-41FB-9659-EDCAB720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2FE34-2D71-4977-9718-5AF61954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0A1B9-FB4E-4932-BD9F-E75F04E0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可支撑：Accelerator TEE SoK provides current taxonomy for device identity, memory paths...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34459-6A43-4ADB-8EA4-721D04D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2C9BD-6E70-4FB7-AD08-07011E5C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证据等级：E2 / Background substrate；来源状态：本地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966F4-7416-49E7-81CC-9210922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645B8-CCE2-43ED-8412-6B6D85B4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BA00C-E3B0-4988-84EE-F704E2DB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2D326-8166-4B60-B2F6-8DA2608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A7C27-1DCD-469A-B577-B4434E5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149BF-8CDE-44C5-8722-29CF014A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577C5-B77C-4F57-9015-5FFA2D53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7E6D4-1519-46CC-9692-12E77A0A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C0152-8C3C-49D4-9992-AF839FD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796D7-51C5-4977-88A8-91E947D0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42E6C-1788-46E0-A576-10321C7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TEE SoK for CCA I/O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0C745-F62E-46BE-AC5C-66A3F379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B498D7-347C-4FDC-BEC4-D37C3AE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883C6-93B5-4822-82E4-AE0EA0B8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B0B28-3ED2-432A-8B5E-1B8A6EF9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B69E50-3B5C-455F-A25C-2663AA8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40E3D9-46A1-4845-A990-7B9CC99A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CEED9E-CC44-4902-B1F1-8D1BACE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E49293-9812-45A7-8BD3-625B2368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F48FC6-F9A4-402B-A7A8-ABC6A4FC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6C8ACB-684D-4045-AC42-6DC423A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2E5B3-2E14-4D94-A38A-90DDC141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2291B9-0909-4BBA-A578-70CF4229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5AF25E-6E1F-4E14-AC45-47F48061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7C956F-B010-45F7-AACE-D18A9AE4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33E3EE-2ECD-4191-BCEF-A5C108B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来源：Accelerator TEE SoK for CCA I/O｜证据等级：E2 / Background substrate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7DBB93-1B83-41B3-B03A-74061448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4830CE-236F-4104-85CA-C74F5C8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71FF76-056C-4F66-8B62-CC6F36D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B777C4-DD34-451F-BAC0-FB530B91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实验结果  |  05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C684A3-1F29-4F4C-BC11-ADA491C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092</a:t>
            </a:r>
          </a:p>
        </p:txBody>
      </p:sp>
    </p:spTree>
    <p:extLst>
      <p:ext uri="{BB962C8B-B14F-4D97-AF65-F5344CB8AC3E}">
        <p14:creationId xmlns:p14="http://schemas.microsoft.com/office/powerpoint/2010/main" val="1252100639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0AF0A-26EE-4D3C-829D-8B34D3FF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7CCA8-EC0D-4DD6-AC8A-1AC97CB7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1A37F-474D-434F-A726-9BD241D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689C4-9CC7-4493-ACF7-64613AF1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TEE SoK for CCA I/O：文章评价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79F26-EEA0-4BDC-B6FF-FD59DF25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8B8B5-5A35-4EE4-8E3A-72E18FD4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A7BC7-FF1B-4712-9619-E062AC59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1092-A598-48EB-A0A8-1768721B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评价：Accelerator TEE SoK for CCA I/O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D173C-0016-4C03-A3BE-FCFEBE72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5A963-05AD-4746-A3BC-06C0D77F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23BEE-B6DB-4A26-A852-B8C7BA4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F4935-232A-42C7-802F-B6EF16E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484C1-2C93-4D2B-A11F-49BF2C9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设计优势：能把 accelerator TEE 设计空间系统化，避免只围绕 CPU Realm 叙事。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E2202-B936-44A3-9950-72ACB35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F5709-E4D4-4153-A6B7-8D10CB5A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局限性：不是 Arm CCA 专用机制证据，也不是某个设备的生产部署证明。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FDCE9-BB63-4BEB-9F6D-38ABC3A4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D6A59-3F7B-49F1-AFAF-FDD0E0C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商业化潜力：有助于产品需求拆解和 vendor 对标；风险在 taxonomy 与具体硬件能力之间仍需二次验证。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CD17C-A7BB-4224-91CF-4885812B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5A7DB-9366-4022-A4E3-90F3FFAC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EEDB7-E3C0-4C54-9FDC-EB292D99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763A0-E48D-4F9F-8C02-67D9413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2DA6B-171F-4D5B-B076-A1A7A522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14A32-1A26-48F8-81C7-45F385E9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17F7D-7095-4271-AE93-77A93F6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FF48A-DB81-4C0B-8539-B3038B72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849A6-679D-430C-AE0A-9A88DD66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94095-FFE7-44ED-8689-EAAEE8E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能把 accelerator TEE 设计空间系统化，避免只围绕 CPU Realm 叙事。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8FFF9-D004-471D-9892-BF5A9DD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5B3806-4882-4C66-BD19-F2ADAAE1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E2038-D3E2-41B3-B1AA-1E5298C8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 Arm CCA 专用机制证据，也不是某个设备的生产部署证明。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4BCD9A-2B8E-4CB3-9925-BF5B8C2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3A29C-1E3D-4CBC-84A8-F71F65C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98C90B-9E71-4353-A8ED-7F4A823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有助于产品需求拆解和 vendor 对标；风险在 taxonomy 与具体硬件能力之间仍需二次验证。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21BAE1-BEF3-44F0-A2F6-EF44C9C2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211706-6DE3-4234-8E4A-4E62326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CB594D-BE28-4CB6-B390-859B7F5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E3BDA-3FDE-489A-B9C3-FEA953A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36B917-D6CD-4122-8418-D17D7FA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来源：Accelerator TEE SoK for CCA I/O｜证据等级：E2 / Background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B5F601-2C21-4862-B775-D0D1025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4CC882-C8D6-4AFA-88BF-07966873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9D6D7-8A7A-4700-94EE-79A7734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C7223D-1F20-4F19-BA09-67FE3EAB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文章评价  |  05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61A1A3-0F58-4BE7-AC20-1BB6C558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093</a:t>
            </a:r>
          </a:p>
        </p:txBody>
      </p:sp>
    </p:spTree>
    <p:extLst>
      <p:ext uri="{BB962C8B-B14F-4D97-AF65-F5344CB8AC3E}">
        <p14:creationId xmlns:p14="http://schemas.microsoft.com/office/powerpoint/2010/main" val="2116308508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504ED-CB38-4D8C-8BB9-F42FEFB2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B3F64-4F4D-4625-B52A-9D20C66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0E855-38BC-4BF1-8970-79442B7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DA470-AE21-48A5-9910-D6C8446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Arm CCA I/O、DMA、accelerator、interrupt：方向总结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52FAE-3C72-407F-8F35-EB22E51A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9EC39-784A-45E4-855C-6B5389D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C9379-0FBA-4103-BB39-376E91AD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CE7A9-BB89-47E8-BA7B-D793C6D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I/O、DMA、accelerator、interrupt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6D8B6-7D3D-4E6C-9456-CF4817EA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65528-6BD6-4C0C-AC1E-FBD5DE00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1368D-714B-4BA3-9B6C-A9C7AD13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5CDDA-2AF4-4236-AA81-CD45026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51FB-30FF-43C5-A00C-D5CE1DB5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ACAI: CCA accelerator execution：开创/基础入口，E3 / 草案/未批准规范。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9CE25-AC13-44B5-A50B-13F1372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A4336-2323-49D4-A9A8-D2C8891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Devlore: device interrupt protection：代表性改进，E3 / 草案/未批准规范。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3538A-345E-419F-9CBA-6572070D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70DE3-A1B2-44AE-A7F0-DD534368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SoK for CCA I/O：当前 SOTA/补充边界，E2 / Background substrate。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6D9BF-472D-4971-BE39-4D24837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4C7B4-2836-4718-B4CC-A2B1244D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C5526-16E3-4420-A4D4-12699C97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4E85E-A850-4E98-9D1D-429C5F02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19BB5-0E3F-4061-AB69-2BD4CDF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D937C-F26E-49D8-93D9-18E76D9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A8345-F902-4546-A6E2-A1865C0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BCC36-D903-4D86-B4AE-54A265DF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E02AA3-C4B7-4A3F-ACA0-B814C91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BACBE-4DD6-4DA7-957B-B6F9CD0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ACAI: CCA accelerator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8F482-7C5B-4E26-B248-FD62912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41A70-7F63-458C-9110-52EE360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ACAI is the early design point for extending Arm CCA toward accelerator...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D3898-0209-4E2B-862C-97F4173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A5204-6308-4F9F-B94B-F96A365C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Devlore: device interrupt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B91D10-AC18-408B-98DE-B924064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EAFAC-9DEB-4F75-9BF0-E89CA18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Devlore is a recent draft on device interrupt protection for...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90E651-9F25-41F0-A6EA-D7917D9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EC936A-A28E-4EF3-9D47-85B3999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TEE SoK for CCA I/O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C2517-10D2-42E3-9D26-C0359FA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CB453-8100-4489-A501-F179F824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TEE SoK provides current taxonomy for device identity...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4EFDE-5FDF-4C85-A924-E9576893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42652D-8A8F-41AB-A06D-731B418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310C8-2A7D-42B1-BC62-85903081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C44AA5-309B-4ECF-9BFD-8BE2FA9A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50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5F3647-23C0-4F22-A33F-3B07FCB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E4B4DD-6466-456D-9488-78A1E47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Arm CCA I/O、DMA、accelerator、interrupt | 方向总结  |  05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BB0901-FB35-469B-B42B-F9159610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094</a:t>
            </a:r>
          </a:p>
        </p:txBody>
      </p:sp>
    </p:spTree>
    <p:extLst>
      <p:ext uri="{BB962C8B-B14F-4D97-AF65-F5344CB8AC3E}">
        <p14:creationId xmlns:p14="http://schemas.microsoft.com/office/powerpoint/2010/main" val="439840093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9785C-EDF6-4104-8891-D086840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CB619-9990-41A7-8E56-CEA26AC7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35C93-A02A-45B8-8920-255DA94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183AC-6D43-45DE-B722-C03B4D31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3B306-139A-4CB6-BF60-7009695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Attestation、boot、lifecycle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19FB6-DDA2-4133-BF2B-0DD5675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区分 secure boot、launch attestation、runtime/control-flow evidence、evidence profile 与 verifier policy。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3CE96-834B-4A3F-A126-99F6E8F4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7BE88-B282-459A-8CA9-634836C9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E5433-8D0D-4ACE-A6EA-8B198E97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SWATT: 软件 attestation 早期代表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FCCD5-13A3-4ADA-99A1-8D818D92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1C974-1923-4367-9C98-94D12449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7A892-B45A-45EE-9905-0CD09284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0654E-7F08-4A81-B9E2-5352909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360B6-1ABA-4234-9A0D-FA6722AD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5E2D2-B195-459F-9857-C40E55EB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VRASED verified RA co-design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E66E7-BB86-4E5F-9AA2-891C14D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C0F9D-74EC-49A2-ABD1-153DE54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50217-4655-43D7-980D-7FB0D431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14BA2-8910-401D-94A2-5B9A141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E5742-1A20-4181-86FD-076E902C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Attestation、boot、lifecycle  |  06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8A9D6-59D1-4084-88EA-96E1760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095</a:t>
            </a:r>
          </a:p>
        </p:txBody>
      </p:sp>
    </p:spTree>
    <p:extLst>
      <p:ext uri="{BB962C8B-B14F-4D97-AF65-F5344CB8AC3E}">
        <p14:creationId xmlns:p14="http://schemas.microsoft.com/office/powerpoint/2010/main" val="1930096941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D36ED3-0B90-4F76-80CF-CD1BAC32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FC749-8C05-40DE-B4B4-109232D3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00F5C-2FDD-41DB-B454-50FD3E6E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0A04A-1AB0-41FE-9CC1-EC5922B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Attestation、boot、lifecycle：方向开场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27C34-0A3C-4232-B9BC-28F11A48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5BD3D-7076-4F31-A909-8F429F1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F9410-53C3-4F81-AE62-EE0015A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CA51A-46ED-42AF-B9E7-50EB3AF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Attestation、boot、lifecycle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992F2-5137-4448-94DD-6386757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38D68-8576-44C5-9D9A-E13C982B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B2326-FBAA-4269-AF5C-6B5727D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8F2B1-2259-4837-B218-AD3EBA61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7D69D-26C6-4068-ABFE-88BBF601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区分 secure boot、launch attestation、runtime/control-flow evidence、evidence profile 与 verifier policy。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6D131-8CC2-40B7-9A55-DF330BFE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290ED-C84B-4786-84E7-77034572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固定三篇主讲材料；`rats_rfc` 主讲 attestation architecture，`eat_rfc` 作为 token-format auxiliary；C-FLAT/LO-FAT/PDRIMA 作为 runtime-attestation lineage auxiliary。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50631-7BCB-4DA1-A82E-AB26FA4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9B104-6943-4A84-BE25-75EFBA4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613E0-569A-4AC9-9250-CBD425DF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3054E-517F-4D2D-BB90-F70DD34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EC799-748A-4A89-BE98-6CA90990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A30BD-83A6-476E-9AD4-3F9D7EC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DC179-E9A7-463D-9785-82A406B6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37587-4684-4F35-813F-B8971BB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48AD0-058A-47CD-A911-07E970B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998EF-55CB-4730-B0E1-62250511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8D4EF-7578-490B-AFAD-00E393D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48E93-5609-4583-918C-579948A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SWATT: 软件 attestation 早期代表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F4C26-9076-4E22-9F07-C94138F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9AD8B-D6D5-4C11-9456-6C98CC38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1D1CE-3B11-4CB4-9FEA-DEFA162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ECECD7-F9EA-4874-BBB2-4FF5EA10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架构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023F5-DFA9-4AF0-9D23-959597E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61A69B-66BB-412C-BC46-155152D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2E1937-1B23-41FB-B990-C17D2508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6EB8FB-9A5A-4948-8977-1ACB0F16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VRASED verified RA co-design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7564BE-DA14-4675-973B-90AE744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0DCB85-01EC-496B-8B31-69140DF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C7D97-161F-4027-8F2C-BB695830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A97AB1-33CA-4660-B3DE-8BBF34F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73AD9-0089-47A0-84AF-C86683B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D5823F-72A9-4CE0-9AC5-AA84699D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4C30BE-C63E-451F-923A-2FF66D15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A7BEB-4483-4281-8838-8FC89D65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方向开场  |  06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949105-B5F9-4BD0-8E6D-42788461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096</a:t>
            </a:r>
          </a:p>
        </p:txBody>
      </p:sp>
    </p:spTree>
    <p:extLst>
      <p:ext uri="{BB962C8B-B14F-4D97-AF65-F5344CB8AC3E}">
        <p14:creationId xmlns:p14="http://schemas.microsoft.com/office/powerpoint/2010/main" val="92019160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792241-8D4F-454E-97FA-E53E5C8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70B13-393D-4216-921B-6BF4785A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4BD1E-03DC-4CDC-940F-66739EB4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11C90-2EA3-418D-B8B1-D33EE1F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SWATT: 软件 attestation 早期代表：内容摘要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6DB5F-7C3A-49B9-A4E1-75FB81E1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62C11-C395-4CA6-8B6A-A7D6848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FC6E2-AE25-4FB8-8DBC-BCED3C6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10881-C9B4-4166-BDB9-A4796FF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提出软件 attestation 的早期代表方法，用 timing-sensitive checksum 让远程 verifier 检查设备内存内容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4B6F-63D4-4E14-BB79-1FAF7715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0BD54-D3EE-48C5-A393-0A4FF34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441E0-6D3F-4B39-B671-F4F4A5B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0C4F-1E21-48D8-AF90-F2B87631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05C16-615E-46A8-8ADC-FEE045FB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提出软件 attestation 的早期代表方法，用 timing-sensitive checksum 让远程 verifier 检查设备内存内容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0DAFF-737D-49C7-A5C2-F8E5F0F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079E7-9727-46CF-B700-3762B95C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SWATT is the classic starting point for remote software attestation problem framing.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8F6D4-5472-4A4F-B435-257C1E2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0CCC4-E9DD-4BE3-8AB2-D0F9BF8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BD7F9-D089-4B60-BCA1-B8E607A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817F4-103D-413C-B119-B7F395EC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388D0-A216-4B83-9F6E-09F2AD7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99805-D53A-4136-8C6B-94B5E25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8462A-67A5-4B38-958B-34D18AD4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FCE93-90C7-4B94-A482-2E71DD0E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7101D-6520-46C7-B4E6-9F0894A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75E1A-38D3-41D0-9CB4-9252A19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354C3-50EC-488B-9423-AB7075E0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68E86-56A0-4307-A45B-0A0BE95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45484-244F-470E-A34B-C642FADA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1C3A4-5B47-4598-84BA-CA10070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442ADF-EDAD-460D-919B-F640EB31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B0B5C-DC48-42DD-8AA6-65DFF65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FDDC3-BF15-4544-B740-089DE753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738BF-78F8-47BD-8DE9-1C45C76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4291D7-49D5-45FC-B516-38B4F57E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来源：SWATT: 软件 attestation 早期代表｜证据等级：E1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6A6573-DC6C-43B5-A2B6-7B206C8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E20F5-A83E-43ED-A822-94613A5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A1A16-85B0-4440-84FE-E83C325B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4F2DA-5886-4750-83B6-B36F14D4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内容摘要  |  06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2CEFB-7615-415B-89A3-44DE48D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097</a:t>
            </a:r>
          </a:p>
        </p:txBody>
      </p:sp>
    </p:spTree>
    <p:extLst>
      <p:ext uri="{BB962C8B-B14F-4D97-AF65-F5344CB8AC3E}">
        <p14:creationId xmlns:p14="http://schemas.microsoft.com/office/powerpoint/2010/main" val="957837982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24194-146B-44FF-BD79-7BFDF44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8E663-1219-4A32-A20A-525F14A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4BBBB-0640-4F2C-998A-59B2DD68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3ED24-67C2-4CB1-A853-0AFB224B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SWATT: 软件 attestation 早期代表：研究背景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C313A-C85B-4CDC-B73F-BE35D09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D56FA-186A-45A0-877A-266A3DC6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52D1E-CDCA-4CF6-A547-349C6913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DD5F8-1761-463A-A7C6-F5BF57B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低端嵌入式设备缺少硬件 root of trust，但仍需要远程确认代码完整性和启动状态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CF92C-446F-45BD-8324-755475D5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A5134-50D5-4E56-A015-DC0F6D5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A6BD5-10DE-4D2F-BE96-0A5E587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2BE6E-76AE-4E4B-8B75-009DB9F4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9F20B-ABB4-4DAC-8F20-154089BA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低端嵌入式设备缺少硬件 root of trust，但仍需要远程确认代码完整性和启动状态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E4BA5-6447-40ED-8A78-F07BDF10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0D0B8-DFE3-403B-A5C5-ED14DE7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ACD67-1F46-48CF-BEB3-F53A6B5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FEE8A-C221-4109-9CBF-2DEABDFF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25F65-1550-493C-803C-6B9B2DBD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C52D0-683F-4440-B233-2C450884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33F49-0CB7-4E4F-84F8-DB977E17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79FF9-ECE0-49CF-931A-C4D2E081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Attestation、boot、lifecycle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86B78-9BC9-48B3-B3FD-C812C33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B39F2-09EF-469B-965C-E4D2425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CFAB0-0DC5-43F6-93C3-5812D525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区分 secure boot、launch attestation、runtime/control-flow evidence...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72296-D336-4659-B71E-403C9C7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2C4F1-DEE8-4EE5-B14F-225291BD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F861F-7D0B-4074-844D-4D2FF5D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SWATT: 软件 attestation 早期代表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55068-7164-4CE7-95FA-8E322193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66976-6C44-4DC9-8C62-5161495C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03BD9A-C010-4DC4-B724-76DC83CD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5488E4-47F5-4842-95D4-125B7EBD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D67C53-8ADC-42E2-809D-28F6F657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来源：SWATT: 软件 attestation 早期代表｜证据等级：E1 / 基础证据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B9DCC-3290-4C5C-82C5-953B15C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5A15B5-89C3-45FD-9720-F78806D3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2E099-9F69-453C-A932-99613B9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28ADD-E1D8-4394-B171-94AD1037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研究背景  |  06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43510A-768F-408E-98C6-BC91ACF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098</a:t>
            </a:r>
          </a:p>
        </p:txBody>
      </p:sp>
    </p:spTree>
    <p:extLst>
      <p:ext uri="{BB962C8B-B14F-4D97-AF65-F5344CB8AC3E}">
        <p14:creationId xmlns:p14="http://schemas.microsoft.com/office/powerpoint/2010/main" val="561230905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69748-DD1E-43B1-AF10-98A8A07F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AE929-F6C9-4B14-801F-4109A201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DE6C9-1498-40B3-B96D-F337F03D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96133-7B2A-4386-8390-C97E095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SWATT: 软件 attestation 早期代表：解决方案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37DB-FD8F-4077-9340-C773EB6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35695-6A34-481E-AAFA-B54FBF2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D6F66-9627-4C08-8AD2-9E27A9B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92FDE-6BA9-4178-BB0E-2795538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用严格时间假设约束 prover 计算能力，使篡改设备难以伪造完整内存 checksum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50C2D-5F01-4928-8AC9-BEA28DED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5ECBB-4CCD-4CBA-ADC2-00657678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CFE6C-3E74-4312-AF35-7978531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F05B2-5769-44A6-B13F-A433CC9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0CCD3-A822-4FC9-833B-ED141E54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用严格时间假设约束 prover 计算能力，使篡改设备难以伪造完整内存 checksum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D61A8-522F-4B51-B5C2-8D8AAAD6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E67EA-019A-48D1-84E8-A96B7BA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4FDD4-0B1F-4138-9890-B4B9F6E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B3605-5A4B-4978-B414-2D071F2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BCD3A-3C75-45C3-9B71-6B42DB1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42EDF-10B5-4A83-AE8A-3592E72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Software-only remote attestation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11070-D7C5-4361-94D5-83092E2A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EB583-4046-4A6C-B1C4-700554F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C2EC5-97A5-462B-96BB-B039C2F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DFD74-092D-4741-B1A5-53B32DFE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Timing-sensitive memory checksum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E104F-E37A-4AD4-A932-CB31572D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BDB5A-E0E2-4E2D-B917-6F029CE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C968D-DEFE-40B5-B010-EC8737D3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D5896-7A19-4985-BE00-7FCB2AD2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Verifier/prover challenge-response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7DD3DE-6737-4E40-9CA0-F8B8785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11E6AE-2E23-4DFB-9F4A-C2724F05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来源：SWATT: 软件 attestation 早期代表｜证据等级：E1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210B4-7D51-4B69-9080-497868B5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58D92-2A31-4618-8F41-33A1DED4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382EC-F0FA-4156-9A0F-F981DC5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D8808A-ABB1-4451-9010-77DB052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解决方案  |  06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F0B4A-24F2-4B97-A5CC-EF722D5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099</a:t>
            </a:r>
          </a:p>
        </p:txBody>
      </p:sp>
    </p:spTree>
    <p:extLst>
      <p:ext uri="{BB962C8B-B14F-4D97-AF65-F5344CB8AC3E}">
        <p14:creationId xmlns:p14="http://schemas.microsoft.com/office/powerpoint/2010/main" val="1194056638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8D521-3A80-41F0-B304-29B81EA3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54D35-F173-4482-8723-3627D2D2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E121C-E7DC-486E-8AE2-29A1C42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5BFA3-0CE2-4F4F-889F-CB473704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SWATT: 软件 attestation 早期代表：实验结果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F052D-063E-4A1E-BC4C-0D361267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394D6-52E9-4896-B78D-26384AF8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9D5D3-8D0E-4D65-B684-57E86D6E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8C843-D297-4D4B-843E-26E00DA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论文在嵌入式节点场景评估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EADED-EF47-4416-87F2-09A2096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26AA-A100-423B-BF3C-78BBCD08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367BA-C3B1-4B2B-A087-8DD3715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FB482-D509-41DE-A78D-9A4A43B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A7BAD-6D8B-41AE-A0FE-E5CA7A73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论文在嵌入式节点场景评估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5D657-AF9B-488C-978C-6AE9AC3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1FA91-8510-47D4-9D53-C499E752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安全性强依赖 timing、硬件和网络假设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79894-4433-45F5-8D14-E37717ED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7661B-E1D2-4D0D-9071-6638A51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7C402-817D-4DBE-A1AF-38E08EE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2C6EA-F4C1-4D75-9495-2272BF22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72C69-16D4-4A07-9B36-0C239983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E4ECE-B65C-47F0-AF2F-6C67F98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AAEDA-A8AD-4EA6-A1C2-F59A293F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178C9-CB45-4998-AA59-152F9B4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10477-56A9-436D-BAA8-86AE754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SWATT: 软件 attestation 早期代表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3A8F0-23D5-44AE-BCE5-2F51BBA5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38A51-D354-40AB-947C-B7B3C35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289BB-3F18-4764-8625-8F1436E7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5F625-8132-4D89-B405-EC44132B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8EC49-A62C-433D-9AC4-7C9DCCD9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ED9EB-3E72-46B8-897F-82C022C6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3A8A8-B9F2-46AE-949C-2F8AC62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5FC0CD-BD98-44D8-AFE5-0D4BC51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36264-536C-4D17-85DC-13DC134A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089BC6-1553-4BF9-B317-25EE88E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018072-0D06-49CC-B508-FA481EBD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FBF155-CA0E-47B4-9A07-FA720B72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2E319-9347-4BE7-BD95-EE24E66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A0FDE4-6996-4B81-A3BF-86858B1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8B6A72-7591-4AFE-B333-FA0214DF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来源：SWATT: 软件 attestation 早期代表｜证据等级：E1 / 基础证据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EA4E63-EE1D-4C02-AA82-81087B1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672F92-A28E-49BE-9151-32DCBBE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7A643E-AD42-4587-A4B6-2C170F3F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590E9D-CC1A-469F-AD2D-03B8940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实验结果  |  06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7A3A59-991F-4CA2-8907-01136445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62993915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1D6CB-0E91-48CA-A909-2B65884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B26F6-216D-4F77-814A-275A2D3C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EF46A-CF57-4643-9F1C-37ACE3AB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B097D-74A8-469D-B2F2-F0E1763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SWATT: 软件 attestation 早期代表：文章评价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0D1C1-B948-4AFB-8C47-A3F0A226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214CF-1508-453E-AF21-8D86C97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954DC-77BE-4586-BCC5-2FF3A7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F9FD1-6A28-4133-B2BD-97118C1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历史价值高，能解释 attestation 从软件测量走向硬件 RoT 的动因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959B2-19C6-4B0A-9681-FE34DE0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AFCF8-5F45-4972-B639-EC5AC28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4EF6B-98B9-4B1B-8546-256364D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34034-FBFD-418F-8125-FB43695D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FB012-CB2F-47AA-977C-F81F3D1C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设计优势：历史价值高，能解释 attestation 从软件测量走向硬件 RoT 的动因。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7C1B3-1831-464A-91F6-2C643C3A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6F8AF-42E2-47F3-9FE2-13E8ACE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局限性：面对现代强对手和复杂 SoC/TEE 时适用性有限。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FCEE-DFDE-49EE-83E7-6E6C9B7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2CADA-0D4B-4029-9888-712EBD9A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商业化潜力：现代商业方案应转向硬件 RoT、标准化 evidence 和 verifier policy；SWATT 主要作为历史基线。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85D02-4B1B-4F05-8D65-95BBB6F6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14B8D-247D-4C9B-946F-6C18274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Foundational；本地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AF574-93DF-4379-878E-5CCDA04A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3714E-45C5-46F5-A0B1-F580F0A8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02571-3D20-4CE9-A4CD-4B18B40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05622-F022-4F96-AA0A-418CF529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CCF71-8876-49F0-85C5-FC2C7868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E83FF-D9DC-4826-9DE1-086FC0E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5222B-EDE8-4395-B9E0-5785DFF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CBD60-0722-4F4E-AAC5-5B76BA26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历史价值高，能解释 attestation 从软件测量走向硬件 RoT 的动因。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6D73F-9A3A-4472-AD98-03098956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37E91-D306-49CB-8743-BAC5597E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1483C-E2DB-47E9-B11A-A121AF53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面对现代强对手和复杂 SoC/TEE 时适用性有限。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7ADEE-A06D-4247-9F59-03A5798A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E042D-EEC1-4875-B496-68A378F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5397E4-2CC9-48DA-8DB5-35CD5D4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现代商业方案应转向硬件 RoT、标准化 evidence 和 verifier policy；SWATT 主要作为历史基线。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D6C1FC-A0CA-423A-A1B0-2692C9E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15EB2-4B91-4CE2-9821-C357A8C5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A4A2F-E908-4963-B9FC-C319D999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47317C-6B1D-4F2B-8482-E6B42489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E4D8F8-54D1-4316-86C4-A6AEEBA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来源：SWATT: 软件 attestation 早期代表｜证据等级：E1 / 基础证据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B9716A-3C46-45BC-B0C4-F4AE3B4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0637CC-D4BD-4986-A85E-A736035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DCF631-0290-4E9C-AD7A-6509681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8FEBB4-2D4A-44D2-8829-ECB3EAE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文章评价  |  06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F63422-B3E4-4A5A-810E-62F0D2D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</p:spTree>
    <p:extLst>
      <p:ext uri="{BB962C8B-B14F-4D97-AF65-F5344CB8AC3E}">
        <p14:creationId xmlns:p14="http://schemas.microsoft.com/office/powerpoint/2010/main" val="881985999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CC03B-ADE0-4EEA-BAD0-D07A26EE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342B-CE25-4F7C-8D79-33E6208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41DB-4B77-40EC-935B-C7B22E21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BABCE-1D09-4D5D-958A-FA0E0528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RATS 架构：内容摘要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C410A-0D71-40F2-879C-420B75E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ABC87-5045-4D49-8EE0-B23708C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B5B6B-C1A8-49D2-BAB0-ACA895B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32F80-7EA2-4DEB-8389-343EFDA9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attester、verifier、relying party、evidence、endorsements、reference values、attestation results 和 appraisal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DCED1-DC38-4097-A20F-5BF3DEFE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455F7-BE97-4C0C-BC6B-52F0AA4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A832A-C9A7-436E-8D64-4AAA9169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61509-819D-4995-9613-4A1D2CA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C8157-64E8-47CC-8A05-8BBBD253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attester、verifier、relying party、evidence、endorsements、reference values、attestation...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F5E93-87FD-4136-9151-232CDDC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089DD-9C48-40DB-AD1F-F973AD62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RFC 9334 defines the current RATS architecture for cross-TEE remote attestation.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06081-6DB2-4240-A5E8-308BAC1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EB500-94DC-4DB9-BEAE-C943E18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38675-57ED-4BFB-A27A-95043546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8E7D1-6967-427F-974D-5EA0E86D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610B2-77B8-44EC-9B54-4278276F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49B41-4F03-40FB-8EA2-0BD2A67E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495A0-136B-42AB-AF03-CDA15DE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1DBF5-D38B-4B29-91C9-938B2DBA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2C262-4D9E-4FE1-8250-C38BF95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A3247-4D28-4D6B-9115-DBEC5F3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DE8CA-F83F-453A-B330-46FF2066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4A1F9-1879-40E7-8BF4-26671F06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18CE4-8AF4-491F-AAB1-1651AAEE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8E00F4-288C-4583-8619-01EC5F4C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04754-3D20-4ABC-B968-E43EC0E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2D5E8E-D064-4466-B86B-E89BF803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1A643-EBF8-4A86-B2AA-09D2D080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EC009-FA17-4070-86FC-C5D97B30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C54DF9-04B7-4105-9104-0398C248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来源：RATS 架构｜证据等级：E0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63EDC-3296-46C3-BACA-215B3B2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971D2-ED58-4983-BFF7-34228FEF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51296-432D-4797-AB22-980630CD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C86EE4-282A-4E19-804B-389C222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内容摘要  |  06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7E032-0C95-4329-A271-4734B02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362956027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A9B50B-10EC-4DD0-93DE-5152535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42BD7-005F-40FD-ADAF-B79663F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F4C33-AA99-4944-8625-C1F1C094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5571E-F381-4B66-90E7-594D31B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RATS 架构：研究背景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83CDF-1620-47BF-A49B-77A4C6AA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5D41A-F637-4A5E-9CBF-9F42BB37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2A8AF-58E1-454D-91D2-F65D718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5EDD0-2ECD-4818-8E68-2647C802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多平台 attestation 需要统一角色、消息、freshness 和 verifier policy 词汇，否则 CCA、CoVE、DPU/NIC evidence 难以对齐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5954B-CAF9-41CA-98FA-3ED4588A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623BB-BCD0-4742-BFE4-8829887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3B489-33B3-4382-ABBA-09354843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43EAA-70A8-4E7A-BFCA-8174886B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F1208-AA7E-46A5-AE8A-7740CEA5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多平台 attestation 需要统一角色、消息、freshness 和 verifier policy 词汇，否则 CCA、CoVE、DPU/NIC evidence 难以对齐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A3015-B4E3-4EBC-B327-FDAEBA47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C56E3-598E-4263-82C4-3C469FF3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F9A12-AFF8-4D42-8AE8-03CB6353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AD52B-A66D-497F-B31A-17F84ABE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EEB16-F751-48D7-A433-420C540B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CE796-9027-4C14-954B-F3644E0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0FEA4-AE39-468E-9D94-A72CDFF4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C879D-A95F-45B7-AF40-727DA61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Attestation、boot、lifecycle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CE65B-851E-4599-B2CD-BA76BBCA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5115C-306B-40B1-A177-923AE2C9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4B0DA-5D67-44B7-9B50-BC7B585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区分 secure boot、launch attestation、runtime/control-flow evidence...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3CF15-5EA4-4FF4-8B99-D4D80484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255E4-3ECB-48FA-8616-66235E7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C9534-8D77-494B-8751-433DB289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RATS 架构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2C0EB-48D5-4F2A-B2C9-290D1DD0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620DC-34EC-4C06-B2BE-CE5B46C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96BE85-132A-4A96-BEB9-B23D899E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B501EB-C38D-4B95-AAF1-E83FB0FB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3D9D0-03C5-4EAA-8191-1F2B0F6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来源：RATS 架构｜证据等级：E0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9F22F-B265-46EE-926D-51A9963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5C08E-6623-40AC-A033-818399AC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52A42D-6AA1-4486-B1A2-F2A40BDE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B836C-169D-494D-82E0-7BA6A616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研究背景  |  06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BCB67A-01C5-4CF4-B81D-2001DB4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</p:spTree>
    <p:extLst>
      <p:ext uri="{BB962C8B-B14F-4D97-AF65-F5344CB8AC3E}">
        <p14:creationId xmlns:p14="http://schemas.microsoft.com/office/powerpoint/2010/main" val="1216037723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AB717-0EDE-4D06-A008-011E2CA8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54825-49B6-47A2-9844-99E3A72F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57BB2-1BE0-4483-ACB2-AECE43F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B3FB2-FA5E-477B-8C91-74F7EA3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RATS 架构：解决方案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BBDB3-58D6-48E6-9A40-6F35FAB3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E5F17-1621-423F-BBD6-4C51EA7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41D78-97B3-4CDD-A9A3-476FA598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30811-F951-43FD-AC98-8B2CD07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规范化 evidence 生成、传递、评估角色与拓扑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B52E3-D26D-4E1A-BD3E-FB102C3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6C4EE-1E27-43AF-B1E4-B61143F6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24557-E815-424E-BA4C-78053636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83583-2A91-4BB3-938B-BE4D753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01D85-9480-4661-B9D7-421DFE1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规范化 evidence 生成、传递、评估角色与拓扑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E7A3C-50A6-42D6-91B3-3793D41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B38FB-4AB2-454C-9BBA-3A6552E3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`eat_rfc` 辅助说明实体状态和安全属性 claims 的 token 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1C537-8E53-431F-A125-E9A73B6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A8F30-F76A-4925-9A3F-4E0A65C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E1FC6-29E9-4E2A-ACD3-80D0211A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72D56-6800-45A1-84D4-48A967B9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F8C8B-50A3-47E8-8C89-B691514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E4BCE-53BB-430E-8C31-D184C9F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Attester/verifier/relying-party roles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E3C4F-A36D-4157-9BEF-46873F4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914B5-1FCA-4597-9A1B-C5888DE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EE761-6434-4455-862C-99298CD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9A2B1-39B9-4A2B-B9BC-EA6A181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Evidence, endorsements, reference values and appraisal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EE886F-9256-4813-925C-82E6AF44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F65B71-235E-447B-8B10-063E5A26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14BFE-39F5-4B4A-9047-E1562377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EF909-565E-4FB2-AFCB-3119EDC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 results and freshness vocabulary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32B87F-19FC-4445-ABB3-880A68F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CCDC9-A080-4565-B1F7-B3969ED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来源：RATS 架构｜证据等级：E0 / Spec-standard SOTA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409F8-3939-441B-B9A4-0EC11B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D6557-F17C-4BD7-A87A-BBF69E32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55017E-1786-4091-A0F9-8D344E4A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A5A6C-ECF6-4ED7-A2D4-684654DE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解决方案  |  06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7DD30-38B5-4CAD-B7C9-5CCE0BD0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226054952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61227-BDE1-429F-8480-29AAB4A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83BC2-2AF7-451D-A4C0-3D0C350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CD8A7-8205-42EC-AE3A-6C8381C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F5A7C-0D34-47D0-98CB-58BEF778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RATS 架构：实验结果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49813-3997-4AFB-BA35-9E1C031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1187A-0D85-4D24-AAA3-0F49BA4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78061-0E75-4EB5-AEFB-AF6B8DE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A9F84-2E44-40D1-9B8D-92ADB1C4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规范/Survey，无新实验；RATS 架构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FFA4B-2BA4-4150-8687-DA1FADB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49CFD-CCB1-4B3E-BDA4-8D1D6E17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78A6-6B8A-440B-B3D0-B93A3F93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0222B-F867-4F8B-8AF3-06D1519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1F90D-93DC-44CA-AF21-AC7244B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7EBCA-A6F0-48A5-9BB8-F0B3CC05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A034E-A782-4595-A12C-182CB98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可支撑：RFC 9334 defines the current RATS architecture for cross-TEE remote attestation.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00058-66C9-4D72-9600-D7F5F9B2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A9D5D-3AF0-4C78-91FA-2AD4699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95F95-4FE1-494B-93C7-D511FB3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B9C39-BF37-4726-A137-F576D10C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7110D1-2ABB-4471-90C8-C651D040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57AD7-82EE-49ED-ABE9-90465AF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E3983-D6DD-41A6-A0ED-12BA9DC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07D60-AA11-43D6-B9C8-FC5482AB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E36EB-C1B0-41AE-9990-BF9B7995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4ECD7-834B-4DE5-95F0-59803AEC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90ABB-2C71-432E-BC0F-685BDE7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A1A10-97B9-447D-9040-A277323F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D5687-02BE-4D14-AA8C-2686AD2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RATS 架构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98C53-898D-46BF-BDD7-550E18B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4F178-E85E-4E31-8A2B-5A0EB91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11994-4E4D-4F7D-A301-0D717EA9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7B2784-BE1B-4946-BDFC-A753CEE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45F4A4-B8C8-47E8-A693-B1D0BACE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70EEF-8262-4CC3-B7E4-C1CCF3D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C4CC09-B9F7-44A4-ADEA-F5DE8F2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729DBD-6F64-41A9-ABD4-2C5720D3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B6773-981E-4895-8FC5-8BA9F9B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5DD207-EB78-478C-9326-424F062F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184123-AF44-4134-BB63-97D2570F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F151DB-D930-432C-A318-3C53103E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0BD8F3-C829-4FC3-ACC4-4347BDC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2139CB-AB00-4DB2-ACCB-4AB33A12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629C48-8CDC-4A65-98DE-16EE81F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来源：RATS 架构｜证据等级：E0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DF1B37-AAB1-49CE-89E9-CED713A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1A4A4F-E368-4782-81A6-DC14A79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75EF79-58E4-4100-8594-2455952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626292-1424-4BE9-B741-8A68FD1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实验结果  |  06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A54A56-0828-4D8D-8F07-4481F28B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105</a:t>
            </a:r>
          </a:p>
        </p:txBody>
      </p:sp>
    </p:spTree>
    <p:extLst>
      <p:ext uri="{BB962C8B-B14F-4D97-AF65-F5344CB8AC3E}">
        <p14:creationId xmlns:p14="http://schemas.microsoft.com/office/powerpoint/2010/main" val="2014978169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EBCDC-DF5D-48FF-AA8B-7F9D0367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5A428-2220-46FC-9173-0E63B839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9253C-BA07-4E3F-A0FE-8A98C41F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45EE5-02C6-4EF6-A29F-AD342B88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RATS 架构：文章评价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AB25-64DA-4367-A35E-66B92D5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8F062-675F-4BF0-9E1B-DF6B3A50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89B26-F90D-49FB-ACE0-348081F8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C2428-3923-441F-958A-68D74B46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评价：RATS 架构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E0DA2-679B-483A-B8DA-9D3E56C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E2C64-E630-41BB-99A2-1B759527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7F45F-3251-4C8F-83B3-47C60A03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8901C-3BC1-4E59-A94E-E69616D0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0BBD6-2F05-4E0C-B08E-04DE617A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设计优势：是跨平台 attestation 术语和 verifier policy 的权威基线。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822B1-8AA2-46AD-B445-34BE273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7505B-921D-4816-A824-115964F9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局限性：不证明任一平台测量链充分，也不定义完整 token claim encoding。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580FA-C2B9-4066-8E71-9C1471D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EB246-28FE-4DE0-B713-130CC4F7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商业化潜力：标准化落地潜力强；风险在平台 evidence profile、endorsement 分发和 verifier policy 运维复杂。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570D-1AD5-4C91-95A6-E4F85CE9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1BD14-A55D-47E1-A5A9-9FFDD1E6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588A2-643B-42D6-BCEA-0051AB29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E5AB6-99DA-4578-9144-2CC14A6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3604C-ED39-4E04-BF76-5ED0BA05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E96B0-AB49-4087-B8A6-3910AF2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BAC179-73CB-4B6D-B869-84EF3D4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50B5C-CC6A-445F-A0C0-4E472043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4EEF0-5566-47C1-A591-3D1D6B2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4A47F-CCD7-4AE8-B42D-33462C81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是跨平台 attestation 术语和 verifier policy 的权威基线。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2574E-9845-4A8F-B8BD-B25CF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BAF18-BD0D-4B5B-96D2-47D759E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EF4C3-F762-449A-8275-44A7E99A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不证明任一平台测量链充分，也不定义完整 token claim encoding。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035A38-01DB-4116-855D-47C55DA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3BCDE-9D8F-4080-AF86-7EEB2BB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E49E1-38C5-4C34-A0E4-E620790C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标准化落地潜力强；风险在平台 evidence profile、endorsement 分发和 verifier policy 运维复杂。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2717F0-6C4B-44D2-9304-9DCFBB22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CD9CC0-10DF-4BA4-A9EE-4430BC3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39A4A-8EA0-41A5-B1B4-56821438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F2BAD4-5F90-4939-B299-15AC62F7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99B74-1BF9-4B29-9363-09262043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来源：RATS 架构｜证据等级：E0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338D9F-9595-4857-8DF2-CC17ECC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C50AA7-F3B9-4FCF-A31D-95A4229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F99F2D-C9B9-466C-A1E3-82DD1544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9D354-B07B-4D3B-AFD6-593C9221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文章评价  |  06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8A6A46-C51A-450C-8F10-9CD77F9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1798017595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5BF8B-4B83-4B8B-8A93-ED0C3B1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B3BEA-AFD2-4268-AD1D-9E7D036F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9666E-068E-42BB-A800-84D759F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F7A22-6138-4D2A-A7C6-A0E63DC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VRASED verified RA co-design：内容摘要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EDAA-AE1A-4F0E-864A-FC792011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4D7AA-5FAE-4049-96A9-37C70A9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4BDF0-9B14-46E7-8392-3E6865B8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3D51C-4B87-4B24-B1EE-C2FD3B0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设计并验证面向 simple embedded devices 的 hardware/software remote attestation root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21925-0496-497C-B082-39B5FEF0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97F5E-3882-4584-9C10-68FFBC68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593BD-4522-4639-A4CF-FF4DCDF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9F3DE-74F3-42C2-8312-2D373526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8D4AA-1EE8-46FD-AD55-7BE49F2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设计并验证面向 simple embedded devices 的 hardware/software remote attestation 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46D98-9ACE-461A-898F-7EBDF441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A48E8-749B-451F-ABE4-74FC657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VRASED is the strongest peer-reviewed verified RA co-design anchor for hardware/software...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7BC2-F18C-4998-892F-0AA6E4E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8840F-C45A-43B3-AA87-E86E6510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EEF53-2A03-4B7C-A671-040A30DE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5EB8D-8CBB-4C9E-95BD-A322E876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8F82A-7978-4FB2-A864-CFE07EB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C966F-CE4C-4F54-B20A-91F877A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991F8-6FD5-472C-AF3C-8BF3B213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73A75-A154-4030-AA82-7B5F8AE0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3A11E-6DA7-4FEC-838B-A94981E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0BB0BB-2540-4118-8B1C-42582B45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6C1F3-8E2A-4453-8694-C06F211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2650F-8A90-4ABE-BF5C-AD7E35F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3693B-4677-478F-A386-47438D61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4459D-B725-438F-BE16-051003A6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6FDE8-DD03-470E-B4F4-20F1D697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3432F-3790-4702-9D5B-3FC7E44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11F85-39AE-4162-8865-28B7F673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216128-CA3D-424F-9A19-55006CD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E6254-DB76-44E2-B27F-2F6287A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来源：VRASED verified RA co-design｜证据等级：E1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C6FA25-2238-4893-AACE-BB031C5C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F78631-675E-48E3-A73E-081E6D8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773A40-24B2-40B3-959D-704AC2E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275C2C-31D2-4189-9CEF-0B3FCA9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内容摘要  |  06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2F5505-C30C-4213-B9D3-4ACE26C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107</a:t>
            </a:r>
          </a:p>
        </p:txBody>
      </p:sp>
    </p:spTree>
    <p:extLst>
      <p:ext uri="{BB962C8B-B14F-4D97-AF65-F5344CB8AC3E}">
        <p14:creationId xmlns:p14="http://schemas.microsoft.com/office/powerpoint/2010/main" val="1629450723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A9D1D-BC17-46B2-A538-678748C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7C297-C59C-443D-BE91-868A44E5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E65E5-D58E-4C8A-86DD-705B70CE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65672-D430-43CC-B3B9-9B3383F7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VRASED verified RA co-design：研究背景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A5EC-EC53-4CAB-A408-5AEB91E4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3847C-6CF2-437A-8297-B3F7B2B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E8BEE-3D20-4B3C-9176-B652D10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40B88-06E2-4C36-A758-1EA67BF0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 安全性依赖硬件隔离、软件 routine 和协议共同成立，但早期方案缺少实现级机器可检查证明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E3FD0-1D65-4364-9BA6-D2BA9F25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BFF0C-4620-4B63-9671-17D0B6F9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4DED4-7BE5-412E-99D9-C08F003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713DC-EA0E-4981-B459-95F1257A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9FD90-1195-469A-A20A-4C0A2B36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 安全性依赖硬件隔离、软件 routine 和协议共同成立，但早期方案缺少实现级机器可检查证明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93A2F-7293-4070-ACEA-56F05902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FDD72-5373-4057-8A1D-8ED3A97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1B152-7E1B-4C22-B74D-B8143C5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7D97A-95E0-487F-98D0-95EC85F9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65A75-7C29-4D07-87AE-1FC4659F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E01B7-9643-4CDF-9DB7-59F7A88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DD127-D5BE-419B-BFEC-0102FB8B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E71D1-6272-4495-8F3B-18D6E7FD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Attestation、boot、lifecycle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5FEE2-EBBB-403B-B005-9BF2CA76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54C84-7D3A-4B54-AEA5-FB5045F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79B52-1266-4B75-B1E6-C9C144A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区分 secure boot、launch attestation、runtime/control-flow evidence...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26EB7-68FB-4627-BA53-5B3937B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225FD-1882-4460-9B74-FB85A7F7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6B06B-37F0-409E-91F2-98451CB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VRASED verified RA co-design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BCCAD1-DE06-4A2F-96C0-9446F3A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42C8C-A11A-4F9B-BCB4-732E39CB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B5DF5-9B36-49A0-96FE-3196E259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67519E-9F04-47AE-AB2F-4E8BDFC6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D0A0C-E5A9-40AC-8256-FD174035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来源：VRASED verified RA co-design｜证据等级：E1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101963-F4BE-4C0B-93DC-4CE7D13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A36D82-94AF-42C8-9A92-826ACEC4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1B3193-29C0-4973-AE41-806DBA2E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A467B-E75F-4C74-9830-7996358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研究背景  |  06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BE4E80-3EAF-4099-AFFB-22D29AE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456754617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6FB4C-45E5-4FA7-B381-F7E40394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C8D3-DE16-4509-9983-0A45ADA2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5429B-5A8C-469E-9BAD-D2E6BA90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93DB4-CD0E-4B6A-957D-FBA8499D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VRASED verified RA co-design：解决方案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3943D-3018-4858-850B-16995600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57A77-4B58-4B6C-9E54-D86D0827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7EB4F-9A74-4FB1-9629-6ED56A0C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08237-1D00-4C58-966C-97BFDAF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用少量硬件扩展保护 attestation 代码、密钥和内存访问，并形式化验证整体 RA 安全属性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DF9B7-777B-480E-8614-ACBCB975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9F140-A7F0-4A1E-9BC6-1739F095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DBAD1-ED16-4E37-B5E7-3488A423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6572B-9594-4674-9446-5DF25647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7AA20-4792-4AAF-A482-86CD76D3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用少量硬件扩展保护 attestation 代码、密钥和内存访问，并形式化验证整体 RA 安全属性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717E2-224C-4030-AD04-DFC63D4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76116-6A1F-41E3-A207-5B6606E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2EDDA-59C6-4510-A6A6-EB6BAF56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CB63F-8E3A-4FC0-9287-B822F499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4ADD4-185F-4B08-AC7A-9FF26B23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EC03E-E8C4-4103-949C-C856040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Hardware/software RA root co-design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8C852-C726-4EA0-98F4-EF6BB6EA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6BE5F-86C8-40E2-B8FD-89DDB08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9E722-CF47-499F-83F8-DDFBF40B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820FE-A5EF-47A1-8874-814B2C96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Formal verification of security sub-properties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3A3BE-DEDE-4091-BA7D-0D64B3E0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BEEADF-29C4-4D97-BB12-93E07403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2A4DD-A863-4FAE-B788-146180BA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134A2-D357-463A-9A12-E74761D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MSP430/Basys3 FPGA implementation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DEE05-2D91-47AC-893D-541FD7BA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A6C27A-AE9D-4A12-97DE-3875220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来源：VRASED verified RA co-design｜证据等级：E1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F87F55-B7B5-4875-A6BD-A3CBADC1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34383-FFB0-485B-AAA8-09B61510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AD501-3874-4299-8D1A-5963CB24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F79EC-6A6E-4322-ABEE-4F630BA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解决方案  |  06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AAAB9-21DE-4643-947D-715A871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</p:spTree>
    <p:extLst>
      <p:ext uri="{BB962C8B-B14F-4D97-AF65-F5344CB8AC3E}">
        <p14:creationId xmlns:p14="http://schemas.microsoft.com/office/powerpoint/2010/main" val="201565303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5AA66-C79B-4A24-BA06-0C65E38F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5585-F9D8-44FB-A78F-8F615DA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25910-E354-4019-9285-8EC0B70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E733E-E37C-42C3-BCEC-000D765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VRASED verified RA co-design：实验结果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86F64-2A64-4152-B1B1-2C756163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289F6-02AC-4FA8-AF98-35743706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851C0-CF47-4F25-BBF7-2D422F0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12E76-A66D-4660-9CCA-916194F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Security 2019 peer-reviewed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D1626-2E98-4685-9824-428B58E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DB706-D36B-4B6C-8BB0-50C6458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12BC3-7686-4758-B25F-A3F4E3E8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F5736-04EF-4B0C-B144-B168009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25861-608B-42D1-80F8-CF9B45F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Security 2019 peer-reviewed paper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AC7A1-C4D5-4DBC-BEE0-C5C0276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CB1AE-D3FC-4E26-89E7-E115A1D4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reports prototype and verification evidence for simple embedded devices.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3882A-B602-4CCC-8595-AB1357DA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5E99B-7CDB-4D12-9255-F83EE35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F5EF4-B906-47A8-8043-7336D098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E44B3-BC21-424C-BA1A-425FAB8B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CD478-C92A-4264-9EEF-670B17C6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1409E-9B34-433B-83BC-F6CAF4B1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7725E-8760-44FF-9C1E-4F69CEA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97FAA-6899-4DAE-9BD6-A5CB0768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59C71-11AF-436C-8F2B-93BD17F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VRASED verified RA co-design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F602F-566D-431A-AB37-35F1B7D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18584-A001-4FC7-AE2F-31A4AB47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9F5E8-9C73-46A1-BA5B-7724B6D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6E1768-792C-4E4F-9328-B1BA560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7D236-F818-48EB-83FA-F783D09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85C68-F2BC-4072-B1CF-EB6620B2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39471-0CF4-41FB-8AD4-C639FEA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8C5EB-71EB-4E15-ACAA-F4212071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C72235-8835-4582-A05B-5B39B10D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2FAA57-A9CE-4D84-99D5-BAFB728D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B614D-5F4C-4E36-B9D4-B6FF33EF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02C1E1-81D8-4A95-816A-D87FC957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6693C1-DF2F-4047-AB85-65110E0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0DD4F7-6E87-444F-83E1-08EE27E7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ECA54-7209-4151-A7B9-6A2A8BE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来源：VRASED verified RA co-design｜证据等级：E1 / 同行评审改进证据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24838-4E03-4DC0-B01B-4C20299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A09999-13EE-4962-AE38-29633EB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D29B07-5E70-4D51-B030-0DE913F9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DE8EF3-A07B-4D39-80DD-C0E347A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实验结果  |  06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0C199C-AC98-4D1B-8B7E-D4C952DD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141093181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4B09C-E971-4052-B966-756A505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EA52F-F74D-4F72-93E1-2C80FD6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81858-FE16-4E03-B29F-071B00E8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1A968-0C56-4F52-8861-06A45BFA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VRASED verified RA co-design：文章评价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BA278-2DEF-4C52-A34A-2661B460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F4B50-EF22-47E7-926D-8E2A33B3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CC9A6-0BF9-4FEE-9AA8-7FFB54D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82729-B8B0-49AF-947C-C5FB8F4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证据强，结合形式化验证、硬件/软件 co-design 和真实原型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1F8AE-323F-44A2-A6A5-50A4F80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60D14-2ACA-4242-B4D2-E0DB42AF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61CA9-5F82-453B-8CB6-728AFB91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A2233-5D4F-4D04-A079-706B279E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54135-02E7-4730-A166-3D3D82A2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设计优势：证据强，结合形式化验证、硬件/软件 co-design 和真实原型。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96BFB-CCB5-463D-B412-0E13ECDD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DDBE9-C500-4CF6-9E2A-67D0043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局限性：目标是 simple embedded devices，不是 cloud CVM、CCA Realm 或 CoVE TVM evidence profile。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12D29-76B9-4041-8DE2-36C9184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07094-B6E1-4F83-ACD0-6FB50BF6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商业化潜力：适合可审计 MCU/IoT RoT 和 attestation IP；风险在 proof maintenance、toolchain 和 profile 标准化。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48E26-3995-4705-A4D1-35494E14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84EB1-9A51-4B25-B687-B2393CCD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51AFB-DC35-45B0-BD92-EFAB4801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7AB8B-5422-4B9E-A56D-06B4E05F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05C22-224F-4BBE-B6C8-B3AEC70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6034F8-33C3-4D20-8F56-604132A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5AC52-1637-4C26-80B6-ECE9282D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0A2F0-E9F4-46F0-9421-A3D14D1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D0B82-DF29-455B-A6A3-6C6C0E6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8A4B8-9AD0-4C1D-922C-0164810E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证据强，结合形式化验证、硬件/软件 co-design 和真实原型。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8D375E-29E4-421E-A71F-34061F1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888D0-A141-4E73-9054-1A1BC9D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DBB52-55EB-4D8D-8BF1-F3966DC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目标是 simple embedded devices，不是 cloud CVM、CCA Realm 或 CoVE TVM evidence profile。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334D7-0837-4778-926A-9D010D6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8BEE1C-D0E9-43F2-A7B1-514A67A6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34E0B1-6204-4E1A-BAD0-5B41D2C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适合可审计 MCU/IoT RoT 和 attestation IP；风险在 proof maintenance、toolchain 和 profile 标准。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0D14C-5E13-44C2-ABD5-12A5E5D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75E0F-87C4-44FA-A2E8-82722D1B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43A3A3-7655-432C-B2ED-4357272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2E2278-F81F-4D4F-A60C-ABF7CE6F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F310B7-7F1D-4482-ABE6-C88614FA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来源：VRASED verified RA co-design｜证据等级：E1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8568E3-859A-45EC-844D-4CC6ECE9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B5251F-1C78-4FB7-8839-ADCD864F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77F3BB-552B-4171-ACED-A21B5DA4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6BD8F3-04E6-4379-839F-E2AA821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文章评价  |  06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084465-3336-4A20-9237-3B8A9686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</p:spTree>
    <p:extLst>
      <p:ext uri="{BB962C8B-B14F-4D97-AF65-F5344CB8AC3E}">
        <p14:creationId xmlns:p14="http://schemas.microsoft.com/office/powerpoint/2010/main" val="315049909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3691D-0559-4619-9B55-39717CA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2543C-F720-45D0-B58C-8844F669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102AB-22E6-44AC-9BA2-87B6503C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E41A9-5E9B-479F-9B05-505E013F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Attestation、boot、lifecycle：方向总结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FE66F-FEA4-4961-95EF-E427890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3C5B3-25D0-4B26-B74F-0400FE8E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2326-48C7-455A-A822-F94FF42A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4F0B9-A7EF-4B53-9E49-E2E57AD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Attestation、boot、lifecycle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E8CDA-8D9D-4AF2-839B-5F2EFA3E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2F4E-629F-425B-B594-5F8AFB87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569C3-0061-4247-8549-576858AA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3B891-3442-41D0-8FA7-92E04DD9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C83A1-F958-40FF-95BD-8CAC0567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SWATT: 软件 attestation 早期代表：开创/基础入口，E1 / 基础证据。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C0974-9FA1-4484-9831-FF9E091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41BE0-858A-4A37-BA16-7A8FADC6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架构：代表性改进，E0 / Spec-standard SOTA。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F6C36-D6D7-448D-B8B8-43F781CE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3EE4E-C18D-403E-91C3-63D47778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VRASED verified RA co-design：当前 SOTA/补充边界，E1 / 同行评审改进证据。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889E1-E9A8-4F9F-AF65-23A82F20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5F379-E87B-4CF7-8737-B0BD7118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51BC9-4AC3-4B06-B4F7-3A90BF1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C23B4-09BF-492E-B546-B217539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18990-A017-4D28-A3C5-90F1E788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FD61C-230F-4054-A125-ADA4DE6B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C8C5A-A449-4693-B0D0-57BD1E9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441153-BA28-476D-A659-0018FF6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9B6DF-B377-47C3-99BA-A90DEB1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9300B-DE03-4D05-8428-46DAAAE0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SWATT: 软件 attestation 早期代表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14089-3C50-4F36-8DAD-C939500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BD32C1-1513-4614-A74E-15262A08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SWATT is the classic starting point for remote software attestation...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9BABD-7070-448C-8CF9-3B56DD7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A34ED-C3B2-4ACB-BB5A-95B4189E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RATS 架构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19E9D-718E-4310-A791-271EA681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45EBB-4C20-4A04-88B4-35F491E8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RFC 9334 defines the current RATS architecture for cross-TEE remote...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22C080-3336-488F-85CD-5A6D6CA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11B8B-7B1E-42D2-9705-75A3C14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VRASED verified RA co-design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268EE-8E4A-4980-99FD-E502C92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D8460-3223-4249-B461-5E268A00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VRASED is the strongest peer-reviewed verified RA co-design anchor for...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C1A00-1B8C-412A-8D74-86C22466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C9E3D3-90E3-43C9-B62B-E4C10360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7336CF-92CA-435F-94AF-14B18DF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D01338-6133-423F-A49D-7B98F711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917192-1D7B-4A2C-B78A-287769B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A3A21F-C3EB-451A-AA7F-B94E2BFA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Attestation、boot、lifecycle | 方向总结  |  06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3C1114-7C40-456D-9B0D-F3D2F37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1061031379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A4227-161D-441C-940E-D18D1782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02EA1-E775-4C1C-8627-3066A5D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170D5-54BD-4508-9539-E82A28C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EEF32-4DA1-48F5-9F96-2B62BDD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26E7D-DF6C-49DE-A321-3D340C49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基础安全 primitives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75910-BD06-4292-9AD1-6C042E2B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PMP/ePMP/Smepmp、IOMMU、IOPMP、AIA、CFI 等 substrate 与 TEE 本体区分开。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DC398-39B7-4A94-83BD-3077272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1F895-612D-4E7A-9DB6-E606D8D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602E3-4EB5-466A-9C2E-9687419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privileged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FA9E8-6A8B-4287-9538-411D0795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DAA89-AC69-4B5E-BF23-3E8871DC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77215-AE6E-43A9-840D-00AE08E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B607E-5E1B-44B0-8ED2-6EDD0620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C8EEB-0FD5-4B03-BE3A-29720D07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96FE-47A4-4BC2-8E37-2F6BE49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Advanced Interrupt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003DD-85AC-4CA5-B33C-8FB71B5A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53828-AE8F-4378-A036-1C1E647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8EC55-F50A-408B-869D-DD73C5D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E3EE60-EA74-4A3A-B622-20F3121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52693-C0EA-455A-8E3C-3BA46F0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RISC-V 基础安全 primitives  |  07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80327-6C26-4F22-9C0B-F2DACDE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113</a:t>
            </a:r>
          </a:p>
        </p:txBody>
      </p:sp>
    </p:spTree>
    <p:extLst>
      <p:ext uri="{BB962C8B-B14F-4D97-AF65-F5344CB8AC3E}">
        <p14:creationId xmlns:p14="http://schemas.microsoft.com/office/powerpoint/2010/main" val="1892302521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97623-77F5-4C74-B14E-CF6AEE6C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86AE3-6B55-4283-A7BB-D15D0541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1A432-6314-4BF1-AC91-DF26638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94917-7F7D-431D-86B2-39B6AA3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基础安全 primitives：方向开场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409B5-949B-4AFC-A684-D033F531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B4105-C400-4EE4-8A2C-03EE5000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1CAAE-CDBE-4E70-B3D9-9497EFB9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F63B3-3485-40AF-B092-E21B147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基础安全 primitives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12320-A621-4339-8BF8-4676F5A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15B64-0CAB-4DD2-8D8A-B0679E2E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9A1F-D56F-4635-8CC5-B42D692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C26CB-AD4F-4C0A-AF30-DD5CA98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7B372-67E5-415B-9F3D-DA93A4F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PMP/ePMP/Smepmp、IOMMU、IOPMP、AIA、CFI 等 substrate 与 TEE 本体区分开。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E3C6E-7FF1-44F7-88E5-CD4703A9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47B0B-5A38-4AE0-BB6A-9F1869CE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固定三篇主讲材料；`riscv_iopmp_2026` 与 `manoni2026cva6cfi` 作为辅助材料，不计入三篇主讲。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C6870-0145-4EF3-BEE6-CA4AAA4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CA1AE-2C4F-4F24-A2C2-0E1558D5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BE904-F4C7-402F-A6D7-B318C74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33B4E-8939-4022-94B8-AC16B8F9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6BD46-6802-4EA6-B901-B99E9DB0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AD8C1-94A5-4E8E-8913-20469FC1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435BC-D59F-4021-9088-A2443F61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B7EE6-F043-4EB2-9B93-7DA8F73E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09AA1-9126-4CA0-8C22-DF39395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CD7EF-9D2B-485A-80E8-6658B776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7706F-766A-4528-AACA-7F8870AC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CA6C6-ABA6-4690-A03C-F74255B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privileged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29650-B71E-4596-86EA-97CA19EB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C7A0B-1D45-44B8-A410-037B468A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C404EA-D176-4AE7-A084-7E0D6757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D038C-76B1-44FD-9813-3CE55F9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2346AC-E6D4-4BF5-84FA-C9BB9C32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8A7A55-3171-428F-A8BE-E45F7C4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B470EB-0231-49A4-9AF9-05CCCBEF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8955F-3C0E-4FC0-8011-DE86D3CB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Advanced Interrupt Architecture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D4B6E8-178F-474C-B26F-D22F089C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87FA1E-2272-4B73-B2EE-E01FC3A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9F7F72-2D6D-4619-9AE6-21544038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25189F-96FC-4514-B287-21D5726A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4ED2BD-821C-4AAC-8557-34F0F14D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4EC0FE-0CE7-4B3E-A193-767D3DDD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A13DF8-E6F1-41C3-A4E2-67E69C29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FC12BB-3C09-4BD7-8535-CE51BD2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方向开场  |  07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05D8EA-9901-406F-92BB-A61E9D70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533348512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AED41-0CEB-4EAA-B3CF-5DB26B99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AA0B6-F901-4857-AC42-16A9AE7A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2BE16-495B-46B8-B256-0C157131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6BBF-B761-4E41-8301-D016DED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privileged architecture：内容摘要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294E4-AF45-44CC-8FE7-04520A7C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B896C-AE4E-4153-880A-7571899F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1D90C-B575-4EDB-ABE9-F1B7CFE0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3FDA8-425C-46F8-98F1-5FF7EDC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privilege modes、PMP、virtualization、trap/translation 和相关保护基础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3EB4-47F5-42EF-B29E-0A74CD9B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0F0B4-4620-4307-B2CC-33DB487B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2E857-8F3A-4B05-A068-AB8D7FF0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59549-CC89-41C9-A163-11EC21B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E5938-B457-4B52-BFE0-F9F2298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privilege modes、PMP、virtualization、trap/translation 和相关保护基础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DEED2-5D8A-4224-9F61-E459DDC1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879C4-BF3E-499C-A81E-FDE5959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privileged ISA defines PMP, traps, modes, and paging substrate for RISC-V TEEs.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90548-7E39-4ADA-A507-24859A99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3F890-121C-4C2E-BB50-ABBA1E47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A44C0-7412-4E60-8F59-B1B8C3DE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2C6ED-0507-4B75-9162-4D280F4C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0BD24-BE8D-46D9-A488-3F5B7D09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35CAD-0F62-40FE-8B00-20520D5E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59278-2E89-43B9-BEA5-6B2151D8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3D977-2FA1-4047-9DCB-3315E4F9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42A71-0F39-4BB1-8088-4065BB05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CA299-026E-4A26-B836-5C438DBF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FE6885-DB97-4A65-95D3-56D436C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7EAE3-C351-441E-B310-256AB2A5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9C8C6-191C-464E-A97B-064FC38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F8BAC-430D-47C8-8D21-6403FD1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3B753-09F4-42D7-9F62-86D471F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A4DD9-4C92-4A98-B919-9129E7B5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2F7716-1A10-4D1B-8766-F661FA1D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42035-E446-4458-8BE7-FE241DE6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B7595-8CE3-4F96-85A5-B170D04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privileged architecture｜证据等级：E0 / 基础证据 standard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B0C18-354C-4AF0-9BDB-F1862EA5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E004AA-20AC-4471-9DA5-7ED16293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79FDA6-175C-4547-A899-34F9E36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9A40C6-2E71-4EBB-AF59-555B5FBA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内容摘要  |  07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0D1403-2C78-4B9B-8BEA-F7A37EA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115</a:t>
            </a:r>
          </a:p>
        </p:txBody>
      </p:sp>
    </p:spTree>
    <p:extLst>
      <p:ext uri="{BB962C8B-B14F-4D97-AF65-F5344CB8AC3E}">
        <p14:creationId xmlns:p14="http://schemas.microsoft.com/office/powerpoint/2010/main" val="305295610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62D7F-3A6E-4981-A6B5-4F8D990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37D72-D9AF-468E-BA35-59CAEF2E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4C50B-D46E-463E-938F-A3B221A1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1527D-7003-4A48-A205-29EE14C6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privileged architecture：研究背景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B390B-ABE1-456F-B7F1-1999350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9554F-9E1D-4A6C-9FAB-2B3D495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222AF-3F7F-4D8C-9571-3604CFC0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6B471-1C54-46ED-86C6-5E379106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安全系统需要从标准 privilege/translation/memory-control 机制出发，TEE 论文不能跳过底层隔离。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E314-22E1-42A0-BD06-7CDD4B5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69EC2-F7A0-47A9-A136-3663274C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03BD2-AAA5-484B-8D58-66A2397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151DB-BAA3-47A8-9EDE-F850B1E7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50E98-F2E7-41E8-81B3-5DF9F311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安全系统需要从标准 privilege/translation/memory-control 机制出发，TEE 论文不能跳过底层隔离语义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4C51C-AF27-4D49-A77A-6B84DE64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4B4CD-38C6-4B4D-9F0E-4CD345DA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0A8E3-01D9-4A2E-8ACB-A5462B2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46ACC-3E76-48F1-BF76-ED9DC151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37B26-BE07-4660-8E79-0F64C0A4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71364-4523-44BC-B12F-E2DE25A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D7169-9108-4752-964A-C2AFBEF5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F1C0D-6D69-409B-AA25-7A924ED1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基础安全 primitives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076E6-7739-4C82-AFA9-EB8BBCA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3BEC1-233C-4731-8B78-7807238E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EF1B9-1D73-46E0-A46C-66E2314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PMP/ePMP/Smepmp、IOMMU、IOPMP、AIA、CFI 等 substrate 与 TEE 本体区分开。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27307-A6F2-47E9-AA95-29D81C62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7ECD2-2B05-4D90-9534-3233CF99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B417A-EEDC-471B-B1CA-7DF217D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privileged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C71D8-9069-4975-8AAD-2828216A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D125D6-3A03-4367-955B-5633367A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97405E-C9B0-485E-8DAF-6BB8506B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95C06-2B64-41CF-838D-7B5AE5A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60C28-D399-4CFB-AA8F-F5223DA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privileged architecture｜证据等级：E0 / 基础证据 standard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251771-E44A-4B21-810B-6D46FE8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01F1D5-D144-4BFC-A9C4-97C4017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2DB19E-4778-4EEC-861B-44FBA12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BD6264-99F7-4145-B2F9-C4741BE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研究背景  |  07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59579-E67A-426B-A446-CD650E9D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650427734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F9DC61-27EA-4220-92FA-967BBD80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2A445-875D-4762-B067-97B8E254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3B597-646E-4F6F-B1AC-3C00EA7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E56B4-1352-478F-BAAB-B9952FD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privileged architecture：解决方案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56F85-5B62-4DAF-9E64-9513493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79000-787A-4FFF-888C-702BFA7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CE2B5-0523-442A-8B32-883EC61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B4768-3967-461A-B1A0-2CEB4E86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 M/S/U/HS/VS modes、PMP/ePMP/Smepmp、trap/translation 机制组合隔离 substrate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30188-8C57-446D-A3E8-29EFEBE7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CB78D-9ED7-48A3-AEB8-085A751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98D99-1A61-40ED-81FA-7AAE4B3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6AB92-3CB3-4999-8069-DADD2FC1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29E6B-5932-415D-897B-2B99393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 M/S/U/HS/VS modes、PMP/ePMP/Smepmp、trap/translation 机制组合隔离 substrate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F7ABA-3D6D-4E44-A91D-6FC2C002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B0877-FF1C-4D5C-8EE7-1EF46D46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5813C-A3D7-4EAF-8B55-8A6D88D6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F15B0-92A9-4660-BF6A-32A6510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2361F-559D-4071-BCF4-7637D35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DD173-83D4-4031-A8D2-E9C71355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M/S/U and virtualization privilege modes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9F611-A34F-4DD8-A7A4-AB425C68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0D622-5794-4268-B4A4-82D6F13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0E581-D498-4999-B946-1DDD6381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FBF3D-BD58-4E67-8F03-46F6DB5C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PMP/ePMP/Smepmp memory protection substrate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E3CC8-68FD-4746-9591-F1580B8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283A9-82B9-4BB1-A5CF-DDB3605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88F11-DE83-4F40-ACEB-0B8D285C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51D4C-4A8E-4966-8055-F86D71D7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Trap, translation and supervisor/guest isolation vocabulary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09B19-4EF5-4ABD-BD21-221910C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ED738-77F2-4622-9BAF-21F38FC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privileged architecture｜证据等级：E0 / 基础证据 standard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31DBB9-F6CD-411A-9DE0-D4730D7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03B250-A7DA-4E32-BAD5-302FE1C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041183-A7DD-4FEF-8806-AEA369E1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72518-8221-4AA3-9414-67038DA8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解决方案  |  07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68642-DF65-48DB-B3D0-334D2DF7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117</a:t>
            </a:r>
          </a:p>
        </p:txBody>
      </p:sp>
    </p:spTree>
    <p:extLst>
      <p:ext uri="{BB962C8B-B14F-4D97-AF65-F5344CB8AC3E}">
        <p14:creationId xmlns:p14="http://schemas.microsoft.com/office/powerpoint/2010/main" val="531170646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3DB3D9-1FCA-49E3-9C85-B35132A4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D040D-EDB9-460C-87D9-D628C09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0843-D1C1-45CB-98D6-CAA7CFF3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D6974-DD33-4ED8-89DB-086C1F01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privileged architecture：实验结果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7BDE4-EF50-4541-8E92-F4556086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99118-9ABC-41AD-9451-27463DA4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DCD58-0F65-42D4-8802-E9272F2C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3B332-CD8D-417E-808F-5F5FE033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privileged architecture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25198-874A-4655-A3BC-74949B02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159BD-54FA-4B1E-A14C-C92DCCE0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B183B-2A7B-423C-8F65-FD022CD6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E92E9-DC9E-4DBF-951A-A51CA73B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B5A71-C092-46C4-A80B-D6E1343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4D681-28AC-4184-8D3B-5F2CAD22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00E8E-86FC-4FDB-BD67-40CF418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可支撑：RISC-V privileged ISA defines PMP, traps, modes, and paging substrate for RISC-V TEEs.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2765B-A27B-4AE3-B2AD-C4707F7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0A3C8-00B4-4AE1-BFCC-64A19CE4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Foundational standard substrate；来源状态：本地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5A478-B0C2-49ED-88FD-0450E91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46EBA-E5B3-41C2-8A63-8F85CD8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F4986-25A9-4FD0-B7CD-500638BE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DA1859-FDF3-4973-8250-51E0DB8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D00E7-DD38-4FAA-A20A-CDE5932E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F6624-7B5B-4B3B-9A49-A2B56A01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DB66-3347-46F7-95E4-D824839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2D03CE-754B-4D3C-BC5B-676765E7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5D66E-2978-4E41-A9E4-BE25AD0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13785B-5787-49A7-A071-997EB25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07CADD-330F-44F4-91F8-F6BDAA10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privileged 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BD2A1-0A2D-4AF5-BB98-B9FC3805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01DC2-D1BB-442F-8041-BBD1201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8628C-7FEB-4D7E-9D34-7E94F4C8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58A19B-B94B-48D8-B9B6-5909105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C7447-E545-4B2C-8C3D-E22836F9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2B3045-3F2B-455D-A7DA-9430BE20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59907C-B305-4A95-87B8-4E18F82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CCC52-A38A-418D-8324-24044FD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996DD5-2953-4013-828E-09F991C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47C50B-A0C0-4517-BB13-01A3CA3A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F684C0-8BCE-4AF9-9116-76662873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0648CB-BEDA-4899-92FF-AF75F9A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C4576D-00CD-4555-9BE9-74DE1304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B83D07-4124-45AF-93D2-A133B61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D6FA6D-CD3A-4F42-AD0A-64E1DF9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privileged architecture｜证据等级：E0 / 基础证据 standard substrate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628CFE-AFC4-4BDF-AE77-10956601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55F730-521E-4AA8-8DC3-1C5D9E70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B9B42-9D1A-4A33-8ACD-C866DF2B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BF75A4-4C97-4E75-BC12-4F64271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实验结果  |  07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68B107-3C48-40A4-8143-29AA8690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896233751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3536C-9F5C-4A37-807B-E97CFB8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C049F-B64E-49FA-8629-E21C8B92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121BA-A84A-4F1F-A466-8616D1C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0C15-3C94-4B17-A8B1-6DF7F00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privileged architecture：文章评价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DE65A-E101-4D53-9AE8-DE66013F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730E1-5F29-4132-B4B4-B6AC1673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A8C66-57E1-4F01-8A94-F83CC28C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基础证据 standard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C72BC-79D2-44D6-8C32-C46790DE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privileged architecture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05654-7E02-4840-8700-8C7C8AE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481BA-E2A7-42CC-A2C7-9D335F12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4699-45EF-4A27-8413-F1B685B2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503CD-6991-44E7-91F8-368FBD6C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12BF1-B5BF-44B8-8678-22282A0D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设计优势：所有 RISC-V TEE、CoVE、AP-TEE 讨论的共同底座。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E5553-503D-4FBF-AB4A-B9F3DA27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BF703-945E-46C4-9B02-ECD7FC4C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局限性：不是 confidential VM 或 enclave 的完整方案，也不覆盖设备 I/O 隔离。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6FEB8-ED43-4397-861A-6BD6B63C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38F4E-D98F-44D5-B219-728A629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商业化潜力：商业价值在于开放生态共识；风险在厂商实现差异和扩展组合复杂度。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7E489-8305-46C7-B71F-3EAA9C3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63EC2-9ACC-411F-BF5F-52CD4BF8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D628A-8F5B-43C7-8CC8-7DE56C66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9DAFF-65ED-49F8-BEE3-8D733C8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3AAC5-04B1-4054-A4CF-F4CA86D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DC7C8-E8E8-472F-A4F3-2F3EF5A8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7CFCD-70F0-47CD-837E-C6613B1B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55F59-2F38-4583-BE47-CE5F203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D1356-3684-4D2D-860D-90538618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8B6D8-0439-445C-A4F0-309ADA0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所有 RISC-V TEE、CoVE、AP-TEE 讨论的共同底座。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4D2A33-D44F-4A45-88FB-6F4F8A9C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3F26A-F39A-49B0-B952-873BF0E4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AD7539-A517-47ED-AC47-A6774B0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 confidential VM 或 enclave 的完整方案，也不覆盖设备 I/O 隔离。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7F2ED-D51D-42B6-995B-A5F1B63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15FC8-E91D-4E7B-A656-146CCDF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D3BCF3-AB62-42D5-9434-D6FC435D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商业价值在于开放生态共识；风险在厂商实现差异和扩展组合复杂度。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C857EC-C4ED-406A-ACC1-8D565E20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39DC9-953E-4D1C-9232-5ADD1442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89A9C-48BF-4ED2-AE08-7014E8CC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9B60AA-9D8D-4DDE-B365-BD9E85E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5D48BC-F471-43B8-9282-564531BF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privileged architecture｜证据等级：E0 / 基础证据 standard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D3E271-9EDA-4A6B-AA33-0F56D3A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730A57-EC56-4DCA-B618-2536E58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3570F9-4417-45AB-AA3F-7D0A1B0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A79C31-E939-4B2E-927C-9820593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文章评价  |  07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15C38F-B6D7-46ED-8E2E-CA8D54A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</p:spTree>
    <p:extLst>
      <p:ext uri="{BB962C8B-B14F-4D97-AF65-F5344CB8AC3E}">
        <p14:creationId xmlns:p14="http://schemas.microsoft.com/office/powerpoint/2010/main" val="1642291349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03461-0CC5-433E-9762-6C72A44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4D35A-6B6C-4483-9C02-F9F6F56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82C8-D328-4473-8606-C53261A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F739-5C35-4585-B967-FEBBEC34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9D614-625E-47C9-9E6C-B9E8D24C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B2E5C-59EE-4812-BF1D-48EC4044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76299-CEE4-4C29-9D61-886966F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C0C98-4B8C-4D0B-869C-C280C8A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I/O translation/protection 架构，用于约束设备地址转换和访问权限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FDDD3-B7A6-42B2-B28D-A7065CF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51359-39C6-47CB-B749-6DE9020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62592-8068-47A7-BE8A-63524AE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D6F45-B9DB-4911-9DCD-E11DFDDB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B07F8-2383-47D1-9CA6-731E314F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I/O translation/protection 架构，用于约束设备地址转换和访问权限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0659F-2054-4E28-A0A1-FA1D6D6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4EA49-1A05-4679-88E8-9897EEB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specification is the current standard substrate for DMA isolation and CoVE-IO.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D48F1-ED8A-4FA0-B9FC-74FAC268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2BF0B-D3C1-4726-8B90-0E64C7B2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2AA5D-2116-46DD-9025-F70679F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05D6C-782C-4655-AE96-0E1271BC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5B0D6-D7C1-4E33-BCDC-C95F29AB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D2CD9-B6FE-438B-911E-D18D45E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6C4D0-9568-4450-ACF4-46E25B6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8657B-D9F7-4E02-AA77-A51BA11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E9AE8-F0A0-4CD9-A41C-AA37531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C22C0-9FE3-4F2C-88F0-0D0DC20D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EC7D6-021A-4B00-974A-C529A1F9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B3554-9677-45C6-8C29-190AF2E8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B1432-0A06-432C-9966-CF9544F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58971-893A-4169-B942-18867B4E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2E597-F6E7-471F-97B0-0FBDCA3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E673F-A2A8-46C2-B815-2EE5CF81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7DDEB-FEA8-4759-92CE-2186498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DAB367-59DD-44C5-AF16-BEAD723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12283-70B0-4779-9617-90EE986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689937-9286-46B4-8A0F-3F4416B9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6482A-F1BE-4AD2-BFDE-DB0559E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F79FC8-0CE0-4869-A29D-8489CCC7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6FED1-9D75-4722-8876-0207B11D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内容摘要  |  07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D83956-7F41-489B-8D8B-4B5B04BC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132727638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53B39-13DD-4E56-AF65-89CB604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71D15-29D3-4039-BA52-43AD439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E3BB1-F636-44B7-8423-A0A85052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80AD7-AAE9-4124-B345-3466074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41A8F-B9ED-4D5F-91E8-D1485860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563D2-3494-4A16-930D-2E606638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2772C-D4B8-4C5C-8B99-894D3D2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1345E-D1D6-44B8-BC95-D4E01FC5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和总线 master 可绕过 CPU-side PMP/页表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62356-DAD1-4AAE-A089-E23BFE90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82C8D-C693-46E7-AB17-FE2F5D28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7B749-57F1-40A2-B8CE-1CBB5BB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3C0D1-5211-47C8-8B33-B4B43F72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B621E-DA60-4006-96EA-61E2A30F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和总线 master 可绕过 CPU-side PMP/页表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7092C-8001-4908-9B2F-7CB7426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0E9C8-1805-4508-AA23-24B6F3F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或 CoVE-IO 需要 I/O 侧地址转换和权限控制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0CDE5-6A9A-4237-ABA0-3AE7E2D3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ED0E9-C440-48FD-AA9B-B57EC0C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294C7-93A4-4148-A358-32FD3F0C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D6B76-9F87-419B-A77F-63C9D49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F209E-9A6F-4E0F-8A35-EF37841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8A167-C26B-432D-9390-F0D11E7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E159B-E5C3-4A55-BC6D-1B06709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9E3969-80BD-4B7C-8437-A5FFCFA8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基础安全 primitives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17C25-3AFC-48BF-9347-4A9F7A9F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BCE06D-8F8D-4FDA-AD22-AC3348C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2025F-2E02-419A-8E41-5E9B09DD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PMP/ePMP/Smepmp、IOMMU、IOPMP、AIA、CFI 等 substrate 与 TEE 本体区分开。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37082-C7DF-43EB-9862-A76EAC8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625FA-BB45-49AC-8DD4-F1FAD47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5DA9F-2DFC-428F-B87A-4141A78D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E2B76-9DFE-4AA5-B105-9B0FF679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C7D2E-70DF-47AC-BC8B-A479010D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F6BEA2-CDB0-41A7-83F5-222C731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54E92-0671-417E-8CC8-60F9E40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6A830-8FF6-445F-8025-DB2F5AE0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88BC95-BCEA-4CB6-8384-6B65112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4423B5-F9BA-4434-9887-90ED52D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FAF32-3A2B-488C-B3F1-E8E196F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FF4D00-7D35-4DCC-B251-E79E142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研究背景  |  07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F8DC0A-B465-45D6-99A1-0D3276A0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771491685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7E24C-E9FF-43A3-BD85-8659AB5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63C81-E120-4426-AC79-C17C36B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532A0-6A58-4332-8FCF-A4EF9DD2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87273-7FD3-4997-B562-31DDBD3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13630-3224-4E56-8E76-F6A57967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37E1-4346-43A7-93D3-AD5A5986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970A0-896F-4B80-BAAE-8B55A98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36B3D-F719-4A91-B15D-07EFF1F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把设备发起的访问纳入可配置 translation/protection 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4E3F6-3C4A-4E0D-82DD-2C804D39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3A83B-9278-4D48-9143-95D9834A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78E46-85AE-47F2-B06B-39F342EA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4DB19-E87F-48C4-AFAF-0066AB1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8562F-3565-4F6F-AD34-D5BF2713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把设备发起的访问纳入可配置 translation/protection 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86FED-A4BC-4F91-AEDC-D6D57081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AE558-B6A6-4C50-AA33-B6ADCAB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`riscv_iopmp_2026` 作为 requester/memory-domain filtering 的 draft 辅助材料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14D7-BDD7-4F4D-A5FD-5539D79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77294-896A-482F-87C1-36ED2E6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EAA64-9371-4932-8052-6EA6ADB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E652C-7F23-4638-BB6E-F57CF1C8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DB475-B75C-488C-BBC5-526C42FF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9F94B-A322-40E3-B717-A1835C50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address translation and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9E8E4-916E-4F38-ACFA-046DFCD9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7343C3-099E-4AB5-A3F4-6982BD0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8762E-B033-4D84-95B0-6C6B2319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F0DF2-DB0B-4E41-A352-A7465E10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I/O page-table and permission semantics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6CCE4-1D6A-4F8C-8465-E57E5FB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E4845-E1CD-455E-A56F-A158E989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09C75-1AFB-463C-802B-4B54D1D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9A155-66E0-4695-B2B9-384E2155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substrate for DMA isolation discussions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F36D4-3C14-44EC-A229-D76F927D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BBD1F3-E9CA-413B-A1AB-3A28DE9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IOMMU｜证据等级：E0 / Spec-standard SOTA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161DC-54F1-423F-A356-17316529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F2178-F126-4B22-84B3-4928836B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677014-C72B-48EF-939D-D0AFE763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37FC09-FA4C-4655-A7A8-FA68A59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解决方案  |  07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BDD98-ED1D-4E53-A966-3B3D5781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158420527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A2260-3893-41AF-8F90-1DB1DB75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69AF6-8BD5-4775-8371-1B2DDD7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B4585-3960-4835-A6CD-74A827F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2AECD-03C7-4FA2-9305-9D83D5F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6083-4549-4C21-9866-1702650A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D6A54-06BD-4ECD-B8A3-DDF44A5E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51C5C-D01F-4B7A-85C0-CA314440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96F02-C395-4E12-B75D-8C2CC705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IOMMU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E744F-2508-4122-B5BF-18961F8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AC65D-6599-4693-AD98-72332EBF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1F3E0-5180-4299-9B9B-B3490EA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49260-476F-4AEE-9CF5-602E7B2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D3DF1-C141-4CC4-A43A-C39999D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5ECF4-F44E-49E9-B7BB-D7C0FBD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4E20A-E88F-4E94-8A8D-3FF1DEF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可支撑：RISC-V IOMMU specification is the current standard substrate for DMA isolation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4FCE4-6090-40A0-B6A7-C119E80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954E4-093C-4E37-A54F-6917E0A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E1685-881F-4272-9E2E-3861E66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01DB0-14A2-4256-9645-B0D2319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6DF64-C084-4492-98EE-65ABEE0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B1B21-02F0-4C97-8DC9-07C478C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A0160-8D53-45FE-8019-CE98C6CA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66849-A3FF-4E63-A992-D1FDCA48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9539F-C10E-47F0-8EC0-C6D612A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31EFB-E0FD-474D-B5C3-B443FAA1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A7CA8-B5D8-4BFF-A962-FF177915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9CEB3-0F56-44BE-8A56-ABEEAF52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28E45D-A3FB-4CD8-BB62-BD491926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BE40DA-C2CB-4350-BBC2-2F4D507B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F0291-6292-4D33-962E-970CC911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128AD1-05B2-48B8-9E4B-B9BA5BF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90F8E1-31C2-4EC1-A746-FFD8D26B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BD3B0-7C92-492A-B8B1-BDC443D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5C30B-231B-4777-B842-65ECE2E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FE710-10CD-4774-BD85-1097D3EE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084BB-2D63-47EB-9208-28BFF242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D35F39-10CC-4395-A632-62D3FB2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DDF30F-5B58-43AE-9F4E-9133465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C98AB8-D8AB-4D0D-A022-C005DE1A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DF585D-55C4-4695-8E4A-4BC6B349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6ACC93-DF37-4BB6-923B-35FC7A8F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1D393B-4D23-4041-AECE-5D3667F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A0CDD6-94B3-4B96-9E08-374AD1E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CC411D-96B7-47C7-BB59-BB25DB36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0E01CE-8DDD-4A8E-BBE5-0D7A2FFA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58AC33-C4F1-4C96-9674-64FC59A3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E3886E-5F21-497C-91CF-2EF06217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实验结果  |  07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930558-B4AB-4EA0-80F6-9A38AB5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974085797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A57FE-3EFE-4752-B7A8-9AF9B05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EDA5A-7E97-4F94-842F-AAB7214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2D673-0B4D-4AA7-8D60-9D9B444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EB612-9DCC-4638-B8E4-601BF8B8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54263-9122-4D0D-9C7E-CFA2A139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E233E-A6F8-4EFF-A600-12231C45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D00BE-DAF7-4AFD-BA31-184A37E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A8689-E5E3-4645-A6B8-AC3426A9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IOMMU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8D54-CF29-45C1-AB83-1C6FEB9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9631D-AA13-42E1-A828-CEBFB72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02625-1CC5-4FE4-9721-33EAE8E0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6E016-CB6D-435C-9ACC-53935F6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0123B-2376-47AA-AB11-3E0A4D3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设计优势：是 RISC-V confidential I/O 和 DMA 隔离讨论的标准 substrate。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C1111-2383-4AAA-8655-854E9DF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E353B-51E7-48E2-A7B0-D677B16F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局限性：IOMMU 自身不是 TEE，也不覆盖设备身份、attestation 或 interrupt ownership。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DF7C4-6AB5-46C3-BD79-6B06600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E57D4-A944-467C-8221-E2C8606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商业化潜力：对服务器和异构设备直通很关键；风险在设备生态、固件配置和 verifier 无法直接观察配置完整性。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70D36-D238-4AA8-AED4-82E64E2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6C16A-319E-4024-85CE-6A6093A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53C98-0520-49AF-B7C6-1931143E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2C35E-8196-47F0-91C4-39FF1FF0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CF5429-83E5-4B69-8D90-2BE28650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94B46-C987-452F-BBE9-584FF8A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B27C5-31B1-4B64-929A-D32D576A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43569-25A6-4B4A-9413-BAD8E34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7F5A53-8BEB-4362-A599-F00AA75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2813B-C095-45A4-BE79-306F87F2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是 RISC-V confidential I/O 和 DMA 隔离讨论的标准 substrate。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F321C-FBED-4272-BAE0-2C0CFB64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AFB9D-E4C0-461E-93B8-5DB5BAC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64D02-E1B6-46A9-9317-D591E00A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IOMMU 自身不是 TEE，也不覆盖设备身份、attestation 或 interrupt ownership。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5AFBF-1180-4B4D-A695-8E798BA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488C1-2F7C-4008-AB75-4EDC7FF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8F32D-EBD0-473F-886E-BF522B8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对服务器和异构设备直通很关键；风险在设备生态、固件配置和 verifier 无法直接观察配置完整性。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5FDE7-F4B4-4B03-89BF-07891F56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76119-3A59-46F5-B741-30595059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5A6507-799F-4CA6-991F-6FC4615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C5235E-7816-46C1-8BED-685FB90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FD0B3-B4BA-4D08-A7B6-749D307B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DF6C9-08DE-4ADA-906C-FBAED8D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5A9FE9-134E-41DC-832A-BB1EB3E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164EC-D63E-4F33-AD42-4505B927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063813-83C3-4505-9329-30C956A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文章评价  |  07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392593-CD7C-4BC5-AC5E-A766862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151215478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AE3B1-BDFA-4432-AF8C-940C10B6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A5A53-5C73-4131-A8A4-86CDB83B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C4FF0-DA7B-49AF-8811-B73DF9E8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6CDE8-1F45-47F9-B3E1-2A1440AC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Advanced Interrupt Architecture：内容摘要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FDCC6-DF73-466D-A973-8D5AD218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9E62B-642F-47AF-B74A-25670754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F1F4F-B486-4385-90A7-AB0E24B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15B4-DB56-4847-8592-FB794F9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interrupt、MSI、virtual interrupt 等基础，为 trusted interrupt delivery 和 confidential I/O 提供标准语义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FA406-8C40-45B6-B77C-D3C46DC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519DA-0651-448A-B6A2-8348F317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D3597-4032-4CE6-8990-847CE5E9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EA8CE-77E7-4A28-A7C3-3C409EC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8CAF8-B6E7-45B7-80D6-466134E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interrupt、MSI、virtual interrupt 等基础，为 trusted interrupt delivery 和 confidential I/O 提供标准。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4D191-38E6-43CD-85FE-960EA519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57122-214C-45B8-A187-D75E29F4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AIA specification is the current interrupt virtualization and ownership substrate.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E9947-B785-4D33-9D72-AEBD2BED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E23D2-6CBE-49B4-8F88-BECB43C3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497EB-D281-4FE4-8A27-1763C256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E85F9-3C90-4420-9E0C-5C02304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99D93-6EC2-41D9-BCE0-A3A4A184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5B0CF-64A2-471B-B3DB-419A92F9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A5B2A-09B2-41DE-A2AF-C7937D6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D1D33-2EA1-4B0E-A5C1-2C9A106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9D271-7A3F-4F6D-8AE6-3A53FCB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4357B-549E-4A6C-92A8-9AFF7FC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54C85-4F08-4471-9B44-271E9C2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76781-837F-41DB-A8A4-65602C53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C0313-5AA9-4D18-B8DB-FD7ED01F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7CDE96-F376-4FBD-AD0D-BF43FCC0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34301-82FF-4E31-AEDC-7B1BABCC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F43EB-29B2-47E6-9A23-B17A83D6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457B5-6B02-4930-A9F2-2059709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BA554-99AE-4868-BB1F-561E2261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140C2-3457-48D2-AA8C-3476249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Advanced Interrupt Architecture｜证据等级：E0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DBE420-5CCC-447E-9CAC-49350889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85246-0CA0-4B58-91A4-AB824E9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5EC9D-D053-4CC3-A0AE-504F114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E48AE2-2691-4A31-8E12-1FBCD244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内容摘要  |  07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4F27E0-1465-46D0-A507-ACC14EA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1610206018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46C34-C4F4-4B75-BF7D-4286203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F250B-A5C8-448C-A0BB-FEE5B3FC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AC7B8-709E-4EC0-B599-D3CBCD8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08FC-49F8-4999-AD1C-ED7402E2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Advanced Interrupt Architecture：研究背景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C9403-FD75-4563-B0C5-03A66AD2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0831D-E4D2-4787-95A8-64E88322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2C85-F9F7-469A-8A2C-62D3DD53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0842E-01EA-4F18-BACA-95B7AF3A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I/O 不只需要 DMA 隔离，也需要可信 interrupt/MSI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893ED-D90C-4702-8D2B-523462B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BBF64-7BAC-4301-925C-EB6FE27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E69B9-39BF-46D5-A06C-548BADEE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95C22-D9E0-4E63-90E9-7321F25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F8AE5-8A69-4C52-BFF5-9F5E70E1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I/O 不只需要 DMA 隔离，也需要可信 interrupt/MSI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FFBCF-D6E2-4879-90CE-17C3674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D75B5-6ED0-4F2A-BD33-6A44BF16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runtime CFI 则是独立的控制流防护 substrate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CE052-0A77-45C3-8A3E-14A1648F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F64D6-1CAA-4B4A-931F-D3163A96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45629-8DBB-48AB-B46E-2872F586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3ECE5-5869-4CA9-A0A1-9C43A948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483B2-3CF4-452C-8335-24D5C53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3DAA4-22DA-47C3-98DB-6CEA76C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684D4-7296-40A7-BA38-C23B298B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837A1-73D5-4B23-B315-8B0D2F5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基础安全 primitives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70E11-E6E1-4E59-BB6E-80D2327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4A5E9-98BF-428F-AD73-CC3993F2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C3D79-29A7-4F84-98BE-1FF5955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PMP/ePMP/Smepmp、IOMMU、IOPMP、AIA、CFI 等 substrate 与 TEE 本体区分开。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461166-6F33-46E0-9201-C47B751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6A1F7-2052-4C46-BC76-E5B5D49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28D24-938D-4D87-BCFA-A0EAE33A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Advanced Interrupt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B37F0-D0AE-43C4-A43F-CD7AFDA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B9000-4295-489B-8944-1B8C3142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D71ECD-EB38-4C76-8F6D-6A2AED9D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4FF9F-207B-4B5D-AFB3-A8658C8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48A75-4E51-4560-9A4D-10A81A2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Advanced Interrupt Architecture｜证据等级：E0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FB30A-3A5C-43C9-8E66-8D24665D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0C5B97-8F99-45EC-88E9-E7B7CDC1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ADA1A5-4E7B-4E19-AF89-A687357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33B111-3446-427B-A55F-FACC396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研究背景  |  07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656DF8-9D6D-4B1E-AF55-FAFCE94A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13274683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1FDAC-C211-4D4C-9BCE-EA0160E6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6E98-114B-4F9B-9EA7-F19CCC5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73627-FF4F-46BA-A6FA-0371D5A4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93FB-8A76-411E-B7B3-C402FD9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Advanced Interrupt Architecture：解决方案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8B2D9-B48D-4990-AB9C-7B6A2A52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B4664-FBDC-4AD3-91BC-3D0464FB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F7A4B-97EF-4F76-B0C6-8B33958A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95A2C-E4F4-417A-9B5E-82B4F73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AIA 规范化 interrupt controller 与 MSI/virtual interrupt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4E856-59EA-449B-8DFE-850AF54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61B0F-37E5-4EEA-9C52-ED0D9057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21651-5438-4024-87C4-6C377D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2E18D-8574-4A9E-8823-596AA1A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28B96-4231-46F0-BB13-A6D0B18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AIA 规范化 interrupt controller 与 MSI/virtual interrupt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AEEB5-17CF-406D-A7CD-9D594D2C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9074E-7DC5-4DCB-96AA-8D366130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`manoni2026cva6cfi` 作为 RISC-V CFI draft implementation auxiliary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83A24-1B1A-4148-9F5D-0FA968DC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661DC-70D6-421A-B6B6-7988EF45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E1E8C-5278-4AF4-A2AC-B799A7E0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9B2B9-C84D-4DE4-95FD-53E69DB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721F1-3ECA-4187-9420-659B6D1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88ACC-7F59-4915-BEEA-73324AD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Advanced interrupt controller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36E7F-B988-412C-9769-7E34294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F0151-47E0-4F71-BF8A-442FFB37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166AB-1977-4FA2-A3EA-B0D9DC7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42679-BEFD-4E24-BFB8-06F3B4B1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MSI and virtual interrupt semantics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0F4395-5803-4DC1-9FF9-10926B86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638079-B300-4387-9FF3-759AB77F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9CB8B-175F-42EC-9326-4FC0C5DB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3FBB48-DCAA-4D51-B62F-0683D24C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Trusted interrupt-delivery substrate for confidential I/O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DD765-62D7-449F-970A-3A7B29AA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C42153-16E8-489F-A925-9168985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Advanced Interrupt Architecture｜证据等级：E0 / Spec-standard SOTA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839A4-10E9-4FAD-9799-44D52435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66586-BC96-4A4D-AC57-8A248C6A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F87DB-B2D4-4203-A41E-4139EE4C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321951-F852-4FDB-9A8C-4AA84038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解决方案  |  07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7739B3-4822-4E90-98E3-FBF09BB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127</a:t>
            </a:r>
          </a:p>
        </p:txBody>
      </p:sp>
    </p:spTree>
    <p:extLst>
      <p:ext uri="{BB962C8B-B14F-4D97-AF65-F5344CB8AC3E}">
        <p14:creationId xmlns:p14="http://schemas.microsoft.com/office/powerpoint/2010/main" val="1948811097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F5C3F-7D10-4AAF-A383-EA93574E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14126-8D78-46A7-A9D6-FDA788D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A16BA-CB0E-4435-9D6E-F4A12FDA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5953-660C-40DA-9B4F-1AE7234D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Advanced Interrupt Architecture：实验结果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3729-3160-4747-9148-99045D69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C4BB0-CAC9-4538-9503-B2B170E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E548F-7BB0-49C8-B983-6211363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AFBCC-592F-44A6-91C5-DB5846BA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Advanced Interrupt Architecture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065A6-1F7A-4014-B694-90790016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F6B56-CF44-4FF7-875A-FD6C44D4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D03EA-2957-4D20-AB46-3D825946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F8BB2-ACB6-414B-ACC0-86ACDE5A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E5DA1-CA1E-446A-8333-2F331321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9B2E3-5D0B-4312-9DC2-527948DB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04045-86A0-47B0-BE3D-51BD9659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可支撑：RISC-V AIA specification is the current interrupt virtualization and ownership...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73389-B2BA-4F9C-908D-487C3EC6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959A9-922C-4FA8-A272-355141A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EDA4A-431F-4B5F-8C80-183C4A8C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F0106-21E8-4C33-852C-0BBB85B7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2CD8F-CEB5-4877-AB03-F275DEB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513A9-1960-47BC-869C-9E4635B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80134A-61E4-4404-AA0D-50F89581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6AD33-6AE1-4487-801D-C2FBE6FF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37DAD-B45D-4190-BDC2-55CE383A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539AD-18C9-4AFA-8493-56A9E3C9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8816F-10B9-4F84-A283-BF4206A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7FFC83-9B57-4B79-B1C3-48A0EDF2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46291-783B-4A80-BF8E-281A4BA5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Advanced Interrupt 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0C29A6-4E23-4AAE-B1D4-DB7E449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290E0-EC2C-4456-BA4B-95E3BAF3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6FD7A-F0D7-4C7F-83AA-15FF8D6A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8FEF9-74E4-4BBB-A7AC-695CAB7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90054-4AFE-43A6-88E5-704CF6C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70670-8DC8-44E9-BD8D-3F1914A1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C760BA-C006-4B74-8E4F-CF8A631B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40648-CEAA-48EB-A75D-B04C32EC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65EC54-82BD-4100-8C17-0B4E1A23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75CBA-7BA0-4D1A-B0BD-4CF7F17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DBD333-CB07-4838-9094-BA0117F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CE1A9F-8661-4B75-997B-40CC5F04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9A92E1-22C7-4B5C-BDD5-967C26A0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9F8069-FC31-4C8D-B315-48EFB24E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9FE213-8A50-43A1-94B7-D65760A5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Advanced Interrupt Architecture｜证据等级：E0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5028D1-D5EB-431C-BAA6-F963AD9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96D721-699F-45DA-8917-97F310A4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8D3A74-A482-48C3-AB89-DA2E48B7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42C1B1-B7B9-4B01-AD92-2E68A210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实验结果  |  07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D1F5D8-D144-44D6-B1B0-5611A7E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118480363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B92E8-930E-44A4-9629-83ACF9C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17BDC-3DAB-4849-AEBC-410EB53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98340-65D5-4494-828A-01F31B5A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B60B-C50F-4D74-B5BA-FBE7CB39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Advanced Interrupt Architecture：文章评价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0C42A-D3F2-4F58-A507-440913CF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F2CED-2408-47C0-9D80-624D799F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76D92-2254-4DEA-82FB-FC578A0C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8F08A-AAE6-46A3-B018-4D8F39D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Advanced Interrupt Architecture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50E06-0AED-4F42-94B4-0C2CD7D5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59A52-67CD-4CA8-8658-08FA317A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CA7F0-B1FA-4C32-AFE7-B0283C6B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A6AF1-219C-419B-9800-A76FC8C1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FF494-3458-4237-BA37-35E103F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设计优势：为 trusted MSI、interrupt ownership 和虚拟化中断路径提供标准词汇。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01654-8497-468F-B46D-8FD66241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BB614-79DD-4944-9F21-5CAD8902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局限性：不定义完整 confidential I/O protocol，也不证明实现侧中断隔离正确。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B2710-187E-4301-9BB4-2CFE0EBA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4B1A0-A6DA-4FF0-A3EF-2524534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商业化潜力：对直通设备和 SmartNIC/DPU 中断路径有基础价值；风险在平台实现、IOMMU/IOPMP 组合和审计可见性。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63148-99D1-43A3-9710-BD348E0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F52C1-5CCE-4879-AD99-992B1731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3B025-D140-49E9-B840-581BFF2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E5200-5F31-40BB-89D4-A51CA02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7E33A-E6A0-4556-B5DF-67C0F11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99322-7F7B-4581-8BE6-BEF9CE3B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0221F-B999-48F4-9722-06B46FC3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2E215-E541-4DBB-811C-7318D70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0B968-4642-4045-A1D1-C38CE0A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6EA6C-FC24-4AA6-9BB0-CA7F139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 trusted MSI、interrupt ownership 和虚拟化中断路径提供标准词汇。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583248-0685-494C-8FE4-CC8BAF95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EB296F-3C11-45D6-9BE5-AFA3B4CC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989DE1-9880-4177-9C28-A436795C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不定义完整 confidential I/O protocol，也不证明实现侧中断隔离正确。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83D22-077E-45EA-9D89-D7F22A00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36A13-8503-4E68-AA05-2CB968C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5465B-ECDB-4B35-BD46-9EC3976E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对直通设备和 SmartNIC/DPU 中断路径有基础价值；风险在平台实现、IOMMU/IOPMP 组合和审计可见性。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C309A-3264-46F8-95C8-43934138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53F369-65FF-4D17-A7D3-F9540EAA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4F947-2B0B-49BC-94FE-475BE83B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02918C-79FF-4D67-A851-B9C87574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FB62B-40D8-414A-81AE-B25A49C8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Advanced Interrupt Architecture｜证据等级：E0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8A6BDA-5745-4997-BD18-BCA0B009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A888D8-655B-4827-AF6D-93653FA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D7DB27-847D-45E3-B055-C3D08E6B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A5A9E5-2033-494C-8144-B92DB08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文章评价  |  07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B12001-9F3F-4569-9C6A-43EB8C8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1855736634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6F643-8C06-4277-9621-A7D8A391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AB247-2880-467F-AAB8-33118FF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E13EB-F676-4436-B4B1-DCDC65D0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FC283-287D-4D5A-B82D-A66896B6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基础安全 primitives：方向总结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B02BB-710A-4F9A-B280-13CDF6F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BB76B-A99A-4DD3-8F20-21C338F1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763E9-5973-4C89-91B4-ED389959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ABB74-A0A5-40B7-ACF0-8E16BD13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基础安全 primitives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7E15D-3654-49B3-8A6D-0F48401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A1A89-B19B-46E6-952D-9438B31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13AB0-B429-4C60-8BCC-1C80835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6B63E-D973-49EF-A648-B9F476DF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BF1A2-5713-4CCB-ACD5-EBFFE001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privileged architecture：开创/基础入口，E0 / 基础证据 standard substrate。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5017C-F4D5-4CBE-B9B9-12340DB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C4434-E8D1-496A-9D24-8F97F421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IOMMU：代表性改进，E0 / Spec-standard SOTA。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6070D-0C0A-4A4E-83D9-E58ED55D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8374C-EC1C-4842-9B9E-ACFA7C46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Advanced Interrupt Architecture：当前 SOTA/补充边界，E0 / Spec-standard SOTA。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1C335-AD47-4242-9487-E10D0F9B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624B1-598B-419D-9260-778F80BC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BA8C0-EEE2-4E48-BE41-0E42AB0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19863-DB05-442A-8FFB-562E3D6E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82DBE-D3BD-4FE1-AC94-1E6C0CB7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5AD75C-65F4-47DB-9A2C-47704F1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2B1FF-0257-4EF2-802A-726C67AE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D60A70-9E6B-4022-B080-5B546B13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6DDCB-FB14-4ED8-8743-52E711A4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E3BF0-4496-4FC1-B58D-4E685693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privileged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DE1CC-6DBB-4DD6-9EBD-1634F6C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A8288-712F-4C1B-BACD-693A27A3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privileged ISA defines PMP, traps, modes, and paging substrate...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6FB3A-9502-4680-8FC2-9AEB2A3D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A47789-7E04-4A2C-8D94-6AD94F34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17D88-434E-4657-B009-842EB189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FA9854-72C2-4BE5-93B1-3C2E01C3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 specification is the current standard substrate for DMA...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B8E74-31C1-44F5-A7A6-1B97CAA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9EDD2-67AE-41FE-984C-94A8C18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Advanced Interrupt Architecture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F9A36-FFC3-4B0B-AB43-CB00BB2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42102-CF9A-475E-B73D-57CFAE6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AIA specification is the current interrupt virtualization and...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F1BA7F-35D5-45DF-8BA6-23C5F04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4B4840-4E39-4AE2-A55C-4AD021DE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E255CF-125E-4B2E-8410-5176E997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ED51B-BBA8-4E79-92ED-6E97901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71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C62F5B-4ED1-48AE-BA8B-122E6DD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60EDA8-D38B-4062-AA7F-EC70598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基础安全 primitives | 方向总结  |  07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68AF27-DE72-4FEF-AAF1-4D037D3E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2132578092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C4CC49-38D2-4479-878C-482BCC8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3EEE8-7FCB-42CB-A3F7-10FFF81D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3BB52-573A-4AEB-923A-D208410D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F3A12-F506-4072-9AE0-711D33D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99FF1-A0E4-466E-A2B8-F15A70A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E08AB-47DC-43AE-973B-AC793269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PMP-based enclave 到 scalable memory protection，再到 tag/metadata primitive。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BB13F-6699-49BE-830D-91BAA1A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C4899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B5EA1-ED07-48BB-9AEF-5DF0254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D02DB-787A-41C4-AA5D-BC21A759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Keystone: 开源 RISC-V TEE 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36364-8BED-4F9A-B6E9-548E121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0F12D-2870-4AFE-9687-644A305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7EA9-BABF-4D23-98EA-B8E88E7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Penglai: scalable enclave memory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5B572-CAD7-4385-B7AB-5F75D3A4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7FEA7-6224-4972-90EC-BC39FB5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7C8E2-3895-4EF3-87EA-9EAF2493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SPEAR-V: low-overhead RISC-V enclave primitive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CA559-1FC1-419B-BDC6-959005C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5D741-AFD2-41CF-AF5F-F580E00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80AE5-ACD1-4DC5-8FEE-62A58C3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69B5A-D14C-41C5-883B-8E73B2EA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D5D83-AEE3-46F6-A241-0DE3313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RISC-V TEE lineage: Sanctum / Keystone / Penglai / SPEAR-V  |  08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69FD6-D969-43AA-8592-F8640DC2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620769896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A40BB-A5C8-4388-A38E-45169602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B7FD9-2A8A-4D0E-86EF-45EEB216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BCE59-AA7B-40C8-A95F-29E0DF5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B806-04B6-406C-A369-1EAFB7A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8E459-854B-4F38-830F-E2848CC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83011-253D-419B-A440-EA75410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8817C-F3B1-4DBC-904B-2AA323E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2B34C-4A1C-4BF3-901F-4F968AEB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2F6E2-883C-4190-9753-4BF9B4F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B6316-1527-4FB6-9EB4-20222D77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347D0-40B4-4F39-8E8E-ED94E9AA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F5FA1-535C-4DA7-A25C-9C4D091E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AD360-876B-4057-8B15-58A110A5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PMP-based enclave 到 scalable memory protection，再到 tag/metadata primitive。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E3F3F-2478-4F37-9F44-DEB61BB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88D39-BC20-4B20-98C6-21F455AB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固定三篇主讲材料；不引入辅助材料，直接呈现 RISC-V enclave lineage。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8C847-7071-41F1-BB8F-EA06C58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01FCD-CCE9-44AE-A946-984892E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58952-760B-4DEE-A9A1-198FECB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AA37F-65A8-4446-AB11-5812A90C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4787E-EBB9-4165-ACF0-E60DEA93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7C072-0026-4385-9916-076FB961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F9052-9FF1-46E7-899A-A59DB71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95FDB-5327-4637-BC4E-B365F42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4E017-A04E-4853-80A7-75EEF3A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1FC30-34A4-412D-8CB1-30993ACA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1A462-C4A8-4BD9-B487-6100DF33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FDC93-5FA7-4C0D-A407-F67A9470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Keystone: 开源 RISC-V TEE 框架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A1EE5-F1D3-4339-93BF-4F03A3F2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4DBC32-8EB6-4027-A6BE-AF20C046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F8D48-6509-407E-BCBA-7513977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9C2BE-CFA7-4282-B82E-35822463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Penglai: scalable enclave memory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EDFCCE-550E-488D-916B-EDA9525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F9B81-12DC-4D5F-811E-66EE79BC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A0C53-6B0D-4DDB-A1BC-BE75114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A626FD-E023-4CF4-9D74-98FCE925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SPEAR-V: low-overhead RISC-V enclave primitive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75ADF9-E74A-4161-943C-3ABDFA4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9BAB77-4CB6-40D2-8ED5-AEE252ED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86AF4E-5F14-4538-8170-DE2B4EA2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352E8-6073-4C05-9726-31C00655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9B55B-7A5B-4828-9370-CA98AFB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72A821-DE59-43D9-96A9-E053D56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3EC5F-7920-48A5-BDD0-C7B805E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7F5C95-0BB1-4388-A44C-F491A654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方向开场  |  08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BC50BD-A334-42DA-BF26-A5B6314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2021307715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F2B2B-04FD-43B5-8C39-D8270B6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22E61-2D4F-4878-A65E-D1FDA95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FD29E-CE5D-4D9E-ACF9-F10BF78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D2DC0-8498-4669-948F-788F38A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Keystone: 开源 RISC-V TEE 框架：内容摘要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4BE7B-F8AD-474D-A8F7-AE0990B2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来源状态：作者公开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836F1-E768-41BA-AD61-139AA197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0B8EE-242B-4190-8CB7-D95708D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4379C-E02E-4A98-AE29-4DECBD75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开源 RISC-V TEE 框架，用 PMP、security monitor 和 runtime abstraction 构建 enclave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E418-C0A2-4AC3-9AFA-587B467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0067E-335F-4DFA-B635-87E3D938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F3BC7-B224-42B7-8399-F9A1807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04FE0-3640-4A43-98B7-7254156A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CAAA6-344E-4A4F-A23B-A478C6B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开源 RISC-V TEE 框架，用 PMP、security monitor 和 runtime abstraction 构建 enclave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4459F-643C-4F34-9B3B-8593846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F8997-59D0-4A68-B145-DD04EA4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EuroSys 2020 Keystone is the foundational public RISC-V open-source TEE framework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778D1-98AC-4FD4-9E96-2CF80B90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1E715-399F-4628-BB55-ED8A6794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E925F-DD33-4C54-A2DB-DC344611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3C3E9-5291-461F-8E76-2AE40BC9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298DC-77B0-4E48-AB47-0060B88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4659C-5BFC-4754-9CA3-86F0F8BC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340C0-9EC8-4CFE-ABFD-923B38D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1C347-D635-4ECD-962E-A8D61A3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24CDC-6400-429A-80F3-433D6FD3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8E6A8-AE83-4DF4-A5A8-8A9E25A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23965-B665-4923-AAFA-2499D28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44F11-25DE-47E8-9596-8C74E928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75E62-C22C-4D70-ADBC-083758D1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4B09CD-F779-4AA4-89BE-71EEABC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A375B-374C-41D1-A536-5FC1F24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E8914-E7A3-4276-B4F2-97FBEE34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E817E6-514B-4F2A-B483-268173DC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作者公开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A99C41-FA6A-4692-8AA3-8F03E4E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965569-8E3A-4EDB-A3DE-30E885F6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来源：Keystone: 开源 RISC-V TEE 框架｜证据等级：E1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34217-528F-42C0-BE4B-D112861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E21928-88EC-4510-8DED-ECA11A75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D9E763-1AE8-4E5F-A52B-5C796DA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3239C3-8D59-46F3-8CB0-A0B0166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内容摘要  |  08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EC737-A312-4B5C-9B57-7B1D00B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133</a:t>
            </a:r>
          </a:p>
        </p:txBody>
      </p:sp>
    </p:spTree>
    <p:extLst>
      <p:ext uri="{BB962C8B-B14F-4D97-AF65-F5344CB8AC3E}">
        <p14:creationId xmlns:p14="http://schemas.microsoft.com/office/powerpoint/2010/main" val="1292330784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C0722-9BCA-4AED-93D0-F9EE0923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FAC85-5A65-4D54-A438-76E7737A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CE3D6-F62C-414B-995A-D11AE702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91E47-9488-4941-B9E3-867F3957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Keystone: 开源 RISC-V TEE 框架：研究背景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51D22-6770-4F4C-8CE2-FCFDCDCA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来源状态：作者公开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49427-3C68-4144-B6DD-CA53088F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207D5-AC48-4EC4-BED5-905B35F0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0A56C-4527-46C8-8B41-88229B72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 TEE 难定制、难验证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759DC-E0AA-464F-8B52-E6D37ACB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C9E3C-48D6-4EE0-A91B-ADE3D8B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F1425-EEA2-4E27-9CDD-CFF176F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85887-AFB3-40AC-A5D9-1322F48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CBD3A-1AF7-4169-811B-B17F480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 TEE 难定制、难验证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3728D-8F8A-474A-A7E9-C230539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8527F-F983-4EDC-BC15-3FD9C730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提供开放硬件/软件协同机会，需要可研究、可裁剪的 enclave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AA8CB-BE18-4A9F-881D-C35A0E5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DD43C-0517-4243-BAF6-78A1C4CB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A0C07-DFB5-4477-B6CA-549ED0C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F98A1-2212-4399-AAC0-38643C30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B78D4-DB1E-4342-AEBD-0CFE10C0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EC946-14F5-4BF8-8FED-3167355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E444A-E518-42B7-A2D9-20ED69CD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4DADD-C26C-4756-AA8B-F396925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999B49-D4E3-4163-9DF6-1795DF5E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4612B-9167-464F-B7F0-83095B7A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3C3F7-2146-40D6-99D0-E94BCDFB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PMP-based enclave 到 scalable memory protection，再到 tag/metadata...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55DC00-705D-44CB-861D-C2508344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563068-2AE8-4275-8B09-653278FB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9EB8F6-C842-4657-9A0B-1FBA7469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Keystone: 开源 RISC-V TEE 框架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F64D7-B0B2-4690-85AD-359A94D2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78722-5139-4A32-896D-EFE2F033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FEA6A-F069-4534-B495-487FC95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D4B0C5-048E-4378-A3FA-7FB5BC7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E31F4A-2336-4A03-B26B-A4DB4204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来源：Keystone: 开源 RISC-V TEE 框架｜证据等级：E1 / 基础证据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92EBCF-4D45-4DA9-977F-DA2DA37D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C10980-CC04-4A23-90D4-D59F53B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884DE-33C4-45BC-8F7F-6DAEFE9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82940F-4FA3-4490-864C-99690C32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研究背景  |  08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2BE06-8E64-4433-8591-87CF5EE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1160109536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6C198-6116-49AC-8A71-069299F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71115-E1FD-42CB-BDD7-37A3CB4C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97BF1-CCEE-4EA1-919D-0CCDC61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7A5C4-D536-4F29-9444-24F89ABD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Keystone: 开源 RISC-V TEE 框架：解决方案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2822D-C9E3-4ABE-9E1F-7E28214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来源状态：作者公开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065B4-F055-4D11-97AF-D17C73D1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154D8-F233-4918-AC49-064D46A1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02563-DA6A-43A0-A29E-9908D80D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PMP region、security monitor、runtime 和 host ABI 组合成可扩展的开源 TEE 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4A063-3F04-42C4-B01D-1D796BC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5E0F5-F18C-4148-BADA-81FB11C2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13DC2-65A7-49DB-9FDB-8BD1DF2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BAEC7-B795-4319-BB7C-CD3F9B21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2413A-ED87-4176-A33B-2EBBC768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PMP region、security monitor、runtime 和 host ABI 组合成可扩展的开源 TEE 框架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4F6BB-44CA-400D-A743-5BDF425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0E596-018C-43A8-A06D-6D33638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C5412-8906-49CE-8C5D-9513827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DEDF4-A189-4C1F-ABAD-34FC57AE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08091-0ECE-453D-8ADD-081DD86B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726D4-919C-472F-B591-81434E7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PMP-based enclave isolation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64B1A-843A-4C9A-9716-50708E89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6DFA5-D6D2-4ABC-9CA2-EDF4C0D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77EAB-6A59-4639-99AE-B4ECEFC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5CA37-DC40-4987-93B8-B1EB724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monitor and runtime abstraction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43E96-0841-4051-973D-970B2AF9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E20A3-C755-4568-BB25-515EB26D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27F34-BC1E-474E-A8E7-B71187B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36DBA5-A0F0-4C28-876D-BE3F9970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 RISC-V TEE software/hardware co-design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35BEE-8F3D-4816-AC10-424602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86D04-EACC-4346-96B3-FC385DD1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来源：Keystone: 开源 RISC-V TEE 框架｜证据等级：E1 / 基础证据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A06E7-1482-4D17-B659-DFBBCC48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6B1EED-E816-4267-A265-D37D743F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5A5F4-62C3-4488-93B2-0DDFEE8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040F2-37DD-4573-BD8D-5C70F2C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解决方案  |  08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43DE3-4879-4EDE-9E46-B3DAAA23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2115792619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2CD38-665F-4DB3-ACB5-203EA3B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C937D-BE74-4A3F-9F3E-0BB6FEA7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7CB1B-9BF8-42D5-8323-B5EA3862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1E981-6A37-43C0-8FD0-6A78C4BC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Keystone: 开源 RISC-V TEE 框架：实验结果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A3697-5FD3-48EC-AE70-F5174E76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来源状态：作者公开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953B8-3A90-41B4-8E32-D8ED80A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CEA46-675B-489A-831A-E7CEF91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7240D-F479-4F7C-B73A-EAF40409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CoreMark/Beebs/RV8 等开销结果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63E2A-D8B5-435F-9B76-242DB27B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436EB3-B710-4406-86B3-D331591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E872E-0847-4EC3-959B-833E9EA0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4E404-288B-4199-9A18-A044A633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B25A4-90E4-465A-8B12-EEB1E8D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CoreMark/Beebs/RV8 等开销结果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94037-7DB4-41CE-9F0C-309E81CB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66B0C-A8D9-4386-89A3-F8FFCEB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待补证据：需要核对原文 Table/Figure 后再写入具体数字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FC609-D51E-4979-8ED7-9F0B114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B507E-0696-445F-87F1-AAA09FF0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721CF-362D-49C0-8982-E4A3577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3EC16-B4A1-4932-91E5-F1901FF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D7A17-4AE1-473A-AF71-83F276D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2F480-557E-4AE1-BD63-1F9FADD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FE7CE-6118-4BF6-96CD-7D8E904D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42F3C-6FA0-4F9D-AD8A-A6CAB255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536FF-13C7-4F17-95CB-F2B78E3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Keystone: 开源 RISC-V TEE 框架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CC5BB-07E2-4D17-A897-4925C20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作者公开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4B9C5-35C1-44EF-B0C7-FE2CA741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465072-9CBA-4A94-9710-CC44900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E45B57-7B9C-4036-A866-5F2AA73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26B56-4C8A-4177-BCF7-76983C92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48684-4095-4FE4-AC28-46E9069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4A7E53-7C11-4F5B-939F-E0FC2038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EC332-DD0B-4FFD-8114-F7674C5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F4549-93B3-4B29-B911-F5C8CA4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FEDE47-DF45-46B1-94A1-B196A52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CE273E-27CD-4FF1-B301-8CA16174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C13383-680A-4FB4-A983-4E893C2E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9F8CDB-38B6-4BC2-BC00-CB59069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B6980-3D53-4941-84C9-0DABFA2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79C25-CBD7-4017-9C3A-39ADB780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来源：Keystone: 开源 RISC-V TEE 框架｜证据等级：E1 / 基础证据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42C3CF-6D7F-4C50-99D8-519EB4A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9A56A8-E6EA-4E1E-9425-7134B6F9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1E9453-EEE7-4C99-9D22-D0DF27CA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58DD3-1497-4DFF-A0D0-3AE9580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实验结果  |  08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5117B7-B25C-47D3-80C8-ACA9F65C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1661691311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F72E1-79ED-4622-9704-67DB886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4C093-2B66-495F-BCD9-612D159B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746A3-7989-4C66-A735-701F8F26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30584-977C-49A7-9382-1E04FB6E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Keystone: 开源 RISC-V TEE 框架：文章评价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E1CC9-0F9A-446F-A1F8-E3B4862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来源状态：作者公开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F702-4A2B-4AE4-B242-57F5A33E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57BE0-31A9-484A-9B2E-F9364DC6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846E-CB18-4AB2-9FFC-0F29CE5D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baseline，适合解释 PMP-based enclave 的优势和限制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F6647-CDB6-45D4-B03E-79D0BF5F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1D9BA-C1BE-492E-829D-FF93516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724FB-D566-4446-9E02-62587658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AAE9F-F456-425E-ACC0-3AF9C4EE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9142D-739B-4693-BA86-0403FB0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设计优势：RISC-V TEE baseline，适合解释 PMP-based enclave 的优势和限制。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EAD6A-0FD5-4573-A520-CEEE4BF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033C8-8443-4E49-8DB6-0347BE15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局限性：EuroSys 2020 foundational evidence，不代表后续标准化 confidential VM 或生产 enclave。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D10E6-C52C-48F9-B85F-D78F7FC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CA1B9-7365-4C6D-91D3-DE731AEA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商业化潜力：开源可定制性强；风险在 PMP region 限制、生态成熟度和安全 monitor 正确性。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E2635-DF31-4BCA-B63B-D1B0692B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B39A2-83DB-4759-8138-A8208691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Foundational；作者公开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4C4E5-018F-4F03-9960-69CC1423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87CB4-17B3-4EA3-9E05-A542D29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ED47C-13EA-4417-911C-659A22D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125C6B-249F-4F90-ABBA-37D4EFE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6E3B4-A51E-416C-A598-F789B26B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CDF86-F990-4D26-8092-7BEEEF9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8C14C-23EF-448B-93BF-DFB4433F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831F5-A2B0-4857-BA8C-09045E14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baseline，适合解释 PMP-based enclave 的优势和限制。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FE9B1-4ED9-496D-B63F-F6521348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9A847-AD23-4B00-8A04-5633518B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BBEA1-9155-4394-B93F-87C530D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EuroSys 2020 foundational evidence，不代表后续标准化 confidential VM 或生产 enclave。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6E897-73F0-41DF-9BC1-9176CE5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0F9DFA-4D08-4875-89A9-69E65004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0F30C-B389-46CB-8033-33700C3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开源可定制性强；风险在 PMP region 限制、生态成熟度和安全 monitor 正确性。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A1B668-6058-4528-A2F8-51EE478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DC29B-CAB3-439D-8F19-49782B00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DD070C-2BBA-4B0C-8B9A-687DE05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BF2C95-054E-4284-A6E1-36019852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D7FD7-7D7A-4EA1-B3F7-4DF9CBFD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来源：Keystone: 开源 RISC-V TEE 框架｜证据等级：E1 / 基础证据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861E17-412D-4941-BDC1-C4A1985B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866A42-5245-4213-916F-1B06F31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2EE4C5-1CE7-4F27-9F9E-DA7D2380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15A75B-F55A-4902-9468-357CC0BE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文章评价  |  08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A900EA-BB41-4B5D-8741-7AE4DE46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137</a:t>
            </a:r>
          </a:p>
        </p:txBody>
      </p:sp>
    </p:spTree>
    <p:extLst>
      <p:ext uri="{BB962C8B-B14F-4D97-AF65-F5344CB8AC3E}">
        <p14:creationId xmlns:p14="http://schemas.microsoft.com/office/powerpoint/2010/main" val="1129341372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46326-326F-4D5F-9461-50A177B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E0196-5860-4BE3-9D9F-E546BB07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649F8-881D-4719-8D99-863DF14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1DAE5-7658-432B-93B6-86F9CDE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Penglai: scalable enclave memory protection：内容摘要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294E4-806B-4269-824A-2EAD71C4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4A088-F3E1-40B5-BA64-3C90002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EB1AE-C728-4DDC-8713-8B005A83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30D7F-2641-4856-98C0-38C9D6B9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面向大规模 enclave 的 scalable memory protection，回应 serverless/microservice 对大量动态 enclave 的需求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A3A3C-E4C4-4313-A930-D5F6AC1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19B00-62D9-4DB3-BF3A-1E2DFB7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84CC1-C0A3-41FA-A9FB-EB22025E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F392D-10FA-4547-A76E-50FFD8A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D0E0B-9030-4230-B248-D4507461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面向大规模 enclave 的 scalable memory protection，回应 serverless/microservice 对大量动态 enclave 的需求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42FDD-08DC-449F-8AF6-530885EE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0F33E-6391-4DFB-A889-229C49A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2021 Penglai is a peer-reviewed SOTA scalable RISC-V enclave OS after Keystone.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85589-BD26-48FE-9686-93631984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A331F-6B33-4460-A2B9-D69B1B1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2C221-3E3B-46C2-A37E-39677E3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434A1-7828-485E-AD1F-359B7D6A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E102D-7902-4327-BCFE-9D5BE6F6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3EE95-5E7A-4A9C-B999-40D854B3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39B00-FE68-44E4-A063-064A7373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62998-F343-4F24-B857-8BFD4E8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68734-ED7B-4667-9729-F638391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FBEBA8-CD13-4702-9AB3-2F4AD0C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5A684-71A8-4BB6-A264-8F3CF821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2075F-571C-445B-828F-3670BAD4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F55347-89E0-4952-921D-F3310D2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770F3-B9EC-4BA6-BEA3-4782B1CD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EE8F4-BA82-4ADB-B964-5B1BA8F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EDA6A-6D63-4872-AE61-8E3FF0F6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AE78F-B66D-42CE-BE23-B089E74C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C44D0-5668-4629-A686-A9818E9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459364-98C9-4288-9151-CB5D7B5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来源：Penglai: scalable enclave memory protection｜证据等级：E1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1C6153-7590-4380-ADC8-DC262B78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46AA3-A8CA-4AF8-87B3-E34BCFBA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856FC4-09D8-483C-AF46-065B032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E5C4D9-623C-46B5-928F-BF4AD0D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内容摘要  |  08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0DCA96-2875-4E05-A565-39E0BB4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871750438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130F3-E7AB-4572-8D0F-7747686E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9C976-1BB8-4740-AE50-E914C3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3740A-ADD7-4604-8E48-2CC664E0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B6A15-1F7B-4281-87AB-4CC5EB23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Penglai: scalable enclave memory protection：研究背景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8B528-0B26-46F3-BDAF-46F1EA08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8ABEF-D994-4D0C-90C0-071AE748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E7995-662C-4D39-B365-C0CDC2BB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C8520-FDDA-4FDA-BEA7-8760A4F0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 PMP region 数量有限，难以支撑大量 enclave、动态生命周期和更大的受保护内存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3361C-54D7-4F07-83C6-5A1B9F7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69D89-7570-4C20-AD2F-946B16D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0E1CE-54D8-4DBC-83AA-95571E9D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E1BF9-D56E-4BA3-837B-3A3A82E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E00C-1E9E-42F3-B8DB-71636E17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 PMP region 数量有限，难以支撑大量 enclave、动态生命周期和更大的受保护内存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CB950-174B-45FE-91C9-3720B97F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B321F-3074-43CE-97DE-953445A0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35D6C-3554-4EA6-99D0-48C4316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A0B38-B562-4FD0-AA8D-0AB7BC0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8A312-0A0C-42D7-8B9E-64F57552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CF93D-974E-4F59-8128-2CD347A6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D23F1-9666-4394-9E3A-17C3CDB8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66B95-5066-4366-A6BF-82FA8CF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5938E-5821-46DA-8BE3-D8E1FE9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733B7-0942-45F8-B341-65C3A280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3A8BE-EA7A-4D05-ADC3-D5CAAD3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PMP-based enclave 到 scalable memory protection，再到 tag/metadata...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34F87-4C8B-4963-B80F-291C240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8A125-78DE-42C7-8F19-29D20584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BCA0B-D32B-4B80-9F4A-D6E4D6F0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Penglai: scalable enclave memory protection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B4261-9945-4596-9D9F-864513D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CF6D7-5D74-4E47-921E-E637248D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150E7-8A6A-46A7-A958-8E3CE33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0D7E57-DF0B-4314-8878-B79EACCB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5E9B22-110C-4765-8A41-1FAFFCD0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来源：Penglai: scalable enclave memory protection｜证据等级：E1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A96D8-2078-4B1D-8C71-A500B3E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2882E2-EE14-47FC-B144-791EDEB6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5CB022-16CF-4EF8-AE20-0199FE5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B01045-8975-47DF-9CBA-5127B29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研究背景  |  08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D59BAD-DC22-43DE-8AC9-5A2AB078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</p:spTree>
    <p:extLst>
      <p:ext uri="{BB962C8B-B14F-4D97-AF65-F5344CB8AC3E}">
        <p14:creationId xmlns:p14="http://schemas.microsoft.com/office/powerpoint/2010/main" val="793813951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25816-DA62-4970-A94C-7CBB6E12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059B6-807F-4B13-A385-77E4901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79AB7-A5D9-461F-816A-7CDD9E4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BAC9C-C7DE-442C-B595-EB69B12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Penglai: scalable enclave memory protection：解决方案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A57F4-D1F4-4F8C-9CDF-BFEEABDE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0C2C2-5DEE-405E-B2B3-8343510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82EBC-71A7-431E-AC2E-D727DDC6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0D225-F879-4546-B153-57F238B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引入更可扩展的内存保护和 metadata 管理机制，把 RISC-V enclave 从少量静态隔离推进到云端规模化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35258-85C7-4C61-B447-4837F61F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BD905-2F6A-4976-A4B7-56210772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471F6-8B9C-4D38-80E1-7ACBD3E2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E749F-8033-4163-8218-B8FD6B8F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B09BE-0E4F-4906-8801-1B74CA83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引入更可扩展的内存保护和 metadata 管理机制，把 RISC-V enclave 从少量静态隔离推进到云端规模化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25B31-CFB3-4286-BF19-86B42AB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BA34D-56C6-432F-BE03-0A6F3F43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A4D41-B3B5-47F1-B4AC-B1B8012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C758A-5C01-4E42-AB1E-4D7A5491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02205-EFFF-4394-8D06-01B0CDB0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7D01B-44C3-4C1A-B65A-E9EBE52B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Scalable enclave memory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74A95-8E4B-445A-91C1-D5AAF487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70524-09AA-45B9-AFAA-2864EFA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4469C-F7AB-48BA-90CC-0CBF4A9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03CBC-3A77-4F0A-9A47-49ED4329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Metadata management for enclave lifecycle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7D674-E5E2-469E-A4C3-3E2C10D5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EFD5E-56D4-4879-B1B1-5449536D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B7AB5-457A-4960-8417-3D64E628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6336A-7BB5-4ED6-8BF5-3C71B3A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Serverless/microservice-oriented enclave scaling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A35920-EC2A-4F88-AE56-60C189E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D92B2-5E62-4D29-820F-C83F2BFC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来源：Penglai: scalable enclave memory protection｜证据等级：E1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90218-9664-49F3-9CEB-309B635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C93684-514E-4BE4-ABCA-63DCE1F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EB948-202A-42A5-9830-22362698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D88C1-4B97-4EC6-9E85-FAE5B43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解决方案  |  08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A85896-876A-418B-A3BC-FA69321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1255406764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D44BF-BFF5-44F0-AB7E-1BC3ED91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9EF52-36DD-43AE-9713-F718E637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EFE68-2ACA-4C00-A37A-A7CB1FCF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5DAB3-F382-433B-91AB-0EBE74A8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Penglai: scalable enclave memory protection：实验结果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D0653-162D-4FFA-B00F-A58304C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BBCD0-84CA-41ED-9265-EB8790E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396A0-18F6-4724-83C4-EB66C5F4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58445-A8E0-4154-9AEC-AEE35DC4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论文报告可支持大量 enclave 和较大安全内存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8AD0F-9AB3-45AE-80C8-569054E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5FCAA-0241-49B1-9A26-5BCAAD3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5A781-03E3-45B0-9883-6201051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2913C-FC32-425F-ADE4-443314CA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9ED55-E37E-42FA-A2AD-E1753F8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OSDI 论文报告可支持大量 enclave 和较大安全内存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FCA4A-2575-494D-841D-41B0B4D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7B014-E314-4C28-974C-A147DB8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待补证据：需要核对原文 Table/Figure 后再写入具体指标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0E442-E597-49AA-86E0-8E6D9AD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99B78-A48F-459F-A33B-91F3EBDE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DFD6F-6B4C-4B08-9C66-773BF5B9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68056-CE5C-4825-A8B7-00FB6CCF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74CEB-FEC1-438C-899F-FBE8F60D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98FF0-8055-41F8-B765-B2D3411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9982E-DA2C-44AA-849F-CD044E9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83EF3-83BF-415F-A823-9FC722C9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93189-87C5-4B11-9AE6-5A99549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Penglai: scalable enclave memory protection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1BE9C6-F72E-4868-B12B-FA89F8C4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A3B84-07FD-4A03-A3B5-C15C0B8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DE3BB-C9A9-48CB-856C-E4548348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01E6D-1B38-4E27-BDE4-457D4DD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739FF-F1DF-451F-B6B0-41E25035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0CDEB-1B50-430E-9B5F-C52FC27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FA0F5-4AC5-4854-8C41-04C25C38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28293-7847-4D5C-B2D6-56FE5A2D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FD5C79-FD73-4E7D-87A8-E59D0434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9133B-2512-4766-9D9A-6DF88E4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A396FC-D9C8-429C-954F-E2E23C67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25F0A-6304-48B4-96D1-8872F201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65E4DC-F453-47AF-8389-DBA73EF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CF797B-53F5-4BEA-86BB-D335E33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4875AF-3110-44EC-89A0-F0B68C39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来源：Penglai: scalable enclave memory protection｜证据等级：E1 / 同行评审改进证据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4CBDEE-A0DF-4C82-94AB-419BB0C3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8F1FD1-E1DC-41A4-B521-CA2EE617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3DBB38-E46F-435B-A3E7-0DF64476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A6FF12-1697-44F1-B43E-CCA6D2D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实验结果  |  08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33F54-D24E-48FF-821D-18286FB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141</a:t>
            </a:r>
          </a:p>
        </p:txBody>
      </p:sp>
    </p:spTree>
    <p:extLst>
      <p:ext uri="{BB962C8B-B14F-4D97-AF65-F5344CB8AC3E}">
        <p14:creationId xmlns:p14="http://schemas.microsoft.com/office/powerpoint/2010/main" val="1149135171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69EFD-9141-4AD5-BD1F-A7142D4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C2AE9-F0EA-4525-9E12-ED28034B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86D76-5692-4A5B-874D-5D50D775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1BAA0-6DB3-43AB-9D3F-892E2A2D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Penglai: scalable enclave memory protection：文章评价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11C0F-0097-4E23-946D-9302B1BE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1F1D3-9ABC-44BF-B7F7-E35ACFC1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1F1C0-3155-40A0-84E5-A17F5EFD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91E9E-B1E9-4FDF-BB6C-F5E6643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系统贡献强，直接解决 PMP-based enclave 在规模上的瓶颈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87D45-C605-47F1-9DD3-406EBFDE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3E2F4-045E-4030-9139-16CE105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1390-62A5-4B5F-872B-D427A1BF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86896-53F4-41F8-842D-5D86F4F9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C76D3-D5FD-471B-8880-E958E65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设计优势：系统贡献强，直接解决 PMP-based enclave 在规模上的瓶颈。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8D746-1AFA-44B7-9D4B-5018C2C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BF8F9-FD5E-4079-A7BE-3EACB336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局限性：需要硬件修改和生态配套，不等同于 RISC-V ratified confidential-computing standard。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33012-5885-46D2-9F45-D31BEE71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4F03-D11E-4583-B099-07A4D484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商业化潜力：适合云原生 enclave 服务方向；风险在硬件采纳、标准化和云平台管理接口。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ED08D-52AF-4C13-9E3E-505E89A7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181C6-0A13-40E5-ADE6-DD19ED3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1717F-E300-453C-BFD6-AE0C23AF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8048A-C489-4FC4-80E9-05F4336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E70C8-C00F-4B57-88D4-91595B2E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F592D-EE09-43DA-A1FD-8A01BDC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24ABF-DAA1-4B1D-8B5B-FAFA77E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9FE0C-C2E7-4A23-B62C-C49ED2B5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CFBD34-43BE-4768-BAAC-F3414B5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C5AF6-3F69-4086-AB8C-B65E44F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系统贡献强，直接解决 PMP-based enclave 在规模上的瓶颈。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8E0E2A-3DFB-4244-BA4F-9DDB201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A4B11C-8DD5-41A9-A756-9BFBABC4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F33444-E5F4-4C1B-A181-98AE2A0E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需要硬件修改和生态配套，不等同于 RISC-V ratified confidential-computing standard。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15490-470F-4D5A-9F61-00366931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B08FD-F748-4A09-9890-02E87C6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F05A8-A542-42DD-8C2E-2002564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适合云原生 enclave 服务方向；风险在硬件采纳、标准化和云平台管理接口。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F0FD6-8889-4B6D-A348-B0E204E2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56E7C3-D881-4C63-A166-1B3F8DD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FEE9A1-7E50-4DC8-9EFA-598FE351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ACBB3F-7834-45F1-983D-53467FD9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0EB0A-1280-41AB-9749-22CCEC8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来源：Penglai: scalable enclave memory protection｜证据等级：E1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BDF0DA-BBBA-4B87-9079-2B79BCA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958934-3E8D-4915-B5F8-F01A6C8D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3AD02C-47A1-4BB6-A19C-55421849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F169D2-1710-413F-A6FB-8EE35A0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文章评价  |  08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653019-639A-4917-B65E-1A702F3A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565042013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435BC-6C2D-4D92-95B1-2CAEFEDB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7E8B9-EEC4-429E-A09A-200ED182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6926B-FF22-4149-9AF1-38E72294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C1E99-A834-4F1B-95C4-1DE1F939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19D02-B4CA-47DF-9543-0BFBCC11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5DA74-CE97-4B53-9A68-1CC96F0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FDA9-E92D-4E63-A532-084CF43E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B18BF-A48C-46FC-BFD9-C75A6328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提出低开销、实用的 RISC-V enclave primitive，用 tag/metadata primitive 支持双向 sandbox 和嵌套隔离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20DB4-3C25-4AA5-9CEF-2FA221C9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5AA0D-1BF3-4008-8B32-8015701B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01A4A-4CBA-45B0-B419-C6C3AAA8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622E7-4D4B-4032-8F76-7ACE62E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5865D-A7E5-4C54-AA4E-78F661F8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提出低开销、实用的 RISC-V enclave primitive，用 tag/metadata primitive 支持双向 sandbox 和嵌套隔离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94E02-29B1-43CC-9ACA-E4B20C70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B3936-284A-4353-8C32-C052904D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SPEAR-V is a peer-reviewed SOTA RISC-V TEE system with SoC and remote-attestation focus.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5E32C-2953-48B9-95B9-03C3D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C6857-E070-4D5F-B924-6BD7703D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03DDC-F26B-46C8-A981-C186540D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C6FC7-88C2-4A29-B923-37A77D70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3677A-8D0C-4B1F-B8A8-BE56006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D6AC4-828D-4A77-BEA5-40443EC6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65506-9D53-4A43-9A96-5D244C0C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BFD9F-F0B9-4530-A0F6-C9653BD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F5F4F-2ACB-4446-A17B-1A38E4D6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28B1B-6A97-4D99-9AB3-8D9CB424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B03BA-471D-4FFA-8699-BF1360E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FC6F2-1535-4F87-8CE7-E1EB0B5C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96F82-90BD-4B7D-9C6D-78F83022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F9C93-7D1E-41A7-8675-04817A8B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CD539-4411-4551-A651-7189762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970E0B-C7B4-4324-BCA6-F138AD2C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D25CE-EAA4-4C58-B4CA-1658445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CA8BC-6E1B-4587-BD91-DBC2B71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428A1-3F65-4538-8F03-AE65E303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来源：SPEAR-V: low-overhead RISC-V enclave primitive｜证据等级：E1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CEBF4-C1F5-4AF4-BC1A-559ED80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EC581A-0073-4577-A532-03C7E89C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244945-00E4-462B-BBCE-1A738A6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1E269-223D-4691-B44E-2C855154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内容摘要  |  08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5AFCA4-426A-4DB4-883E-96043C59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143</a:t>
            </a:r>
          </a:p>
        </p:txBody>
      </p:sp>
    </p:spTree>
    <p:extLst>
      <p:ext uri="{BB962C8B-B14F-4D97-AF65-F5344CB8AC3E}">
        <p14:creationId xmlns:p14="http://schemas.microsoft.com/office/powerpoint/2010/main" val="515246582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D8CD13-597F-4ACC-AA26-D6D7741B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CE3A0-DAD5-4EB5-A0DA-FEF09812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8C7AE-C88B-4AF5-A3B4-8238D1B6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3420B-3EE4-49BB-B5D5-E5F1548D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BCB69-EF76-4FCC-839B-3D52E298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84625-9BAB-4BD8-BB70-19A9B68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0A08C-937B-47DD-8845-D566A42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FFA62-7516-4B63-9E40-FC80952F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enclave 需要更灵活、低开销、可抵抗部分 controlled-channel 风险的硬件 primitive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F82D8-B371-4851-8313-B7B9275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A7FD5-8540-4B8F-8905-DF68A0D2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B7C8F-CE94-434E-896B-4DDF738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FFAA3-D38A-4772-B822-73A4F85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35095-A85A-433E-AB9F-0AC9CD34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enclave 需要更灵活、低开销、可抵抗部分 controlled-channel 风险的硬件 primitive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3A288-1524-4152-8745-72CB9193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12C8B-7FBF-41E4-BF2A-73DA7683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63A9B-E58F-4DD4-9E04-4B14E659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E47AB-4BCF-4D8F-8236-FD231CA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9709B-7D41-43EC-B8AB-F1D0C77E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51349-7B9E-41A7-A70F-955F0AA1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6996A-9DF5-469B-9E42-E59C7B9E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C870A-B1F7-4E2C-AE40-329403A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C45C0C-A048-47D6-B9C2-D493DF87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3D04C-FBA9-4F62-9419-11A9EA2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58CA6-E9A2-49AC-943E-1401B53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PMP-based enclave 到 scalable memory protection，再到 tag/metadata...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2FC57-E44E-4CAA-9820-426FC218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D472F-F61B-405D-A8B3-4DE7FE42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E32AB-4F31-4DC2-BAC6-DDAE2E6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SPEAR-V: low-overhead RISC-V enclave primitive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9FE137-660B-4EB1-BD44-DE01249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6EB218-5E3C-40F9-92CB-F72D7A71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248006-BE01-4340-B97B-B328401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0298B-1A44-47F4-A3A6-3A8D083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13695B-45B6-4242-ACB2-5B6174F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来源：SPEAR-V: low-overhead RISC-V enclave primitive｜证据等级：E1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FF497-B8DC-4CD3-B286-2F0B38C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230F87-DD40-47D5-B3FA-AAC4C019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7D3C5-AD7A-41EC-9389-731FF4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AFCE0F-27A9-424F-82C4-A55F04EE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研究背景  |  08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F20F3E-AEFF-467F-BF07-E7669F6E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780462482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03F09-112A-4061-865C-3F245B95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BF4FC-5409-42A4-A0BC-49CA26B6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7BA01-2F0E-4983-9F7A-B3426B93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1D4D8-B468-4912-B72C-56B3180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25695-867D-4D3B-935A-A48D2758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9521B-C02B-4D6F-8720-1864713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CFC32-33B7-4AA3-989B-D8545E4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3F6B7-B6B5-4C6E-93F7-4759E32D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tag/metadata primitive 替代仅靠 PMP region 的隔离表达，支持更细粒度的 protected/unprotected 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36964-D6C1-4BB6-9B63-A027303D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A5783-E308-4681-BBC5-8D4E5E83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BE02-0B2A-4042-AAB3-1E7BFF5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4BA8B-801E-47D2-8A2E-EAADD130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19663-C5FB-41D8-AC0F-D13B78B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tag/metadata primitive 替代仅靠 PMP region 的隔离表达，支持更细粒度的 protected/unprotected 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4C172-9A19-499F-8D0B-198E9909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5927F-35B5-44F2-9678-2BE7ADBF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4CF7C-7944-4C8D-9245-1DCA732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BB4F8-11F6-4DB8-A4A5-A4C24CE0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9F4B3-0591-4421-801D-6672C6E9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5F84C-3DC6-462B-B600-A60618A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Tag/metadata enclave primitive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28C16-F78D-4F15-B192-343C387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2FABB-384A-4D74-9141-2ECFEA2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84F75-B024-49EA-8790-11E29DC1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79D71-516A-44EC-A4DB-D40D5090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Bidirectional sandbox and nested isolation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6D81F-452C-4C94-ACFB-3A7BC6BB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D0F86A-CAAC-466E-81AE-909E76B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9D30B-1C70-473B-B06A-817DDA71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FFF0DB-3CFC-4F3E-9670-1370EA9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Low-overhead protected/unprotected transitions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79C16-9CED-4206-B19C-A5CC10E7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B983B-75DF-49A3-9378-77635C0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来源：SPEAR-V: low-overhead RISC-V enclave primitive｜证据等级：E1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37005-031C-4AF0-8350-E4D50062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F7654-5515-4CF5-9935-FC2065C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1AB07-A210-4EC0-994A-148C191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656C6D-12DE-47AC-AA14-E2ED2C02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解决方案  |  08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63F5C-F2D4-4487-A8F2-FE47FCB9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145</a:t>
            </a:r>
          </a:p>
        </p:txBody>
      </p:sp>
    </p:spTree>
    <p:extLst>
      <p:ext uri="{BB962C8B-B14F-4D97-AF65-F5344CB8AC3E}">
        <p14:creationId xmlns:p14="http://schemas.microsoft.com/office/powerpoint/2010/main" val="1504004638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B0E97C-B991-4867-B077-87AFFBF7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CA148-1936-4C60-97EC-C5FED1FB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557C6-D218-4B48-9E6A-2724206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566FD-B1DC-4C81-9635-9AC6A73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26552-FCC4-45E3-A80F-86756C4C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81B1E-C134-4AF6-9D2D-8A43990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FA7B8-D4B2-4059-AF25-30308DA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3D16C-F6CD-4C73-92EA-C37D92D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AsiaCCS 论文报告 protected/unprotected 场景低开销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55676-3DBE-47FA-A1D4-084D3518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DC035-0E51-40D9-A878-2F44FC4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09EB4-8E71-4857-BF77-7C40960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81DDC-645D-4777-8CE3-402A75D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0516E-637D-4A34-A522-E4277319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AsiaCCS 论文报告 protected/unprotected 场景低开销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9C632-0F7A-411A-BCEB-50DF0F6C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02482-CCED-4F45-8DAF-30591E93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待补证据：需要核对原文 Table/Figure 后再写入具体数值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33E72-6CD6-4E1B-AC47-C2DAA8D7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824FE-B25F-40C5-B30D-D0AD138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CA106-6787-4887-983C-8D0F04C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908AD-2F25-4CE2-BAD5-C4A8235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BE66E-8D7B-444B-BF62-737F3A2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E0B24-8865-4101-9DF1-8F95A873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910D9-57BD-4A0B-BBC6-0D96BFB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00FDB-56C8-47BF-8B46-5AEA8DDC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BE645-17FC-489C-B702-210AA864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SPEAR-V: low-overhead RISC-V enclave primitive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7A9876-52E9-460D-B201-C4F6F0D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499A5-0F41-4F68-8577-2A060ED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83882-4257-4655-B1D9-B46A5C2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BDD59-4176-4023-A031-EF30E5A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131C9-64D7-4995-9EF8-3005729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99C3BE-DBB3-47F7-AD40-C162598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E7F59-E79B-47F8-95B6-E9BE9DD4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1CEF8E-D325-42F7-B5CA-A821601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53740F-0CCD-4E55-9992-B97F78FB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B25E7-34D7-41A3-BDA4-550806A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88F45B-6D05-4521-B414-2D213AC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AFC43-0075-48FC-B98F-2680AF4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C7D0F5-D1AE-4AD1-9AF5-52FEB4F1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17071B-C279-47C9-A5FA-38A64478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D186C-E9C4-43FD-9BDE-AE6BA1F4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来源：SPEAR-V: low-overhead RISC-V enclave primitive｜证据等级：E1 / 同行评审改进证据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FD6248-24FF-4348-A4C1-A27D4132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7826D-D8AE-48F1-9F47-D289547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B28A9F-A4BF-450E-B43D-5B84EEF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B3A3E1-FD11-4BB5-B19C-C0052ED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实验结果  |  08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1CB607-EC11-4D43-8FA0-B58DB0FC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1062208144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A358A-27BC-445E-A4E4-27F75B65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51DA3-30B9-4308-B7EE-BBEBCE26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444F2-306E-49B2-82FE-AEE12EDC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F0A8-A323-407D-A68F-2B6DAB8A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CE623-3490-4885-A4C2-02D107F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142C3-8D47-4549-8FAC-A1440046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71819-DF3C-4033-84DF-996057D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1A8F7-B110-4559-803D-209D9034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机制设计清晰，展示 RISC-V enclave primitive 可沿 tag/metadata 路线演进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0F483-4358-4480-BE01-C8ECA80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8ECBA-F355-4A04-A199-ED230FBE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1EC1F-7C97-4789-AC0A-8D21F0DD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B720C-0076-43D6-9364-F6AC29AA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7878D-2947-42FF-AC83-C0129D6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设计优势：机制设计清晰，展示 RISC-V enclave primitive 可沿 tag/metadata 路线演进。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49661-8093-4A5C-9CF9-272F12E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D2628-1CD2-4470-9E48-39A63431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局限性：Peer-reviewed 系统证据不等同于 RISC-V 标准或量产硬件采纳。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EBDE8-E54D-41F8-B7A6-735CCA4C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28018-9F25-4BA5-A064-FE07630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商业化潜力：若硬件供应商采纳，适合细粒度隔离和嵌入式/边缘 TEE；风险在 ISA 扩展标准化和工具链支持。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9DFE4-3977-4A5E-88EE-139F9BD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552D3-CBB8-4F21-BC3C-8A88098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5B3C9-3E24-4D81-9241-7C0B018B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56861-8864-4EB5-9700-4B7D5546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C0872-509D-4C80-9A85-1B4F1B2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7CC72-D8D5-4F8B-A8A3-0645C6F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3ADAE-7719-4064-9937-F0AA14A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4D3DB-11D2-41DC-BF58-782BCF5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078FA-3D55-45AB-8118-61720EF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9F3EB-6ABF-4B00-941E-C189452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机制设计清晰，展示 RISC-V enclave primitive 可沿 tag/metadata 路线演进。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6DE71-174D-4131-8A81-068F613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1205A-DD62-4A15-A5A0-B5B19833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E289E-4C90-408B-A73D-824DC95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Peer-reviewed 系统证据不等同于 RISC-V 标准或量产硬件采纳。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4446F-1238-4CE1-8C51-DDC8CEC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295EA-4746-4254-A307-14C80E67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1C9FAA-3BE6-4842-BD3B-450668B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若硬件供应商采纳，适合细粒度隔离和嵌入式/边缘 TEE；风险在 ISA 扩展标准化和工具链支持。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3901CD-E6B7-4FFF-B789-9B5947A3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328D1-0E3E-4F19-A378-06662726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6F08DA-F948-4A20-9D69-BEF1AC9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7F19CF-50C6-4D53-AAB2-EA96605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F7DE6F-64AA-483C-BDBA-F029819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来源：SPEAR-V: low-overhead RISC-V enclave primitive｜证据等级：E1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696575-B5CE-45D3-BE26-10B58B38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0A5B45-357E-40A0-8024-4201340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4CFCE0-B17D-41F2-B102-2BD062F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78AE06-582B-45B7-920A-4985D73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文章评价  |  08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89E6C-95CD-44DD-8141-EE74F43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2107171893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D6EFB-FC16-4AE8-B9E5-9ACE4A35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A79EE-B928-4903-9D27-FEB523A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CDE3C-1500-430F-84DA-3E27753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6DCD-108F-4012-A64D-95D46989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A14C-06AF-4C31-AB5D-A46F3D3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97534-D076-4931-9F83-2FC2DB7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7AA10-0EDF-4CF8-B7AE-D8D4A70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EA02D-72AE-4FB5-8C1A-DE8F1B7B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3566-D9C6-40E5-B398-8216554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71BC4-328A-4D4E-B698-44D1D6A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96CD7-4EDE-4FC6-9B1D-7541A81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2CD55-D1C3-435B-918B-B6BEA206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35C7E-1A40-47AA-A7CE-9C754847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Keystone: 开源 RISC-V TEE 框架：开创/基础入口，E1 / 基础证据。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B3413-79E6-4130-8B27-863944B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A6E5-73C0-4369-8838-0D178B2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Penglai: scalable enclave memory protection：代表性改进，E1 / 同行评审改进证据。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3B343-5C04-4B6C-A69C-FADC7CD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6925C-7094-42F8-893C-31EEBB22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SPEAR-V: low-overhead RISC-V enclave primitive：当前 SOTA/补充边界，E1 / 同行评审改进证据。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FDE0A-3649-4293-9666-4958F31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C5EC4-2AFF-4F17-A8AF-CE9CD6C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927AA-B75C-4DFE-984B-41C46B33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AE48E-DE15-43E5-B4C0-839BE966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E98ED-4595-487A-9D19-D2C6367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5B0AC-D127-4CF9-93AF-06FD541D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3D781-566F-4861-926C-A3D7509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F9EFB-6BC2-453D-B92B-75DABF50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021DB-5143-47F7-B7E3-4EDC26B1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BFD6F-876A-4A27-9311-B6EEE1E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Keystone: 开源 RISC-V TEE 框架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E9EEFD-BD74-43F3-B353-033315F5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E0BE8-66FE-459C-8BDB-71B312B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EuroSys 2020 Keystone is the foundational public RISC-V open-source TEE...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F3140-7AC6-4BF1-A5BA-55E78E76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7759D-63FE-4C0F-A88A-9A673E98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Penglai: scalable enclave memory protection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32186-1D83-4EAC-989C-D342A68E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B8241-2F9C-4293-8D55-95A775E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OSDI 2021 Penglai is a peer-reviewed SOTA scalable RISC-V enclave OS...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5CEDE-DA4C-4704-9F93-B8832CE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EF956-54AB-46E2-AC8B-60B27D8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SPEAR-V: low-overhead RISC-V enclave primitive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8091A1-0283-40FD-A75A-AD0E34B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C8C67-21B0-4A62-B9EE-6327E27F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SPEAR-V is a peer-reviewed SOTA RISC-V TEE system with SoC and...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7C942E-3974-4619-9094-BCAF8A98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D0A07E-E04F-4BCA-924F-91A04FF2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DB7F5-5293-4B3F-8D60-997A9EB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C7D84E-C1C2-4A0B-A584-2DE75CD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81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994CEE-9462-4B0D-8B2B-3330D87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B56CDE-E2A1-44EC-8FFD-31EA793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TEE lineage: Sanctum / Keystone / Penglai / SPEAR-V | 方向总结  |  08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70EE8C-66D5-4E4C-AF31-11B129D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1665894722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00437-EDC1-4D85-8713-5CB59401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33981-8B70-41E2-BAC1-F6277B4F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F2A0C-C8CE-4DF4-987A-73491626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B1457-AF3E-4CA2-BFB0-CD595D9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37EA1-995A-4670-822F-E1E1A4B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/ AP-TEE confidential 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C6FAD-B8B5-46CE-ADF9-C7B8F2F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pre-CoVE enclave 与 AP-TEE/CoVE TVM lifecycle 区分开。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71EDB-23C9-4E6B-B0BF-4AA0F43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4B8A6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78E9F-989E-481C-9122-F214AD8B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B63E2-C32D-4998-8023-AA8AAC3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reference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70FC5-0F9D-4775-A98E-9FA54935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E0672-8F4A-48A9-98CB-59A7644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DFB9B-3AC5-431F-AF99-0EE5F06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AP-TEE / CoVE TVM 规范草案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6FFFE-D572-4143-93C5-DE8463FD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0B729-9B47-4A63-89C2-1AD6D2DB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A1652-3252-4748-90BF-C67C090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谱系辅助材料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B3B69-187F-4EF3-90D8-1E597CC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E2B2B-F57E-4C63-A113-6EBE7B9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51191-923C-469B-93D7-2C98B676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77F8B-7D49-4CC2-86EB-92F3CA8F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3D5EF-31A3-427D-9DDD-68848BEF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RISC-V CoVE / AP-TEE confidential VM  |  09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5BF2F-ED1F-4E0F-8C83-428A58C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913711952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39F87C-7889-4A34-B4A3-770907DF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4A82B-E99F-4369-B60C-D56B774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2EB01-F3BB-4F8E-B655-41FAE470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739E8-2E0F-401B-85A8-56103694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/ AP-TEE confidential VM：方向开场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65841-B363-4EE8-9B8C-E1181A9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E3F73-8B4F-40CC-9117-E66AB4F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86DC-BB5C-4ACC-A913-FAE0EEB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B5992-4D13-440D-A344-26AEFF6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/ AP-TEE confidential VM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A2BB8-E864-4326-B36F-B54F16C3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48FA7-F3A5-4D36-A380-0AFEFFC2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1C369-94FF-4FA5-892D-3A80B0A4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D04A9-A1EA-4AF0-B4AB-F2A89492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B5918-E993-42E7-BE82-8D34E3B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pre-CoVE enclave 与 AP-TEE/CoVE TVM lifecycle 区分开。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81115-BA36-4C63-80D3-E579CA9F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FF4E2-414E-4769-B5E5-32BC70A7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固定三篇主讲材料；survey 只作为 background substrate，不替代 CoVE/AP-TEE 机制证据。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E5BA8-93A5-417D-AA5E-683C39E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73711-6046-45DD-BA0B-5033E46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95EB5-8DF8-4B73-BDAC-73D63A70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7F584-4A7D-4A8C-9C87-E34B14B3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D2493-859D-4CC6-8A0A-0AE3DEA4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13CAA-D217-4670-A9A9-3B256294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6C1D9-1BC3-4062-80D4-01B05D6A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62741-B13C-41AF-B44E-686EB541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5371C-5723-4740-96AC-BD938282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2F3365-B39E-46C6-8D54-DC85DB2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70144-222B-4291-919F-63BEE8F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09C9C-247B-4774-9680-4AEBA73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reference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00A53-E1FB-4232-842B-F34AD3C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74AC1B-043E-4AD9-A97E-BA06644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B937B-7F15-4C81-8418-486B7B1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E2559-4BC9-4516-9A4A-A09F4B4D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AP-TEE / CoVE TVM 规范草案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55029-3427-4709-A920-2589CF8D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7FD1B8-EC10-4883-A8A3-85FB009A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BBD1B-AA72-49D6-BA56-53B00BC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B871B-57A4-48B2-A011-199DFFD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谱系辅助材料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7B587F-7931-4A33-9122-A44E113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36D66B-D077-46FF-B9D0-4800F6C5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B4C406-1531-4A9C-8A39-E87B78D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62CE0-8C44-42FB-84A5-29FD0CA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D3B32C-A613-40A2-B1A6-FBB5C38F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A801A8-88EC-4489-9B31-17FDEC49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A17098-FAA2-4452-B780-4122A40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97266-B117-4B26-B7C8-D890E8F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方向开场  |  09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F42211-DBB0-4FE7-8EB2-7831729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1736239971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17AC7-EFBA-41B1-84B6-9106F1DD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79EA3-A86D-4E1A-A92A-D529AFEF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DB7E5-D1F6-4616-993F-7371297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FCDC0-8C20-45AE-ADE4-67145B3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reference architecture：内容摘要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E5E1E-54BE-43D0-8FC3-33AB75F6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5901D-6ED6-4B2D-9FFE-664CE3ED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E38D5-2DB3-4434-8408-61785AF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1CED8-6D96-437A-87D4-FF77273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 RISC-V CoVE confidential computing 参考架构方向，明确 confidential VM 需要的 ISA、non-ISA、SoC 与 platform requirements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794CF-CDF0-4B76-A5B5-99A4CDFB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852BF-D491-4E48-AF24-B6721C5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C7FBC-C15D-412F-AC5D-1864E3C6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8E55C-D0DB-44D9-A326-DF015305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221E9-8F11-41AA-8B0F-5325ACAC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 RISC-V CoVE confidential computing 参考架构方向，明确 confidential VM 需要的 ISA、non-ISA、SoC 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FE350-6FAC-4FBD-999D-5F86028E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D1E0E-F8F7-490E-AD69-626ADFAC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 2023 is the early mainline design material for RISC-V confidential VMs.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03FBF-8B06-4129-96BD-22A6EE7E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F20E0-923F-4F1C-A3E3-2BDF201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E80FC-4650-47CA-B507-DDC5564D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37660-7553-4186-956D-F71197F2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00C87-1559-432C-862F-2019C9C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7D5F7-773A-4CF4-98A0-666045C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BD9CA-21AA-4717-97A7-7307956B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67D56-AFFE-4A26-A039-C347C65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F8D1A-B321-421A-942E-BDC9BEB9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067D5-5F32-4D41-A6E4-8F2849E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32F66-1839-42F1-9BF4-289C2C73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E496C-E684-42ED-92E0-3DEDF741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73E52-6A00-4F03-96FF-C9C4584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9EB898-579C-4A68-9E50-4E90A45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4BC83-1BCA-4804-93C2-B459084C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D99AC-07F0-4073-8070-B8ED163E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4A6F0-BC58-463D-87CC-E70FBE4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D4904-7CE3-4852-A526-F26156F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618E08-4747-4933-AD7A-32481F76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 reference architecture｜证据等级：E3 / 基础证据 public preprint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325BF-9C00-4A4A-A463-C867B656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12EE20-4CDA-4FB6-B06C-C6C4917D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921AAA-A1B4-4447-83A4-775CC27A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988F22-9B17-4FAD-9520-65140CB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内容摘要  |  09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8A6D9-0E49-4130-885D-90BE5132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193663787"/>
      </p:ext>
    </p:extLst>
  </p:cSld>
</p:sld>
</file>

<file path=ppt/slides/slide1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736F5-BCEA-488C-9A0B-AD10C3FE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F1F2E-7539-4FBF-BF45-0F29678F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B1D00-395F-49E5-A7FE-ECF2A9A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FE097-D420-4FD6-B029-E7B7150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reference architecture：研究背景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0F50D-769B-48EA-83A1-1893DCAF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DD575-8C58-4B2A-9CBD-4AE22119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250A4-C285-421E-B57E-51BA4351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FA628-8D47-48DA-B81C-18B86B5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多租户 confidential VM 需要降低 tenant 对 host/hypervisor 的信任，并区别于单进程 enclave lineage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66C97-0EE6-44E8-A197-7D4FDF99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7A031-3E6B-4960-B470-AC0742D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3CE7A-5E6D-4F40-82EB-836B43B6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A71BF-8ED6-4A71-BB54-14F33B5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99A0A-68F5-451F-9439-D4B028CC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多租户 confidential VM 需要降低 tenant 对 host/hypervisor 的信任，并区别于单进程 enclave lineage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1A9F4-72D1-42B0-8D97-17599C34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56B32-9E1E-4247-81FD-33E0EDA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F6537-962B-4998-BA6D-1949DD40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61A62-58AB-4D27-A481-4018F764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B08C1-B261-4404-A5AA-B64221FF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17CBC-42BC-44FA-97D2-F19A66B2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5467E-480A-44AC-B502-35BDA2F5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220AB-B4F1-4260-BEDD-F8BEA76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 / AP-TEE confidential 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AE970-F30A-4239-B4E3-DF6EEC05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29182-ADA2-425C-8899-01A8A597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61BF7-B3EC-495B-8BA8-5FEC33DE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pre-CoVE enclave 与 AP-TEE/CoVE TVM lifecycle 区分开。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D6051-A438-41A6-B679-3C34761F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9A2F2-D35A-423F-9739-2B8FEA9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784C3-F2C6-4E14-A30B-77FD124D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 reference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EE615-7588-4EE0-84CE-3B9F2DB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F73A1-AD4F-474D-8949-BC1FF37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C4F93-49A0-4309-9AE6-D8B362CF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4F2AA-90A4-4B94-A316-89F7D0C8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ABD017-CC61-431C-BDC5-A6545AA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 reference architecture｜证据等级：E3 / 基础证据 public preprint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FF0A5-84E7-46F3-9712-D612291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28159E-C333-4615-A6EB-B855957D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908A6-BBA7-425C-B66F-8EEB316C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538CB8-13C4-4461-BEA9-D20D0063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研究背景  |  09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DDD3F7-11F2-49BD-A6B1-A86EB819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222031056"/>
      </p:ext>
    </p:extLst>
  </p:cSld>
</p:sld>
</file>

<file path=ppt/slides/slide1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A3068-6A32-4F7B-A20F-6CE6C62E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35318-C742-469D-840C-E4EFB5E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691FA-DE67-421F-A837-7D21AB0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2FED3-B4D0-4E7E-96A3-F1D5FCC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reference architecture：解决方案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C75C-BC81-43BE-B3F9-4E3E0BF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C3E9B-9DC2-4B79-9FE4-442FF78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1F763-4EAB-40C3-AE6D-3E0C5EF5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6E77B-0777-47AF-A074-A9463838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CoVE reference architecture 描述 TVM 所需的硬件、固件、hypervisor 和 platform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8B957-D1D4-4A47-BE04-2C4B226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3212C-C72C-4AFE-9884-46492C1A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8B394-2848-4809-B20C-64AB4EE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DB7A5-DCF7-4412-BBC5-8C836BE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9083-8C3B-443E-AB4A-A6072C11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CoVE reference architecture 描述 TVM 所需的硬件、固件、hypervisor 和 platform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AD1ED-5563-431F-8A00-78644535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1C5DB-7503-44B2-A2D0-E0A396E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F9E4B-0E8C-4006-A50B-713BCF94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3F8D4-CCD5-470E-91FC-F2847E0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27D5D-8B9F-4997-ADE5-679B0D81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996EC-DA86-412E-8CD5-19FF2120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confidential VM reference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2AF96-D830-4818-839B-9762196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1F3E1-155F-450D-8DD9-B78578B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98483-F514-4EFA-A350-4DBBD66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C8FE3-3F2F-44F3-B99E-846E213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ISA/non-ISA/SoC/platform requirement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41BCD-5965-4952-9EAB-11E1F25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A2C54-C080-4E44-9D3A-13B7594D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BB3EF2-BC11-49F1-A5DA-08C6E2B6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4CF74-70FE-4C5E-9296-774B7E78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Host/hypervisor trust reduction for TVM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E04AE5-709A-468A-9152-B90231C9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A6B74A-A777-4FA3-BAB2-488346B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 reference architecture｜证据等级：E3 / 基础证据 public preprint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EE31E-1D73-4E12-9227-5C35AE4A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6280EA-C2E3-4C8E-8737-B82A1701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D6B10-E26A-4F85-A832-07B062E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4B081-4B05-493E-A988-B9B8F85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解决方案  |  09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A8DC8-D66E-46FE-9ED9-FACA98EE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554447453"/>
      </p:ext>
    </p:extLst>
  </p:cSld>
</p:sld>
</file>

<file path=ppt/slides/slide1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7BD97-3748-4392-91E2-5D5BCCC3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E1B3E-8F4E-4388-8768-5D91BB0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27C67-8EF2-4ED2-9538-4AC0658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D92B8-25D1-4A26-8EA1-EB8198A5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reference architecture：实验结果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D031-35C8-42A1-B5F6-50A075C4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E384F-A0F8-4442-9BFC-4D9FADBB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AB43E-8A2B-41C1-88A1-6CD053A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9EC47-0E8B-4F4F-B826-06A617E2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架构论文/position-style，无完整系统实验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1C8C3-56FE-4674-B5F9-6F88BC3F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BACBA-0CE8-4C30-8217-5E93BC7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E6C72-2C13-47FB-9B49-451C5687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32B7E-0EB0-4786-B7C2-E147DDA4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95D4D-BDCF-45F5-9CB5-238190EC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架构论文/position-style，无完整系统实验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10310-ADBB-4B4B-ABD8-8B99DC98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EEED0-A35D-44ED-8903-276EC80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具体 ABI/state details 需要 AP-TEE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FFA10-BABB-4570-82D7-4BD237CB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427D4-2E3F-4542-A098-6A22ED2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5B73C-3721-4986-A393-6863D41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33EE2-DF55-48B7-BE26-3981AE8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AEEE0-A1B0-42D4-B258-289CF1BB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DA31B-59A7-4D59-9F7F-5A12605A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F12F1-3F2F-42FB-A5CA-53D3B96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8DB92-83C8-46BB-99D7-B9B291A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CEBDB-647C-4C82-A969-A3B95137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 reference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8321EB-41FA-4766-842A-235CD0B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4BB7A-2AF5-4087-A04A-90C5A913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1ED4ED-7611-47A9-B0F0-5B65C9C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1AC18-DD30-46CC-800F-0A359026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77B41-FA3C-4D70-A091-DEEE05CB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A5045-AA17-4656-B3CA-1FED9245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A3F279-EB16-42DE-A27D-60B15BD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7E909-12C0-4F7F-ADE9-9DEB35C8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DD8CC-8DD4-4B02-915F-09393CC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BE1715-D986-4B76-8DAC-561AD76F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6863F6-49FD-41A6-9BA6-62949327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48BDF2-D64B-416F-B7FD-BB02E93E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96D5C2-DC37-49E2-9647-F671C6B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CF18DF-AB5A-4181-8A75-695AB91F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09FF68-EDEF-4183-9449-D5C9F515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 reference architecture｜证据等级：E3 / 基础证据 public preprint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6A1A68-35DA-4E1C-B13A-35D8569D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C4A3F4-5244-4438-A4A5-917F9F61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CD2E36-9DB8-4229-8F37-86C1192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775B2-B5C5-486E-BAF6-6A933F2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实验结果  |  09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DB3C95-0874-47EB-89AD-145E3B4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813589170"/>
      </p:ext>
    </p:extLst>
  </p:cSld>
</p:sld>
</file>

<file path=ppt/slides/slide1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71181-B9D7-4B77-AC51-93ED9F32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F4440-1AAF-4BF1-AA46-6E05B040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5102D-3587-4C86-9902-0854436E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65D49-C783-44FE-811D-AB28EF7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reference architecture：文章评价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3BFDA-EF66-46EF-922F-A13520B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C5DB2-2AAC-4A98-87EA-DB7169A3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3A4AC-C4DD-411C-89C7-4B68604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基础证据 public preprint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245B8-482D-4D71-836A-4DC3188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 confidential VM 入口材料，能把 RISC-V 从 enclave lineage 推向 TVM 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2832-08BF-4851-8E3C-D0EB405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81D08-5039-44BA-82F8-35A6C1A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54871-FCFB-4730-9749-162F40E4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51571-2DA8-408F-A924-41793772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D3DA8-A37E-4B80-AB22-67AB078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设计优势：CoVE confidential VM 入口材料，能把 RISC-V 从 enclave lineage 推向 TVM 模型。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FDF44-DDC1-47F4-A8E3-D4FF220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DAF26-17CB-4F9B-AE82-5D62377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局限性：不提供完整 ABI、状态机或 ratified standard 语义。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8A790-544A-49EB-B410-62C5C26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BBC2E-D068-4B65-8F4B-6127061F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商业化潜力：对开放 confidential VM 生态有方向价值；风险在标准未定、平台支持和 verifier ecosystem。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80FE2-58E7-470D-9836-82C313B6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9021D-429C-4330-A08A-12A14316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证据边界：E3 / Foundational public preprint；本地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2C572-1C86-45F8-8ED3-EFCA571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9AE4E-C87C-447A-9F86-6773BB3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13F13-E79D-4ACA-B7B5-D02B93E2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85152-1F6B-4B41-807E-B4CFDE53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2168E-8B2A-45DA-99FB-A09D4E7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1E79F-97F5-42DD-ADFC-BA92B0F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DDAF4-6F77-4300-B9B2-14FE9257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09C5D-20CA-4264-A626-BD1E766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 confidential VM 入口材料，能把 RISC-V 从 enclave lineage 推向 TVM 模型。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7FA86-5A11-439D-81B8-C84E9B4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2188A-6701-4B4B-96FC-466A9867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70BA76-E748-4DBC-9831-733FCCD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不提供完整 ABI、状态机或 ratified standard 语义。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47894-77C7-47EF-B0B0-BECE320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6187E4-8973-407E-88EB-A5AE3D9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A8543C-F881-4904-8D6B-7E211E0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对开放 confidential VM 生态有方向价值；风险在标准未定、平台支持和 verifier ecosystem。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EE1E8-235C-4250-8D30-A792D542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D29BA6-49AD-44C2-9B6D-26C7225F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DCFA60-5BC5-42D3-B350-FE471A2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159CAF-33AF-43FF-BB6C-379760A5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BA0112-AC9B-4874-A3CA-9A51407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 reference architecture｜证据等级：E3 / 基础证据 public preprint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E59931-DC70-40CB-976F-3F43BF75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A25217-70FA-4900-BC7E-01C8E597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C95D8F-3459-492A-9311-AA5DA8E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A14A6F-4A64-433C-BE00-3177AD5F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文章评价  |  09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F5099D-6CED-4F43-A4F1-9BD1D715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802598524"/>
      </p:ext>
    </p:extLst>
  </p:cSld>
</p:sld>
</file>

<file path=ppt/slides/slide1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E7126-66F9-49AA-813D-9EB0378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89DD0-386E-4216-9F82-DAFE04ED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BE49-F52F-400E-AE0D-8E5B595B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D837-5598-4AB9-B0FB-31CD4FE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AP-TEE / CoVE TVM 规范草案：内容摘要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B9708-1D62-4E89-9E4B-6978CD22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3769D-7BCB-4458-9CCE-B6AFDE04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D00A-0E66-4FD4-9563-F2DC8CE9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27758-E1E2-45F4-811C-22BFC9B4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AP-TEE/CoVE TVM lifecycle 和 SBI ABI，包括 TVM、TSM、COVH/COVG 与 memory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65830-6388-499A-8452-D5BB210F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7F2B4-FAED-4C3A-9A4A-717FF637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48857-C1F3-4FE9-9417-B78E8FC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E8207-EB89-4E09-93C2-EDF76D2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0461E-DBC2-4C46-A2BF-5EB7E581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AP-TEE/CoVE TVM lifecycle 和 SBI ABI，包括 TVM、TSM、COVH/COVG 与 memory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9E4B0-9783-4C28-9E74-212B398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66260-A9DF-4DBC-8DDE-21E5099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AP-TEE draft is the current standards-track source for RISC-V confidential VM semantics.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8089A-CDBB-447B-A3D1-B6B39A67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5B4DA-E74B-4579-AEFB-5787E6F7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F0107-EFE3-49A9-819A-6C5634FD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1E02D-B868-4930-BE82-FCC5756B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42F32-9237-4340-8C77-5F7D107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AEC6C-CE05-4DB3-ABFE-62FEAD29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EDF9E-E889-4BB7-BD24-8FA76FF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406B0-2CA4-4266-A8C4-80FC348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33148-4682-4A08-855B-3C2A11B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F7693-6F54-4301-AE16-F6BEFD81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F8974-508E-4948-93C4-020685E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66D89-EED7-4BE9-8A41-5AD91D1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AFA4C-C9A0-4730-98D3-B85F156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56315-7061-47D1-9C10-E4C25D4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E9BB4-3E47-4CAF-AEC3-838FDBA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55154B-CA24-4AC2-8E27-F79160D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6F51F-9096-4E27-9251-B64B4983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F1BEA1-C83C-4913-8798-92D1F86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38E8BB-9A56-45FD-965D-554CC4E2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AP-TEE / CoVE TVM 规范草案｜证据等级：E3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C8A334-58F9-4FE9-AE98-4151E2A4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DE1DB-5F71-43F1-8DBD-0BE51BA5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78501D-EC7E-4EE3-B4FE-221FA2B0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C2790-71AF-4E7F-9685-332173E2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内容摘要  |  09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ED2B8-5C71-4043-BE8C-5065F05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</p:spTree>
    <p:extLst>
      <p:ext uri="{BB962C8B-B14F-4D97-AF65-F5344CB8AC3E}">
        <p14:creationId xmlns:p14="http://schemas.microsoft.com/office/powerpoint/2010/main" val="1006900806"/>
      </p:ext>
    </p:extLst>
  </p:cSld>
</p:sld>
</file>

<file path=ppt/slides/slide1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87B6CC-22EE-43E1-9A4A-58CF9FA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D6126-9C0D-4678-AC40-83263CAD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723AC-A581-4822-AB09-2852D006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35C40-8D8E-464D-9128-A4D8A6B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AP-TEE / CoVE TVM 规范草案：研究背景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DBB9D-AF35-4152-AE75-742895D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6CB1-BC75-458D-A724-1262B81C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77BA0-D255-4E64-A92A-4D7D31E3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DB1DB-810D-4540-AF97-CC67122C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 需要标准化 TVM、TSM、memory lifecycle、attestation 和 host/guest 调用界面，才能与 Arm CCA/RMM 同层比较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4DD75-E379-4C66-A213-045FBF8D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5FF89-FC9B-48E8-A59B-C22C18B8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1F74-2443-427E-91BC-7CC45DF8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880DE-75FB-4FFF-A7CE-7F52EAF0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CDF68-7536-422B-A92C-76A4797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 需要标准化 TVM、TSM、memory lifecycle、attestation 和 host/guest 调用界面，才能与 Arm CCA/RMM 同层比较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D39C0-C5B8-4CE5-B3B3-936301E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D91CC-D789-427B-9D77-CA783158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5FDB1-F5D7-4645-A773-4D6B539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23F19-BE2E-45BE-967F-1B854A2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B47C1C-DC37-41E4-B8D1-4A15EA99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68CAD-ECF6-4725-86B6-616924D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B41F8-A5DF-4351-BE69-CFDC6B6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13EC6-D324-4BCC-8C4D-1297E8C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 / AP-TEE confidential 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ADB28-D2FE-48E0-8EBC-E04E10A4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A91EA-6F30-466B-884C-AA5BAE6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E43553-A44D-444B-8400-F2666B9C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pre-CoVE enclave 与 AP-TEE/CoVE TVM lifecycle 区分开。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285B8-5160-41D1-B00B-17BBEC7A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3E97C-3A13-4DF5-9B76-191994A3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E0F3A-B9F0-4930-B194-7C475C3C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AP-TEE / CoVE TVM 规范草案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C9D82-8068-4BC0-832A-090B2C1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BE12E-98A8-4023-9264-EA1836E6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BA65B-2401-4CAC-A506-095AF07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5E7220-E2DF-4E82-AF3E-3D6CB08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6FC21F-2FE4-4E62-87DB-3F105370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AP-TEE / CoVE TVM 规范草案｜证据等级：E3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88400D-FBB4-485C-A85F-D2A4C65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48EF51-E695-4C49-997B-823EF76A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324127-FC30-4ADE-B52F-0C2321A2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8C5B09-E2A9-4714-B4AC-B4670194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研究背景  |  09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0D1FA-88A6-42BA-9FB7-0E1216B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</p:spTree>
    <p:extLst>
      <p:ext uri="{BB962C8B-B14F-4D97-AF65-F5344CB8AC3E}">
        <p14:creationId xmlns:p14="http://schemas.microsoft.com/office/powerpoint/2010/main" val="683018102"/>
      </p:ext>
    </p:extLst>
  </p:cSld>
</p:sld>
</file>

<file path=ppt/slides/slide1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93E93-09DF-4267-B56C-B7FC6CA1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29FBF-B717-4F34-ACB5-05FC10C8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FE47-FDBD-4521-8E00-418A0721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0C1F5-AE35-4D56-927B-196E8F57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AP-TEE / CoVE TVM 规范草案：解决方案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AD615-1030-4D76-9888-362EC923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99425-B908-4C08-BCF8-24D56F74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C2F3-2CEF-4A8C-A3A2-63C924C2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3CDD9-71F1-4B4B-8E5C-55A11BC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 TSM、TSM-driver、Supervisor Domains、COVH/COVG、memory donation/reclaim/share 等 draft 规范语义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7A03B-8E2D-4C9D-BA1D-B654945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8B4DE-DF6B-489F-877F-442DDE15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B2656-5EBC-45C4-83B5-C3C2FDFC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2B94B-1457-4CC2-AB52-7F8339C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C185-643A-4FEF-A72E-DC9ADB8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给出 TSM、TSM-driver、Supervisor Domains、COVH/COVG、memory donation/reclaim/share 等 draft 规范语义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3BDC-8488-4E74-8F92-221CC60A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4AB80-F3B2-49AD-ACFE-F01FF99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B71D3-4E7F-46A5-BD8D-531A034C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C6921-25FE-4D8E-AB2A-446696A1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F5DBF-6BE4-4581-8E9B-5F70FF2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0CCCC-B277-458B-9456-99DCDD6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TVM/TSM lifecycle and SBI ABI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652EC-5336-4C97-983E-FA24590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DA66D-3893-45D1-9F84-644EE564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E9ADF-32BD-4582-81C9-2958CF58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8EBD7-3365-4F3C-8BB7-E23162CE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COVH/COVG host/guest interface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26967-2DA1-4177-89BF-410F28CE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EF66A-1CA4-4FFC-BCF5-77F77B0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BCF18-0DE3-4CBA-A20F-8BD44AAC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52E27-B895-448F-8F4F-A1D74BE4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donation, reclaim and sharing semantics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6041D-41CC-4042-B57C-9805E4C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01E86B-E8DA-4B2A-A5AD-2899BDB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AP-TEE / CoVE TVM 规范草案｜证据等级：E3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CDCC96-3396-4435-B786-F2009247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7FF64-37B7-4383-BA41-6FE700E0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6A81A-9EF0-48D4-90D6-6BB3920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9A0EB-0163-4D93-A654-66B27AC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解决方案  |  09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440B00-BD40-40B7-BBFA-36E7E88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2059305179"/>
      </p:ext>
    </p:extLst>
  </p:cSld>
</p:sld>
</file>

<file path=ppt/slides/slide1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68D61-55A2-476C-BA85-76A895E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1E89-7816-4516-9A3A-D78532C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8CC04-FF21-4324-AAC6-338C5CE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EE06E-F2D0-4BF8-998F-7B983D97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AP-TEE / CoVE TVM 规范草案：实验结果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0A5A1-9522-4881-AC4A-BB1F4F29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EE865-A31E-4164-AE86-1A3D9CA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D796A-6E94-4DFD-9722-39CCF5F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42107-6166-4F9D-A22C-3EE88E5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AP-TEE / CoVE TVM 规范草案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07DD1-670C-4AF2-98D3-33922C37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9D1CE-A27E-45C5-A234-0720225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F47D9-0013-45B0-B7E0-BBF93CD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5AFB9-FDF0-4625-9E43-B3949C9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8D8A3-1AE3-4D70-A5B8-05173B71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30DD7-6B4B-4D88-80A8-9CCEEEA0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B575B-C3ED-42DC-8422-5928F35F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可支撑：AP-TEE draft is the current standards-track source for RISC-V confidential VM...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2C64A-DC38-4438-B70D-3C3EA339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E38B3-8195-4570-A80C-A891138F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证据等级：E3 / Draft-not-ratified；来源状态：本地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A0476-FD1F-44C5-A083-0C1565F4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4A359-B6D3-4807-9B12-F027EA1C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10D4C-F000-4136-BD91-D09FACF7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F72DB-BD2A-4B02-AAF6-AA19DB0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84D42-8204-4A6E-937C-DF30913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75252-AD05-4937-AAA6-A99DC80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91881-1691-4D89-B768-EA9C359E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71651-D037-48F8-92D5-C87EB92F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0B1B2-8360-4271-9453-8322806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9157B-37E1-482A-BF88-409A2CA6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D3068-9A28-4F12-98DC-F54EFC8E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AP-TEE / CoVE TVM 规范草案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41D6F4-946D-4655-9337-306E447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3EAED-7FBE-48BC-8859-2B81713C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449C4-5591-4DA2-AB55-57244F02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2577A-5796-483C-AA03-B95C771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9D70A-F528-4B68-BF7F-A093E12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24B13A-CB0A-424D-B252-C971148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061B9-5D7C-47F3-B769-572666E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268006-0423-4FE4-B22F-DCA05C0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ECF70-915B-4F92-A433-9ECD5A2D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197039-7B65-4C0A-8BA8-4AFEDA6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3C68E-E220-4BA1-BDF0-3B4BF927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9E2A18-A3D9-42B2-9CEA-BB14440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9F7845-AD53-40C3-A648-5082DC48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889836-3DBC-4EC9-8E68-D4A070D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2E25AA-BBD4-4C25-8593-D8074861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AP-TEE / CoVE TVM 规范草案｜证据等级：E3 / 草案/未批准规范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408988-910E-402D-9914-3E57D823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D0192-1518-46F8-AA95-95FC6D8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BDFBF0-6240-474B-8A12-A34148A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129ED9-8537-447F-AC0E-86A36248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实验结果  |  09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2E4F03-D88A-42E9-8B12-7C7B6C0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159</a:t>
            </a:r>
          </a:p>
        </p:txBody>
      </p:sp>
    </p:spTree>
    <p:extLst>
      <p:ext uri="{BB962C8B-B14F-4D97-AF65-F5344CB8AC3E}">
        <p14:creationId xmlns:p14="http://schemas.microsoft.com/office/powerpoint/2010/main" val="148750261"/>
      </p:ext>
    </p:extLst>
  </p:cSld>
</p:sld>
</file>

<file path=ppt/slides/slide1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4E2C8-7691-43D3-A95C-42B928F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A6713-1686-4EB9-AA34-3611DB93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4A26A-9394-443E-B968-AC83849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BF52-2E7B-40B3-8021-7A12219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AP-TEE / CoVE TVM 规范草案：文章评价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AB29F-D207-4720-913D-7E58C0AE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440A0-8356-4229-96FB-894FB6DF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0DA4E-ECA9-445A-9E2E-A2936E67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E733E-2C2A-40A0-AAD7-BA93761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AP-TEE / CoVE TVM 规范草案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D08EF-F3A2-4FD8-B22A-F96214F5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DD6FD-4124-4CE7-AAC9-E30E1A7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0807A-3AB8-4496-8F04-445FB1C3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3D292-D4D3-4AC3-9DE9-80DC3B0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C9BE0-DA8C-437D-AD39-027D6F4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设计优势：当前最关键的 RISC-V CCA 对照材料，直接定义 TVM/TSM lifecycle。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E855F-3C94-4EBB-A17B-E10C010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12F34-E5FE-47E7-A155-63FE8521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局限性：v0.7 RC2 仍是 draft，状态机和 ABI 可能变化。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4FD77-97BD-4E30-848F-B50F393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B3E7D-231D-4ED1-A1D7-FDB4126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商业化潜力：商业潜力在开放 confidential VM stack；风险在标准收敛、firmware/OS support 和兼容迁移。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01F9D-DE56-41D5-9B8B-70D00EF7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322E4-E4DD-42AF-8B2F-C2C2EE22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7808D-A8E3-4D94-99C7-DF11A55A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88A54-C792-4EC3-8745-7E47311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42A90-7A52-4461-8B7F-48C31C6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68824-C399-4B6A-97A8-E661D97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779E2-17E8-47DD-99A6-9D7F5DD5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5AB2D-2AAE-4D7D-B496-B9381233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257C6-1425-431F-98AE-B248C11C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8702BC-6CC3-446C-B603-CC9D36D6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当前最关键的 RISC-V CCA 对照材料，直接定义 TVM/TSM lifecycle。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79BBD-CBB6-4A63-9B1D-8556F176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2159AF-B07D-43B7-B075-3CF339C1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F7AD3-1CB4-48FE-A740-532CE559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v0.7 RC2 仍是 draft，状态机和 ABI 可能变化。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A2545-4754-4A16-BAA1-43B3784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63483-55AE-44B7-8AB7-F6C89C7A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C8E51-E724-4B34-87F2-92754BE3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商业潜力在开放 confidential VM stack；风险在标准收敛、firmware/OS support 和兼容迁移。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A0B2B7-F2C0-45AD-AF65-A52754AA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B1AB4-C19A-45D7-B74D-6B92026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F9223A-E109-4C73-952C-D82559FE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1B887-550C-4282-8BB7-53D10C5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011683-D8AC-4387-93E9-25A2607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AP-TEE / CoVE TVM 规范草案｜证据等级：E3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7B24F-A524-46CE-8428-B1E5CADA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5B9CD1-EB6E-496E-8051-79CC648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84063F-225A-458E-9695-5C93F209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C4F4B-712A-42E6-8840-815AC743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文章评价  |  09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00157E-6927-4955-9A50-F5E92C23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960843157"/>
      </p:ext>
    </p:extLst>
  </p:cSld>
</p:sld>
</file>

<file path=ppt/slides/slide1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544CA-1EE2-4427-84AE-849B2FE3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BDDA7-B4CC-43B4-B946-84092013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F2D28-9E57-45C1-9648-A657AAD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B38ED-99BA-43D8-AACF-9F55064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谱系辅助材料：内容摘要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0E0F6-5BB2-46B5-9881-1502895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F68EF-E8A8-4EA8-99DE-E110BEB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7C8B5-9ADC-4C48-8116-05CDA7F2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1E12A-2B5E-4E28-BF90-EC149C7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pre-CoVE enclave 与 CoVE 放入 RISC-V TEE 谱系，辅助区分 enclave architecture、trusted monitor/runtime 和 confidential VM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EE0CA-159C-47FE-A105-FB36FCB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D9AB1-BE96-4643-B94F-4D889DCD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62416-2A56-4B4B-A9EA-FA3ED0E9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14451-DB90-4103-AA29-A2A5C79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F762F-F497-41E8-A336-4E30662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pre-CoVE enclave 与 CoVE 放入 RISC-V TEE 谱系，辅助区分 enclave architecture、trusted...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DCB63-26AD-45D6-950B-C3421935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8B953-AF9E-48DC-BAD0-4EA4BBD3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Recent RISC-V TEE survey cross-checks the CoVE and AP-TEE lineage against older enclave...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F4070-7A65-46F6-8654-0006C260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08709-F966-4975-A75A-7A5A2A22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86D21-BB58-41F9-8682-BCF1B154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7DDBF-BB27-4A01-92D2-54762663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F8216-1A64-494F-A177-6FA8A551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906D-085A-4653-8144-0C439F9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6F357-EE02-4BDA-AA1F-ABD4E72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68F98-94EF-4B9A-A6DF-2989DEC2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AEF98-99D6-4AC5-B65B-49A472F2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F09551-F8E5-4E5E-A915-0A32C02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5A5F6-1C51-40E5-A696-F4BF494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SoK/综述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B6B31-D512-4587-B3C5-61C0066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33F0E-FB04-4187-8D57-981CC77C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D3669-A210-468F-9FC4-8387F7B3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0F7AF-5F19-4987-9B96-ACC1D3FB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3804B-407E-4F5C-ABF9-934133B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C3D32B-871B-47F6-87FA-4038611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74B3B0-C88C-44EF-89B2-1E9CA5A4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B8331-9FC0-41B1-8A50-28CE987F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TEE 谱系辅助材料｜证据等级：E2 survey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5AA387-174C-42CF-AD86-78023EF8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6CF4AE-A31E-4F16-8201-1C837C4F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F7B3D0-F33E-4A85-9EDC-006DC339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D033CD-5C40-4296-800C-E3D460B1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内容摘要  |  09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8805A-65CD-4CE1-9CB2-F8131232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161</a:t>
            </a:r>
          </a:p>
        </p:txBody>
      </p:sp>
    </p:spTree>
    <p:extLst>
      <p:ext uri="{BB962C8B-B14F-4D97-AF65-F5344CB8AC3E}">
        <p14:creationId xmlns:p14="http://schemas.microsoft.com/office/powerpoint/2010/main" val="1152057833"/>
      </p:ext>
    </p:extLst>
  </p:cSld>
</p:sld>
</file>

<file path=ppt/slides/slide1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898F6-5D60-4623-A84F-C1B93A1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E63CE-1D4F-41F1-AA2E-F1C00F7B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42E6-1119-48C0-A375-2E239FBC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32EDB-ACB9-4FC2-B861-44511235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谱系辅助材料：研究背景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AB1E3-2469-400A-9F76-E04294CF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52F3E-120A-4A96-A52C-CDCCD441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51782-713B-4D54-B3AF-B61C68E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597B1-5669-4B70-B989-02941C2A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论文和规范发展快，survey 可减少分类断裂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C8E7C-38AA-43C6-9AB8-F024AA1F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4614B-F6FC-466B-B7CC-3DCB3940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5EA87-E073-4071-8B89-832DBAF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0DD42-8824-46CE-AA22-C6659853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5F623-46A2-4EA7-A43D-783C630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论文和规范发展快，survey 可减少分类断裂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D3CB5-6052-46AE-B063-C8548B5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8D402-E7D4-42C2-B54A-BDA92405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即使本地 PDF 已核验，机制细节仍要回到原始论文/spec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693C2-3385-4691-9883-6AD86983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A795D-5A09-40B7-89C2-4B8416C7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5E76C-FB3A-470F-B2B6-6323B906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FE90E-2100-4474-9556-C9B21EA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435E2-F234-4E11-B0A6-C0B31AF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9D862-82A4-436C-A510-91F53DA7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8F5F7-86CC-4F2A-AFC1-7E43AAA4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170E2-F519-407C-8041-50612C0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 / AP-TEE confidential VM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9DEB0-5F7B-4E8A-8D5F-0585C030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CFAA7-B1A0-48CA-B905-C685D98A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B40C4-C8FB-460B-9114-7D5E689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pre-CoVE enclave 与 AP-TEE/CoVE TVM lifecycle 区分开。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D93C2-A319-43F9-9B78-5B0C5BDF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43323-F3BF-4A50-9E4F-3C43D7B4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1B843-08D6-4D97-A9D0-471B91D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谱系辅助材料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DF0AC5-DC2C-4AF6-A836-A01D0C33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25D30-716D-4A45-B313-B41F215A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156ED-4E4D-4FE4-97F2-BE57C27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AE615-8178-4E2A-91D6-3FE1A621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210D7-AFFE-48E3-902B-B612BF34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TEE 谱系辅助材料｜证据等级：E2 survey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602EA-9ED0-419C-8339-B8DE3628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AF2943-696B-4557-B15A-2BAA4357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53065-61EA-45A6-AD3A-E1BDD12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FBE77-C8B6-444D-BD20-63953CD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研究背景  |  09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327761-7B25-4678-BCA4-F2EE5CD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</p:spTree>
    <p:extLst>
      <p:ext uri="{BB962C8B-B14F-4D97-AF65-F5344CB8AC3E}">
        <p14:creationId xmlns:p14="http://schemas.microsoft.com/office/powerpoint/2010/main" val="180008174"/>
      </p:ext>
    </p:extLst>
  </p:cSld>
</p:sld>
</file>

<file path=ppt/slides/slide1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8B4A5-8EBC-49BC-906B-BF0595DD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FFDF1-4302-4CAE-A320-ECB82D1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08806-8102-478D-9C39-306C6ACE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7BC48-7494-4C7A-9D20-25FA0D26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谱系辅助材料：解决方案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5C22-1235-4B4B-9FB6-FF15BD1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E50A9-0BAE-4D85-87A6-6E2BE726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A1CB2-DC31-4D3B-8BC6-FFD1981B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E38A9-8B41-4C36-8081-D53DCA02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 secure enclave、TEE mechanism、memory/I/O/attestation support 分类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2C44C-B667-483E-87D9-FE51001A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B287C-271B-4398-B21B-4F6920B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93410-803E-4EEC-A5E1-672DEDE3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4B664-884C-4D00-97F6-B8C7B457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5D646-ED34-45F0-A389-41561EC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 secure enclave、TEE mechanism、memory/I/O/attestation support 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C66AE-D2B9-462C-8DE9-F8785FAA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83DA3-DDBD-4811-A211-9DA886B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机制 claim 必须回引 CoVE paper 和 AP-TEE 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77B6D-0F10-4472-A3CF-94DE52E5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9CA43-A4BA-448A-B2DA-22DB158C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0EBE1-FB65-4588-8D6D-80FF493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AC96A-DDBD-411B-BF94-77BC29B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6D488-EDC6-41CD-87C3-480AF7E2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C030F-4D68-4B6B-A61B-1878B0B5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enclave and TEE taxonomy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BDE4B-0D1B-4724-88D8-3F7CD8A9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D79BD-C02F-4BC6-A011-95C57CB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2A55C-6F51-42B7-A6F1-7DB2FA5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9E7BA-ABC2-4094-9281-4B1AC2C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Pre-CoVE versus CoVE/AP-TEE classification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0EA37-56B8-4AAE-8309-5632C846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F0CC6-E63B-4620-8661-0ADF796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421BD-85B4-4F2D-8D00-E450C69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D0C8F-1E8D-4480-A064-BF5D8B9D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Survey bridge for representative systems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E82802-23F8-4DF7-981E-AC7ADD62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A1AE4-5CE2-402D-8A72-5A812371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TEE 谱系辅助材料｜证据等级：E2 survey / Background substrate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0D9ABF-A096-4AFD-B96D-0F0062E9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51F1B4-CCA6-4EEF-B84B-37DB9BCF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17F81D-BD09-4AB3-8E45-3FBB0C9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B30E35-CB9D-4A05-905B-92C9EB93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解决方案  |  09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691D3B-6C31-4412-83E6-89D4439C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163</a:t>
            </a:r>
          </a:p>
        </p:txBody>
      </p:sp>
    </p:spTree>
    <p:extLst>
      <p:ext uri="{BB962C8B-B14F-4D97-AF65-F5344CB8AC3E}">
        <p14:creationId xmlns:p14="http://schemas.microsoft.com/office/powerpoint/2010/main" val="1829497413"/>
      </p:ext>
    </p:extLst>
  </p:cSld>
</p:sld>
</file>

<file path=ppt/slides/slide1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F1832E-93CD-4360-A99F-DAE2ECD4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6A6CF-F793-4FCA-BBE1-83133154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AEC77-4EA7-4CDC-A79B-AAE01CF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0D1D3-3001-4BA0-B990-B5164EF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谱系辅助材料：实验结果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1C27B-4A10-4A74-B39A-EC807B2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8FC4-03BF-4358-BFEE-FEAC7109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FEB50-907E-46DB-BAFA-79CB6D2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69BEE-39A8-4699-9131-1A8D3AA1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TEE 谱系辅助材料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19ED4-81DD-484A-9495-7A91F452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C541B-910D-4829-9AF5-1ED29ED7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750C2-9968-46B3-8896-71AFA336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6C766-3226-4CBE-A5C2-66B23B87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DDA1E-B6C3-4520-A86E-26B4FE85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C7F4E-F046-4BD0-8F2F-FDD3E0B3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DC8B4-63FE-424D-BC62-5585426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可支撑：Recent RISC-V TEE survey cross-checks the CoVE and AP-TEE lineage against older...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C9D19-4BC9-4BBB-AC8F-3BE1A03B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81B82-D49D-44D5-945F-90BDDF8A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证据等级：E2 survey / Background substrate；来源状态：本地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76BE8-61F9-4566-9DB7-A9E0D9AF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0DEAD-4DE4-4787-A315-6A5401E4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4607A-05A0-48F9-A20B-C1D0232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2F73F-EAEF-4F81-A579-329F682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0BB59-119C-4C1A-A90F-A1018EAB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7A85D-1E5F-4FF7-84AA-2F555F15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3B306-D9E0-476C-B999-F5F0FEE6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4E552-4B1F-4E66-955F-267210EB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2E75B-6C35-4F22-8C8F-1A31649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C21B9-CA89-40A0-B306-2BEBC0D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8A1A7-7F25-4E56-9BDC-3E32DC89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TEE 谱系辅助材料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665D47-4B3E-417B-A7C7-0B6E736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985FE-624F-4E8E-8B2C-DD970DA6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FAB5C8-5769-4523-9F50-E05F01A2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37A5E-DB68-49D7-A12E-059DB17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B1941-994D-48FB-8D56-CDBEBB8E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07D122-B721-4725-93E7-B7F4F56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1FBFE5-5F73-4CE5-8F27-78770891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F3F0E4-3282-431C-B46D-42D0C98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45C33-560A-44C4-A8AF-1E15A2EF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0BBE27-DFC7-41A8-BEAD-A29EC6DA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CD4CF3-619F-44B0-B287-D3570EF3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16795-E520-45E4-B0C4-50BA0E60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327ABD-4C7E-43BB-B1E8-72748A11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70E3AC-7174-4947-9499-D116E6C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133398-2D83-4B96-8027-59297459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TEE 谱系辅助材料｜证据等级：E2 survey / Background substrate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666059-7644-4A12-9A27-56C12B4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669A60-8139-4019-9EFB-EC4DD96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1F0395-B469-4DF2-BFDF-73B2E7F6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94EA0A-9AD4-432A-94CC-1FFBEEC2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实验结果  |  09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AA72E3-EB1B-4A9A-BA29-B829E7A1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164</a:t>
            </a:r>
          </a:p>
        </p:txBody>
      </p:sp>
    </p:spTree>
    <p:extLst>
      <p:ext uri="{BB962C8B-B14F-4D97-AF65-F5344CB8AC3E}">
        <p14:creationId xmlns:p14="http://schemas.microsoft.com/office/powerpoint/2010/main" val="88536261"/>
      </p:ext>
    </p:extLst>
  </p:cSld>
</p:sld>
</file>

<file path=ppt/slides/slide1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B1CA3-7B85-41A8-9FF4-E114C4C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8D3A8-3065-4214-8FDE-DBAC8546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971EC-3F4D-45B9-A414-79F15989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A25B1-BBF7-4FAD-BA40-05C71955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TEE 谱系辅助材料：文章评价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00D39-4E07-466D-8267-44506396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870B5-2F5D-4D15-8CAC-A28FBDC8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2B49D-7BCC-4BDB-B85C-9BCC03B2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survey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CF3D5-2E63-43D8-A221-31127521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TEE 谱系辅助材料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FD326-38E2-427E-B0A8-A4E51A0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57FB5-833A-4936-AFF7-7A3AB92D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99F28-900C-4BFF-B891-AFD020B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9FD0C-4356-41A9-9963-4BADBBFE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10246-D3EC-44BA-A110-DE0E333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设计优势：有助于横向定位 Keystone/Penglai/SPEAR-V 与 CoVE/AP-TEE。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D5A7A-1551-44BC-8EDC-450D4EEE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B3E7D-E916-4482-A964-EF4AFEE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局限性：Survey 不能替代原始机制论文或官方规范，尤其不能承载性能或安全证明细节。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57E72-8D5C-472A-AC32-4EB0FE5F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641CB-7B55-44B6-A045-4AD34B9F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商业化潜力：适合产品路线图分类；风险在 survey 分类滞后和不同 threat model 被误合并。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8548B-1C3C-44EE-BE97-0A6DD724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8E4E5-DB8A-48CA-A816-05C97A8B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55BCB-1812-4C3E-A3BE-7CEAB291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1BB57-66CF-4B74-AE4B-FDA4A8A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40C90-80BC-4688-802D-45C3F49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FB9A9-52E9-419B-8595-7AC32A6F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6E414-68CD-449B-9D3F-EAC38462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67305-8F0D-4A66-9AAF-41DF80C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3B20D-79E2-44DE-8E2A-EAA07DA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5C7B7-517D-479F-A5FC-CF9E94D7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有助于横向定位 Keystone/Penglai/SPEAR-V 与 CoVE/AP-TEE。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F86A58-1DE1-47F2-B336-7274160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2F809-F216-466B-A547-5C6BE252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30A92-CB96-4E6D-ABD4-8FF9189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Survey 不能替代原始机制论文或官方规范，尤其不能承载性能或安全证明细节。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9BE34-E3D9-448C-B986-C3F1C3EB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33EC95-42B1-4A75-B6F2-63DA6204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53634-7A4A-4C38-A98C-2554BB73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适合产品路线图分类；风险在 survey 分类滞后和不同 threat model 被误合并。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1368D9-9F32-428D-BF55-3F9E30B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AA2CC-C22D-4950-9237-19A5095C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BAFDCD-872D-47D7-AFC9-41ADB4E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E2 survey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BF034-2563-4E30-BAD7-AC1C83EB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4BF0AB-A0B8-4882-9B46-05B29C43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TEE 谱系辅助材料｜证据等级：E2 survey / Background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3726CE-270B-4E21-9714-78AA78A7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77280-CFA8-4B10-A396-4C143CF2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4FBB52-CA3C-400C-9C3A-B0621D9F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795AF-B48E-429B-A740-0055E286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文章评价  |  09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8B36A2-6C95-4927-A780-2EE6C6CA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165</a:t>
            </a:r>
          </a:p>
        </p:txBody>
      </p:sp>
    </p:spTree>
    <p:extLst>
      <p:ext uri="{BB962C8B-B14F-4D97-AF65-F5344CB8AC3E}">
        <p14:creationId xmlns:p14="http://schemas.microsoft.com/office/powerpoint/2010/main" val="116677853"/>
      </p:ext>
    </p:extLst>
  </p:cSld>
</p:sld>
</file>

<file path=ppt/slides/slide1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97C4B-0352-4D4B-AC03-F64C4B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113D4-CDDA-4190-9FE8-C62B864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7AC7F-5815-480C-83A2-0C8CBD1C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03E9A-1B41-459F-B231-4B1DBE1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 / AP-TEE confidential VM：方向总结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1418-984C-4E6F-BC49-359B1241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E3ECF-DB74-4AC8-91F5-02DA4D97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37670-2D73-4924-9FF5-05107D3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D8D75-6A6F-4851-A035-5B53699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/ AP-TEE confidential VM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F5FF0-72D0-4D86-A015-7E9488F6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16BD4-D794-4A9C-8096-DE0C672A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BE924-0C39-4282-8F96-CB93A7DE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EC2C8-8EA3-4FE6-84B1-3FE096DC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74412-37F3-4BDC-B3D4-FB1CBF5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reference architecture：开创/基础入口，E3 / 基础证据 public preprint。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E0349-1157-41C4-869D-11124635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F8360-1A8B-4B67-8540-BAF07A17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AP-TEE / CoVE TVM 规范草案：代表性改进，E3 / 草案/未批准规范。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7ED1D-2D9A-4A38-B8B9-B13730F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94BF4-7080-48B4-B7BD-D54ACB23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谱系辅助材料：当前 SOTA/补充边界，E2 survey / Background substrate。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5F9CC-59A2-4813-B973-6D059881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D5087-021B-4C87-AA3A-0565739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A3713-50B9-48FA-8676-F0C73F7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A9F4F-4CD7-43EE-B236-F3216388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573FC-3AD5-4F1D-BC9F-A105213B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4571-24AF-4860-AD66-D86D6AD5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0542A-C726-4416-B858-8DAF765C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C4AC9-B59A-4A08-AA9F-9479A85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C6037-DDC1-4830-8A3C-9C249A2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09E41-4A0D-4749-835F-A3695A9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 reference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A2730-1482-4A1B-96F9-A62BFD8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1ACF8-26FB-43E0-BE23-2B4C892B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 2023 is the early mainline design material for RISC-V confidential...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E2F4F-57AA-462D-8CB8-96F0E94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CCF80-C9CD-45F3-A93F-C7A98D06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AP-TEE / CoVE TVM 规范草案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97E3C8-8CC8-4FF8-BAB9-C68C292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48FF7-CDA3-4621-8A34-7A433993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AP-TEE draft is the current standards-track source for RISC-V...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91CA0E-F386-45F1-A6CA-716740C5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4A214-FA7B-4D6F-B33D-1351996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TEE 谱系辅助材料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5F15D9-9FB9-4CD8-9D54-F0DCC2E5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A7C48-064E-4797-BF8A-A2ECED5A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Recent RISC-V TEE survey cross-checks the CoVE and AP-TEE lineage...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FC0EC6-4C16-483B-ABAE-4F8F0FDA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6FEC93-D64E-4FBE-B350-D510C35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C8F822-450B-42DC-94C9-CBF48AC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16FEA3-1907-4A65-A658-2E7553D3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9614E9-E134-4B4C-B5C1-C8115523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F0D516-337C-4641-9707-209A8195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 / AP-TEE confidential VM | 方向总结  |  09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EBE8CE-50CF-409B-9E94-C13BCA5D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166</a:t>
            </a:r>
          </a:p>
        </p:txBody>
      </p:sp>
    </p:spTree>
    <p:extLst>
      <p:ext uri="{BB962C8B-B14F-4D97-AF65-F5344CB8AC3E}">
        <p14:creationId xmlns:p14="http://schemas.microsoft.com/office/powerpoint/2010/main" val="1261403536"/>
      </p:ext>
    </p:extLst>
  </p:cSld>
</p:sld>
</file>

<file path=ppt/slides/slide1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D8A0C-6BBB-4996-98FC-D080167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0BABA-5A01-46B9-BA8B-FEA5F1E4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A625A-B7D8-4AC6-879E-D162162B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94E17-0A79-4D51-BA40-72A5CF06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0F53-3CD5-4398-A659-A5FC3890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/ TEE-I/O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9DAEF-1DA2-4AC8-93D7-B546D67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把设备身份、DMA/MMIO、interrupt、link security 与 I/O translation 放到同一边界。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C5058-2311-45FB-A1B1-6DF7462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22D3E-1FE0-48A8-B288-E508308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7B774-0605-44DB-9F91-9C50894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sIOPMP: scalable I/O protection for TEE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B6AAD-C0BE-4BDE-BCF7-E15F6B3D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55285-79E7-4D17-B69F-07C7A813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3A5B-DE9C-4365-9CCB-F4522A1D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规范草案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8007F-7967-4EC1-A799-68C44FD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AF964-5CE9-42A3-9025-908C1FB6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E3A6C-300F-413E-AA77-AAEDE42E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支撑 CoVE-IO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75F5C-5888-4F0E-960D-F70CEF55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4E712-EF64-4F7E-9E10-EE995CC9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6A9A2-306D-448D-8D96-717E47D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DC2BA-F726-4469-A7AF-F77B09DF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350AF-8F04-4798-BDD7-D7893C2F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RISC-V CoVE-IO / TEE-I/O  |  10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80972-1056-4C09-8927-C6BDB08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167</a:t>
            </a:r>
          </a:p>
        </p:txBody>
      </p:sp>
    </p:spTree>
    <p:extLst>
      <p:ext uri="{BB962C8B-B14F-4D97-AF65-F5344CB8AC3E}">
        <p14:creationId xmlns:p14="http://schemas.microsoft.com/office/powerpoint/2010/main" val="963733224"/>
      </p:ext>
    </p:extLst>
  </p:cSld>
</p:sld>
</file>

<file path=ppt/slides/slide1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135D1-0A16-4517-89EE-DF2ADC6E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715C6-F103-4216-B5CA-0798A04C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6490-135A-4433-A503-A5F05F72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E490A-99DD-46D6-AA53-2B9F034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/ TEE-I/O：方向开场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4D3C0-69DD-4A7A-B522-138A7584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D57BA-4D37-41BD-936C-29BE3ECD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83E5F-702B-414F-BDC6-31FF15A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465A3-DEC3-44AC-B3C2-29E4801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/ TEE-I/O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3A84-0DDD-478B-85D4-4388DCC4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D0AB4-B709-42E6-9F4E-9C37557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8ECCB-2C61-4408-981F-007AA65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D5F6-0B22-403B-8191-645388B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4B6F3-8B05-44D1-B029-A9368DD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把设备身份、DMA/MMIO、interrupt、link security 与 I/O translation 放到同一边界。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EED39-BF29-4D0A-82F1-C4ABA61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CE316-5FAB-413B-AE8F-C46DBCE0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固定三篇主讲材料；`riscv_aia_2023` 作为 trusted interrupt auxiliary，不计入三篇主讲。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0B6A7-6C87-441F-9430-7D47F96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726A5-4DFF-44B5-BDAD-CD9594E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00D9D-5B81-4FFC-B7B8-34E88FE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AF03C-EC77-4875-BCAF-B22F7351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9362A-9F5B-4645-9090-B19AE5F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C5F3C-B310-457F-87A9-C8DAC7B7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165DC-5C83-4F51-BECE-0F1C8DEC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79F132-6175-43DD-964F-2809A7C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F81A9-C3DC-4A60-A3DD-083F683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1B252-F8D6-465E-AC51-85DF1D03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3CFFC-22B7-48EE-94C2-6D0400F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134CB-1C54-4719-A8DD-93CDC690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sIOPMP: scalable I/O protection for TEE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0E82B3-5FCA-4B60-BDFD-7F5DCC4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75938-24C7-424B-A003-3B8DBBB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E32D0F-B258-45F2-8281-74ECBDE9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937DF-8BBD-4469-B29F-4EDD4D8C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规范草案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43E19B-60D4-438C-9FF7-447C46E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F03AB-3E90-4170-9461-61CA2697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1BE0DE-FECB-4EC8-9123-EDEB9313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858FA-BFDF-4BAA-AE4F-AA4E2769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支撑 CoVE-IO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47D2FB-4E41-4D3F-A6CB-2BEAC991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40D39-77CD-4DAC-9093-5CFDF97F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BC14EA-38B4-4485-8BE1-7503EAAD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22756-B191-4961-B223-46FB18D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1DF7DA-79E8-4279-98B5-00863C2F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561149-86E7-49DE-B09F-08AAE539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03C9A0-E808-4608-8628-B4CB42C5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4F1F72-DEB3-48FE-B2B8-18EF6BC8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方向开场  |  10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6ACCC-3D53-4716-AD4C-1575C36F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168</a:t>
            </a:r>
          </a:p>
        </p:txBody>
      </p:sp>
    </p:spTree>
    <p:extLst>
      <p:ext uri="{BB962C8B-B14F-4D97-AF65-F5344CB8AC3E}">
        <p14:creationId xmlns:p14="http://schemas.microsoft.com/office/powerpoint/2010/main" val="294948295"/>
      </p:ext>
    </p:extLst>
  </p:cSld>
</p:sld>
</file>

<file path=ppt/slides/slide1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F912B-26F3-4C9D-AA0F-0322584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177ED-FB01-4035-B8E4-7884052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0D7A-077E-4056-8451-4315FD1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C88DC-8651-4918-B3CE-D8B88DA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sIOPMP: scalable I/O protection for TEE：内容摘要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F525-AD00-4E2C-9BD7-C4DADCD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5E238-A3D5-41AB-A702-5FF37C65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2380F-A25C-4383-9D98-22AED99F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AD96-C6FC-4302-B54A-FBA6A0E6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提出面向 TEE 的 scalable I/O protection，聚焦设备 access control 和 metadata/checking 可扩展性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66EC5-197C-43DE-89B6-DE50CE10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2196F-13D9-439F-9F82-1626136E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4A6B9-12E2-4031-8086-06741E94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B2A26-1C61-4D37-8E34-33FBEBC2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E69B6-CDE0-4BCC-9051-1887050B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提出面向 TEE 的 scalable I/O protection，聚焦设备 access control 和 metadata/checking 可扩展性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5125F-3E4E-4E49-8690-8FC135E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64788-0CB3-44B9-B67C-ECD31B58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sIOPMP is a peer-reviewed mechanism starting point for RISC-V trusted I/O and DMA...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1E425-65BC-40BA-A9A8-6032BAD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3126B-E190-49C9-ADF4-15B8451A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9EA19-CE03-4B3D-A8D2-159BC8BF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42762-EB01-4245-A82C-8C38CE0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839AF-FF9C-4DEF-8176-883B2762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27AF9-1C04-4114-9B81-EB6ED10D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8B499-A468-4B50-B8E1-8A9C4288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15988-82E2-4A9B-A817-424736FD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F55F9-705D-4B2B-B948-784D7C1A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33BAC3-5FED-48BF-AE42-0DB38EF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AC7AE-22C8-42B1-BB9E-AA9F58C0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0D3DE-871B-4E87-B7DA-76CE14DF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BD889-6B2E-4B04-A04A-C5107AF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782A0-312D-4241-9229-5B415641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44D74-7490-4CFE-973C-B0A022B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E85DD-A1ED-4D5C-A150-36CDDB0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80770-6500-41AD-9A15-42A71DB9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401A1-14AD-4E19-BACA-99BF0883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95FC8F-91DE-4FF4-B02D-DDD9FDFE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来源：sIOPMP: scalable I/O protection for TEE｜证据等级：E1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36B51-791C-4DC3-A33C-43C77FD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14665-21DA-433D-9322-EB37362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B8356-7B44-4BA9-9779-D7B5B63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CB1145-AA8C-41CA-AC54-026BC7B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内容摘要  |  10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CB199F-4A2E-407A-89D0-2CE48044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169</a:t>
            </a:r>
          </a:p>
        </p:txBody>
      </p:sp>
    </p:spTree>
    <p:extLst>
      <p:ext uri="{BB962C8B-B14F-4D97-AF65-F5344CB8AC3E}">
        <p14:creationId xmlns:p14="http://schemas.microsoft.com/office/powerpoint/2010/main" val="832706098"/>
      </p:ext>
    </p:extLst>
  </p:cSld>
</p:sld>
</file>

<file path=ppt/slides/slide1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3E0AB-4726-4AEB-8355-1E75719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D0D85-644D-40FB-B2BD-62FFD85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9C1FB-669D-4FA8-A317-4D09F80D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6CAE8-40C9-421A-BBB8-7082CEA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sIOPMP: scalable I/O protection for TEE：研究背景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60F01-CE01-4FBB-AF93-22CCDA89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EE0DB-62BE-42CA-8EF6-FD7DEA8C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B6C53-9DBC-4052-861C-579D88A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E63A-A43B-49FD-89E4-7D229C68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设备可绕过 CPU memory isolation，I/O 保护是 TEE 的关键缺口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EDDA1-3C76-4E3A-A81C-ADF29AD9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65E21-F880-4906-ABBC-A988AACA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DAA9D-18BE-4E00-AD87-8C81D3E8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C4AA3-84CA-4C1F-AE44-C17557E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1B39D-9959-4797-BA1E-B44490A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设备可绕过 CPU memory isolation，I/O 保护是 TEE 的关键缺口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11F8F-F725-4E64-8666-0C2EECD8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D1B3D-9B22-471F-AD7C-689E914D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只保护 CPU 页表或 PMP 不足以覆盖设备侧访问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CC620-2633-435C-850C-DC4D5B3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6F9CB-3A9A-4E6C-BCD2-C7A28F2C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67689-9154-426C-8E9E-77C3BE1C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B17AA-54EE-4BE0-A1F5-63ECD211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2BA39-96E2-4AF8-8F98-B6B91043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1D6B2-9187-4272-BA27-0F20D846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52702-AFE8-4ABF-8631-EA80D83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D2DE5-B34E-4F02-8D7E-6F2A9CFB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/ TEE-I/O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666E7-3D49-41DE-B96F-283CF54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D60DF-1005-4B2E-A4B2-B5733FE1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0FCE1-972D-4725-A664-1301DC29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把设备身份、DMA/MMIO、interrupt、link security 与 I/O translation 放到同一边界。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73D2B-2B97-4138-B174-3AF19B10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A7283-EBFF-4F8D-AAB6-E97AD85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D6DE9-0AEE-45B1-8785-2D8BFE7A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sIOPMP: scalable I/O protection for TEE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84F44A-36F6-4FC2-B570-3B4ABADA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CEA45-358A-4AA0-B9DD-057BFA3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58987-7ABA-41BF-B7CD-FA394C2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8352A-499A-4B4E-914E-2699C02E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08779-B71F-4246-85C2-2ED65403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来源：sIOPMP: scalable I/O protection for TEE｜证据等级：E1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04A294-E415-49BE-93D6-CB1C353D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74CDB-A3DA-4DDA-B959-AA63C944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9DF2F-E3D6-493D-BA5B-83A39D43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9C6440-F499-43A4-AECB-00265FF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研究背景  |  10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131A87-87C3-4547-BC8D-385FE6A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170</a:t>
            </a:r>
          </a:p>
        </p:txBody>
      </p:sp>
    </p:spTree>
    <p:extLst>
      <p:ext uri="{BB962C8B-B14F-4D97-AF65-F5344CB8AC3E}">
        <p14:creationId xmlns:p14="http://schemas.microsoft.com/office/powerpoint/2010/main" val="248215389"/>
      </p:ext>
    </p:extLst>
  </p:cSld>
</p:sld>
</file>

<file path=ppt/slides/slide1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56D22-7032-44F5-8E07-DB0B625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D6D44-B710-4914-BC20-EE68730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0181F-DE07-4806-ADCE-CA02E30B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0386C-A717-4692-890D-56006CA0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sIOPMP: scalable I/O protection for TEE：解决方案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553BE-D079-4F78-AF1C-2EE5333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71995-3DB4-4ADA-B352-FA926DEE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72328-3F42-4434-84AC-9211F96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1B229-A422-4093-96C0-D11E4F6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 scalable I/O protection metadata/checking 机制，提高设备访问控制效率并支撑更大规模 I/O 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D177C-54F2-458E-B073-37639790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041C8-C710-4F63-8955-D04E6DD3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35FC0-9104-45B2-990C-72FEAD4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B0754-01FA-45C8-A29B-AF7DA8C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239F7-9A95-4C6C-B7FA-034C069C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 scalable I/O protection metadata/checking 机制，提高设备访问控制效率并支撑更大规模 I/O protection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C254E-EAF5-4150-B3B0-78C842F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34EE4-C866-4A40-8868-B65D08BE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668FE-AB2F-4D18-AE0F-43261F1A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73DEE-A398-4D1B-8B8D-D79683CF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48533-7833-4DF2-9D22-F5387BB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B03A6-0558-4886-8A87-0D23C11A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Scalable I/O protection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775DC-D8FF-496B-92C7-F2FA6E97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1DA35-F0D6-438F-B74B-EB0943E0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B011C-C915-4A6C-91F9-EEF18913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B46A9A-788E-4122-BD6F-AE7353DA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access-control checking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8ACC8-3628-46E8-AC79-6B0717A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0F58D-7F9B-4182-925E-4E9D8219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7A548-08F3-4836-861E-698A292F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CDD9C-A44C-45F4-A030-842BCE21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TEE-oriented DMA isolation substrate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55453B-CF4B-49A6-8A35-726921F7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3BCF0-0C64-4B31-8E6C-C23ABA88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来源：sIOPMP: scalable I/O protection for TEE｜证据等级：E1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CC01DD-CC74-4B27-AC5F-FADC562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D9BBD-7AEE-4AF9-9849-B75397D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D5D7D-DAF2-426D-95CA-DC28CE47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53C33-5160-4475-9FDA-8ADE42EE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解决方案  |  10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E8AE58-6574-45EA-87B2-D817434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171</a:t>
            </a:r>
          </a:p>
        </p:txBody>
      </p:sp>
    </p:spTree>
    <p:extLst>
      <p:ext uri="{BB962C8B-B14F-4D97-AF65-F5344CB8AC3E}">
        <p14:creationId xmlns:p14="http://schemas.microsoft.com/office/powerpoint/2010/main" val="1127560184"/>
      </p:ext>
    </p:extLst>
  </p:cSld>
</p:sld>
</file>

<file path=ppt/slides/slide1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A4F3C-2DBE-4B66-AF64-0F4B87D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EA3EF-84A5-4A50-85DB-54200A65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67ED2-D0D0-4950-AFBB-35FC6187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D7C2-37AC-4BC6-BAF8-0644AD9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sIOPMP: scalable I/O protection for TEE：实验结果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C6BB7-4904-42BC-93E0-98ED0274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2B89D-8151-405F-9A91-5B3BF30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A5C6C-0351-45A9-A237-D989450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7B285-5E5A-4505-A537-BC06892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ASPLOS 论文给出吞吐和开销评估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8C800-0E97-4E13-AB04-19962AA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A5FE7-F405-4658-8D4E-B8A589D5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0FAB7-38C6-403C-B1AD-1E4FB5D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C6DB3-B346-4D8D-B22F-87BC51A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2CE78-4F28-4890-80A9-023E248B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ASPLOS 论文给出吞吐和开销评估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D76F9-5AE4-426B-93F8-0CED97D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D5E3F-49A7-4BB7-85FB-CDE9601C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待补证据：需要核对原文 Table/Figure 后再写入具体数值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37906-5C21-4152-8573-9A5DC5DB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C8DC7-8E5E-41D5-88C9-7655314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23659-40D8-4148-9F54-6318716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465B9-B201-496F-A700-95682E4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F1047-98F4-4FCC-831D-9638B050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4E1F1-3F99-40D8-96A0-258E2995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14E75-EF93-49DB-87BA-BECB18E7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3B0FA-1F35-4040-AA4F-49D130D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87706B-1833-4CBB-B7DB-5F348997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sIOPMP: scalable I/O protection for TEE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7750C-63B3-40F7-85FF-3384B45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BBEB0-D67A-49B6-9C4E-38E6717E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1A44D-6766-4D46-A294-0077579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9A10D-5097-4327-A1EF-1A8E736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414A3-BD1D-4141-B7EE-2F208786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5F570B-4BA9-4F4E-9CA7-116D1D66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6AE0F6-BE9D-45E5-90AC-DE606EF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1D257-558A-4842-BB2A-25E28BE9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4C6CC-0959-4852-B120-B7CB7769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A3E9D1-0BFF-4D40-87A6-77EB853F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C5BFA9-7BC0-4F5F-9B2A-DAB0701C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C9AAB-3706-4CA1-A7E3-D8C95F8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6E353-F6E7-4FCB-AA7C-B7320B03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710E65-A8E3-4C98-9BBE-362B5661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D740C-575F-4BF8-8858-F85A124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来源：sIOPMP: scalable I/O protection for TEE｜证据等级：E1 / 同行评审改进证据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B9AECD-4244-48F3-98BD-8B3088A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A7BEA-C966-4E7E-9D33-0B2DF1D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93490A-D7DF-4DF3-AEEB-8D12FEB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82B111-CC85-446F-A4C2-096D8AA2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实验结果  |  10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5E18F1-2D9F-419D-B123-5A830E4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172</a:t>
            </a:r>
          </a:p>
        </p:txBody>
      </p:sp>
    </p:spTree>
    <p:extLst>
      <p:ext uri="{BB962C8B-B14F-4D97-AF65-F5344CB8AC3E}">
        <p14:creationId xmlns:p14="http://schemas.microsoft.com/office/powerpoint/2010/main" val="1330489092"/>
      </p:ext>
    </p:extLst>
  </p:cSld>
</p:sld>
</file>

<file path=ppt/slides/slide1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4565C-E4C5-4AAA-9FB8-C33D5A5B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6DBFE-04FA-4370-A125-3CAC927B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CE91C-741D-4F76-9335-67D3803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1C1D6-1CA4-45D3-84CD-4C224AFF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sIOPMP: scalable I/O protection for TEE：文章评价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22406-F40E-4074-AD08-C886B612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C4D56-40D5-4BAE-9C09-8CC05E58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AE2F5-FFEF-4E11-BF08-3EEA454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170B8-ED62-4FDE-B14F-ECBAEFC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I/O protection 的 peer-reviewed SOTA，可作为 CoVE-IO access-control 前置材料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24DF3-ABF2-4E94-87C1-1F67A67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71DAD-3816-43B9-909C-427BC735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74064-694F-4271-94FF-4439F4E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1473C-A138-4A05-A135-FF03C737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37F8E-949B-44E4-8348-0F93DB9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设计优势：RISC-V I/O protection 的 peer-reviewed SOTA，可作为 CoVE-IO access-control 前置材料。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0BBC0-1906-4E95-83A2-BF445756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CC35F-DDD8-4731-AFC4-E021CB4D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局限性：主要解决 access control，不覆盖完整 device identity、TDISP、link security 或 trusted interrupt...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11AFD-9A0F-4F2D-B702-A4241C1E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1B79E-B76A-40E8-9707-E86A0095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商业化潜力：对高性能设备直通有价值；风险在硬件改造、IOMMU/IOPMP 组合和平台可观测性。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670B8-7630-49BB-B59A-D931C88A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D579F-FCBD-4E6B-A58A-242E0A9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B7D22-6724-4673-9ECF-42751CA9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F1DCB-63EF-4B34-BEA6-212467B8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80623-9B72-430A-B1B4-B9AAF2F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9956F-EA9C-45E7-904E-289117F1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669A3-1799-49CF-B4C1-7D8FA0A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F7473-0E56-4505-8647-D2F4EB6C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DD3EC-E906-4822-8947-AEC08CAD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F8B6B-4F2D-427F-A1BB-C586C3E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I/O protection 的 peer-reviewed SOTA，可作为 CoVE-IO access-control 前置材料。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C46244-6E05-47B4-BBF9-5E314D42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90A40-231E-4BAE-949B-B0883F69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0AC4C-8160-4EDD-9805-B6EDC710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主要解决 access control，不覆盖完整 device identity、TDISP、link security 或 trusted...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1DA6E-29C4-4F3E-9CF9-3FA38E5F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4BED4-A5B2-4C69-B098-166D608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28F86D-F3FE-460E-9457-C204CD9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对高性能设备直通有价值；风险在硬件改造、IOMMU/IOPMP 组合和平台可观测性。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1CDB2-08EB-4F10-9A42-3C40B505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CC354A-54F3-4BEF-ACF9-DB919F7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2254BE-4D8D-4B82-92AE-B35D0354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688A0B-3691-4E35-90F0-6788E51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FAC26-2E93-4E86-84A4-A2A26340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来源：sIOPMP: scalable I/O protection for TEE｜证据等级：E1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407708-5164-4C4E-B01B-58290DC6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79B59-C1A6-4044-981A-2477DA9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EEB362-E30E-4E80-9869-161F7DC2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D6C3A6-A223-49EE-870F-67D2BC9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文章评价  |  10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67E8C8-0AD7-4584-B85E-4C763B82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173</a:t>
            </a:r>
          </a:p>
        </p:txBody>
      </p:sp>
    </p:spTree>
    <p:extLst>
      <p:ext uri="{BB962C8B-B14F-4D97-AF65-F5344CB8AC3E}">
        <p14:creationId xmlns:p14="http://schemas.microsoft.com/office/powerpoint/2010/main" val="1780660939"/>
      </p:ext>
    </p:extLst>
  </p:cSld>
</p:sld>
</file>

<file path=ppt/slides/slide1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7845D1-0BFB-4B1E-AEEE-3F89B2E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32A75-399E-4DB9-BA0B-24422C94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0B059-0588-417D-BC5D-FCBAE202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71088-FE6C-4034-9E03-F28471E9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规范草案：内容摘要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249CB-E59B-45C5-81FD-38459EFD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44705-4A70-4B16-886C-4CB4700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BA256-084A-4293-BC39-31457F61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1586B-E401-4F87-8C9C-495C6E18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CoVE-IO confidential I/O 架构，把 TVM 设备使用扩展到 device identity、DMA/MMIO、interrupt 和 link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34898-A3DD-4AE6-9386-4777FCA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3D07D-B24B-408B-9400-F476BBE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9F985-58B2-45E1-A360-24BC8352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9533E-0626-457A-B4D7-42193D64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A2121-8434-484B-A084-0334453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定义 RISC-V CoVE-IO confidential I/O 架构，把 TVM 设备使用扩展到 device identity、DMA/MMIO、interrupt 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BA45B-644C-436F-BE90-C083E48D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0D21B-876D-414E-91BF-18B25C50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and TEE-I/O draft is the current standards-track SOTA for RISC-V confidential I/O.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32E21-38E3-4994-8DD5-B4C8F8C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567FB-B0E8-4937-A94F-0716936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52CDD-326C-48BC-B8BC-9D6A531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E00B5-1E9A-4A56-BB0A-8150945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F5FFB-B9BE-4582-8786-BA47AF57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F94E8-8EA3-4699-8F6A-655C8AC4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954C5-AE83-4B5B-85B6-E679B889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4D13D-E774-4759-ACC1-2E1FF91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D1C72-A4DD-43DA-92DA-C116ACCE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6DAAFC-41AF-4A80-A3C4-3DA100FF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655E4-C5AC-4243-BE36-D0E80444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DCFC0-C0D1-4301-9D69-761FAF7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1E5D2-9AB5-47B7-922A-B204532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09F25-D51D-4A79-9391-1F2EC832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EA017B-2E92-4BF7-B44D-700237A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DBB5D-525E-4DA3-95AF-F6A20335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B8D05-B7D1-426F-A7B1-EE1F6E7F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097D1-998F-4D91-8EDD-A5F5C8B8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1FDC4-A8AD-45FA-B175-3F51FB8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CoVE-IO 规范草案｜证据等级：E3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D150C8-154A-4455-BC78-39A1F8BB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51B043-519B-4C0B-B3A6-C79F71B0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2D855A-E89C-47E6-AB37-58C43880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569E3A-2929-4E9A-8B88-6102334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内容摘要  |  10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3DE816-BC1C-4D19-B71C-30BFDC79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174</a:t>
            </a:r>
          </a:p>
        </p:txBody>
      </p:sp>
    </p:spTree>
    <p:extLst>
      <p:ext uri="{BB962C8B-B14F-4D97-AF65-F5344CB8AC3E}">
        <p14:creationId xmlns:p14="http://schemas.microsoft.com/office/powerpoint/2010/main" val="147197019"/>
      </p:ext>
    </p:extLst>
  </p:cSld>
</p:sld>
</file>

<file path=ppt/slides/slide1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C7484-0FDE-4CCA-81CB-B4F89BA3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91F6B-CA9C-4C25-BF40-16CEC15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7AEDA-DDC0-414C-BF51-151C039D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525E5-BECC-46C2-A422-1F97910A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规范草案：研究背景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E5341-6FFB-4736-9559-F6280E58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9245-2E15-4611-AC7C-8A39683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B7D1E-2539-4FBE-9FF4-0CA3C38E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CF6BB-C3FB-4EC0-BB4E-E98D7348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 使用真实设备时，安全边界必须覆盖设备身份、DMA/MMIO、interrupt delivery、link protection 和设备管理路径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24B35-5E2E-4EF8-9AFB-BE54897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484B2-D653-4C22-B7B5-4F8723F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AB745-2F36-487C-A5FE-0C2BB648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A51E3-4106-4D4B-A51B-6ECE45A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4C495-B961-4D2C-B37C-B2724612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 使用真实设备时，安全边界必须覆盖设备身份、DMA/MMIO、interrupt delivery、link protection 和管理 control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19DBB-DA7F-4860-8C2E-1F9EB281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6ACBD-8C86-425C-B9E5-E37258D8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C7E8A-97E7-40F4-980C-EE649DBE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59E28-5C02-451F-87D1-E27BF17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DDDC5-B40C-4AED-8891-D9478B4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8CF55-25CA-4BFC-BB9C-8353C8F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19409-CFC5-4072-844F-20C256E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492EE-AA6D-48D9-8E74-7456D3F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/ TEE-I/O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B868-BCF9-4D61-ADB9-7DE37B9C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19487-A945-4F36-9918-CEB70B60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521C1-B567-4A24-B670-82443830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把设备身份、DMA/MMIO、interrupt、link security 与 I/O translation 放到同一边界。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CCD25-6D5A-4D9E-91A2-EFDB27F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5E503-C9C0-4A80-8BE1-6DB1950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03C93-4E90-44D6-8B9F-256414A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规范草案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DDF3A-CB69-490A-AEE2-932670F5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9C78E-52F2-4B02-93AC-2B0D230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42282-DB47-4C91-811B-F6454959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B54E2-6CEA-456C-ABDE-D065227C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E3AF6-B6DC-46CC-A5AE-EB54059E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CoVE-IO 规范草案｜证据等级：E3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96453B-9540-43BA-AB28-ADB041AE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BDA881-DA3C-4370-8ED5-C5910A83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EB1D02-D757-4C55-A672-21FEA11E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2EC79-F783-47F7-856D-7874EBE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研究背景  |  10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95C13-85C7-4A74-91E5-F8D5B244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175</a:t>
            </a:r>
          </a:p>
        </p:txBody>
      </p:sp>
    </p:spTree>
    <p:extLst>
      <p:ext uri="{BB962C8B-B14F-4D97-AF65-F5344CB8AC3E}">
        <p14:creationId xmlns:p14="http://schemas.microsoft.com/office/powerpoint/2010/main" val="916501672"/>
      </p:ext>
    </p:extLst>
  </p:cSld>
</p:sld>
</file>

<file path=ppt/slides/slide1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B9E581-AAAB-4031-9AD7-92799F36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90BC8-B359-461D-B066-96345DBA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49818-7E91-4386-8D0A-BEF31A35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D52C2-30F8-4B63-A706-1FD521C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规范草案：解决方案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D8280-2EDA-49A6-87C2-705F3201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0D31-6B26-4B69-8F35-972219B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0F0AD-B159-4670-9218-2AEFDD9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4BCED-C1F7-4883-B3AA-F02DEF84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TDI/TDM/DSM、SPDM、TDISP、PCIe IDE、trusted MSI 等机制组合描述 draft confidential I/O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6F771-956D-4829-94AF-47F07E3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A8683-29A7-4C81-BAA4-8988C364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B95C9-4FBC-4EA5-9BBE-901C947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B4A81-7A39-4E89-8236-43F2AEB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32098-8CC7-4E79-B25C-B7F3B54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TDI/TDM/DSM、SPDM、TDISP、PCIe IDE、trusted MSI 等机制组合描述 draft confidential I/O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6E3B2-0EC2-4F37-BBBB-27656B2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EB29B-36C7-4A37-B7A8-1F63CBB6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ABFD3-B5C0-4AF2-8C72-C6D0B34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77964-ACAE-4DF2-9B2A-E1FD72F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65FF4-F4BC-41E5-BE20-148C388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59EE5-93F3-48A0-957B-31E8629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TDI/TDM/DSM device-domain vocabulary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2553B-DF18-4439-A24D-FFED2E67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494A3-DA21-4E8C-BC73-F165537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543B1-9F3B-4F3F-8D4C-08D3E94B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264CF-DAA8-4A68-9DF2-06F60617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SPDM/TDISP and PCIe IDE linkage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8FB31-BD2B-46BF-AC61-5046AB24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678D0-B943-45AA-B7B8-D56382C8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2D8BF-DF22-484C-ADEB-652B635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0457E-DF48-4471-BB80-4A47DFC6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Trusted MSI and interrupt-path concepts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65719-9593-4AB3-ADAE-175A3CC4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D99BD-F7D5-41B2-A91F-4435673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CoVE-IO 规范草案｜证据等级：E3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727863-1847-41B5-9953-30D4B72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A9AC9-4972-4356-BABD-AE812E17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B43E65-D833-4374-A4BA-538C906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DF05D-4AA0-42C3-A7E3-22583EE3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解决方案  |  10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AFD021-6521-45F8-A53D-E9D668E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</p:spTree>
    <p:extLst>
      <p:ext uri="{BB962C8B-B14F-4D97-AF65-F5344CB8AC3E}">
        <p14:creationId xmlns:p14="http://schemas.microsoft.com/office/powerpoint/2010/main" val="235065952"/>
      </p:ext>
    </p:extLst>
  </p:cSld>
</p:sld>
</file>

<file path=ppt/slides/slide1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1E8B1-1F65-45B2-A30C-22C89869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78A2-D8B7-4888-91E6-63A2C4D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99840-32FD-4ACC-B471-4993DA2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92AAE-FCEE-47C0-B87E-33B5D148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规范草案：实验结果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18738-29FC-4200-AE52-445B84DF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B912-87D1-4DC2-B4B7-C8A5A86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E3313-8BE2-49B0-8BA6-B1BB1B14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5EFE4-2FD6-4CDA-8762-F9818C7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CoVE-IO 规范草案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2E494-DA90-4B99-A1B8-3D1BFBE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F0C3F-4C7A-4266-BFC2-DCE451C8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4C0D3-C07D-4A5F-AF5A-681742D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D1D57-0059-4930-AF31-074FC47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273B5-EF08-4A99-860A-BB0097B3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BF345-3DB8-4E4B-B17A-4E72CD2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9DFFE-7288-46CC-B2E8-CC15B87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可支撑：CoVE-IO and TEE-I/O draft is the current standards-track SOTA for RISC-V...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9E9E6-E05B-480E-AD16-2BBBB29F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82CDE-1D1E-400B-898F-8381180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证据等级：E3 / Draft-not-ratified；来源状态：本地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08CF4-8CCD-46DD-AE97-B792B673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F6F8C-C699-4699-8F56-49D8BCD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05623-E1C0-41EF-A3FC-8DFCAF9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F3539-DC76-403A-B6BF-BCD39D61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582C3-9BA9-4DCA-8E0E-B4C766A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F3099-AC95-45BF-85ED-561E1B0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12023-B4D5-4786-8BD0-27481F84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174B5-6A81-4EC7-8F11-43FC5A8E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74D2E-57DE-4987-8A72-E6BC4743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6B68F-EA00-467B-AB0E-4A794680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892A4-83DB-4AEA-B5F7-C1496E47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规范草案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0A980-75E2-4CA0-AC2E-E2CC6CF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54039D-616D-4B35-A400-97CDD331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60935-8F3F-4B98-BE67-B9486EE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6A44D-7766-4580-9287-1927C896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3A826-49DA-4FB5-B4ED-68E8804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0E6F52-C277-428A-B2F2-F113D3F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C0B8C-5D64-4E58-BC3C-207838B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52EFDD-5387-4025-A337-95B7234D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E0A8B6-62A8-473B-B0B5-9DCF5C8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36CBD3-E47C-4B5F-8191-22228056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385D4-C6EC-40A0-81D9-123FB891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BA2E4-0887-45CF-8A85-91E8CE37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7A944A-AE7D-4894-9A55-BB228CA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EBAB8-EF31-45B2-8C84-C9EB77D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E385B-8A03-470E-A5E7-65EC1F54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CoVE-IO 规范草案｜证据等级：E3 / 草案/未批准规范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94A1D7-9B16-4B0E-9E19-38D9302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CE779-E0A3-4AB2-86F4-7B7E8C7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DF79EA-01BD-4917-8C30-7286DEA3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9B8A75-EA59-4965-88B5-9C26F655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实验结果  |  10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02E489-08A6-4E38-BDFA-08C646CF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177</a:t>
            </a:r>
          </a:p>
        </p:txBody>
      </p:sp>
    </p:spTree>
    <p:extLst>
      <p:ext uri="{BB962C8B-B14F-4D97-AF65-F5344CB8AC3E}">
        <p14:creationId xmlns:p14="http://schemas.microsoft.com/office/powerpoint/2010/main" val="2097430666"/>
      </p:ext>
    </p:extLst>
  </p:cSld>
</p:sld>
</file>

<file path=ppt/slides/slide1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87EC3-AE97-4789-B943-E281F92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45FD2-8133-4125-8384-90D9CE7D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C54FB-5BFC-4228-9835-C8461D55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024A9-6689-487D-A2CC-1D1D8BD8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规范草案：文章评价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091CC-2998-4D53-A93D-830CEC28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85F4F-58FC-490D-ADC8-186226E9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75B53-F21C-4ACC-A35D-94FBBAC0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C0639-27CA-4AEB-BFCD-B7E95EA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CoVE-IO 规范草案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550B3-44F1-4914-9C69-918E0D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5D9B0-FDA7-4B60-AC7B-94B67BF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F3360-9852-4FD7-9D23-D47C4D5A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E92EB-3653-4879-9392-3E158BE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8067E-E372-4039-B43D-9DFD0755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设计优势：当前最重要的 RISC-V confidential I/O 规范入口。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AF277-E019-4D8C-B4CE-B105DA73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B3D03-169C-4C25-B91A-A8E2588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局限性：v0.3.0 draft 仍可能变化，不证明任一硬件或 OS 实现成熟。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42B5B-0391-405B-A258-598AF940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3A92D-6A03-4865-B5EE-AFA2C35C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商业化潜力：对 RISC-V confidential accelerator/NIC 生态关键；风险在 SPDM/TDISP/IDE 与平台 ABI 收敛。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ED486-B44D-47AB-B719-8CF2B5D4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BFB15-5E52-4EC5-9A89-35505726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E9DDD-888B-449A-AC53-094B41A0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ADE75-CB4F-4119-9345-E1B746F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3F62C-E3C7-4E1E-A2C7-738F8A0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9E743-0B77-46E5-8FCF-EC614E7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1C3CD9-9C45-4FE2-A7D4-2493E1D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20DAF-1258-4F90-8EAB-CF0C5B41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18D43-3BCC-4680-9937-706ACC4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FE5A7-6071-42BF-B797-9F9B83DE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当前最重要的 RISC-V confidential I/O 规范入口。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FB3AB-8C07-4B2B-A822-759D7098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37EDE-224D-4E02-9CC3-B06BB25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78123A-B249-41DB-ABF9-3E08A0CE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v0.3.0 draft 仍可能变化，不证明任一硬件或 OS 实现成熟。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98136-5FA9-404E-BE31-0DD26779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DFB272-4994-4952-8CCF-94B0B95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9E793-EEAC-4C70-BF95-7310352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 RISC-V confidential accelerator/NIC 生态关键；风险在 SPDM/TDISP/IDE 与平台 ABI 收敛。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FFC8C-8183-4C5A-B67A-B8F442A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E3D14-0FE2-43D6-8793-5256952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552D3-1F8C-49D9-A789-294B0581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B95EE3-18A9-4ED3-BF4F-4925E9B8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7E2FC3-9238-4F1D-9715-DADE45A5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CoVE-IO 规范草案｜证据等级：E3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0E937C-318A-414B-ABDA-43633AB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E39D6A-D5DF-4366-AA86-133BCA56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AB06B3-9703-405E-A8DA-13A0C6D5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5D0721-B457-4A40-85C7-440A5E37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文章评价  |  10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29751B-B583-4C46-BA60-6D039C5D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</p:spTree>
    <p:extLst>
      <p:ext uri="{BB962C8B-B14F-4D97-AF65-F5344CB8AC3E}">
        <p14:creationId xmlns:p14="http://schemas.microsoft.com/office/powerpoint/2010/main" val="1817235773"/>
      </p:ext>
    </p:extLst>
  </p:cSld>
</p:sld>
</file>

<file path=ppt/slides/slide1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20FE05-09CD-4B48-98D4-B6FD242D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EFFCE-880A-4D5D-A6FE-7B6C7872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3A450-AE2D-4AC7-8922-0B6B5CFB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08F57-C140-4C45-8476-3CD50A8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 支撑 CoVE-IO：内容摘要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CF02D-BC19-4464-8342-4CBF7303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73A55-7141-408D-BAB2-CA71F5E0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8DF41-50CD-4FF3-9803-728D73A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AD13A-7095-4E59-98A7-4CE605D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支撑设备 DMA translation/protection，是 CoVE-IO 设备侧地址访问控制的标准底座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155B6-0492-439F-BDBC-A3F5D374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995C5-3AAB-4715-8648-691459DD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063D7-707B-4582-A407-0002DCC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B3958-EEDA-4C83-AD7C-2386FB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7240A-0220-4989-8CF6-4957C5E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支撑设备 DMA translation/protection，是 CoVE-IO 设备侧地址访问控制的标准底座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46B78-98A6-4E60-9047-BE7BFD1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82AE1-6419-4E3C-BFC9-37EBF5E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specification provides the current DMA isolation substrate for CoVE-IO.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BEE5F-8119-4C04-A6FB-43FF37EE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763D1-B4C4-4320-9905-ED5C9DBA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BC735-324C-4DAC-9C6C-E997500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2C193-C86C-49A3-8B64-620C79F3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4FCE8-D663-4C50-B4B6-2FA6DED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35D61-96C5-4A23-8B05-ED7E78E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373E0-340B-4960-A97E-DFDADC7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7E02D-8DC1-4AF1-A287-4FF60B39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8A4B5-1B4F-4F9A-920B-29ACD713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6BDF7-FF68-4A54-A9CC-8B7A653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A7FE7-CC91-4119-837F-460E701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452D3-A920-4495-A0F4-F4F9840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755DC7-4A53-4F73-915B-4A2D821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4A189-42A2-4DDB-9E03-8C66EAC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EE2CE-0469-4174-ABC9-210DB1DF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FA8B8-5789-42B0-B9C4-6C0451D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CB695B-A088-42EB-9E1E-EE2CA78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9369D9-35F4-4BD5-A975-0FDA5AFC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D02712-0591-4221-BDBF-61BABC5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 支撑 CoVE-IO｜证据等级：E0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57195-9095-4A84-899A-E3CE95BE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C22E2-1699-49B7-AE2E-EFABF64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0F0174-5908-4EAC-AD2A-ABD1EE6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AA315-6677-40BC-ABB8-BD295581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内容摘要  |  10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C4571B-CFD0-40E2-A048-06556C34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179</a:t>
            </a:r>
          </a:p>
        </p:txBody>
      </p:sp>
    </p:spTree>
    <p:extLst>
      <p:ext uri="{BB962C8B-B14F-4D97-AF65-F5344CB8AC3E}">
        <p14:creationId xmlns:p14="http://schemas.microsoft.com/office/powerpoint/2010/main" val="1000497749"/>
      </p:ext>
    </p:extLst>
  </p:cSld>
</p:sld>
</file>

<file path=ppt/slides/slide1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F0D55-68BF-4EF5-91BA-4744893C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2470B-0899-4E1F-A20A-EA8A2B9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10D8-3786-4770-A5B7-E7B91DC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685FA-0072-4DAC-84C4-2D07D55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 支撑 CoVE-IO：研究背景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F5CD7-267B-4752-99D8-F9EC920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F3561-6AE2-45C8-B36A-B1AA540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AF8B3-0A82-4B32-8713-48C66C41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9ECB9-2D4C-4EE5-AEE4-955989A9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不能只靠 PMP 或 CPU page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E892E-50E7-4AE1-8F8B-0009BBA3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8E4B9-C91F-4392-9813-8552415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DFF60-962F-4CAD-8059-3392323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16B1A-F25B-4126-8EA5-921D4740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49A7E-4C07-4FF2-A170-023BFFAA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不能只靠 PMP 或 CPU page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C403A-12D6-4879-AE64-2D40960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BB770-DEA6-4737-BA6C-003D147C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设备侧 DMA 需要独立的 translation/protection 语义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FCEA3-D061-45B2-BB52-9FED7F8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9CDF9-00D6-44DC-A869-A8D6E865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22AD5-3D21-42A9-988B-A0D7A83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2794E-A69B-4B9E-9E64-42AD6BA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FC5C6-B2E3-4173-94F6-E595A28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F41E2-848B-48A1-8F1D-0C1C76A1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D6659-003F-400D-BA7B-207D6A9E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3EBA7-E9AD-48A1-BE3C-79E09E6D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/ TEE-I/O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A95DB-B868-4DDA-919B-5139E36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1BC8C8-BE9A-4733-AAF9-74A121F9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47880-5F63-45F6-A586-235E7FEA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把设备身份、DMA/MMIO、interrupt、link security 与 I/O translation 放到同一边界。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76B82-D096-4684-8008-1E0C4975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326D6-14A3-4998-A2D4-9B68470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3CC99-8193-420E-BC50-0612768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 支撑 CoVE-IO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02026-13FF-4636-AF2F-97E2710D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B73C5-3B21-42B4-B915-EB2746C0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82CB6-F07F-4F40-9D98-027200A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6F453-9B49-4FE4-BB6D-D962C279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0C922C-A1E9-4EEF-8818-E2B37EFE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 支撑 CoVE-IO｜证据等级：E0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EAAC90-C8B0-4300-8BAB-8039713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DC9FD-B481-4E0C-8482-B314D552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B95381-1472-45F3-AF39-FDC71F5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86D9F5-BAD6-45C5-A92D-1176D83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研究背景  |  10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434A9C-E5DA-4711-B0FA-3300B074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</p:spTree>
    <p:extLst>
      <p:ext uri="{BB962C8B-B14F-4D97-AF65-F5344CB8AC3E}">
        <p14:creationId xmlns:p14="http://schemas.microsoft.com/office/powerpoint/2010/main" val="743486198"/>
      </p:ext>
    </p:extLst>
  </p:cSld>
</p:sld>
</file>

<file path=ppt/slides/slide1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F360B-6110-4817-9E8F-B0259C99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3DEC4-B822-43AC-8B0F-93971512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B3F45-1973-4C83-B459-8467B67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E26EB-A787-461D-8A47-A967735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 支撑 CoVE-IO：解决方案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6B214-EDA0-4993-AA56-5B98CCB7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F385A-6CCE-4C07-971C-57D0797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673AC-CA59-47BF-BA87-05EA54A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DBFCF-6A68-4470-9367-4F857AD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控制设备可访问地址空间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1E970-4B3A-497E-A248-E131708E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85DD6-1CC0-438E-9166-3BD8C262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D602B-FA2B-495E-8227-4A1C3BB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15728-D96C-43AA-93A3-926000D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69B9D-A935-433D-ACF3-AF250CDD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 控制设备可访问地址空间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BBD32-EE0C-497D-8C56-C11D9B21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5B484-61F1-4856-91C0-BB21A52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`riscv_aia_2023` 作为 trusted MSI/interrupt delivery 辅助材料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A2CB6-B958-4EDE-B91C-3CE1D691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3069B-AE0B-4AA8-9AA2-59E72AA8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45B57-9E23-4F37-94A6-1D71B2FF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611EE-421B-439F-9A99-38A78E4D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0037A-8BC2-4EB2-8AC3-DB644E0F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D9E12-FB96-47AF-9035-96A7E45F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DMA translation/protection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99EB6-A2B5-4F71-9DF4-114FC78D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75B95-D67A-40BE-9FC9-1C08E3F5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28629-54D6-4C57-802C-EC671351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5D92F-F171-4A18-9517-585C7E1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I/O page-table permission semantics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35CBC-B70C-4A44-9CE8-14C13323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9E273-4EA9-475F-8A5C-14C9768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418C7-CB67-406F-99E7-9FD3C00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A75B07-4612-4561-B712-2DE093AE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Integration point with CoVE-IO trusted device lifecycle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4C33E-D693-400C-9933-7233060A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A6BAD6-541D-4DD2-85CC-BF5DCC8B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 支撑 CoVE-IO｜证据等级：E0 / Spec-standard SOTA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F0BD5-ACD3-42E9-9E42-04B813A8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6C3DF-A226-4450-A55A-10F5EF66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649E88-275C-4A57-AAF5-1FA5783E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B1D1C3-E88B-4294-9511-8E1C4DB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解决方案  |  10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F26232-2537-4600-985A-D99AF001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181</a:t>
            </a:r>
          </a:p>
        </p:txBody>
      </p:sp>
    </p:spTree>
    <p:extLst>
      <p:ext uri="{BB962C8B-B14F-4D97-AF65-F5344CB8AC3E}">
        <p14:creationId xmlns:p14="http://schemas.microsoft.com/office/powerpoint/2010/main" val="395339776"/>
      </p:ext>
    </p:extLst>
  </p:cSld>
</p:sld>
</file>

<file path=ppt/slides/slide1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31BCD-09A2-4A20-A049-3754973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809E-832B-4FA4-9F2C-20E84A2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A4001-33CF-4AE5-9BD0-95FB828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401B8-87EE-48B1-96A5-9BA6AE01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 支撑 CoVE-IO：实验结果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C3AA9-7BFA-45A6-935D-8258B0F9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DF64F-F335-4F21-A968-4356555D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5DE13-95A8-4128-9FDE-C1FF06E9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DEB07-B48D-4D0E-8A3E-D94C11EC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规范/Survey，无新实验；RISC-V IOMMU 支撑 CoVE-IO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5E00E-D8ED-4B6D-8AD7-431D8FFA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E9616-6391-4F64-9AE6-2C6E3E2C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2101E-E068-4EC2-9F33-21A8625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C2B19-9363-41B4-891C-969DBEF9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6452E-4763-4EEB-85D7-8A3FCBB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9CBB3-0C53-4C28-80E0-34CCF65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AAA9B-1CD7-487E-AACA-0D6F81B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可支撑：RISC-V IOMMU specification provides the current DMA isolation substrate for CoVE-IO.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5CEDC-FD98-4928-B3D1-56E692E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83633-93D8-42C8-A4FC-AD9F3D6B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6792A-5B29-4CF7-8D12-1DC47F90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A46C7-3E1A-4BE5-AB00-8F55E9A2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37E8E-3999-46E1-9D1E-37B4828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4C413-880D-4C1D-96A2-E06D4BD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B0993-7BC4-4BF4-A805-0C7D6D0B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549AC-0FE8-4E9E-A9CA-D6DF880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0E73F-4E8D-4BF7-8705-1D32739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7FC36D-8694-4D49-9FA0-0583DCC7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136EB-EA25-480D-A997-DD6FC67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BD61D-969F-4415-BE08-2F3C3037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C1CD1-5F66-43EE-9A0A-2A5B46C9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 支撑 CoVE-IO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FEE77-1669-448E-9914-679E08F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81896-5A3F-42E0-A547-B4191C84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5E252-4B6F-4CA8-9582-DC696AE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BC2248-679D-4245-9968-D4394E86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7DB9B1-ED38-4BC5-81E9-E2322EA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1A911E-9EA2-492A-9AA6-C40DD257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A39EB-9776-4450-91D5-38088E72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F22EA3-35F0-476F-886F-9484500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2EA625-644E-4741-8D4B-8B55FF5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CF6C55-EE30-4DD0-9450-928BC8D3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30F12-3C3F-4BC9-9474-6DA60E3E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B85CBA-FA34-460D-B8D1-9B764C8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644742-C8BC-48B3-9B44-FA876B57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08EEA2-E19F-422A-B291-C62AEAC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312189-5477-40F9-94A3-517F4FB4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 支撑 CoVE-IO｜证据等级：E0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48607-48F6-42A4-B90C-54F3844B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E78812-A653-4E66-AD4D-EF440D2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79C9F5-1E2C-448C-ACBD-10D9858E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D11467-467A-4B4F-82A2-EE9B2B36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实验结果  |  10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739DEC-2402-41A8-A627-C8264B19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182</a:t>
            </a:r>
          </a:p>
        </p:txBody>
      </p:sp>
    </p:spTree>
    <p:extLst>
      <p:ext uri="{BB962C8B-B14F-4D97-AF65-F5344CB8AC3E}">
        <p14:creationId xmlns:p14="http://schemas.microsoft.com/office/powerpoint/2010/main" val="1874958247"/>
      </p:ext>
    </p:extLst>
  </p:cSld>
</p:sld>
</file>

<file path=ppt/slides/slide1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65FBE9-8617-4775-881E-7845099F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C0FEA-3215-4B25-B92F-E9BFAF98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0E5EC-7318-4115-85A3-B50FE05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4DDE7-241F-4129-AE10-50C4950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IOMMU 支撑 CoVE-IO：文章评价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86186-790B-43BD-9590-01AF7006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54A33-8B82-4409-8004-337452F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563FE-DA3E-431F-B094-EF3B9978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25908-0770-491E-B968-3EFC40B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评价：RISC-V IOMMU 支撑 CoVE-IO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866F4-112B-436A-A5CE-B9E9FB2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89E8E-D4EF-4D9D-8A56-C07187C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36C8C-FDBB-452B-ABA5-5F14D982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9F31A-0C5F-4CE3-ADBC-A7C322E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3267B-D87F-410A-840C-109CF8D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设计优势：CoVE-IO 中 DMA isolation 和 I/O translation 的标准支撑点。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F8F56-FD06-414A-88B9-6AAC488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4F366-7C11-4F04-ADFE-BB5BD5CA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局限性：IOMMU 不是单独的 confidential I/O 方案，也不覆盖 device identity、SPDM/TDISP 或 link security。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22DC3-CDC9-40A8-9DD3-437AEEB4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83AC4-39F1-4A83-BEE9-8D916AE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商业化潜力：适合服务器设备直通与多租户 DMA 管控；风险在配置完整性、固件测量和 verifier 可见性。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ABF20-5421-426A-A625-4703608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02660-B66A-4936-B265-25D5275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151B1-F557-48D2-B7E6-2FD988E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EC12C-19DA-49EC-B8B2-C8A71A9C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CB3C9-75FC-4C17-9D3F-DFF8F8C0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229FC-FB85-4B33-8434-E3CD5FDE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B4527-9D02-4D5A-8628-5A42C90E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ECAB9-4ACE-4EBD-AFBE-D1E545D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B34DF-EEA3-44CD-BD7E-C2DC9A17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47294-FA36-426C-8529-AFC85F26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CoVE-IO 中 DMA isolation 和 I/O translation 的标准支撑点。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AFDE6-ECB1-4E46-8CA1-E30ADC89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19A2C-FE63-4D20-AE9F-09B4AE38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1071DD-444C-48E9-A8A7-9188617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IOMMU 不是单独的 confidential I/O 方案，也不覆盖 device identity、SPDM/TDISP 或 link security。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717771-454E-4C6A-880F-F957071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07886-549A-4460-AB69-76848D1D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C9599-00AC-457C-8567-AC375333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适合服务器设备直通与多租户 DMA 管控；风险在配置完整性、固件测量和 verifier 可见性。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8010EA-00F5-4D60-832F-41FA9B50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3CC3B2-2C73-4A61-8F7F-8EE16B80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4914DF-5FD5-40B2-B967-029D460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8EC5E-E932-407E-816C-8F2CAEB9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F48B05-7963-4CC8-93F7-EC233148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来源：RISC-V IOMMU 支撑 CoVE-IO｜证据等级：E0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E0E988-1D38-489A-BE10-B137826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9DA7F8-22CE-4116-8061-4BECD55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71154B-6064-471C-B49E-10C02A7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3AA8F-9B50-4CD7-AEFD-953D691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文章评价  |  10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F70DEF-9183-419F-9AAB-D03634D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183</a:t>
            </a:r>
          </a:p>
        </p:txBody>
      </p:sp>
    </p:spTree>
    <p:extLst>
      <p:ext uri="{BB962C8B-B14F-4D97-AF65-F5344CB8AC3E}">
        <p14:creationId xmlns:p14="http://schemas.microsoft.com/office/powerpoint/2010/main" val="1090491504"/>
      </p:ext>
    </p:extLst>
  </p:cSld>
</p:sld>
</file>

<file path=ppt/slides/slide1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ECEBE-1C60-4875-A8BA-CEF8ACA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2F6BF-9EB3-4059-BBC9-C54BFACF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9412E-E945-450F-9EE3-B5C2465B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E9870-82DC-4305-BF6F-565508D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RISC-V CoVE-IO / TEE-I/O：方向总结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F2862-69E0-44B1-8B2F-94C6902C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4AE2D-79DE-4EE4-B9B2-6683046E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B163E-5E49-410F-9D30-B7E7FDDD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4DAA1-80D3-454C-A109-9726708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/ TEE-I/O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BF266-00F8-49E5-B34D-ADFCF949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5B4BD-B2A4-48C8-B210-95A3ACE8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F6A0A-C663-4D29-9F91-0A35C50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6C896-6337-409D-A2A7-70B206F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27014-DB36-43F8-A7A7-C5D0DAE4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sIOPMP: scalable I/O protection for TEE：开创/基础入口，E1 / 同行评审改进证据。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0F44D-A2B4-475D-9D13-AC4C90C7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84668-6AB5-4CB9-82A7-3513D4C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规范草案：代表性改进，E3 / 草案/未批准规范。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2CA0B-A720-4DD2-B5F8-F94A863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DA3F8-7D6A-4246-976D-29FDE1AB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支撑 CoVE-IO：当前 SOTA/补充边界，E0 / Spec-standard SOTA。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8DFE4-84BD-4FED-B37B-9943AB1A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C8B5A-D3CA-4D87-82FA-012E2271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20408-CBAA-4A08-BA65-E268D791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64022-31A7-45FC-81DE-9A4FAD5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261F8-08D3-4D17-8B38-EDBA5C74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29A77-64E0-4F91-8972-F30D3853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F2813-4E5B-4D1A-9D24-7085EBDF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55908-8F4F-46C0-A681-2B9684D0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47197-082A-497D-8ECC-E0B4E978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350F7-B08D-4C8C-84A8-3888DE0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sIOPMP: scalable I/O protection for TEE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EF132-4FA4-4B61-91E5-0C50DD1D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4094BB-378C-4CBA-917D-ECF6F003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sIOPMP is a peer-reviewed mechanism starting point for RISC-V trusted...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51DCB-5076-4377-AD0A-8F6A4F3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C90C7-054A-4C31-9C71-16B8DFA4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规范草案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E0EC25-AB41-4A22-920A-EA792BF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02ABE-95C2-40D8-810B-3FDEBF5B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CoVE-IO and TEE-I/O draft is the current standards-track SOTA for...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CD594-5528-4AC4-B546-DD4DA9F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9F93A-424B-481B-AEF5-42F79BAE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IOMMU 支撑 CoVE-IO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FFF762-1437-4DB4-B2E3-D1D5C027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18D12E-9B4D-4CA8-A54F-F822D66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IOMMU specification provides the current DMA isolation substrate...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D841AD-4DB8-431B-99B8-168A1DC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A55134-4DA6-43C1-B0E2-261089D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1BD11D-7F46-4D28-9705-FA41E2B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DBC684-505D-4048-9335-C3171DD4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01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534467-699B-4331-93E5-71E14EB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4D34E-8E83-4406-89DB-622CA801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RISC-V CoVE-IO / TEE-I/O | 方向总结  |  10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B6883A-F344-4EB8-99E0-4DBDF12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184</a:t>
            </a:r>
          </a:p>
        </p:txBody>
      </p:sp>
    </p:spTree>
    <p:extLst>
      <p:ext uri="{BB962C8B-B14F-4D97-AF65-F5344CB8AC3E}">
        <p14:creationId xmlns:p14="http://schemas.microsoft.com/office/powerpoint/2010/main" val="639718417"/>
      </p:ext>
    </p:extLst>
  </p:cSld>
</p:sld>
</file>

<file path=ppt/slides/slide1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992D9-A6A9-43F9-A84A-1FD807A3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89053-ED41-4F6B-841A-DBA5A94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5B071-51E8-4CC9-AFC7-73EF42DC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187F4-F4C1-4E75-A65B-B0BE6041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AD038-E4E1-4E87-B08A-CEC48724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F096A-DC43-4689-AC32-F4FBBFB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避免把 access control、ownership、encryption、integrity、freshness/replay 混写。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46642-EF49-480C-A8CB-009733A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C5C88-2538-4B48-B06E-672D699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57A66-5902-448A-841E-897586B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6414C-B5D2-408D-95FD-6BCD31DD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74C10-796C-4006-876F-93A1721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E45DD-23BD-42E3-B8B3-D29939D2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48632-23C6-416D-84B8-6877357E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80CB4-34FF-433E-B77D-0685D574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38730-B6C0-4119-9565-297724AB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AMD SEV-SNP industry memory-integrity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264E0-27EE-43D3-84FD-3046A4A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BB863-0204-4DCA-8F56-31BF685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B3743-EE41-49EF-B96F-6FD1B1CA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142D64-B173-4D97-AA32-130291D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9B0EA-FFA5-44F8-AA3E-CFF11F4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Memory encryption / integrity / replay protection  |  11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ACD18-A47D-4AF9-AA98-D89AD6AD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185</a:t>
            </a:r>
          </a:p>
        </p:txBody>
      </p:sp>
    </p:spTree>
    <p:extLst>
      <p:ext uri="{BB962C8B-B14F-4D97-AF65-F5344CB8AC3E}">
        <p14:creationId xmlns:p14="http://schemas.microsoft.com/office/powerpoint/2010/main" val="1076113229"/>
      </p:ext>
    </p:extLst>
  </p:cSld>
</p:sld>
</file>

<file path=ppt/slides/slide1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FECAE-2EBE-4FDE-9883-34283B2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8BC81-054A-49B8-970D-0F7D3AA7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CF5BD-6BFD-40D2-AA78-FC8C396B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F94C6-164D-4FF1-B334-005AB607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CE4DA-5A6D-42AD-A5DF-472B0F69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8D876-3A1E-4BC4-B6BD-F1F78FA7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17BC6-9D49-4321-8D56-92D173F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5D637-6E8B-42F5-80E2-F6C0025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44008-746E-462C-AC7E-22095009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B8C38-C04F-42BC-8204-24112FE7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8FE69-37F7-4CAC-BCC3-E249B971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054FF-BF0F-4032-A77E-790E8A19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4D5D8-FFA2-4F4F-933D-44ADB8CA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避免把 access control、ownership、encryption、integrity、freshness/replay 混写。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81AA5-B3DD-443A-BD03-D2A0CB4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3658-8FD0-4BA8-AC0F-10A5DB1C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固定三篇主讲材料；`riscv_ap_tee_2024` 作为 AP-TEE/CoVE lifecycle auxiliary，不计入三篇主讲。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FC605-FC9E-495C-8D4A-A454BF2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FB66B-726E-4CA3-B1CF-051427B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CA5BC-D2E7-4475-BE20-CB32A485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0B153-F279-4E57-971F-2D3A7E5E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29490-E05D-454B-B6A6-2C3F04C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E6364-15EA-4A5C-9A1F-19F22DB2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C180C-A725-4C4A-8837-BBAE9BD0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10830-3285-401A-9F3B-743E47BA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9CD75-54EC-404D-86DA-5A6C976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8BF8B-816E-4668-B5A2-D3FBA5DC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DDADD-12BA-46E8-91A4-F91A6FE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C21BD-D58B-4386-959D-2201CB6D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A7EF5-B07C-4659-8B8F-79C5180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77CC1-AE69-4259-8E32-4EE2119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0C46A-AD1F-4D90-9AFF-C920D451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133FE-B3DA-4262-9BB3-9F9A33FB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93641-A4B8-442D-BBAA-B17E9AD0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A56E4-742B-4FAA-8472-EDF98D7F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0047AA-A357-4591-ABD0-C2A3135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D8A78E-84C9-4A1C-8693-82C1B66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AMD SEV-SNP industry memory-integrity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2A4D7F-F0C8-42E4-9E55-9CCC9DF9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B417A0-3974-4324-88AC-7A44142C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308281-E032-45F0-BFDF-3D888FB4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528986-E34C-4755-9857-F5269267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E6FC3D-C0BC-4055-892D-916CFCA3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A9E4C5-CB87-4378-9D53-92193EA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8442EF-526A-478A-81DA-D43B34A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B688F9-1715-4511-9E23-2644CB0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方向开场  |  11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EB2111-AFCB-4CD2-93F4-74D7F96D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186</a:t>
            </a:r>
          </a:p>
        </p:txBody>
      </p:sp>
    </p:spTree>
    <p:extLst>
      <p:ext uri="{BB962C8B-B14F-4D97-AF65-F5344CB8AC3E}">
        <p14:creationId xmlns:p14="http://schemas.microsoft.com/office/powerpoint/2010/main" val="514990833"/>
      </p:ext>
    </p:extLst>
  </p:cSld>
</p:sld>
</file>

<file path=ppt/slides/slide1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EAB4-818C-4DDA-BD3F-F891DC8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CFFA5-230D-4B21-A4B9-CCF91B04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918A3-1BC5-4B1A-9F41-418C55FC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B3774-AF9C-4113-AE64-27A5D54F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49DDE-DFEE-44B7-AA48-D5218A64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D5C6F-246A-406A-A5D3-F5781C0C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250B1-4EAD-48B3-8C60-1EB3ACE8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CF5EA-7EE2-4DBB-96A1-D999375B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综述 memory encryption 的威胁模型、技术路线和性能/安全权衡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A2B18-C269-4220-AE85-A335AB41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AA1DF-2FA2-4FD9-8139-69692C05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FDE20-50E2-41F8-9212-A220C404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7F7E5-8E09-4AFB-9117-42BB1F2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DDB99-C98B-4D53-9D21-F1FD4BD1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综述 memory encryption 的威胁模型、技术路线和性能/安全权衡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1CA2A-88A0-4688-9F4A-43ABFA4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1E09B-406C-42FF-9237-D0CEC0D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Henson 2014 is the background starting point for secure memory encryption, integrity,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1A959-0EF4-467B-B34B-75CC051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DBEEE-FE97-46BF-9580-7C62861C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C4065-51C7-4982-A04B-86D281B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99C8D-DC98-4325-9989-3A4862E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3B646-576E-4816-98B1-F460DA6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8353D-BE8D-428B-9393-1C1312D2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BE72D-D70B-40C7-AAF5-122F6323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7ECF0-561A-4E92-A29E-82A38C34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250921-9D73-4D8C-899C-5A99B1C8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84451-4056-460B-B276-8F191B1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E7483E-E73B-4476-A054-CDCD03C6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SoK/综述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81DFA-9D54-49AA-B5E9-93A4B9D0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B205D-FFEB-486E-B945-413B292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AEFFD-0915-4967-ABF3-BE67369D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76B404-7848-4453-AF36-FEA6D27B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17DBC-CB76-4DC6-8C0C-3EAD833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EE4A7-EBC8-40C3-A826-D54934C4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29C90-9B22-4BBE-AC16-47DEAF8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EA146-DD5F-4D8A-802A-00FD1DAC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C7CB13-9A0C-4DEB-B5AE-91804CB7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90446D-56F0-4176-A99B-084DFC7B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1E46F-0BF9-4456-A36C-2AC21302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C5D51-F447-4C36-A2F8-8E44082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内容摘要  |  11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0A1D00-9A4F-4448-A348-1C910ED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187</a:t>
            </a:r>
          </a:p>
        </p:txBody>
      </p:sp>
    </p:spTree>
    <p:extLst>
      <p:ext uri="{BB962C8B-B14F-4D97-AF65-F5344CB8AC3E}">
        <p14:creationId xmlns:p14="http://schemas.microsoft.com/office/powerpoint/2010/main" val="2004315218"/>
      </p:ext>
    </p:extLst>
  </p:cSld>
</p:sld>
</file>

<file path=ppt/slides/slide1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36F03-2E4D-46E3-A824-CEAD3B40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474AD-E441-4AE5-9E3F-6824657D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A56CE-8CDD-4683-9C78-1D4B0C3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04519-63BD-4EA3-A841-7E5D59DD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A4BAB-C483-4AEB-A8BC-8AABC136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2AB92-0598-4DA4-9B0A-AD4CBF23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702DE-C9DF-43C6-BBCD-D8DBB6C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F7E64-129B-47F6-B19B-2A2CE66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Full disk encryption 不能保护运行时 DRAM、bus 和 DMA 路径上的明文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55E86-F3F4-47BD-824F-2F7A8639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5F004-AED1-4668-8D80-2FE1EC91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8C939-9FC0-41D5-9EBE-B1889C3E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8B0BB-1474-456F-BB8F-DD48AA26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C4F82-9603-48F7-9E2F-14ECCC7F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Full disk encryption 不能保护运行时 DRAM、bus 和 DMA 路径上的明文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53B80-168C-4885-B954-CC2F89C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756F9-5AC8-4615-A83B-B6BD4BE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access control 与 encryption/integrity/replay 是不同问题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7DA7B-EC6D-40E0-B81E-F620E708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B48C3-24B0-420C-B7F7-92A2AA9D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C9E25-8A53-4F38-B072-E7E3E46B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DF3C9-CF9A-45A7-938D-8A439A40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29D94-2656-4055-A3FC-36AF9C4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B07C8-93B7-479B-97A6-5F669184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9B6C3-CB88-449D-ABF0-51C86EB3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BA5D-92E7-46D8-82B5-323BF5CF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B522A-8506-4D90-93FF-97370137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55FFF-8999-49C8-9B27-B2D9E0AC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2784E3-6E0F-4CAD-B1F3-19FA752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避免把 access control、ownership、encryption、integrity、freshness/replay 混写。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8ADDC-B38E-4143-B616-12B9C51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DE560-A547-4AC8-9FE6-1B0EBA3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23DB8-1F57-439F-A2B6-D0317DAC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083F3B-BFCF-4BCA-88A2-2A7311CA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43579-027B-41F4-9858-0D11DCB2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CA6FC-B5EC-450D-A108-4CC468D2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BC106-1B32-41A9-90F2-E5CEFC81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EF89F-1D7E-4740-9542-BED6B92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D75074-EFC5-4365-BDE0-1A1E8164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5F5624-EBBA-425D-9F49-9D36CA98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0E8AD8-0AF9-42D9-80FA-ADB5E349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20A0F6-0F8F-4D76-AC98-55635CE3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研究背景  |  11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0CD9A1-F7A0-4DD1-A89A-3451E75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188</a:t>
            </a:r>
          </a:p>
        </p:txBody>
      </p:sp>
    </p:spTree>
    <p:extLst>
      <p:ext uri="{BB962C8B-B14F-4D97-AF65-F5344CB8AC3E}">
        <p14:creationId xmlns:p14="http://schemas.microsoft.com/office/powerpoint/2010/main" val="880723131"/>
      </p:ext>
    </p:extLst>
  </p:cSld>
</p:sld>
</file>

<file path=ppt/slides/slide1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0DA7C-7542-450E-AC17-8CF7392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73E41-8159-4BBD-B652-53DDB33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761F-75A5-4DA5-9116-6FC10FB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270AB-D517-4E39-80D7-2DD9A8C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BAFB9-7CAB-40A9-ADA0-7235330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F90F8-291A-45C3-933C-80C0EC0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E6C19-7AD6-46F3-89DE-1B82C6AE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F0284-AEE1-4447-B824-8FF0410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按硬件增强、OS 辅助、专用设备与 cryptographic memory controller 路线组织 taxonomy，并解释 encryption、authentication、attestation...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BFBAF-563D-4E08-8E6C-74722F55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DDFF8-7FB3-46CD-85C3-8179A0DF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EDB44-DA05-471A-994F-814A998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0AB26-335A-4000-920D-DACE2891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9D2AE-25F4-4730-A75C-1070F6F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按硬件增强、OS 辅助、专用设备与 cryptographic memory controller 路线组织 taxonomy，并解释 encryption...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1AE9B-FD45-463B-8856-CF53589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FDEA6-54F2-4055-B30B-8C724A6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BF08D-74A1-486D-883C-74F42A7C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3693F-1C0B-4387-95DF-F3D1846B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E4EE30-9567-4EF6-912F-D765C6A1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3F242-CEFF-404D-94B0-596DB9B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Off-chip memory confidentiality threat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FA6A0-5F45-4C13-BD3B-49A65E38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CED83-C82A-43AF-A70C-4B584F88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3EC4E-1F87-483F-AABD-0CFFA46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73B4A-BCC4-4702-B704-89B7857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authentication and integrity taxonomy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1DF9C-F9F9-41CB-A296-3E6A63C3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F602F-9CB4-461A-AF4F-FDF2D294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1103B-ADCC-4054-A544-02028E8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AE911-9C63-4F86-BA18-A1EABC2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Counter/freshness/replay-protection tradeoff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45E72-2033-4F57-A804-74481E70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5DA19-8C9A-4267-8C70-E21391C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C0D85-ADA1-4E00-A8AB-26B414C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55D57-E7ED-4672-A7EE-28DF06D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1CF6A-587C-4261-AEF2-F6D342A1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6FF960-E25D-4825-A972-307B7F1B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解决方案  |  11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2F771-EC46-484E-9FDC-1E986FF3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189</a:t>
            </a:r>
          </a:p>
        </p:txBody>
      </p:sp>
    </p:spTree>
    <p:extLst>
      <p:ext uri="{BB962C8B-B14F-4D97-AF65-F5344CB8AC3E}">
        <p14:creationId xmlns:p14="http://schemas.microsoft.com/office/powerpoint/2010/main" val="930765288"/>
      </p:ext>
    </p:extLst>
  </p:cSld>
</p:sld>
</file>

<file path=ppt/slides/slide1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1BA1B-0330-43AA-941D-4FEEDAF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317D1-63C0-4B18-8EC1-7563520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F93F-9C87-4876-901E-5FFC8C1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92D3A-ADB3-4942-8B92-1306CD3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73321-1D30-4347-A8D6-4F2955E1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843E7-27A7-483A-9314-8D19406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D7B83-28A2-46BC-880D-C4EAE0C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5A563-136E-4AB3-AD7F-F0514F4B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规范/Survey，无新实验；Memory Encryption: A Survey of Existing Techniques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D55D9-3E48-4A7C-B7AF-EE23990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867B4-4D19-42AB-B98C-0E647A5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46E4A-5365-48C1-9520-9486B18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12B3-731E-4B27-B7BB-F4C03108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7AB21-6817-464B-A64D-975FAC4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1E29F-7D53-4460-8720-0A5A9B04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3E8E9-3643-4B4B-A1A9-9DC716F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可支撑：Henson 2014 is the background starting point for secure memory encryption...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CA05-05E5-485B-A3DA-2F2A1E0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C4C61-0EA4-4328-98C7-58E1EE2F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证据等级：E2 / Background substrate；来源状态：本地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52CB9-5D88-4046-8722-E2868F5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FEB2D-E573-48F5-B90E-522571BD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2721D-216A-4132-A0E0-4C68F4C2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6052B-8E0D-4852-A89A-6DB53F5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FFE19-5868-462A-9657-7AB6D274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16033-1FFB-4C88-A3BB-C719D637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285FB-08F5-45C1-9B19-8B9D7FC8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57482-6F1B-4F40-B2FA-72A8031D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67696-0B0A-46C9-B2A0-5E5E8A9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7B05A-95F0-416B-8844-13C8B92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E884A-279D-41BC-B4FA-DEF5621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DB6AF-600F-47EA-A450-ABF77928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B8362-D700-49CE-A241-ED98752D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1F3D1-2D95-4A5B-ADEF-DEA1D253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DA0A0-82E6-44F6-8F09-76AA295C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5E7867-982E-4909-BE8C-9D13E4E1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7C5F9-CEDB-4DAB-9999-23530A2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436DB-99EE-4A97-B410-A7206F10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2AD94-2008-4F86-891A-7BAEE36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0CB842-77C4-4BDE-A1F9-7E71DCB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687A5E-AB1E-4103-9E8F-DCD462F1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3F5324-22C5-400F-BF6B-6BB5E5B1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1AA2C-0343-4704-BE05-9953C81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3FBB30-01D2-4C3E-9F62-DFA8C6A3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4135D-1167-46BE-B07F-7656937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479E1A-87D7-4477-AE93-835637F3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835FEA-0037-4843-8403-F4B8126A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E5E341-9A4C-4FBF-94CF-A79DDF56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FDB447-998D-424F-971B-7F447582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08EC67-C3A7-4ACD-AA5D-000DE548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实验结果  |  11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9C258-B597-4F12-8919-E1930C3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190</a:t>
            </a:r>
          </a:p>
        </p:txBody>
      </p:sp>
    </p:spTree>
    <p:extLst>
      <p:ext uri="{BB962C8B-B14F-4D97-AF65-F5344CB8AC3E}">
        <p14:creationId xmlns:p14="http://schemas.microsoft.com/office/powerpoint/2010/main" val="1142369933"/>
      </p:ext>
    </p:extLst>
  </p:cSld>
</p:sld>
</file>

<file path=ppt/slides/slide1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2ACCE-7963-4894-ADC9-A65CC203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EDC2F-774F-440D-821C-0EB182C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2CD5E-728A-437C-8C9D-75DFF02E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A4236-C0EF-4B15-9188-DA203104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FAFDF-AF3E-4251-A93A-31D8772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3DE3-D151-4C6E-B2E7-5C9B30E2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12549"/>
            </a:srgbClr>
          </a:solidFill>
          <a:ln xmlns:a="http://schemas.openxmlformats.org/drawingml/2006/main" w="9525">
            <a:solidFill>
              <a:srgbClr val="059669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563AA-66E5-4212-8336-F441D60C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E2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34C58-461F-412B-B05B-423D5294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评价：Memory Encryption: A Survey of Existing Techniques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4716B-8097-402F-B975-A1AAB3A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752C7-804A-4118-9B1B-EE7E6F72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A0EC3-0218-42F8-8F2B-34B8C485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FDDC0-D728-41C2-A832-8E539B4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52545D-70A5-4903-B78D-155FCA7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设计优势：最适合给本方向提供概念边界，防止把 PMP/GPT/IOPMP 写成 encryption。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895D7-5F68-4B0A-A8A7-6A4B5C2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57716-F745-4421-B541-EF2EBE3A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局限性：2014 时间截面早于 SEV-SNP、TDX、Arm CCA、RISC-V CoVE 和 CXL/PCIe IDE。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E4088-0C9C-40C6-866E-8E980B47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B085D-9EEA-479B-80F0-78E42F20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商业化潜力：可作为架构设计 checklist；风险是单独引用会遗漏现代 confidential VM ownership metadata。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BEA1D-7038-4EC3-9AEA-7630186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9AE23-1F1D-42D6-960B-A3149CAF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6E657-ED6C-4E90-9F4A-B616333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FEF84-39AC-4481-B92B-E014ED07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86BAD-B94A-4D51-8D54-03B8878A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C2498-62AB-4AF0-8111-5593930B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FFE47-DF30-4943-B5B7-B5EB3D44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C2280-8C2F-44A6-BF36-1D4AB1E5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506AB-4994-45FA-80F6-DA396FC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DB3B7-97F4-442F-9C51-7E63D52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最适合给本方向提供概念边界，防止把 PMP/GPT/IOPMP 写成 encryption。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FB086-9BD9-4681-A368-CAAC6B72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F8950-3E0E-4C84-AD0D-47EA3B5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3DBCB6-744A-4A06-B1F1-C0A6C1D3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2014 时间截面早于 SEV-SNP、TDX、Arm CCA、RISC-V CoVE 和 CXL/PCIe IDE。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7A6A73-8A52-4E11-B474-E9D5E6D2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804AE-867A-40CD-A907-49AC7D0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4CB19-3A2A-4EC7-90BD-36BFB58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可作为架构设计 checklist；风险是单独引用会遗漏现代 confidential VM ownership metadata。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6311E-4CED-4A5C-A7C2-DBA626C1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CA8CA4-9D12-4A32-89A2-8CB26170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D24298-ABB1-4C38-9055-D644D978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33BEC1-2FB6-4BD9-94D1-C1020120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BBAFD2-E88E-4188-B2A1-98B4554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来源：Memory Encryption: A Survey of Existing Techniques｜证据等级：E2 / Background substrate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4F6427-3995-4266-AA88-EA75DF34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22201-0C74-43C7-AE37-1C97B5A6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6D66F4-168B-4324-A9E8-2E111AA6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1CDC70-6DF5-47B4-B2F4-45EBC48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文章评价  |  11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DC4BD7-D54A-446E-A1AC-7517FA83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191</a:t>
            </a:r>
          </a:p>
        </p:txBody>
      </p:sp>
    </p:spTree>
    <p:extLst>
      <p:ext uri="{BB962C8B-B14F-4D97-AF65-F5344CB8AC3E}">
        <p14:creationId xmlns:p14="http://schemas.microsoft.com/office/powerpoint/2010/main" val="983882131"/>
      </p:ext>
    </p:extLst>
  </p:cSld>
</p:sld>
</file>

<file path=ppt/slides/slide1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B150A7-D2A2-49FF-9815-1CCB3D23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93622-4560-4FD5-B20D-A04F348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249CF-DAF9-43D2-BD7D-B1F5511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85FB9-D15A-48CD-B245-2E984ABF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81BE0-1441-4B1E-B643-46C15B35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7EBFD-EC5B-4055-A1B6-6BE8432E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FE50F-E70B-4282-94F3-39F7A82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C69BE-43E9-46A3-AD25-7EC7FB3D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use counter/tree metadata to detect tamper and replay, anchoring memory freshness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03427-46A5-4140-A35D-1B69169C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CBD58-3D3E-4950-B43A-EA1D4D6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9B1C0-D742-4D8C-8FAA-F979D2D5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3BD3A-CE56-44FD-B219-98B94E7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4E7C5-698B-47C4-B74B-742546B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Counter/tree metadata detects tamper and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DF4E9-AEDB-490A-8D08-A3327E59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8DCB7-282C-42D7-8FD6-0E348ACF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Provides peer-reviewed evidence for memory integrity and freshness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621DA-9E1D-416F-9EA6-088A471E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FFC12-C8D4-482A-BD5D-CD2DF9D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Peer-reviewed Bonsai Merkle Tree mechanism anchor for memory integrity, freshness, and...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41C20-7D49-4852-B8E5-16065BE4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B6594-F72A-4C3F-9995-1EE0A032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E0161-BDDC-43CB-9F1C-BAB72B7F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F530C-5FB2-4FDF-B2E9-91702AF3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DCAAD-7C74-4A1B-AF44-6553E94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A8B6D-1B6D-4EB5-83E0-FF433345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117AC-59B4-48E0-A9A2-B09840E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CBCA7-D1FA-486D-919D-298A3760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ED232-C71B-4783-9D9D-81BB566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144BEF-FD1A-4565-9172-FF43B6E3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7CC07F-23EB-429C-A408-0D17F8B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EA453A-A6A8-49C1-A3F2-1ED4431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3CAAE-693B-478B-A493-405149D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F5E7A-2D8D-460E-9D3D-75E5CC68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DBB6A6-B632-4D6F-8A2B-84CCE95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814C1-54A7-48E4-957A-73F7377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5B9F4E-318B-4BF0-BCFD-525B48F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53CC6-9191-461E-B924-749C083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F1F32E-4ACD-495F-BDC7-FA618DE3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B22355-27DB-43C1-8017-363160E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64627-F186-4004-91CE-6F0DD09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14AC7D-D050-4AC5-B724-9800ECD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DDBCED-4EF0-4F05-8AA9-BB1DCC21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内容摘要  |  11 / 15 方向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FFD4C-DCE1-4320-B724-15C38DDF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192</a:t>
            </a:r>
          </a:p>
        </p:txBody>
      </p:sp>
    </p:spTree>
    <p:extLst>
      <p:ext uri="{BB962C8B-B14F-4D97-AF65-F5344CB8AC3E}">
        <p14:creationId xmlns:p14="http://schemas.microsoft.com/office/powerpoint/2010/main" val="498492613"/>
      </p:ext>
    </p:extLst>
  </p:cSld>
</p:sld>
</file>

<file path=ppt/slides/slide1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DAC02-17F5-42F0-AEFF-86A011F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68B34-06F9-4448-BB4E-E749EEE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7B765-BB43-418F-BCB0-8764F08E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BBC2C-7794-4FE8-804F-5EB1EDC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4AAEB-34B8-4983-9037-77A8D73C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94345-D48C-47EA-916D-5687B6E0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FE4E3-D30A-4AA6-93D8-0A66332E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69F5D-81A6-4605-A3D9-10F6F2B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Encryption alone cannot detect stale or modified memory values returned by an untrusted memory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EDDBC-F0CA-46F1-BF07-11512CB7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2FF93-E02E-4FD6-8462-01CC5A2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DB7DE-EE80-4197-943C-F10C398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E3378-4E2C-477F-B24A-62AA33D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BFE6F-B561-458E-BED5-968B42B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Encryption alone cannot detect stale or modified memory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4A930-FA7E-46DC-B05A-CF0D3927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8E840-5A78-4973-916F-C2776EB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Freshness requires integrity trees, counters, or authenticated roots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BFE74-E566-4561-9519-4158AA9A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FD36E-9E04-45E2-9746-6661C7C1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5F0FD-4C68-4F09-B66D-A4170613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211B9-3A81-4A7D-B253-EBE07C7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C4D99-A9B9-4384-8F72-AAFC7F6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C9055-919D-4570-A95C-D70FB4E8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8EB0D-3952-4E7E-A2B4-424E60B9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4D0F51-9C1E-45B7-B7A4-0B49927F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9DFE8-CBBF-45B7-A071-D6C960A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6061A-D84D-42FA-9BAB-76992F4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E5B36-E8B3-4DA4-8CEC-35F6BAB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避免把 access control、ownership、encryption、integrity、freshness/replay 混写。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6C2910-BC86-481F-8975-04AF1AF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45172-8032-4C1C-A1E0-17D46797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00BD8-EF17-4EBC-A59D-01D7632A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27A434-B674-4879-A188-3BCC7D6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4C9F0A-C644-4446-95F2-A2AE2FC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995C79-1BB8-4890-BBB5-EF664630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FEEAD-B9ED-4C61-A378-57C25BF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C53D3D-CE63-4421-937F-3B1FA37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252B20-657F-4737-BF1C-B09F720A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E21CD1-E2E4-4C26-B2EB-0B6F33D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0461BC-1BC6-4F37-B8B8-88701812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F7C8A6-453C-4EE9-AC78-EE9D8CED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研究背景  |  11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B0A207-F361-496A-A957-92AA1A6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502435701"/>
      </p:ext>
    </p:extLst>
  </p:cSld>
</p:sld>
</file>

<file path=ppt/slides/slide1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92A4C-14FC-4BA4-BB3D-4359202B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33830-A6FD-43DE-93BF-A72377F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B576B-8822-4200-B5F0-69B5BAA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C9022-1F30-432E-AD6B-BFA2F87A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0B4DB-6A90-4B74-A852-141505A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B3222-9F16-4590-A2FF-F2872000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4AD0C-4C44-48B3-A3A2-A837B405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FC612-03BE-45DD-A574-3B1691C0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Address-independent seed encryption and Bonsai Merkle Trees reduce secure-processor integrity-tree overhead.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C1C8-6354-4C12-B6B9-51A88BE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DE7FF-7293-4C28-9A4B-2FBB605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98824-DEFC-4FE3-B2A8-6D91987D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18EDC-7D16-4B87-B221-568EE78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33458-E420-4963-8889-4C3C518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Address-independent seed encryption reduces OS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33912-72FD-48BA-B89B-E7DE69C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370B5-9E4D-4EE6-8FDA-C9F2D21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authenticate counter metadata and root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6024A-049F-46AC-8B29-16972026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F3350-5757-4762-A765-6742C21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013B1-AD43-4044-AB69-457C2DC8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7810D-CDCD-4FA0-8D88-334792F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A062E-C840-42D9-833D-88350FB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A8713-C04E-44F3-BF55-B3B9246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AISE counter-mode seed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C12F7-27E9-4B22-BB1B-A303CCE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18C90-DD27-4867-BAA0-63042F6F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547A3-FB09-4788-8789-D74F9553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07D79-5AF0-4008-92F7-603CA7C8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BMT over encryption counters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59922-5D5B-44D1-B3D3-209286D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45818-17B5-426D-921E-03B4EEFD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72215-D7BB-459B-9153-0EB4C6D0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3F0F3-CDC0-40A8-A4E8-6645FCE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root MAC for replay/tamper detection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902EB-8542-4CB1-9BD2-8F5EFB22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98A0B-FE06-4B5A-9A0F-30742E8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CA7F7-CFC4-4D6D-83C5-F5AC49C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CDD527-797B-40F8-8068-EB289EC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CB3BC4-3373-4B43-9731-85B1B0A3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2AC62-EFCC-4869-9820-DA3E50DA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解决方案  |  11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2C540-069D-4723-9EB5-E363193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194</a:t>
            </a:r>
          </a:p>
        </p:txBody>
      </p:sp>
    </p:spTree>
    <p:extLst>
      <p:ext uri="{BB962C8B-B14F-4D97-AF65-F5344CB8AC3E}">
        <p14:creationId xmlns:p14="http://schemas.microsoft.com/office/powerpoint/2010/main" val="1971319529"/>
      </p:ext>
    </p:extLst>
  </p:cSld>
</p:sld>
</file>

<file path=ppt/slides/slide1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6CDBB-23C6-4B45-8105-ABEAEE83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5587D-68CA-4B0A-B6EC-44E3652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9DA81-11FE-4AD1-BB2E-F91C4A5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8D961-424D-4C13-A481-F48F322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449C9-0DC9-4AE5-B117-C44776C1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FACD5-3D41-44B6-8CF7-986412CA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176B2-A383-440D-B8C3-B4F5C6D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A0163-C8D5-4948-8A40-DD7C79C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MICRO 2007 peer-reviewed paper reports secure-processor simulation results and reduced memory-integrity...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815E4-A685-4AA4-BC35-815D5F9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D56C8-C80A-4A2F-8BC8-29C9E6C4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B3AF3-4F32-4718-9680-74422A67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5CEA8-475F-4FE7-B9B8-AC356E75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BE418-2E00-48CC-906A-47A13E8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MICRO 2007 peer-reviewed secure-processor 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82EBF-3039-4C37-BD37-6EBADAB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2A2E7-432E-4CBA-AB9C-22D24C7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Historical performance numbers are lineage evidence, not direct CCA/SEV-SNP product...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504A-5382-4C72-835A-0E0B2C70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053CF-F490-41D4-A075-8762E11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B1E4B-F331-44C7-BFA6-F0598A5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3D868-03DD-4375-98D4-C071AA8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A6A27-6C21-4B3D-BF38-A659CA5A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3F5FF-E93C-43BE-8CF9-2411AFC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27FA4-3598-48C3-A009-5EB25BF9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29ABC-A225-49E0-8C20-98FBA2D6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193E0-9940-4835-9127-D5495844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CEC17-943A-4F20-AF52-F753A43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FA4E5-0C96-4398-AAA9-E4B7DF7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C910D-5646-4EC3-9032-0974D9EE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BE1F1-749C-46FB-80C4-159DCF1D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26854-7AC3-46DA-8A11-56E94D7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ACFB0-1DE1-4AEA-A1A0-6A075232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F0CE3-3A44-4056-A488-04AD6336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F6BC2-9DF7-4BCE-AAA2-DB16EE04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107ECA-223A-4051-B9BD-FC925C8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993988-F1B2-4F1E-9567-3A8E7A7B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7B609-AD05-431C-9358-0D27D1E8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FA384-3E71-4E94-AE2C-EE9C310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45397-67D1-4525-B311-EFA23D15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39550-3243-4E13-BB4A-E8E1A0E6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CF89C7-297C-4569-8280-D131D25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B72907-1BDC-45C7-B2D3-8CF80802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612FB9-5537-45CD-AC47-257FA721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4D5D5B-794D-46FC-A8AA-228EE2BD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B042E6-5C71-44A7-99D5-5F63D786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实验结果  |  11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9FF635-9354-4D2C-9B1E-9DA6163E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</p:spTree>
    <p:extLst>
      <p:ext uri="{BB962C8B-B14F-4D97-AF65-F5344CB8AC3E}">
        <p14:creationId xmlns:p14="http://schemas.microsoft.com/office/powerpoint/2010/main" val="1154104920"/>
      </p:ext>
    </p:extLst>
  </p:cSld>
</p:sld>
</file>

<file path=ppt/slides/slide1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2E71B-640C-47D7-B66D-E517EDE0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43FF5-B733-462F-861E-C65E12BE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1CE7-CB2A-41BD-9932-3D53E5E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62DE1-8F0B-43D5-904C-7144444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CCD86-5475-4DA9-A3D2-09A8590D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9EE39-1C58-4009-9C69-D066819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EA64F-96F2-470D-B58F-AEB9DAE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mechanism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D9162-09F8-43A2-B45F-11A332F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Moves the section anchor from vendor/spec contrast back to peer-reviewed memory-integrity and freshness...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28D49-F238-495D-A051-9391AFD1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61599-84BE-4E64-B0D0-02E179E4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3548D-862B-47D1-8E20-9EA75BA9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7046C-FD32-480A-9CE1-E1D0D08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B52AC-39AA-484B-A6E3-F3D411F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设计优势：Moves the section anchor from vendor/spec contrast back to peer-reviewed...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36AE4-AAD7-4147-A048-67437D2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26F3D-6F01-436B-8DA4-85C9F8DC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局限性：Secure-processor lineage is not the same as a modern confidential-VM product...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6F6EB-28ED-4FB8-AC36-7CDB5511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0EA8A-D08F-49A0-BAF4-7AD0455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商业化潜力：Useful for memory-controller integrity-tree design; productization depends on...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6D5F5-DDE6-4F45-9ED3-D297140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5A2C8-2CBE-4263-8357-2D54239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mechanism anchor；本地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5B48C-3C9D-4DEF-8E8B-D0C9A76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DE61F-3DF5-46BA-A01A-4AE502E6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4E979-58E4-4C4A-B37A-1E0A34A0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96449-1A88-48D1-8D2F-111EF34A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1E330-F453-415E-808D-18CF9B75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CDF48-0C6A-4E61-8572-0CA75DBC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EF83B-26CC-4E25-B0B5-79C12B57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B4DA63-8614-41DE-A83D-98DA40C7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Moves the section anchor from vendor/spec contrast back to peer-reviewed...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75C16-0AB6-458A-ADEC-802607CF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507DF-F822-464D-B6A6-FB95E5C2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B99AA-D374-407C-B945-E4C6FAB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Secure-processor lineage is not the same as a modern confidential-VM product...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A7698-1D96-41C5-86AD-CD0053C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095A3-002D-43FF-BEF8-A020D0A3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314D2-7188-43D2-89D5-1FC54BB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Useful for memory-controller integrity-tree design; productization depends on...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9D845-EEE6-4CAC-B2C9-E387F4B6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FC1E2-7ACD-4A06-874E-3E11D32E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C6A81B-0F54-4619-9103-D2C862D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B3285A-F0EE-4AD2-801A-B7A19D78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A87539-C361-4845-A268-C7C231A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来源：Bonsai Merkle Trees for memory integrity and freshness｜证据等级：E1 / Peer-reviewed mechanism anchor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BC3641-2897-4B53-861B-9A608AC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ED8AD0-910B-480F-9A15-097A64B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BFBCD1-5C22-422F-8A5E-CC0D7EDD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0F2A52-D714-4CCB-A6A1-07135E2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文章评价  |  11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B7452C-9386-4514-97C2-09A2354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196</a:t>
            </a:r>
          </a:p>
        </p:txBody>
      </p:sp>
    </p:spTree>
    <p:extLst>
      <p:ext uri="{BB962C8B-B14F-4D97-AF65-F5344CB8AC3E}">
        <p14:creationId xmlns:p14="http://schemas.microsoft.com/office/powerpoint/2010/main" val="1016800025"/>
      </p:ext>
    </p:extLst>
  </p:cSld>
</p:sld>
</file>

<file path=ppt/slides/slide1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1857A-263C-462B-AE2B-A184FC61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D4DF5-B42D-493D-ABBE-9830DEA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F0241-5CC1-44C6-9606-8C5AAA2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6D59A-E2B6-4F40-B556-70DCAE2B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A574E-F6B6-47CF-BC82-36CAF5B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2C5EA-3358-4997-8156-AB717D46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0728-F345-43AE-AB4E-CDB688AE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526DF-218A-4F76-898A-AE9ACEFA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SEV-SNP 在 encrypted VM 基础上加入 secure nested paging 与完整性相关保护，减少 host-controlled metadata 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369CF-805F-4D9D-A362-9E07C8D5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446E3-143D-40D0-8F23-B2FDA3D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79081-991E-4475-883A-209501D0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D7556-2DCA-45D4-B7D9-CA54FB4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17D91-D92C-452F-8BEE-0F441A6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SEV-SNP 在 encrypted VM 基础上加入 secure nested paging 与完整性相关保护，减少 host-controlled metadata 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1B8BA-BD1D-4C2C-9AD7-968BC16F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CF25F-5C86-497D-AF42-3D22727E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AMD SEV-SNP remains industry evidence for modern VM memory-integrity deployment, but not...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C3B4E-834B-428D-9144-F4706B5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3130A-D2E0-48FD-8146-C877DDAB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88137-4720-4420-9A97-FF3505DB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2BBD9-3613-4A0D-B0C7-6E17D21E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0EA66-A5CC-47C5-BFF2-AB2DD13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1F0E7-DDBF-41BB-B9B2-6EBBF09B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47F59-179B-4B5F-B5D7-DA03718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206413-5FA0-40E5-979C-3583F8A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A7716-7FC1-4C1B-99AE-7E44620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BE838-C56D-40F3-BADC-EDE4BD03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F2DD3-0B71-4698-A35F-AE29FA0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厂商白皮书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969B3-EF4F-43CE-A704-BC38A82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8531E-28EC-4314-8651-240C1DE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3F1FC-5BCA-4206-8F09-B277BCAD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370707-D67D-4116-99DB-5951C35D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8730E-0E36-445C-9166-5DC147E2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74457-E4C9-48B8-AFAE-42FBA5F0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DE8E0-72FE-4523-8544-6607B51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C28581-66D5-4093-95BC-FF5C711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来源：AMD SEV-SNP industry memory-integrity evidence｜证据等级：E4 / Industry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BBB1E8-074A-4996-A276-0AA63E5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17285A-C4FF-4570-8358-24D8F31F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350F7A-B79E-4228-9864-9151AEA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4D9B0F-5B61-4A3C-B0B4-682ED280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内容摘要  |  11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C7901E-5464-4964-954D-588CC33D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197</a:t>
            </a:r>
          </a:p>
        </p:txBody>
      </p:sp>
    </p:spTree>
    <p:extLst>
      <p:ext uri="{BB962C8B-B14F-4D97-AF65-F5344CB8AC3E}">
        <p14:creationId xmlns:p14="http://schemas.microsoft.com/office/powerpoint/2010/main" val="674643104"/>
      </p:ext>
    </p:extLst>
  </p:cSld>
</p:sld>
</file>

<file path=ppt/slides/slide1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3C5F8-96C4-4838-B081-FB012B7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F4C5F-1EBC-4020-8BF2-2494EF5F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F991A-741C-4550-9100-2C7BC8CD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22DF3-12DC-48E4-98C3-E704D053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DD4E5-5F15-4EE6-8049-8E60B7A6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1C8FE-A43E-4C1D-B1FE-4583896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CB999-6B95-4480-9AF5-BA8609E3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278D-30D2-4874-A8E1-4FAAF41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早期 encrypted VM 面临 nested page table、reverse map metadata、replay/alias 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E3EBD-7455-444F-AD29-8C259C9B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E0913-F98A-4F22-B8AE-89F3DFBF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292C4-0271-4D72-8BB4-6245B2A6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F0532-7BB9-4D26-8523-25C16C05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EA2C7-4109-454D-9F4C-651E5D9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早期 encrypted VM 面临 nested page table、reverse map metadata、replay/alias 和 malicious...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CBB89-FDA0-4EBE-A462-96F7314C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73661-04BD-4292-A25C-B08A2BE7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394E2-6C5B-42F9-A7CE-43566E9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1CDAF-BF24-4789-9407-CB5C6ABA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0B2FB-4BC0-4146-9FF1-CF0F925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8F07F-C7FE-4B90-8331-11F019CE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8FEDC-7B35-452A-B811-2F182598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CB845-FDDD-415C-B621-D43956D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49FC7-A073-4B93-B825-F3749C2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50648-9D23-4388-BA67-4ED9408A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3695A-E93B-49CD-AAE7-D501C8D2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避免把 access control、ownership、encryption、integrity、freshness/replay 混写。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504F8-1E67-4FDB-8A7A-B3C0D75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9628C-2294-4FC0-B234-5194D299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C789A-CF9A-456C-ACD0-773DE70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AMD SEV-SNP industry memory-integrity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F8B270-6963-4A09-AC78-BC31F21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19B11-0CC6-494C-ACD3-E47BD6C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8A9C5A-12E8-4B0C-BD1E-C1BC186D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0A8D50-80DD-4FA1-AD3E-1D53DEC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41E32-E2A5-4B8C-967A-A292A44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来源：AMD SEV-SNP industry memory-integrity evidence｜证据等级：E4 / Industry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DEF44-3B44-49D5-9FBC-774E69BF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ED0E8B-BFE1-48C0-80C6-F60D5C9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A9A709-DE7D-4510-921F-F5DFAA9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AE2AB6-4958-4890-904E-F58CCE9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研究背景  |  11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C85788-2A2D-418D-B113-DCB04B70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198</a:t>
            </a:r>
          </a:p>
        </p:txBody>
      </p:sp>
    </p:spTree>
    <p:extLst>
      <p:ext uri="{BB962C8B-B14F-4D97-AF65-F5344CB8AC3E}">
        <p14:creationId xmlns:p14="http://schemas.microsoft.com/office/powerpoint/2010/main" val="1012261201"/>
      </p:ext>
    </p:extLst>
  </p:cSld>
</p:sld>
</file>

<file path=ppt/slides/slide1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6D58F-529B-4AFF-9CD7-7B60A51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D95D-8C57-43F5-BB3A-716926D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BB3A7-8F81-4513-B846-8F66BF4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DC51A-9561-47B2-8EE1-90FFA2E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C3FA8-58BA-48CB-98B5-C641E8C1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B3539-B8CC-44BD-9F66-E734EB93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316F9-5395-4143-9C95-7B3F8EBE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03712-397E-41F0-AC5A-DCD481CD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引入 secure nested paging、RMP 等机制，把 memory ownership/validation 与 encrypted VM lifecycle 结合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DA536-A151-4257-A3EC-8D198EFF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1E7F5-C50F-4C7B-B682-BA96B685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DFF84-A45F-469A-9731-D7A295E4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F0BE0-CA6A-4EC7-83B7-35A47AE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821EC-8BC3-4235-A8BF-B09F6F2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引入 secure nested paging、RMP 等机制，把 memory ownership/validation 与 encrypted VM lifecycle 结合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E603D-EF5D-4D74-8674-76C66D7A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4B336-12AD-4BFE-8170-323826C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64798-AE67-415E-BAA2-BEBBB929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AE598-A7B2-4629-BBCA-86EDDF13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BC1BA-52D3-4C9C-A6FB-A9F5E9D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6E842-C7A1-4B48-B4DC-137632D6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Secure Nested Paging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709D1-B961-4C06-9CFD-53AB357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D6C3F-3F09-4C3D-9FC1-E0E47BC4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2AD44-2E41-4AAB-B244-85D84521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D6F44-7793-4803-822D-4A11168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Reverse Map Table / memory ownership metadata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28934-C6B1-4BEA-AD6A-BDA92152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8592E-88D7-459C-8BBB-7066C70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985AF-EE4B-45B8-BFAA-DAC34493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032EE-A81A-46D2-94B3-FC903E41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Integrity-oriented VM isolation 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A3A52-C6BE-4C4B-BB5C-4989EDA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B1E85-B1C8-471E-BFB1-257916B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来源：AMD SEV-SNP industry memory-integrity evidence｜证据等级：E4 / Industry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B429CD-6B5A-4479-857E-ACF82F3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70B16-BC1A-46CF-B65C-951F208B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DC0AD-EBF7-4568-8E11-459E47F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7B3E86-5BFB-4569-986D-02F92A84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解决方案  |  11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0E514D-6F5B-4C1B-A5AE-39507118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199</a:t>
            </a:r>
          </a:p>
        </p:txBody>
      </p:sp>
    </p:spTree>
    <p:extLst>
      <p:ext uri="{BB962C8B-B14F-4D97-AF65-F5344CB8AC3E}">
        <p14:creationId xmlns:p14="http://schemas.microsoft.com/office/powerpoint/2010/main" val="663933287"/>
      </p:ext>
    </p:extLst>
  </p:cSld>
</p:sld>
</file>

<file path=ppt/slides/slide2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4DCF5-D404-4CC9-82E3-92990F08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9E2E0-EDD9-4BB5-98C3-A2B993E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CFF99-5307-404C-9B6F-2F80711E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67892-880D-465A-9D49-78B2B9A3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60055-E8FF-4079-9611-44331D3B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5B80D-A794-430B-B2A3-82FDABA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7696A-17A3-4053-A2DA-EEC652C8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C1C06-4794-48E4-AF74-E3A869C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厂商技术材料，无独立学术实验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1A53A-56D1-465C-BE6D-754793D4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45866-C000-442A-94FB-CA227333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A26F5-A721-49F7-8837-AB13A390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8372A-4FF6-42FE-B106-6F8783AF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5F220-3B88-449E-932C-2D45651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厂商技术材料，无独立学术实验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15040-D74B-4067-BF67-BB02ED7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5A6A8-826F-46FC-8C68-A488B12D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只能作为产业机制和部署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09B95-8409-4B0A-B3EE-DE1A9254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82BB4-0354-46BB-B9D5-07A754F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BA9B4-E001-4596-BECC-8CD0CAB0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9AE99-6400-4DB4-BC23-3CBD8E94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8C6A9-5F3A-4345-AAD2-202180C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40692-C458-4511-A431-7E873A3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68EFF-702B-47F8-A17B-2F13B765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7EB1E-02DD-49F6-8E5B-73DD663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43E1A-E35C-44F4-83DD-6726E49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AMD SEV-SNP industry memory-integrity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3B467-A54B-40E9-B31A-BCF994E1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C586A-EFF0-47DF-B480-147388FC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B30A0-3C6D-4D14-95FC-2FAAA91B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92954-AC46-460B-ABFC-A45F9EB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2075D3-C321-42D9-82BA-60026CA2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BF706-5F79-42B7-9D71-F88AB1F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8F87E5-8D5B-4983-B84C-28E06ED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5D86E-6857-4683-BE85-65CF89E2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690DA-932F-4E6A-9028-F4526DF4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83A079-D5DC-4283-A773-48B1E23D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32D13E-AFF7-480C-A1A6-F6F944A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3731EA-CCA4-4AF5-9C9B-F10098C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A6EB42-C1A9-4FAA-9B62-8C02BB03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E4D41D-36E4-4673-8E13-52CB6F4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82A567-DA3D-473E-8834-E752764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来源：AMD SEV-SNP industry memory-integrity evidence｜证据等级：E4 / Industry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47653F-24B5-425E-83E1-8C727AA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93EB37-0E96-480E-ABDC-7DA89A45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0B0440-C0BE-48D1-98DF-EDC2CC3E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4599-3AF5-434B-A67C-CFD4466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实验结果  |  11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173A60-3630-4C16-9730-1D8EFD01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1633223412"/>
      </p:ext>
    </p:extLst>
  </p:cSld>
</p:sld>
</file>

<file path=ppt/slides/slide2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5655AB-2130-493C-B740-39E9DD72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E629D-0987-4C9D-B4BD-D0F6864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7DFDC-523C-4201-B5FD-2D41CB64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CE09-2C56-427C-AC9C-05AE1D75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13F16-041B-4B4E-B20A-9392882B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83D48-70F8-4F8F-90F5-ADE052C2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>
              <a:alpha val="12549"/>
            </a:srgbClr>
          </a:solidFill>
          <a:ln xmlns:a="http://schemas.openxmlformats.org/drawingml/2006/main" w="9525">
            <a:solidFill>
              <a:srgbClr val="64748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220EE-F1BB-4A5F-A73A-FA06D37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E4 / Industry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9CFFF-3C92-4F5F-92B1-BF3B4CD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展示 memory encryption 从 confidentiality 走向 integrity/metadata protection 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6DD40-3ED1-4352-969C-F381242C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AF68A-D13B-4EF4-B0F2-C2A7FFE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D8FD8-EE51-4A60-A915-2D963592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69C70-46AD-438F-9C57-C485975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18B83-EA4D-4158-94C0-B6E5AFAB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设计优势：展示 memory encryption 从 confidentiality 走向 integrity/metadata protection 的商用方向。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B24A7-439E-42ED-A15D-4B1FA7A9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F75E4-13CF-4FF0-B3FB-898151E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局限性：Vendor whitepaper 不是 peer-reviewed proof，也不证明所有 SEV-SNP 部署抵抗实现攻击或侧信道。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399DF-D4AE-4E4E-9C91-93F1239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51EFC-3758-43F8-BCF9-D454B90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商业化潜力：具有真实云平台相关性；风险在供应商绑定、固件/微码版本和 verifier policy 透明度。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471BE-C44A-4B01-BDC3-53D1659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106A7-F2CD-4BB6-A9E1-8AEF87C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证据边界：E4 / Industry evidence；本地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D6366-FD60-4930-9AE3-7E1CF89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11967-C8E7-4A41-B8DD-6BA4240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E2E8A-5147-432C-A0DA-EE4761A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53BB1-B2C1-4183-816F-D696EFA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5BB5E-A5F6-4417-980A-C2D7C9A4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A3687-33AC-49D4-8894-816C7549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D2539-DC5A-4951-BFFC-AE0E93B7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3EC07-4177-407D-81B7-19EB6607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展示 memory encryption 从 confidentiality 走向 integrity/metadata protection 的商用方向。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4AD8D-0E26-40EF-AA76-CDDA5DC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7B059-917C-422B-92C5-43D25E63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CDCEF-E853-4C6F-93A3-CBF5345F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Vendor whitepaper 不是 peer-reviewed proof，也不证明所有 SEV-SNP 部署抵抗实现攻击或侧信道。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463DC-C48A-4FBE-8864-B3ED54C4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7EB888-4450-412F-802B-18C6BD5D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3F045-D74B-47D2-9733-6CB9D274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具有真实云平台相关性；风险在供应商绑定、固件/微码版本和 verifier policy 透明度。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A6026-2573-45A9-A383-63530A40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B2AD7E-D15F-4B2E-9D45-DC292624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1869F-B4B7-4C15-A0BB-DC534D6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8418AC-3A18-4D4E-B036-04AAA0F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70F916-60DE-425F-B4E0-6B94BEC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来源：AMD SEV-SNP industry memory-integrity evidence｜证据等级：E4 / Industry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E16127-7B37-4BE4-B611-12BDC611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F23869-7BD0-4D9C-A35B-20013F0B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478BD0-53F4-4FBD-8411-2CB5F99C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BF6DAF-438B-4F5B-8C57-D20D8A15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文章评价  |  11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8151B5-BCCA-4FF6-9DB8-2A5597F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201</a:t>
            </a:r>
          </a:p>
        </p:txBody>
      </p:sp>
    </p:spTree>
    <p:extLst>
      <p:ext uri="{BB962C8B-B14F-4D97-AF65-F5344CB8AC3E}">
        <p14:creationId xmlns:p14="http://schemas.microsoft.com/office/powerpoint/2010/main" val="814994156"/>
      </p:ext>
    </p:extLst>
  </p:cSld>
</p:sld>
</file>

<file path=ppt/slides/slide2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F65DA-BEE9-4513-A2EE-FF531766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DFD5C-6355-4F9D-99EA-7F16AF8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5998C-4697-4D8F-BCB7-4955608B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9CF01-E35E-463E-BA66-59082C8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C82D0-CDFB-4731-8EA3-90B0C5B1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14080-46ED-4F78-B239-E374ADB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5812B-2333-404D-BDF4-81518093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510D9-FAE1-4EF0-A0DB-A6CDC96B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F9893-6EF1-45AD-B8F8-99DB358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74B10-4BEA-471A-9B5E-62BE08F8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8C80-6AF7-4E8E-B830-6116D07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0A5DC-7A9C-4794-AB14-FB457C2D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7E807-DDCA-4BC6-B0F4-739F8DA1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Techniques：开创/基础入口，E2 / Background substrate。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FDB3F-238F-400B-BE7B-DB47376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57471-5E32-4ED3-8F4B-7F5A7EA1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freshness：代表性改进，E1 / Peer-reviewed mechanism anchor。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92A85-A744-4BB4-8EC9-C2AFBD9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12560-EB6A-48E1-B8C8-D2E03106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AMD SEV-SNP industry memory-integrity evidence：当前 SOTA/补充边界，E4 / Industry evidence。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DD9E4-1DBB-457C-8899-E0CC3871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22684-E8FE-49FE-B5A9-96828A6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86401-7098-40F6-9733-C4E23F6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27D929-60DD-47E5-AD33-5735847B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BF6AD-BDFD-4C9A-A949-C49D04D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D5BF5-55D9-451D-8B3B-B58F53FE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26A3B-5C4D-4C4A-88B1-372E782A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8BE43-7F99-4076-8B20-1B6561B4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DF283C-9A82-496A-A833-62DA2B1D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ECB725-F45D-4AC7-8541-7C936D69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Encryption: A Survey of Existing Techniques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1600C9-F0BA-4655-A287-7B5AF98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797D8-A3F7-42D8-95A3-EE26C91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Henson 2014 is the background starting point for secure memory...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48AA41-FC5D-4327-9F2D-798030FD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AAACB-D04A-4C2F-8ECE-CACE4AB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Bonsai Merkle Trees for memory integrity and freshness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B4B9FC-71B4-4E9C-AD9D-8AD3A69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67044-6658-45F0-969F-86F9433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Peer-reviewed Bonsai Merkle Tree mechanism anchor for memory integrity...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CDB36C-79A7-48E6-A89B-745F1CB7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156F5-8D95-4ED1-8924-F5A831F2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AMD SEV-SNP industry memory-integrity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B6EF41-D704-4A1E-9EA2-A318DEBC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A1CAB-6CD1-44E9-BE70-8436955C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AMD SEV-SNP remains industry evidence for modern VM memory-integrity...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F0A6D-E328-4721-85E6-EEF9883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438B7B-BE73-4AC5-883B-D9A810B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4C5B5A-5158-40F5-ACDD-6D287F86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A6BD64-0C64-4627-94D1-66D63453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11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362B0-31F7-4417-B66B-BC8108A5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88DD08-CC82-4ED2-A9A3-09303177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encryption / integrity / replay protection | 方向总结  |  11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850E0A-E547-4D7F-8E59-6E43A221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</a:t>
            </a:r>
          </a:p>
        </p:txBody>
      </p:sp>
    </p:spTree>
    <p:extLst>
      <p:ext uri="{BB962C8B-B14F-4D97-AF65-F5344CB8AC3E}">
        <p14:creationId xmlns:p14="http://schemas.microsoft.com/office/powerpoint/2010/main" val="146244530"/>
      </p:ext>
    </p:extLst>
  </p:cSld>
</p:sld>
</file>

<file path=ppt/slides/slide2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5C873A-3355-42C6-A518-B750A333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737C4-61D5-405E-BDCA-53D4BF20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B901C-5C82-469F-91D3-23CD77F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6A16D-A209-4A85-9B92-DC712F7F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32E5-8639-4AA4-A4DF-C108AB65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/ I/O fabrics: CXL、PCIe IDE、RDMA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47AE2-91FB-44F8-A3E6-1F2CA2A0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 data path 不再局限于 CPU 本地内存，confidential boundary 必须跨 fabric 建模。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5DD49-1BCC-4D3F-BCC1-E758FE69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F4FDA-6270-45C4-BFDF-9E8FBD6D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2966C-D63D-4CC5-9D28-AB4C2D9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73FFB-08E4-4158-B661-A20D1A3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8BB7B-9DC5-4A33-9741-0678A601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E2000-3951-487B-9A44-7E94ADA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E0EDB-65B7-44F2-9B0F-215EA348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C7D93-A1D4-4A37-B882-AB9A876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0D56B-3CFE-4079-A563-6FA0E06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6B40E-F4DE-48B7-8C50-77BF32A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BABAE-E63E-4C4F-A3E0-4B66064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8982D-F3F9-4089-944F-A6BB0CCA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FC5E5-325E-4A73-AB5C-18B6CF1A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2FE7F-0489-4D6A-8D37-106EB99E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Memory / I/O fabrics: CXL、PCIe IDE、RDMA  |  12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B7946-432A-441A-8C14-9A221EE1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203</a:t>
            </a:r>
          </a:p>
        </p:txBody>
      </p:sp>
    </p:spTree>
    <p:extLst>
      <p:ext uri="{BB962C8B-B14F-4D97-AF65-F5344CB8AC3E}">
        <p14:creationId xmlns:p14="http://schemas.microsoft.com/office/powerpoint/2010/main" val="1289918440"/>
      </p:ext>
    </p:extLst>
  </p:cSld>
</p:sld>
</file>

<file path=ppt/slides/slide2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23DF2-EDEC-4273-A7CE-64D09EA8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F6F40-700C-4886-8A9E-EC53730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9938D-F086-4BC2-87BB-1EA75D9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8F70B-0199-4193-9478-7C1386D8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/ I/O fabrics: CXL、PCIe IDE、RDMA：方向开场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8B784-3214-46F3-B863-622370B2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4E4B6-985C-40E2-9C01-6D56C853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5E914-0ECD-4CBE-98C8-740BBF5B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414D9-6146-469E-9119-C9212267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这个方向讨论的是高性能 memory/fabric data path 如何把 confidential boundary 推出 CPU 本地内存。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C5B2C-7FE6-4514-8E95-398BE26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C79B2-8F0C-4D6E-B1F1-F47EC98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73E80-5ED1-4C4F-BF99-CC991DD9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AF161-BA94-4094-8E96-D8385E6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0C959-7040-4F93-B768-CAEDD213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证明 CXL.mem 可以让 host 通过 load/store 直接访问远端内存资源，核心变量是 latency 和 copy path。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CAD7A-3586-4BBD-9BFD-7503385B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1218D-9848-4338-8CDF-81FE3F9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 讨论云虚拟化里本地 DRAM 与 CXL capacity tier 的 placement、隔离和尾部性能问题。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D438D-6A2F-4D4F-91EB-9E6318B9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1BCE7-06B3-4A47-B8A5-3EC07A3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说明 RDMA remote paging 的瓶颈不只是数据传输，还包括远端内存分配、MNode CPU 与 utilization。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261CC-520D-424B-91C7-46809157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BE3D3-B9E8-4A4F-AFB6-EBA92DB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三篇都属于 data-path/fabric substrate：能解释为何需要跨 fabric 建模，但不能单独证明 CCA/CoVE confidential I/O 安全性。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FA90E-F3F6-466E-8F95-BDFF873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24ABC-743D-4364-87C2-75F7FA69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9A570-F3A8-476D-8948-9F14EE5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三条 data-path 演进线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FF779-E103-47D3-BC9E-D97E958F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2022 DirectCXL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0FABA-D405-4D7C-9453-49CE1DC9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0518ED-289D-4D54-9D2D-9F7D33A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76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CXL.mem direct load/store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41683-787D-4DB0-92B7-2DE8BFA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2705 cycles RDMA vs 328 cycles CXL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3EE37-741D-423E-8B78-F371992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2024 CXL-Tiers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4CEA7-91AF-4A10-94F1-333A6AB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FED34-C3FB-416F-B953-20AC5D89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CXL.memory tiering for VMs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74DE2-EB2A-4590-B8A4-BB6E7C3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82% workloads &lt;=5% slowdown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E05BB-09C8-4AD5-A6EC-28CF794E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33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2025 ODRP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872A31-D41E-4D05-B32B-34A4AF0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481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A4E00-C2CF-4EF5-8A50-2771E2E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programmable RDMA remote paging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ABA86-53A6-47AA-99BF-690A248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624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1.72x-12x utilization gain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750C01-CA9F-4D95-88F4-D44E3D0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15B55-B8A5-4A12-88E8-2E122881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来源：本页只建立方向边界；性能数字分别来自三篇论文的摘要、Figure 6/10、Figure 5/10/12、Figure 7/9。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60893D-2AF0-4EE5-948A-FA803FAE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386F10-AC6D-4BEB-AE5B-87CEDE2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F89C23-C1AA-4692-B84A-6C56CC7F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3E1461-27E0-4265-9876-16A238FE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方向开场  |  12 / 15 方向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ABAB99-18AD-405D-83C5-07A461A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204</a:t>
            </a:r>
          </a:p>
        </p:txBody>
      </p:sp>
    </p:spTree>
    <p:extLst>
      <p:ext uri="{BB962C8B-B14F-4D97-AF65-F5344CB8AC3E}">
        <p14:creationId xmlns:p14="http://schemas.microsoft.com/office/powerpoint/2010/main" val="600604110"/>
      </p:ext>
    </p:extLst>
  </p:cSld>
</p:sld>
</file>

<file path=ppt/slides/slide2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E3347-E19F-4D12-8505-AF731BB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C6072-1558-4D4B-9F4D-5005F19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A2B5C-EDC9-4913-B86B-411FC5FF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B8164-B134-4E2F-AFC5-C9B8BF64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9A6A9-6D55-4F60-A830-7DBDCD77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A3CA6-A583-4F9C-ACC5-4D69613C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9704D-C4F1-4EDA-9195-B7829230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A02FA-8AD5-4A87-B248-CD96595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的核心贡献不是“更快网络”，而是把远端内存变成 host 可直接 load/store 的 CXL.mem 地址空间。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D92F9-B2B9-46CF-A58E-2449ED0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53902-E880-4C79-B2E0-6571E3AC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88057-F5F4-4BFB-88EB-EDAF2AE5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8A483-CFA9-4C70-9B9E-26CE62D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12E9D-4384-418C-88C1-97714520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论文提出 directly accessible memory disaggregation：host processor complex 通过 CXL.mem 直连 remote memory resources。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22D09-8CE1-4F17-9920-E55CCA2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6881A-C344-4B10-8CCD-F905EB16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与 RDMA 路径相比，DirectCXL 不把数据先搬到 host DRAM 或 RNIC memory region，而是把 HDM 映射进系统地址空间。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092D3-FCBA-42DD-9C1A-9E003A7E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84AEB-DB46-45E7-9C4A-5A64861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作者还补了当时缺失的系统软件：Linux 5.13 runtime、cxl-namespace、segment table 和 mmap 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D958C-875C-4535-BFBA-069C7504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91C54-DA6F-4CD1-8A7F-5481164B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在本 survey 中，它是 fabric data-path 基础论文，不是 confidential I/O 或 device trust 论文。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2CC66-FDF5-4FB4-B2FA-C78A3BF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144D6-B92B-469E-BE7C-720006C8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A6019-4E2B-462D-B48D-F4221DC2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RDMA copy path vs CXL.mem direct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2BEA5-6166-4B74-A658-378C66EA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2352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ADC2F-7D00-4F6B-81E9-3EC5DC7B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RDMA disaggregation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780F0-D480-4782-B054-DDFA4B4F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DBD4AE-7383-43CF-930A-3CF34949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page fault / object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3B84D-7E7E-4375-993B-D9D72638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284A5-29B5-4B5C-8CA1-FF36898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 runtime copies to RNIC MR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4CAA12-2365-40B5-8384-14903A8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1EE30-81FE-4BFF-8066-B238F7CD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767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network transfer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C37553-5867-4ADC-A2D5-EB4E5A91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D63B4-D338-4300-80BF-C78D9B8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memory-node runtime or RNIC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E6FCD6-B752-4685-9C62-949E3BD1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2839BF-04D4-42B3-95EE-5BF42BC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244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EAF3D-FB92-4D43-B991-C5602C17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2009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copy + software fabric intervention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2F6D63-9747-4E80-8B6A-4CA86E0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352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91579-7402-4CD9-A463-27A9758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67050"/>
            <a:ext cx="2009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DirectCXL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DB3A17-D8A1-4548-BF9B-B9EBEE4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7B1D9A-2E35-47EA-B7F9-EDF1CB82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load/store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EFB433-CD18-4EB4-A704-FA72F0FD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B41AA8-437E-4FF2-A7D2-6351E08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root 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9CE424-FC46-4E32-A53B-7A9E2BA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FDE434-8581-487A-A441-253C8335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767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switch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6B8BFE-0764-4461-8EEE-82985BC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21A147-7D76-4F8F-9846-5C465C4D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HDM address translation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A905C8-0775-431E-9A3D-12FB5459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90062D-29FB-4652-BDEC-21A05A44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24400"/>
            <a:ext cx="18002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DRAM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DC5D12-62D6-4362-A484-3ED4A36A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24450"/>
            <a:ext cx="2009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address-mapped access, no host-memory copy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5A24FE-DA97-4FFC-BC04-79611D37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D1DCB9-71C8-4B15-B71C-1FD6618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来源：重绘自 DirectCXL Figure 1 与 Figure 2-Figure 4；未复制原论文图片。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C421EE-6CCC-474F-9783-4F18E848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AF76DA-841B-401D-9E72-966E561F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856B75-C82F-4E3A-8C85-C03F26D6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08C556-9868-45E0-8E22-D311C7A1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内容摘要  |  12 / 15 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1A1B7A-3512-4F52-A89D-E872364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205</a:t>
            </a:r>
          </a:p>
        </p:txBody>
      </p:sp>
    </p:spTree>
    <p:extLst>
      <p:ext uri="{BB962C8B-B14F-4D97-AF65-F5344CB8AC3E}">
        <p14:creationId xmlns:p14="http://schemas.microsoft.com/office/powerpoint/2010/main" val="1308994881"/>
      </p:ext>
    </p:extLst>
  </p:cSld>
</p:sld>
</file>

<file path=ppt/slides/slide2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457126-A306-485B-A97A-0AA8E57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C75D1-0A10-4B35-A52A-36076FCB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FDC4F-1F05-4716-B9A3-BB49AF2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60097-485A-43A5-B7FB-AA022EAE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44AEC-949C-44E3-B719-A8083D2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841A0-18ED-40B1-9982-206B42AD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E3BBC-F42B-422F-80A1-B47CC615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B5B02-AE33-432F-B0C2-F4A5E20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 memory disaggregation 的主要成本来自 page/object 软件路径，而不是单纯的链路带宽。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75B10-8515-4C0A-9DB4-D1F350C7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1067D-A18B-47BC-BE2F-BF2CC09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4D612-93D3-4304-A7B6-A71ED98B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FA49A-953A-4468-BEF0-DC745D5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02678-C8FE-4247-B3DA-C2A8B094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page-based 方案依赖虚拟内存和 swap/page-fault，把页从 host 与 memory node 之间搬运，透明但有 page fault、I/O amplification 和 context switch。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02091-876D-4B1F-BB11-DABC5F54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BC9AA-E3EF-44CE-91DC-DB6A7A9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object-based 方案用 key-value 或对象接口绕开部分地址转换成本，但要求应用改接口，语义依赖应用。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E6B9F-5EB9-400D-8620-38E7E66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0E9C0-D473-40AD-90EB-BA688538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两类方案通常仍依赖 RDMA 或类似 DMA 协议，仍需要 memory region、metadata、copy 和 runtime 参与。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F4B65-4117-4809-829B-3397410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A11D5-AF58-4D4C-BAB9-E4BFE999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因此论文的背景问题是：能否让远端内存像系统内存一样被 CPU 直接访问。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5D0E9-588C-4A2C-9528-008D5AC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0DF87-1ADC-4368-875E-6E350DBB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22030-C6C1-438C-9FE0-778A0228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传统路径的三类开销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21836-CD45-483F-BE35-EFFB470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454ED-58D7-47E3-B815-163F82FB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84C6E-4E38-485E-AC88-0429B3A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主要成本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701FD-F8F3-4E37-B252-F5CB85E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 confidential data path 的含义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2AE4F-AA3E-4524-9D50-33E5F2C3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E8978-7C81-41A6-88C2-9DFC8016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Page-based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4D237-3387-48C5-A4C7-FD2CEFD4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应用透明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61BA9-9831-4504-8FCD-6DD4560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page fault、swap、copy、context switch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0B09F-ECA3-43D9-8532-A135303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敏感页会被软件路径和远端节点状态影响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6B903-486B-4664-B427-F4625F87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9292F-846C-4ED6-9E68-36961C12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Object-based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5EFF48-13BA-4522-AC06-19074BBF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可避开部分 VM 开销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E482AD-D006-4927-987B-27E461B8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应用改造、对象语义绑定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CE6CF2-162A-4A2C-A497-7B7B1C7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只能保护被重写接口覆盖的数据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F8B4C8-B850-4201-8146-AC05254A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B7C8F4-5755-4198-A5C5-215772A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目标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279E49-26A4-4548-90F9-395CB290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load/store-like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E50C67-A63B-4B89-9088-6BFA61A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CXL/PCIe latency 和 HDM 管理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EC1655-2EC6-4AAD-955F-B2C4866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fabric 成为内存边界的一部分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2A6F5E-FF84-462E-A0E0-889FDFD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96A0D4-F652-4F4C-9678-641376A8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来源：矩阵依据 DirectCXL Section 1-2 的 related-work 分类和 Figure 1 的 RDMA 路径重绘。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029180-1822-44A7-A0FE-A8B5D405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D39892-3947-4C3B-B0C8-E768929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152CE6-E03F-4E11-8B28-DF41683C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C3F605-F3E1-4F7C-801E-3B2864AA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研究背景  |  12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E30CDD-2047-40FC-9ADE-73A38125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</p:spTree>
    <p:extLst>
      <p:ext uri="{BB962C8B-B14F-4D97-AF65-F5344CB8AC3E}">
        <p14:creationId xmlns:p14="http://schemas.microsoft.com/office/powerpoint/2010/main" val="1835709952"/>
      </p:ext>
    </p:extLst>
  </p:cSld>
</p:sld>
</file>

<file path=ppt/slides/slide2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44AD4-83C5-4E4A-AC79-17CB2696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01E0D-CFAC-4AC7-8D44-93BE552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4B35E-7D74-44A5-AF42-5ECDF99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8CA6C-930A-403C-8728-C508405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4B2B6-0729-4C37-9C2D-449704D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AF686-A2E4-4EBC-B6F5-9AE1B594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31223-13FA-474E-8685-EED594B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96090-6F2D-4129-A912-69B5EED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的设计妙处是把远端 DRAM 暴露为 HDM，并用 CXL switch/runtime 管理 namespace，而不是让远端 CPU 管数据。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1F518-3998-46B4-B055-96102848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8B576-D97C-450C-A49C-3EAF46B8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32CDF-07D5-44DA-95AA-89903570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19BB5-17A6-4A98-A91D-3AAAC04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BF340-DF5B-4A46-BB1B-44822235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device 是被动内存模块：CXL controller 解析 CXL flits，将地址转换后交给内部 DRAM controllers。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851DB-1379-45A9-BA62-D7C1FC4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E85F0-9C92-40E2-9BDE-C66FFE82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 kernel 在 PCIe enumeration 后映射 BAR/HDM，CPU 访问 HDM system memory 时请求经 root port 转成 CXL flit。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6B031-E385-4ED2-A57A-484F0362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389AD-F82F-464B-A0F7-1D57A8F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switch 用 virtual hierarchy 和 routing table 连接 host 与 CXL device；runtime 用 /dev/directcxl、ioctl、cxl-namespace 和 mmap 暴露给应用。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B9985-DD15-4C92-98A3-E0E5C2C6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C7BCF-5E52-4F44-BF43-7975964C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这个方案的逻辑是把 copy path 改成 address path，把 memory node computing resource 从关键路径拿掉。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B95B7-F602-4D95-B7FB-3164114A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B27A2-0F7D-4F2A-92FE-53BBD8C3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D166A-CA40-4996-A8BB-943378BE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DirectCXL 访问机制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0C12B-FBDA-4CB9-A3EC-DF06E58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EC128-7086-4F43-95E0-F9DAC4B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0779E-B9E6-41EC-8A9C-D4261305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应用 mmap cxl-namespace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EE50D-4218-438A-A71E-A62FE591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D5D5B-3A60-45C4-93D0-6D37B797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FD193-1CC8-4B98-8CFB-D04DC5D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818D0-6F00-4C2D-B5D1-AE18202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load/store 到 HDM system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FD9A8-1609-4BE7-BCCC-5D1AA838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6D467B-327C-432B-9487-E2D55D53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6A0D91-4345-4F7E-A7C5-9E066858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CBC43D-0250-452A-9737-D0F50FBE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Root Port 转成 CXL flit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0C0BDE-87C9-402F-B0E4-95EB5ED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1BC0AC-0314-43A0-86BF-2023CED1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8B6ADA-ADCC-425D-A61D-E8EC83F2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switch virtual hierarchy 路由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3232A0-F1D0-4C86-8906-B0AA7D7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45924F-E2FC-49DC-8EEC-4C87BA4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58B98C-C84F-40C1-A0E1-2465F77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E35CA-A2EB-49FE-B48F-13A5B00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controller 访问远端 DRAM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11D2E6-8735-4F56-B7D5-034DBE7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75E69-D76B-4902-9B60-2C3FFE7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EA45EA-CC29-431C-AFA8-70CCC254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0C7884-AB58-4D3A-87C6-7F8893E8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数据沿 CXL path 返回 CPU cache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BDF809-5666-4846-B261-1932A26A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676911-8C7E-4004-8B14-FE3607C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来源：机制图按 DirectCXL Figure 2-Figure 5 重绘，保留 HDM、switch、runtime 三个关键对象。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AE4990-B95A-47C6-AE7A-D745AAED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7C0325-A1C3-4803-9855-BA0F9AC4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1397EB-BB01-4986-A43C-D40D15E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DDD245-7339-4D1B-9AD7-1E2FFBF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解决方案  |  12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0292C4-0B96-4C21-8034-BD5DED7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207</a:t>
            </a:r>
          </a:p>
        </p:txBody>
      </p:sp>
    </p:spTree>
    <p:extLst>
      <p:ext uri="{BB962C8B-B14F-4D97-AF65-F5344CB8AC3E}">
        <p14:creationId xmlns:p14="http://schemas.microsoft.com/office/powerpoint/2010/main" val="226330460"/>
      </p:ext>
    </p:extLst>
  </p:cSld>
</p:sld>
</file>

<file path=ppt/slides/slide2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E3270-D907-493E-9E32-9B8CC45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FDC6A-09F9-44A9-9FF5-557E463E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FECF9-3CE5-4476-B807-CD9491B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5A34C-3A66-48B9-A6C2-7D3C86E6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CAD3F-AB9D-4AA2-82FD-49E0E0D2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0FCE2-0592-4428-BE99-A6F3CF1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40845-9E25-479F-9135-4AE53105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8555C7-2365-4C9B-A2EF-3F3BE12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的实测收益集中在 64B load latency 与真实 workload：RDMA 2705 cycles，DirectCXL 328 cycles，并带来约 3x 应用性能。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FB46A-24D4-451B-B137-17D0F76B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A3E7D-304C-439B-8712-CF32E7FF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761AD-C006-4B00-B135-E1781F56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FC394-A7F7-4E12-A155-56898998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A5163-DF2B-4064-8232-D226F0B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64B read latency 中，RDMA 路径约 2705 cycles，DirectCXL.memory load request 约 328 cycles，论文报告 8.3x faster。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699D1-3642-427E-B55A-4AC0D9F5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D8A54-5C98-49AC-82F1-E79A12E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memory hierarchy 看，RDMA 比 DirectCXL 慢 6.2x；DirectCXL 仍比 local DRAM 慢，瓶颈主要来自 PCIe/CXL IP。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1C775-84FF-464C-81C9-7C2FA80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E6EA0-E2FE-4996-8F39-313EAD11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 workload 中，DirectCXL 相对 RDMA-based memory disaggregation 平均约 3x 性能提升。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5C33E-55EE-483B-948C-55FE70E4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20590-CEDC-46E8-A504-A06C896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这些数据证明的是 fabric access path 的性能差异，不证明链路加密、设备身份或多租户隔离。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81215-525E-4B74-A5C4-F88D2D0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D5558-4DDE-428D-916F-59C02C9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1040F-D4E4-4449-8D2A-EE55499B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DirectCXL 关键实验数字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ACA921-081B-42A6-AF38-3D6FE2A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RDMA 64B 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4F1AF-8E79-4FFC-96E1-5E445819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2705 cycles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59401-8AAF-489D-999B-216CFCBA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48EDC-20C1-4110-B205-954E2775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51379-51F5-41EB-89D0-4541C353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168F9A-CA0C-4B8C-824D-82798516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64B 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C18814-A1E1-4872-9B64-D9B49471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328 cycles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BBA52-97B6-4A08-B7A3-742D5EB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55D2A-AB52-4CC5-934A-110492C9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600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4C368-6C64-447D-B08C-8A8B7130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8.3x faster in Fig.6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752F69-D4CA-4C3A-B9EE-80863C0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RDMA vs DirectCXL hierarchy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CFA834-FAF3-4C0D-B46F-0FDAD89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6.2x slower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1C227A-9FA1-4463-95C1-B0198FF3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09F7AE-260E-414F-9A15-68A32F9D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8267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AE367D-0D08-4E65-973C-A1CBE17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Fig.8/Table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FD247C-ED9C-4CE9-A3DB-459972A9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real workload speedup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D43312-83AD-4D0F-A71B-D896CB7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about 3x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F9A15E-4F04-490C-B777-56BBE650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73726B-A51E-4455-BC0D-9782FDA4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600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C44137-98C5-421D-87F3-A35BE0B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Fig.10/conclusion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36FA67-0962-4BCC-8CE3-1FD57F50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0E6851-1D33-489D-BD63-61B5769B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来源：实验图按 DirectCXL Figure 6、Figure 8/Table 2、Figure 10 的数字重绘。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E7BC20-6505-416D-BEE0-FEA4EB1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6D0A4-CDE4-44CF-B326-BE779B9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B2D22D-7253-4B81-A956-3198BBB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FD180E-0F5E-4AEB-826B-C548861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实验结果  |  12 / 15 方向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6EDA78-457A-4F89-9B35-26CB0E02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208</a:t>
            </a:r>
          </a:p>
        </p:txBody>
      </p:sp>
    </p:spTree>
    <p:extLst>
      <p:ext uri="{BB962C8B-B14F-4D97-AF65-F5344CB8AC3E}">
        <p14:creationId xmlns:p14="http://schemas.microsoft.com/office/powerpoint/2010/main" val="217016124"/>
      </p:ext>
    </p:extLst>
  </p:cSld>
</p:sld>
</file>

<file path=ppt/slides/slide2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EC208-E2B4-417C-938C-7936020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C3591-D1E7-4ED1-9C70-B244CA42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7C639-CA93-41D1-93E5-7F5C5637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C9079-6787-4EF1-A062-34562584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Direct Access, High-Performance Memory Disaggregation with DirectCXL：文章评价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59124-0D1B-47E3-84FB-A93BE63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81C8E-EBE2-4930-A315-6DE499C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A25F-682A-4DCD-878D-3DD75ED1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C2983-995F-4D80-9179-89350E9C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很适合说明 CXL 会改变内存边界，但它缺少 confidential I/O 所需的身份、加密和 lifecycle 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0CAD9-65E4-4205-BB57-41DD09D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C183D-8C32-4087-9508-68D4697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99A19-C750-46E5-B00A-493EDE3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E881B-A58A-468B-BA8C-1DB602DB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A131A-211B-43BF-A611-AD6DD0B5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优点：问题切得准，系统原型覆盖 CXL device、switch、runtime 和 workload 评估，能支撑 memory fabric substrate 的叙事。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C73AF-CC6D-4A63-827B-D11722EE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379CD-BD85-452E-8EB6-FD46F8AD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不足：论文目标是性能和 disaggregation，不覆盖 CXL IDE、SPDM/TDISP、attestation、multi-tenant memory ownership 或 verifier policy。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4896C-38A0-409E-9A50-A330B04B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AB20B-1E8E-452F-9A7A-659C9D9A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商业潜力：CXL.memory expansion/pooling 有明确数据中心价值，DirectCXL 的 namespace/runtime 思路可转化为平台管理接口。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A2004-FBB1-4BFF-8472-63764D33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C01B1-FD94-4FD7-B5B2-8C46B43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落地风险：真实商用环境还需要链路保护、设备身份、热插拔/故障恢复、资源隔离和运维可观测性。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8EAA2-EBE9-46F7-9DE9-2EACBAC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EC049-CF25-471A-A72E-C3891C8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F8396-A0B1-43C1-B5E7-16E21C47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商业化判断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2456E-FEA0-402D-AE2D-2DC7C8B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70B6F-BC76-403F-A146-2417B74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82E6-5BE4-47D9-8211-C9B65775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62B4E-3035-42EF-B237-4FE7E69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强项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EEC70-CC68-4099-A183-A3C96308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CXL.mem direct access 和 runtime 原型可解释 memory pooling 性能价值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B0D54-3820-48C9-9123-782055C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B77758-F51F-4DB9-8C8A-F66B42EC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D99EB-86EF-4E1E-9376-7A501FA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不处理 device identity、link encryption、TDISP 或 verifier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D608B-1DB0-4773-8411-7922EE0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842D6-7F1F-4398-BDBA-C20267FF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可落地场景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2E1374-54D2-48BD-8C49-0CEDF972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云内存扩展、CXL pool 管理、远端内存性能建模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F2EA3D-081A-4106-B007-106B5DF3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2ADCEF-45EC-48F1-9557-A19CF57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不能承担的 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EF146B-67F7-4A9B-BECA-72DA04A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不能单独证明 confidential I/O 或 CCA/CoVE data-path 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E0C02E-395D-48C0-AC97-E88130FD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D82AC-2B89-4C29-8B02-79F1BF4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来源：评价结合 DirectCXL conclusion 与本仓库 evidence boundary，不添加论文未声称的安全结论。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A9812A-C943-44DD-8258-A6BC102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0E80EA-6669-4BC7-A662-6E3870FF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EFAE19-5450-4751-91E5-74A8015C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43A9E6-1331-4B84-937A-3C7E9CE8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文章评价  |  12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F88587-B86C-4E62-9559-069F0FE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209</a:t>
            </a:r>
          </a:p>
        </p:txBody>
      </p:sp>
    </p:spTree>
    <p:extLst>
      <p:ext uri="{BB962C8B-B14F-4D97-AF65-F5344CB8AC3E}">
        <p14:creationId xmlns:p14="http://schemas.microsoft.com/office/powerpoint/2010/main" val="1681229666"/>
      </p:ext>
    </p:extLst>
  </p:cSld>
</p:sld>
</file>

<file path=ppt/slides/slide2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0BF61-D94B-4563-ABA1-81F4E6D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2356C-883D-40E5-9510-C8411E1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95EBD-19EF-4941-A805-41B046D9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D8B2F-45FF-427B-BB2C-384B733C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B414D-F333-40B3-9DC2-F65DAEC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25CE2-375E-4161-9DBD-76C0A0AE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FDED7-D237-49F4-BF59-B3CA084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37102-406C-4C9C-B93B-BD6C9B59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 的关键不是“用 CXL 扩内存”，而是在 VM 云环境里把硬件 tiering 与软件隔离策略组合起来。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229F8-F6A0-4B5E-A28D-71663BD6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8C7FC-EBD2-46E5-938D-C3074169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74490-3622-4E15-BA37-CCA2CB62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E2D6-833B-4355-8AB8-7CE164C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D3514-EC50-4276-A18F-683C4C25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论文提出 Intel Flat Memory Mode：在 memory controller 内以 cache-line 粒度管理 local DRAM 与 CXL.memory。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D8370-4403-4926-8C5D-8BE403D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F057A-A188-4B8E-A051-6F45576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硬件 tiering 避免 hypervisor/OS 用 page-table 扫描、PTE poisoning 或 instruction sampling 追踪 hotness。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6B1D2-46D7-4B90-8C1E-582298DA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FA747-A50F-4CBC-9206-1603C4DD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Memstrata 是轻量 multi-tenant allocator，用 slowdown estimator 和 dedicated local pages 缓解 outlier VM。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817DF-58A1-4B9D-8663-090CA84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744F8-F8F5-4BC9-8C01-68FBD3D3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在本报告中，它说明 fabric memory 与 VM resource management 的冲突，但仍不是 confidential boundary 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91EDE-8260-4A8A-AE62-7AD05E3A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72CB8-1EF2-4E21-B00A-4E35386D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A999C-47AC-4F80-AFC7-66B21077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硬件 tiering + 软件 isolation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FA7AB3-D0D3-40E4-90B1-2118604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6DA8A-8BEF-407A-8D50-57B5437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EB985-660C-42C0-9656-3193B98F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 capacity tier 扩展 VM 可见内存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A99DE2-D608-4862-A8F6-D87E458D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C56D9-0350-4EE8-8B78-C4FDB70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EA4776-277A-4639-8421-EDAF6A10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7695C-6801-4369-9E5A-AEC8742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controller cache-line swap local/CXL lines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0A4BD-8B79-4EB7-962E-7AC23A1D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32C8A-FFC7-4F3E-93DB-0D5734B9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CF2548-251B-4E74-A1E9-A3E50F0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D5E157-C180-4F09-BC6F-2F2425E6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mixed mode 保留 dedicated local DRAM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F7C2D9-3B47-4181-BD07-86573A34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23467E-39B5-4F15-99B7-D914C9C8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2786EC-7E94-4243-9B4D-B0D214F4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Memstrata 预测 VM slowdown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3D587-6AF8-4B93-84C5-8D1C7148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CBCD2E-5C5F-44D5-8F3E-5BBEAA2E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8CB02-7F3C-4559-B59D-EEEB331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5786DA-ABB9-4DDB-A29A-A5A064A6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allocator 把 local pages 给 outlier VM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03F386-B5CF-4067-96E3-D9108E7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22E28B-98BD-4D6F-B206-FCC9C04D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来源：机制图重绘自 CXL-Tiers Figure 3、Figure 4 和 Figure 8。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904DFE-31AC-4BFF-B5B1-C540D8D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EE2403-78CE-4D5A-BDAD-50358B9D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953704-AA2C-45CA-BBAC-265F924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74A3AA-31A0-461D-91E0-09BFA99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内容摘要  |  12 / 15 方向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AE1804-0234-416E-88CE-4A428B7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210</a:t>
            </a:r>
          </a:p>
        </p:txBody>
      </p:sp>
    </p:spTree>
    <p:extLst>
      <p:ext uri="{BB962C8B-B14F-4D97-AF65-F5344CB8AC3E}">
        <p14:creationId xmlns:p14="http://schemas.microsoft.com/office/powerpoint/2010/main" val="1723699740"/>
      </p:ext>
    </p:extLst>
  </p:cSld>
</p:sld>
</file>

<file path=ppt/slides/slide2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806E8-765C-4EBF-BA5C-569A0A0C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BE45B-8FE2-4932-8D85-030F1024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F2F9D-C610-4159-821D-7C41666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37DF-023B-4F73-86FD-178A0DC1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3ABF1-5465-431E-9CF9-8E16984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EBB36-244F-4B81-B356-367D817A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21B5B-AEF0-476F-AC7C-8AFB0EA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A7441-C287-4593-A8C3-93E39FB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虚拟化让软件 memory tiering 很难做对：guest 不配合、page 粒度太粗、host 追踪成本又高。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AE839-B1CC-4971-A12E-59BE5499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11E55-BA45-4213-8466-4AE5B676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74793-0C26-46BC-B43F-1A645B4B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8547F-1A37-4B29-A898-FD546D5B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3A1B1-752E-48AC-A82A-DB6B92AB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云平台希望用 CXL.memory 降低成本和 embodied carbon，但 CXL 访问延迟高于本地 DRAM。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AB75F-8E0C-415A-9544-7FC6204A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DFF90-5164-4784-B53C-A976C7A5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 tiering 需要追踪 hotness：PTE 扫描、PTE poisoning 或 instruction sampling 在 VM 场景里有开销、兼容性和隐私问题。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78203-39FB-4847-BBD3-A493C9F7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3685E-0F14-4154-9A6B-EF5D318F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page 级 placement 假设页内访问有空间局部性，但 VM 的 free-page randomization、warm VM 和 huge page 会破坏这个假设。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836B-AF61-435A-991D-9317607C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2617D-F192-4D90-ABBA-D904FF5B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论文给出的设计目标包括 unmodified VM、低 host overhead、不增加 cross-VM interference、接近 local DRAM 性能。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38221-7545-461D-84EB-1A6C143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4C4BC-CADE-4DCD-8549-426BC84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C9F4F-B116-4A53-AFEC-2E9B349A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VM 场景下 software tiering 的失配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ACE12-55B5-4911-A0A5-D9B2D7AC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F2C13-E131-45EB-BBB8-EBEBA0DF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论文中的原因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953AD-C5F0-4C99-AE87-07DC45B2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 confidential VM 的启发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7370A-1F2F-4E2E-AD6C-7F77E4E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854AFC-9361-4411-9020-15E009D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host CPU 成本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66387-FE40-4EF5-8904-1AB2BF6D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细粒度 hotness 追踪要扫描 PTE 或触发 fault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FEA0A-038C-4ACE-9EBC-85C4C029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不能让不可信 host 为性能频繁窥视 guest 行为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00C38-27CB-4298-95AE-667B046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A4066F-9867-499F-8D8A-45B0BE69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隐私/兼容性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16233-0739-49AE-9F0F-48E6BB3A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instruction sampling 不支持或不适合 VM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A7327-AD2A-49B6-8B2F-FFA76E37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telemetry 本身可能成为信任边界问题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CF3CDF-A16F-468B-95C2-56363960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A601C3-17B7-48F5-A226-DB7E8E2C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placement 粒度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98F06D-4568-4720-BAD1-2A7A5E21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2MB/1GB page 会混合 hot/cold cache lines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D559A9-6B91-496B-9C7F-81BCDE99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ownership 与 placement 不能只按页粗糙绑定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37B9ED-F43F-418E-BB4A-CCD52A5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680B1A-371D-405E-B079-F40268F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cross-VM interference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7F8914-91EA-43CE-87B5-CCA12DC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VM 会竞争 local DRAM capacity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F2DC91-947F-4F95-97BB-BC4AC503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资源调度会影响机密 workload 尾部性能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1A1CD2-3F99-401B-AE42-2AD7C180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B0EF18-C9C9-494F-A7A9-EA40983A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来源：背景矩阵依据 CXL-Tiers Section 2 与 Figure 1-Figure 2 重绘。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D3C83B-D391-4ACB-AF19-3F6C9850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75AA2F-4CD5-4D0D-A0E7-0A4CC1AB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911525-6839-4D54-825B-24329E3D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B60F34-0A71-4C2D-88B7-7B5406A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研究背景  |  12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41F269-166A-41FB-9420-EE203380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211</a:t>
            </a:r>
          </a:p>
        </p:txBody>
      </p:sp>
    </p:spTree>
    <p:extLst>
      <p:ext uri="{BB962C8B-B14F-4D97-AF65-F5344CB8AC3E}">
        <p14:creationId xmlns:p14="http://schemas.microsoft.com/office/powerpoint/2010/main" val="1781866448"/>
      </p:ext>
    </p:extLst>
  </p:cSld>
</p:sld>
</file>

<file path=ppt/slides/slide2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4A0A3A-45B1-4A8B-A4EF-B2604654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61EBC-5DD2-4EC5-B2F8-C8A7A88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5F4E3-4492-40FA-89D1-A82BAC31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94F44-16B8-4BE5-B45D-7E7355DE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C7798-18F4-474A-B2FB-388E612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B3EF0-F4AC-4FFC-B4DE-941778BB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A2E97-BA13-4EFC-B916-0CCAE470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0CE56-E9F4-4469-972C-FC2E29B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Flat Memory Mode 把细粒度 placement 放到 memory controller，Memstrata 只处理 VM 间 performance isolation。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6CA7D-8953-4A7C-98BC-76ACCECE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E652E-F3CA-473E-8B61-E429C57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C1CD-4300-4193-B2EE-055ED5A3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1B795-348B-49C5-88D6-58096BC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9E4A4-A4CB-48E6-BD8C-9B23DDA5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hardware-tiered NUMA node 将 local DRAM 与 CXL.memory 组合成软件可见的 aggregate capacity，并在 cache-line 粒度交换。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2173E-3D18-4A54-AB6A-09FDB1BB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39214-8E81-4219-BC91-1F2B9CE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mixed mode 额外暴露 dedicated local memory NUMA node，为 cache-unfriendly 或 latency-sensitive VM 预留稳定本地页。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E718A-0F99-4F80-919C-EA3606F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E3DEB-9EE7-48AC-B8AA-D028B2AC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Memstrata 读取 performance events，用 random forest slowdown estimator 识别 outlier VM，并迁移 dedicated local pages。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C457D-48A8-441F-AAB1-29124C72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866C-248A-443C-9B4E-C5E72C2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妙处是分工清楚：硬件处理行级 hotness，软件处理多租户公平和 outlier 缓解。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6F43C-F551-48BB-9BA7-257CA45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10CEF-FB36-49C0-8196-76D9877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D8A75-F893-4F41-AA7B-8CE29A92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Memstrata 控制回路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15837-B536-4329-B84E-46A27EC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34F7E-39F5-4E98-848F-78297911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88C95-100A-48C5-A78B-3BB1D18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VM runs on HW-tiered + dedicated local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16659-303D-4DE4-B198-F0E2EE44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19982-CA55-4E38-815D-67D1C99B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D29D7-165C-4D6F-8F21-0C462D3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B9C13-7D26-4C36-A9EA-5E7ECD01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collect per-VM performance events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E3AD83-033B-4E46-B4F3-AF058111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0E02C-97AE-4C17-871D-5E084EE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C4A6B-E143-474E-99AA-CC01FE3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2A843E-760C-472D-B4F5-2807959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predict slowdown &gt;5%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8F86A1-C803-4E3E-9E58-EF026665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6ADBC-7C3B-48CB-94FD-840D0A6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C1DC1-BCB1-4344-9EC1-1B323790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rank outlier VMs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D2A76D-D2A5-44CE-AB64-F6ADB5CE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3F9971-AF1A-4D91-B1E5-67DD3381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D35A7-31D7-4135-ACFA-FBA827C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4A3A9-1108-4DE1-8410-EEF8DC87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migrate dedicated local pages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6B760-38EB-4D87-A276-4A1CBFBB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2B8C18-6E74-4D42-855F-7B9777C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68CFCF-D425-4995-9734-4C5C9BCD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D90A5-45B4-4E20-9FCC-35849341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reduce tail slowdown without guest cooperation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09E2E2-D1B2-4106-9421-FC9AD004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AD2CA-963E-4C96-BD6E-075B909D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来源：控制回路按 CXL-Tiers Figure 8、Figure 9 和 Listing 1 重绘。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7ACD54-B457-4C44-A893-463196A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453DD1-931C-4674-834A-F19C8AC8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FFF224-CC1B-4158-944B-239F1411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5CA6C5-8006-4D51-8ADA-4F07210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解决方案  |  12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A2FCD8-2234-4A9D-8597-7018680F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902463858"/>
      </p:ext>
    </p:extLst>
  </p:cSld>
</p:sld>
</file>

<file path=ppt/slides/slide2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4B11F-A77A-4805-9C54-0354D649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B7169-3573-424D-8449-576B6B0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617F-FC5B-4D74-9613-0565AAA2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2061F-18F8-4E3C-8E13-A65EF23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59626-AC8E-4315-84D7-993EBF86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2F3B1-81AC-4208-9D14-D752830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BED9B-F6FE-4515-BB2F-3DC64AA8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D7529-D775-4510-A6EC-AB5D327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 的实验结论很具体：mixed mode 中 82% workloads 不超过 5% slowdown，Memstrata 把 realistic multi-VM outlier 从 35% 压到 &lt;6%。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8A1E1-F01F-41E4-B94C-EE0B75A8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255C5-5F1C-4B94-9524-5B595682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27B91-87D9-4584-92A0-844BB6D7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E2534-EA7E-4B6A-82B5-FA4E4D0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58EE7-6F84-478B-A301-A1FC9009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 VM 115 workloads 中，mixed mode 下 82% workload slowdown &lt;=5%，95% workload slowdown &lt;=10%，但 outlier 可达 34%。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FDAA8-95B8-43DE-A3D4-E627A97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D3939-D889-43D1-87DD-A7F98B4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multi-VM 场景中，Memstrata 可以识别 outlier 并迁移 dedicated local pages，把 worst-case slowdown 从 35% 降到小于 6%。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11409-49B2-4473-9C1F-D8CAEB4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7EF83-F32F-43C7-BBBF-1050D3F6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Memstrata 的最大 CPU overhead 是 single core 的 4%，内存开销约 110 MB。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2C7DE-F7D2-4862-B74B-60ACC6EA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A2552-D44F-4311-B902-2C48922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这些数据证明 CXL tiering 能接近 local DRAM，但也显示 resource-management policy 会决定尾部体验。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E9E67-8753-4A85-96C1-8BEEB1E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B3006-6BDC-40A6-840C-68B70A5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ACF32F-5C07-4783-B5D6-5445ED5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CXL-Tiers 关键实验数字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4DA71-9131-4824-AFD3-C917316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mixed-mode workloads &lt;=5% slowdown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F98AE-5ECF-4452-BDE3-E0ED2CA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E26A9-2075-4990-84F0-DAF7911D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7559B-D66E-4A5D-A77C-2AB8000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0934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AE9E8-D1CC-4085-8AF3-A1D86D4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115 workloads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0111D8-D8A6-4F61-A51B-7BB05475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mixed-mode workloads &lt;=10% slowdown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636D3-06E2-41DB-A4E1-AFE2BD00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49F7A-D944-43A6-897C-3362839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73F3C-0A5A-4018-98EC-100C9CE1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266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51DF7-1427-4B31-8123-1D4057F3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single VM distribution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A38A9-7E63-46B7-BD56-83443FF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outlier before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033A1E-E205-401E-A347-3947F55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up to 34-35%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34BB02-69B7-428C-9D33-4188458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DC78E7-764D-48AB-BB4F-A7DB6F7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466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67D2D7-6867-4BBC-8A2F-B02EFD63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tail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02B254-D404-4C3B-85A2-E15FF08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after Memstrata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216CA0-E260-4293-BCE3-1291CCFE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&lt;6%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575C3E-0E70-4AE3-B209-79D40FB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193664-D3B4-4AC1-B0C8-1BA41AF4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800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7ACAA3-E916-4D53-A4CE-FEE0414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realistic multi-VM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10AA95-31A2-4BA9-992C-FEA1800F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overhead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4BF09-0E0A-4FE9-91B1-700C5868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4% of one 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E945BF-41ED-4393-9B88-B37EB2A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684E26-BB0C-476F-AD77-73423B7F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5334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05020F-2ED5-41B9-ADD1-C837D6B5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manager + ML model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054491-1D2C-454B-AF22-78215886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218D7E-2B7E-45CE-B11C-F06DBC0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来源：实验条形图按 CXL-Tiers abstract、Figure 5、Figure 10-Figure 12 和正文数值重绘。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A0B989-F17A-481E-B0D1-C5C0BA49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BE167D-1121-4986-97CF-B1C25E10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9D1A9-B878-47AE-8179-C9D810BA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486F5A-C2EE-4197-81CD-5EAA895B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实验结果  |  12 / 15 方向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E0DC25-64AD-4D3D-A611-8A0FEF0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213</a:t>
            </a:r>
          </a:p>
        </p:txBody>
      </p:sp>
    </p:spTree>
    <p:extLst>
      <p:ext uri="{BB962C8B-B14F-4D97-AF65-F5344CB8AC3E}">
        <p14:creationId xmlns:p14="http://schemas.microsoft.com/office/powerpoint/2010/main" val="1135301688"/>
      </p:ext>
    </p:extLst>
  </p:cSld>
</p:sld>
</file>

<file path=ppt/slides/slide2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7E9AB-D3B2-4B6A-A22E-F62BEAA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CAAE0-44D3-4FC7-82E3-5AE04424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CD412-5D44-4086-9D39-334B407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B4A28-3D40-4C42-9DD5-9F8AF30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Managing Memory Tiers with CXL in Virtualized Environments：文章评价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E3048-0991-4836-8FD2-2C7A2AB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E29A-23F9-4B0D-94D9-50FFC4B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A7620-AFE4-4DC7-AE39-8A687E99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CAF3F-8CA0-47FA-80FB-D754AAC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 最接近云平台落地，但它解决的是 performance isolation，不是机密内存 ownership 或 link trust。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1582A-B1CE-4D9D-9F08-D362F435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D47ED-620E-4254-9C11-175ED272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7440B-F430-4DCE-BE22-3542350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4A435-08FC-4DA5-8655-32C594E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B8FBC-EFFD-4BC5-85F5-C3E3F1B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优点：真实 CXL hardware prototype、115 workloads、multi-VM outlier 实验和 Azure production motivation，让商业可信度强。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B0005-2DEF-4179-B47D-3870BA48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45F24-7119-4FF7-9627-750BE375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不足：Intel Flat Memory Mode 依赖特定处理器/MC 能力，且论文不解决 CXL IDE keying、attestation、device assignment 或 confidential VM ownership。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6A10D-8E0D-4F49-BC06-AA481F7A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B8776-024F-4D1E-BD3D-739E2357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商业潜力：CXL capacity tier 能直接服务云成本、内存扩容和碳排优化，Memstrata 可作为 hypervisor 管理层策略。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B3F94-1C2C-4248-86AF-7D998AB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9DD95-0EA7-404D-AFBA-B9BB6A7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对机密计算的价值：它提示 host placement policy 与 confidential boundary 之间会有冲突，需要把资源管理和安全证据分开写。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86142-9BCC-4C9A-89FE-8D8F3C4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9F40F-AF9C-4E3A-B663-A8992E6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2B7CA-4C97-4236-AF00-F60BE14A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落地潜力与边界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692C9-D448-4619-AC8B-54552D8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3B9F3-E3A8-4F7F-AB5C-4210D986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78632-9A7C-4647-BBA7-DA5F501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A0709-12A0-47A3-BEE7-9CB5EA5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最强证据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039B2-C1CE-4707-9F5E-07E11E59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真实 CXL prototype + 115 workloads + multi-VM 实验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65AB5-BA6B-414D-8B57-8FDBAB2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3C482-8EBF-41C3-9BCE-C9796AA5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商业场景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74820-00A3-49F6-9EB9-B2E411B0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云 VM memory expansion、DRAM cost/carbon reduction、tail-performance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617DC7-8D29-47B6-8B5D-EE43BB57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3DD10-BA49-4142-8416-3761DC77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安全缺口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913BA-E7C8-415E-8203-B22B65E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不覆盖 IDE/SPDM/TDISP、attestation、ownership lifecycle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5E63CB-44AF-4ADA-9D01-F889F45E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B42A2-6405-486B-B560-FE650A3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对本报告的作用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165FC-08B8-4C5D-AEB5-373F0481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支撑 fabric memory resource-management 问题，不支撑 confidential I/O 安全证明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66BB6-45A6-42EB-B6F5-8D52AF53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3B1F38-FD25-4795-8C4F-94C5230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来源：评价基于 CXL-Tiers conclusion/discussion 和本仓库 background-substrate 证据边界。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10244D-9267-4F20-A665-8FE54207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BFE0C-7399-4A5B-AE7F-CDA39042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01D05B-0AA5-4623-B068-4CD5144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020A0B-B691-4640-9620-010D2F74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文章评价  |  12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D29AF8-D85C-44C1-9120-90C0167D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49705449"/>
      </p:ext>
    </p:extLst>
  </p:cSld>
</p:sld>
</file>

<file path=ppt/slides/slide2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3C7F3-A34F-4E39-A39B-990AACF9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CEE2B-B529-490E-BA6B-7636F1D8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6BA01-4B60-4623-858A-995F61D1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45B0C-1BE7-46E4-A6C7-906E0E91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07DFF-B09B-4097-A37A-9CEF07B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976B1-6548-407C-88D7-61ECD7C6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AFCEC-E14E-49A9-9EB3-6622425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9EB89-BB98-44C6-82DC-1963653D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的贡献是把 remote paging 的内存管理也搬进 RNIC data path，而不是只用 RDMA 加速数据搬运。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A179C-3C04-4B58-A881-AC2F0FB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01E7B-DD88-4D40-A53B-6876BF6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DC7D5-6196-4C27-B0C4-72B8940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C287C-51DB-4E87-9954-A062110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158AC-5DDE-4932-9CAB-552A3203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论文目标是 swap-based memory disaggregation：CNode 透明地把 cold pages swap 到 MNode。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87169-2C80-4F57-AD07-97BE4B6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62021-00F0-46A5-896B-AC31E99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 one-sided RDMA 适合读写远端 buffer，但不擅长动态 memory allocation/deallocation。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43F29-D3E3-49D4-BFC8-F2D0F5C2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54B37-42C4-48F6-90F7-5FB2E606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用 RDMA WR chain 在 RNIC 上实现 load、mapped store、unmapped store、invalidate 等 frontswap API。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72FB2-34C9-49D2-A20A-EF9DF70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59001-ED92-4023-B71F-D00C4C46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结果是 page granularity remote memory management、zero MNode CPU usage 和接近 coarse-grained one-sided RDMA 的性能。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7CED1-DE46-4B1C-8FE9-F6A5B14C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4E9DA-6EB7-4400-871D-662BB04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678CE-2181-482E-A593-88C7437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ODRP high-level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E60B0-0BB8-4EB7-BF59-6B129F7E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7BDAA-764A-4D9A-8026-9391F9E4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1EDCC-30F5-4CF7-ABEB-305357D6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Linux frontswap request on CNode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85244-A879-471D-A5EC-D9422B29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8BF8A5-C4AC-4594-8BBF-C1B25671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42DA5-424D-4635-962E-CCB2885F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1F0BC-9DA8-404D-9DD4-EBF80CC5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CNode backend computes TT entry / request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21352F-E591-4C83-A593-AAC2670B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6192F-6750-439E-BDF3-0051200E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A95D1-C0EC-4F2A-B72F-E2274D3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20372-9553-4401-B73E-AE53E6B9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RDMA SEND triggers WR chain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336555-C98B-485E-8720-837768F5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602206-5A55-4E8F-861D-CAE2B2EA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50FB35-ED32-4E54-B8BA-27A4E1F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RNIC reads TT and page queue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6F0C8-2958-4CF9-A769-F444A897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C9265B-E1DF-44A5-875D-0643E696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3243DD-35EC-449A-A419-0F24887A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8DE326-59CB-4796-A2FB-D5AC4743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RNIC loads/stores/allocates 4KB page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FF9C1-45F7-4AD9-9E01-4115927B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FB21E5-E6E9-47CF-8CDB-ADB9A41B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C3D1D2-A2C8-4DAF-A765-63483651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EF3B2A-2FA7-4081-8FC4-E58880A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MNode CPU stays off the data path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9B1242-CAC1-4101-B1E0-97B857B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43795C-B1F1-4054-82F6-37445065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来源：机制图按 ODRP Figure 3 和 Table 2 重绘。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F7CC49-AAC3-4881-B556-1F370A2A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13C5ED-D56C-4C7C-A837-8DDDC9C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014F76-B115-4060-89F9-0AD5722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555732-F8E4-4D5A-9B95-1EB81BD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内容摘要  |  12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CD3ADF-313B-4BE2-A2EA-17B32A5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215</a:t>
            </a:r>
          </a:p>
        </p:txBody>
      </p:sp>
    </p:spTree>
    <p:extLst>
      <p:ext uri="{BB962C8B-B14F-4D97-AF65-F5344CB8AC3E}">
        <p14:creationId xmlns:p14="http://schemas.microsoft.com/office/powerpoint/2010/main" val="1649978949"/>
      </p:ext>
    </p:extLst>
  </p:cSld>
</p:sld>
</file>

<file path=ppt/slides/slide2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47CCB-53D9-4D79-81F4-BC452D6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CB77C-DCF5-4FA7-9D78-E6FFB34F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D3579-F795-4EE2-B1CD-B6DF95B3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71C65-8B5A-48D2-8D67-08AFBC3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B3F8C-B83B-4A07-BDE4-E2651688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2CB8C-D186-4381-B517-6471A22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20B18-B117-4906-87A0-AF405138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49AC9-C0C3-4105-A41E-AEB27BF7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RDMA remote paging 的核心 tradeoff 是：static one-sided 快但浪费内存，dynamic/two-sided 节省内存却吃掉 MNode CPU。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6BF99-BCAB-4760-A666-9F07A564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8D758-9C4E-4354-B6AA-C597D795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A517E-2391-4737-848F-D724B742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59075-3B1E-4E64-B484-7AE8B0AE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11064-D826-431A-96C9-ED29E399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one-sided static 预注册大 slab，runtime 不用 MNode CPU，但 internal fragmentation 导致 remote memory utilization 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0739E-FEC7-420B-90B0-16229DAD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C662E-76AB-44CE-B810-12FDF083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one-sided dynamic 细化 allocation 粒度，但 memory registration 是 control path 操作，4KB 或 1MB MR 注册代价很高。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06301-7BC0-458C-8484-F663269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99B56-298E-48A7-945B-5C0F0134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two-sided 可做到 4KB 粒度，但每次 swap 请求都要 MNode CPU 参与，CPU 很快成为瓶颈。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C9E46-3630-4E48-ADEF-46BCFDA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A102A-E4F1-4083-B4E4-42FC1FC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的研究问题是：能否同时获得 fine-grained utilization、zero MNode CPU 和 good performance。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CC477-BD49-4462-993D-41E45E63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3D52D1-BBAD-4AFE-A273-548160D7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E6F1B-16AC-4BFC-B50A-0B62BFD6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RDMA alternatives tradeoff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70563-CB72-4D37-9A4F-83B7593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A09D9-FAD9-45BA-8EE6-B983C22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memory utilization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BCF72-C96E-4E78-B334-23A77A1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MNode CPU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4A1E9-8038-415C-B223-F4CC9C1A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2800350"/>
            <a:ext cx="11572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性能风险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56904-F2BC-457C-8D06-4E7F9F8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F6AD8-3634-4AF0-A4E5-91743878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one-sided static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8AA69-7D54-4892-B22D-8E980591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低，slab over-provision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F17C8-05DB-48E1-93EA-C9986601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260ABB-E0D1-4938-B9CF-297E1540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1242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浪费 remote memory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95ED8F-4355-4900-BA1B-F2A1F4A6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F9456-C79F-4BF6-8DB0-18945A5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one-sided dynamic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7BB55-93F3-42F7-8C18-A41D4F9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中，1MB slab 仍有碎片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A1ED6E-BA22-49AC-B01D-B3E64DF9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高，MR registration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CE9D3-AB6D-4C04-B93F-178E524F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35814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allocation 队列和 CPU bottleneck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BDAD8-6EAA-4415-9672-144B67B5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E0479E-93B4-45A0-9DB7-38BE297F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two-sided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5D1A1-5830-4748-8208-CE93FFE0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高，4KB 粒度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345AE0-E951-411F-954B-C9413CA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很高，每次 swap 参与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4E841-2610-4809-85D1-EC03D04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0386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CPU 饱和后延迟放大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F6BEAA-0BAE-4509-A642-0D8AC2CD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D8FA26-5F68-4E85-889B-208EEBCD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D493A4-4987-47FC-8ED1-7327673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高，4KB page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5C75D6-E256-4109-A556-E293C72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接近 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AB967-52C0-4136-B399-B7BA8417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413" y="4495800"/>
            <a:ext cx="1157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WR chain complexity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25B0F6-6E73-49A8-BCD7-C80485B8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5E58DF-2C21-4BD0-930D-ABB5C945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来源：矩阵重绘自 ODRP Table 1、Figure 1 和 Section 2.2-2.3。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A85661-FD3D-4BBA-8582-69570E2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3956AA-9AE9-430F-96C3-CE7094A2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501973-210C-48C6-842E-435C9B0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61DBB7-130C-4915-9804-1300E73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研究背景  |  12 / 15 方向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CCF830-2B79-481C-AEF0-39A65B4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216</a:t>
            </a:r>
          </a:p>
        </p:txBody>
      </p:sp>
    </p:spTree>
    <p:extLst>
      <p:ext uri="{BB962C8B-B14F-4D97-AF65-F5344CB8AC3E}">
        <p14:creationId xmlns:p14="http://schemas.microsoft.com/office/powerpoint/2010/main" val="827070115"/>
      </p:ext>
    </p:extLst>
  </p:cSld>
</p:sld>
</file>

<file path=ppt/slides/slide2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975522-E765-4A2E-B93F-AF65A4F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4BEDA-DFA9-44DC-81B3-A92A0C36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ADDFF-EB96-42D3-A6F3-12E60E1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68452-1663-4879-AF69-67FF792C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505B-2A0E-4273-8CC4-30AF26C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F3458-B2B6-4B16-8AE8-01309CF5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96E29-6F5F-439D-A24F-DA04E95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04086-D2AB-499E-8F1B-6F1DA19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的设计妙处是 client-assisted WR chains：CNode 做轻量判断，RNIC 执行 TT/page-queue 操作，MNode CPU 不进关键路径。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FCAB1-4790-43DB-9EDC-B1CF2A1B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C66A8-B8D4-4E78-97E3-F75B8DF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1A386-412F-48EC-979D-80C89F95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99106-F074-41C8-8444-379697A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91745-9FBC-439D-BCEF-094C165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MNode 把内存切成 4KB pages，用 FIFO free page queue 管空闲页，并为每个 CNode 维护 translation table。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2EDEB-305D-409A-A2C6-960EC3A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708DD-92EB-4987-9FE5-52857371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CNode backend 维护 allocation bitmap，提前判断 mapped/unmapped store，避免 WR chain 内额外分支。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6F821-EEA4-4DBF-994E-142BBF9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0E91F-B94E-4912-97B5-21AABA3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RNIC WR chain 用 READ/WRITE/CAS/FAA 等 primitives 实现 page load、mapped store、unmapped store、invalidate。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85E58-7B54-4551-847A-9F1D9EF7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271DE-F7B4-4375-973E-76A38FB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EndianSwap、Modulo WR 和 WR recycling 是为克服 RNIC semantics 限制而做的工程设计。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4F063-ECFC-4E7A-8AA0-EEA5CEC3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4D5A8-475F-4550-9641-0FEAC10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EDDE1-FFD5-47A7-9F44-917B535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CNode-assisted WR 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2A053-71AB-4A93-939B-62034FC6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18772-0CC3-4EED-8658-DA6935A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05F5D-DE9F-4EF4-9B49-1948C59A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CNode computes tt_addr and store 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6F237-2847-4EEE-86B1-47682BC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904B7-D4CF-49E4-8450-F22D4CF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89690-0CE5-4A9B-AF62-8F3C199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F805D-66F9-455A-86A0-843E66CD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RECV fills WR arguments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742CC-1947-4C5B-911A-4FC1766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4480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CEE27-B5DD-4DA6-940D-0EC620E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DCD2D-D05A-4656-9998-FA733768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97C33-C69F-4129-ACD7-294B275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READ TT entry or free-page queue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FF2CC-506F-4BE8-B841-9E4C94E3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82A91A-929E-4867-9533-AE5319CF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1F603-BCBC-4AC2-85D4-4B8D039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FAA updates queue head/tail when allocating/freeing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2C4BE8-1795-469F-A15C-126A3942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D7D4C-0A3F-47B2-874A-BD8D595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54BEC-E64A-4B2A-A4F7-D60A0D4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39F520-320A-43D2-B335-7A98F0B3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WRITE page data and completion signal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87ECB6-E406-48BC-88E3-4C67A7C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4572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7C1B34-CDFC-4653-BFD3-B1C2171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4133850"/>
            <a:ext cx="1441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A4CD1-39F9-4C97-8C63-48239168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481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878AF0-91F3-48E0-894C-4BF3ACA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4533900"/>
            <a:ext cx="117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CNode helps recycle consumed WRs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EBEA4B-345E-4CAE-9182-4A57417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D09781-9DA3-4F71-B76B-E7AEC265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来源：WR-chain 图按 ODRP Figure 4-Figure 6 和 Section 4.3-4.4 重绘。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057287-7FBA-49F8-A39C-D0190E1F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F65C73-83ED-4281-89D6-2AEEC2E6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AE91B7-5248-484E-B1DB-8C2FE5EC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B06FCA-FAE5-475E-B809-358B4554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解决方案  |  12 / 15 方向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9EB564-EEC2-4BD3-9C6F-305901E0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217</a:t>
            </a:r>
          </a:p>
        </p:txBody>
      </p:sp>
    </p:spTree>
    <p:extLst>
      <p:ext uri="{BB962C8B-B14F-4D97-AF65-F5344CB8AC3E}">
        <p14:creationId xmlns:p14="http://schemas.microsoft.com/office/powerpoint/2010/main" val="1329150263"/>
      </p:ext>
    </p:extLst>
  </p:cSld>
</p:sld>
</file>

<file path=ppt/slides/slide2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F3132-60D3-410A-8443-97AC4F9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CFDBD-1760-4A95-B3A4-77EED5A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3D2E7-F8B3-47CB-81EA-75E71AEE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858F8-96FD-430D-B050-A4F51EE1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24268-D13C-48AC-91E6-684B2FA4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88854-C3C8-4F91-9C7D-84EF833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F446A-DC67-4A58-9CB1-DBAA9374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3B88C-23CC-41D7-A899-A133CBCD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的实验重点是三件事同时成立：1.72x-12x utilization gain、zero MNode CPU、真实应用 0.8%-14.6% overhead。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FF43B-6BA5-46CA-B959-4B5BA265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C06A6-A4D5-4D47-B28E-E58C40F6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EF5CA-14AA-44C0-A4C6-A96DAE0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C1B63-071E-4A8F-9108-5E1F3C77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D0BC9-E188-40DD-9CDC-08F2D2C2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与 one-sided static 相比，ODRP 实现 1.72x 到 12x remote memory utilization 提升；与 one-sided dynamic 相比最多 1.82x。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EC1C5-5AFD-4CEB-A2A9-2BD33EBD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209C5-48D7-472B-887E-E2C508B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和 one-sided static 都绕过 runtime MNode CPU；dynamic/two-sided 在多 CNode 时会饱和 MNode CPU。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BE40C-513C-4D37-BC0F-3D538D0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10A19-91DD-45B9-BA72-4E3756D4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真实应用 overhead 范围约 0.8%-14.6%，swap-intensive Kmeans 的 overhead 约 14.2%。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852EF-9909-41C1-A18B-1A39C5EF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60A46-7596-4264-87DE-689B862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8 CNodes 时 ODRP 达到 one-sided static 约 87.3% 的 swap throughput，同时显著改善 utilization。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DD777-EC2D-4008-9CF1-FF7D4BB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E9B2B-7CE8-41D0-ACD6-E613B85C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502C9-BCA9-4F93-BEEE-2EADE40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ODRP 关键实验数字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ECAEE-421C-4415-9CDE-E23E6519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utilization gain vs one-sided static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E96E4-147C-4629-87DF-D29C56C2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1.72x-12x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8A0ED-6554-4E52-8320-C0D481F3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83DC71-ADAA-49FB-A70C-59A3E39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122682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C76A9-6F18-4BE7-AFD3-C6A1AC5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82F84C-6D4A-4090-8AA2-CEA998E1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52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runtime MNode CPU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9A64B-90B9-4595-8EE4-C95C1EA9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zero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4FD98-FE7E-45FC-AE48-F4C3A910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D67C1-04E2-4355-8D47-9FFE308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0425"/>
            <a:ext cx="266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9A280-8E0F-4B8C-9308-7939307C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RNIC offload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B9546-EEB8-46BA-A2AB-2CE6928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application overhead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7223A7-37C8-40D3-9746-DACD6DC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100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0.8%-14.6%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10B63E-6B84-4E70-83BA-B434F034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94F80-75EC-4232-A247-80A66F0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200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DA617-A37E-47E9-81E4-4D2ACF55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real-world apps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D438D-25E8-48EC-8CF2-A61D7DF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Kmeans overhead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2B640-FC76-404B-A310-530EA531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862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14.2%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47B5A2-E96D-4451-A1D7-43FA906D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ECFA20-C4B1-44E6-A4A5-B197FA84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52925"/>
            <a:ext cx="1866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799B26-DE56-47BB-88B3-0BC01E30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swap-intensive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ADE6F4-DD99-473D-9387-A550C7C6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swap throughput at 8 CNodes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6C0A7-2316-4820-B782-A2C6BC5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87.3% of static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F6E993-C145-470A-8F25-E460AADE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C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BC6E20-DAA5-4F20-A12B-AE4E10BE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29175"/>
            <a:ext cx="11601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89882B-C1AD-413B-BAEB-74A07F5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CA9AB1-5229-426C-A611-10F4A5F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8425D1-3B62-487D-9953-38AF090A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来源：实验图按 ODRP abstract、Figure 7、Figure 8、Figure 9 和正文数值重绘。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04ED23-854D-4779-A254-5A4AB61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990E2-84F3-464B-9AB1-34D96AFC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0996F4-9975-4295-9443-E155FC64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FC7A0B-B5D1-4FB0-87B1-CCCA3164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实验结果  |  12 / 15 方向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E66638-AF03-44ED-8B6B-9ED5F66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218</a:t>
            </a:r>
          </a:p>
        </p:txBody>
      </p:sp>
    </p:spTree>
    <p:extLst>
      <p:ext uri="{BB962C8B-B14F-4D97-AF65-F5344CB8AC3E}">
        <p14:creationId xmlns:p14="http://schemas.microsoft.com/office/powerpoint/2010/main" val="1674398266"/>
      </p:ext>
    </p:extLst>
  </p:cSld>
</p:sld>
</file>

<file path=ppt/slides/slide2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F480A-29EC-44D4-A1D9-64109276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64FFE-4658-4A1A-9DF7-B58CBD6B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C8014-2D86-4191-B1DB-06D65433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2995D-EE01-42B6-9C5E-F69CAE3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ODRP: on-demand remote paging with programmable RDMA：文章评价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08ACC-F10E-4ACE-BE1A-6B85731C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2A1CC-ADB7-4D7D-9F2E-2FCE2AC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46F38-172E-45F0-8616-C4100880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系统论文 / Background substrate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80863-3DFE-4647-9B94-4DBAD2B3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很适合说明 SmartNIC/RNIC 可成为 memory-management actor，但它也暴露了 endpoint trust 和 state recovery 的新边界。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02EAB-4128-4E2A-B893-F56714EC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CAFBF-C28C-4140-86AA-4632977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E064D-2808-4B21-A79E-6D3E545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25970-430C-4462-8C8A-3E666C3F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C80F9-DA2C-487D-97A2-00E49987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优点：问题定义清晰，真正把 allocation/deallocation 从 control path 推到 data path，且用 commodity RDMA hardware。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61BA1-24F2-43D5-89BC-81576720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37ABE-8832-47ED-BC2F-16A01D1B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不足：WR-chain 编程复杂，empty free queue、CNode crash、TT recovery 等 corner cases 仍需 MNode CPU 或额外 recovery 逻辑。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FE395-897F-411F-84A1-8E3F9721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67D9D-A29C-4BC0-88D7-14814426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商业潜力：适合 remote memory、SmartNIC/DPU offload 和低 CPU memory pooling 场景。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7D1CD-A1DB-4914-8410-EE14D57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6AD3F-4B7B-41CC-83C3-99808801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安全边界：论文不提供 attested endpoint、encrypted link、buffer revocation policy、trusted vNIC/vSwitch 或 confidential VM ownership 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29763-2212-44CB-A4FD-1112976A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0EE16-71F3-48FD-B27C-9F0D455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84386-1989-4285-8D0E-DFC5F2D8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落地潜力与安全边界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769E5-B560-4D0D-9C85-A27792D5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2AD12-E8A2-4EF8-9676-0E693077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1F4D9-F18B-4465-8ADE-EB85CE0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42509-F7B3-4442-BDA2-4CE5DA25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最强贡献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9481B-CBF1-4D47-9C07-7A098299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RNIC data path 同时处理 memory access 和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0BDCEC-1494-4A1E-A214-AB8388FB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706A0F-73C7-4D59-AFA8-8277CC86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工程复杂度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62A24-FC8F-44F7-92E6-54E00D2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WR chain、EndianSwap、Modulo、recycle、crash recovery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D56F0-99F7-4EA3-8EEE-0EEDB63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7B6C3-0374-4C8F-834D-4F339CD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可落地场景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4B7B85-D80B-4B10-870A-F7BDD2E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remote memory pool、SmartNIC/DPU offload、CPU-light MNode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56C55D-BDDF-44C6-BB4E-1062EB47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0B335-4C4B-45D7-A750-3A35EF08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安全缺口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321EF6-0EEF-40E7-B6E7-D5B4D1F4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endpoint identity、link encryption、attestation、buffer lifecycle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B17C86-8AA4-460F-AEF5-EFF3640F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AB47F7-6F69-45AC-BD1F-67AE9C71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来源：评价依据 ODRP Section 4.5、Section 6、conclusion 与本仓库 confidential-I/O 证据边界。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87A2A-D329-4594-AAB6-0B9E37C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709886-1B7B-4A16-9CBD-E3F10F0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11056D-65E9-4F39-88B3-DD85CD4F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777AA0-E789-4650-96B2-12F535F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文章评价  |  12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F51E2C-A88F-4554-AA7C-57013F9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219</a:t>
            </a:r>
          </a:p>
        </p:txBody>
      </p:sp>
    </p:spTree>
    <p:extLst>
      <p:ext uri="{BB962C8B-B14F-4D97-AF65-F5344CB8AC3E}">
        <p14:creationId xmlns:p14="http://schemas.microsoft.com/office/powerpoint/2010/main" val="1810212493"/>
      </p:ext>
    </p:extLst>
  </p:cSld>
</p:sld>
</file>

<file path=ppt/slides/slide2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7D59D-882D-43E1-9774-C04AAA8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4D81A-10E8-49B5-99BF-D786986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D18B9-CAAB-49A7-8471-B9B4F99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646E4-8418-421F-AC6C-089FDADD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Memory / I/O fabrics: CXL、PCIe IDE、RDMA：方向总结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11864-270F-4BC0-8BEF-DF81374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F6628-6AD9-4652-A67E-F6C7AF9B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09DED-9C46-4C21-AB02-F3965451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AAAAF-AAAC-4692-A366-BEDC5E48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三篇论文共同说明 data path 已经从本地 DRAM 扩展到 CXL/RDMA fabric；下一步安全问题是证明这个 fabric path 可信。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B8A4F-C25E-4CFC-B691-7E949F0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F2CC4-88C6-4EB6-ADAC-D5CA846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2D8F5-3EE7-4B3C-8A93-D03A782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EA522-EEC8-4930-B1BF-9DCB9C2D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EFBEC-8872-46D7-B1B0-FF0721F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 优化 latency：把远端内存访问从 copy/runtime path 改成 CXL.mem address path。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93AF5-98BE-4385-8C97-C36CEF69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E1C09-96BE-4766-8FD8-43A4787F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 优化 VM resource management：用硬件 tiering 处理 cache-line hotness，用 Memstrata 管 outlier VM。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2322F-A79A-4D6C-8BC5-E42CC164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94C27-8D8C-4697-92D7-398AF1E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 优化 utilization 与 MNode CPU：用 RNIC WR chain 做 page-granular remote memory management。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23AA0-F1C2-404E-A8AB-630E029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553CB-4A94-4F0B-A626-800F92C6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这些都还缺 confidential I/O 组合证据：CXL IDE/PCIe IDE、SPDM/TDISP、device attestation、CCA/CoVE memory ownership 与 verifier policy。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FFB85-DEC7-4E14-843A-7AE53ED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EE34D-213B-439C-95B1-5828BB9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6CA78-C13B-4C2D-AED6-575AA19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本方向结论矩阵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FFD79-05FE-492B-99C3-E4B7291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8F339-04D3-4DFE-94D2-11B5455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解决的 data-path 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83647-0F33-48F9-9EE0-BF0FCAAD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没有解决的 confidential-I/O 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855FA-63F3-4BCE-B7A8-1BCC9E55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65898D-F319-4FC7-82A6-4DC6781E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DirectCXL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A3B15-DC70-4CAC-8C5F-E66310AB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CXL.mem latency / direct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233EE-1E4F-40E8-975A-AC5E0DE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IDE keying、device identity、TDISP lifecycle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58EB2-E01B-4A7C-A47F-27E32C93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8EB19D-75AA-4235-8187-2EEE9CC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CXL-Tiers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B00E7-BF19-46EA-8488-2D41FC6D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VM tiering / performance isolation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C2B71E-E761-4931-8EF0-72329172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confidential ownership 与 host placement policy 一致性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3FB04-D1A9-49E3-ACF0-ADD9F5EC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3B6A6F-E713-42EC-AF1D-C186D0AA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ODRP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9BDEDB-8928-4355-83FB-B42413D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remote paging utilization / MNode CPU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2E51A6-CCA0-4583-82C8-45AD4A0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attested RNIC/DPU、encrypted link、buffer revocation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32ECF2-840F-4C7E-A43E-C19BE41A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0A60A2-4666-42A2-B7A9-165C540C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后续组合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DB09FA-686E-4D37-A01F-6FB1B0C4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CXL/RDMA fabric 可作为高性能底座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B496D9-BF90-485C-84B7-24440D2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必须接 SPDM/TDISP/CCA/CoVE 证据链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C65BF8-E67D-4D82-BE64-B8C6D4C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CA4E85-88DA-4515-A9E0-6F56CBF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来源：总结页使用三篇论文实验结果与证据等级边界。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FF3886-71F9-4277-8EB8-C1AF0BEC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70818B-9A68-415B-841B-8A44182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85600E-9CBB-4910-8BEE-FB7E3C9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22BE15-B91E-4D99-B628-9C5A5E4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Memory / I/O fabrics: CXL、PCIe IDE、RDMA | 方向总结  |  12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6698D5-1624-4AE6-8577-9C81F3B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220</a:t>
            </a:r>
          </a:p>
        </p:txBody>
      </p:sp>
    </p:spTree>
    <p:extLst>
      <p:ext uri="{BB962C8B-B14F-4D97-AF65-F5344CB8AC3E}">
        <p14:creationId xmlns:p14="http://schemas.microsoft.com/office/powerpoint/2010/main" val="1976945659"/>
      </p:ext>
    </p:extLst>
  </p:cSld>
</p:sld>
</file>

<file path=ppt/slides/slide2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D99D5-4EFC-4B18-B89A-3DDD31B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5120E-99D0-42F5-ADB1-8E916355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44BA-9B6F-427B-8D24-5A9EC85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6ABD6-9716-4B1A-866A-F0B47A93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74067-C45C-4EA2-AC9D-281154E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70039-FF67-46DA-8F7A-4D28DF74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SPDM/TDISP/PCIe IDE/attested TLS 与 trusted device lifecycle 组合起来写。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FB73A-5302-4B2E-ADEC-9448E8BC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855F7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E5A34-8D12-4138-9074-0684F31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55FD4-8C50-41F9-B838-C71DB114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device identity and measurement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AEEF9-A23D-41F5-954B-0D6FF09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310F6-6BE3-403D-AE71-128DD2E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A058C-BDCE-4653-B426-265663B6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and TDISP trusted-device 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D00EA-2828-4906-9D12-97851CDA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BCE84-2B27-43D3-8ED7-EA955550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4DC5F-7AF8-45A0-9F38-80DD0E88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9B320-E725-42BC-B984-31398EF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1E7CB-6560-48E6-B5F0-80F4740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FF189-E446-423F-A39A-E107188B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D5A3B-D640-447D-B40B-C173004A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B7BDD-2DA3-40B7-A849-87C9B49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Confidential I/O protocol、trusted device interface、network endpoint  |  13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91A8-EFCE-4E4E-9FEB-F89DAC17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221</a:t>
            </a:r>
          </a:p>
        </p:txBody>
      </p:sp>
    </p:spTree>
    <p:extLst>
      <p:ext uri="{BB962C8B-B14F-4D97-AF65-F5344CB8AC3E}">
        <p14:creationId xmlns:p14="http://schemas.microsoft.com/office/powerpoint/2010/main" val="1569097606"/>
      </p:ext>
    </p:extLst>
  </p:cSld>
</p:sld>
</file>

<file path=ppt/slides/slide2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2C239-786F-4A24-89BC-A059ABA4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2039D-CCC8-4AF2-BBCB-8C70E0C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9091A-6008-4909-8B54-1C7DCF7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BB97B-BD04-4CF5-8F3E-4BCAAFE2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B134-7F23-4B43-BC76-75227AE8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74D30-06DA-4423-94D4-1AE58E6D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88530-F69B-40AB-8B81-8C183BA2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C8AD1-AFA5-422F-8DDE-565429F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D2688-6087-4574-8F7A-6096E74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05229-D0F1-4DEF-BD8C-BC5D234E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FCF4C-57E5-412D-A908-AA8D4E0C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6A917-15BA-4671-A837-1F684F9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84B7D-52A2-4B0B-A581-35DF971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SPDM/TDISP/PCIe IDE/attested TLS 与 trusted device lifecycle 组合起来写。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018CB-DF86-4660-9A76-FCBDADE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AD0ED-C0A5-44F9-B0FC-D34C3BDE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固定三篇主讲材料；TLS+RA 作为 endpoint/channel-binding 主证据，FOLIO、SEV-TIO、TDISP/TDISP XT 和 BlueField DPU evidence 为 auxiliary/contrast。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3B878-5CB9-4FCB-8189-6015EE62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F72C5-7B53-4652-915F-C2953EDF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98A74-36A0-4CDA-AE56-0E1A605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0ED87-CC7A-4C11-8AE3-9D0DCA8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86209-41E1-4CF0-AF7F-1B74842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FB93D-87EF-4DC8-8FE3-B63AA19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2C28E-754D-45C9-88AC-7C09002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9D513-7DB4-45ED-AC3C-47F0CC7E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828CA-4490-424A-B012-3EC6EB18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89B5F-B21E-4C05-9984-785F97C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02720-7912-4F84-9F9E-EDD010A2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979F8-E25E-4DA5-AE1B-797822B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device identity and 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ECCCA-B3DC-49DF-A05C-0B311986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14E33-B476-4B08-B821-F39E921B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0D7E6-D6F8-48DA-92E6-448BE141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2EA8E-83B1-416E-9DBF-225FC81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and TDISP trusted-device lifecycle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1913E-7AD1-4EE2-B1C8-2463990C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96475-23A7-45B6-98D0-0DA7578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AC1DE-493E-472F-A577-EE91045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2902B4-3DE7-4823-B5EB-F268876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remote...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E4CEBB-6BCB-4E66-BF97-D40C0E27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46ED6-F050-4B27-A5CC-12547F9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A3D4F5-3F96-4E7D-9E8C-7BFA393A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3026E-9A9A-4341-9938-D03C85A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24E4C-4A84-48A1-964B-0EDCFA0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98DFE9-F76D-4938-BB3A-F55DB033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A34766-1FE7-4C7D-B684-10ABB61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F2EBD0-E176-4899-9FE3-144BF4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方向开场  |  13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0368E7-118C-4D25-A451-4E3F6B4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222</a:t>
            </a:r>
          </a:p>
        </p:txBody>
      </p:sp>
    </p:spTree>
    <p:extLst>
      <p:ext uri="{BB962C8B-B14F-4D97-AF65-F5344CB8AC3E}">
        <p14:creationId xmlns:p14="http://schemas.microsoft.com/office/powerpoint/2010/main" val="1638088339"/>
      </p:ext>
    </p:extLst>
  </p:cSld>
</p:sld>
</file>

<file path=ppt/slides/slide2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37BDE-7475-48ED-A361-383190A3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B008-1C6C-4F56-AC67-D935F225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517AA-020C-492A-BFF4-6017B0D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9A4DA-3F49-4BA0-B98C-95C5DAE0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SPDM device identity and measurement：内容摘要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DFD74-ABFF-4DDA-A482-C42FC2A6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CD99A-5713-4A3D-9DCD-53406CE9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2C871-E118-4A9F-A119-91D2BE8E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4E8DC-A218-42BF-A38F-B9A713CC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定义 device/component identity、measurement、capability negotiation、certificate/challenge 和 key exchange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62C2-49B5-41E3-8CEA-629CD461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CC677-608A-459D-9AF8-57260DFF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538E4-8C4E-4589-97DF-12663910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3FDA9-2511-42A9-AEE6-05CC645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79D6B-9954-47ED-BE5B-822FBC44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定义 device/component identity、measurement、capability negotiation...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4FD03-DAF0-413D-A52B-DB133955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3EC09-3B95-495B-A58A-B2825B3A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is the first-party specification foundation for device identity, measurement, and...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CFFCF-4C9A-412B-80D9-4F224E52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0185E-6776-4FD6-9466-539D7EAF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A4EA3-CF88-46B9-B136-100464FD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D8724-8B6F-48DD-98B5-703B033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5FA5C-30FE-4E1B-B46D-B3D03EC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ECB75-DA0F-4CD1-A21B-8B5FDB66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F7C81-F53A-46B4-8476-34C9155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E5D16-CE06-469E-94B2-FB2927E8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A04EB-20CD-4C84-A282-C76A3B6F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FDDB4-A7C1-402E-9EAE-D3421B0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AEF57-12F0-4B9D-B9FA-C0BD556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47C25-6C60-4AA1-AF8C-EAC3E922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A29FA-4C9F-42F9-B79A-793A67EE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21C17-9FA1-4978-B3CC-E365AD21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65150-B5CF-49DD-8266-EC4CA3D3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A2D10-39A6-4C38-8091-0154FE5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35A40A-3C9A-42E6-A6C9-40C216E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487E6-E854-43D3-A00F-F854C50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17DF6-2B40-493F-81E7-F2376130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来源：SPDM device identity and measurement｜证据等级：E0 / Spec-standard SOTA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893D5F-DB38-4626-B038-20A5668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6DE0D-5569-447B-A8DD-CDED2ED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68EE3-3238-4342-9A87-229A1E00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E3E0BE-4A27-4879-9838-24E50195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内容摘要  |  13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17DCC2-FC8A-4B79-BA42-B2EFE169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223</a:t>
            </a:r>
          </a:p>
        </p:txBody>
      </p:sp>
    </p:spTree>
    <p:extLst>
      <p:ext uri="{BB962C8B-B14F-4D97-AF65-F5344CB8AC3E}">
        <p14:creationId xmlns:p14="http://schemas.microsoft.com/office/powerpoint/2010/main" val="267191399"/>
      </p:ext>
    </p:extLst>
  </p:cSld>
</p:sld>
</file>

<file path=ppt/slides/slide2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2D80A-503F-479F-9306-5A1DD8B2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74842-0CD2-4A43-90BB-39C79154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7BCBD-9460-4192-9518-A6F5AF6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B5697-B356-40EE-988D-DBB264D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SPDM device identity and measurement：研究背景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4115F-BBC5-4796-A2BB-339F26A9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39174-2297-4032-83C1-F80921E9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A3C86-85AF-4D6B-AEAB-AF7206F0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8D1A8-ECDE-4891-8619-759352F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 使用真实设备时，不能只相信 host 枚举出的 PCIe requester ID、VF 配置或驱动状态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5A69B-4797-48CE-8C57-2B0559F7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1FAB2-ABFD-4643-BAA0-13833175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D9EBD-1BD4-481B-8FE2-6E5088E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D53F3-343B-4D85-ADAC-37E9E5DD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8BC8-B08C-4BBB-9DF1-F3611C89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 使用真实设备时，不能只相信 host 枚举出的 PCIe requester ID、VF 配置或驱动状态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8B249-04E1-4566-9A22-BAE436D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286FA-E576-47F2-8223-FAB3352E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CF7AE-312E-4361-9274-840114E2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0C8DE-102A-4200-B9B2-351C60A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FA4CC-7C7F-492C-A72A-48F31664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B7139-264D-4ECA-BCB7-9B31536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3F3AF-04B1-4CA8-BBF6-FD71E81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92411-9F38-4BBC-A18A-7762A9F9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69607-7A23-41D0-9F6E-DA00306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50D71-2497-4E89-9687-8CA5565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F14B9-3832-4449-A83D-56789714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SPDM/TDISP/PCIe IDE/attested TLS 与 trusted device lifecycle 组合起来写。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0C48D2-A040-470D-BECC-BC44B087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80B26-9AA0-4F0F-A966-3D452175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482A3-2912-4E91-8648-1C6C72AF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SPDM device identity and 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B8AEC-33F3-4FB1-A57B-491CF4A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99AAD-D365-4FFD-8FE7-5965833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361FA-CF0F-4A37-A604-7EBD829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D95ED-F8D1-4BDE-8997-4E9FF4DC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316B7-368E-4A5D-BD09-D15A31BE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来源：SPDM device identity and measurement｜证据等级：E0 / Spec-standard SOTA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60589-B705-4D7E-84A7-72F2F51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E2247-2668-48A0-AF62-76EFCA4E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FB98D1-194A-459B-89FC-DF989C78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12F36F-39BB-4CF6-916A-2920672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研究背景  |  13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E3F9A-D8A2-4125-919F-A86BC06F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224</a:t>
            </a:r>
          </a:p>
        </p:txBody>
      </p:sp>
    </p:spTree>
    <p:extLst>
      <p:ext uri="{BB962C8B-B14F-4D97-AF65-F5344CB8AC3E}">
        <p14:creationId xmlns:p14="http://schemas.microsoft.com/office/powerpoint/2010/main" val="100383959"/>
      </p:ext>
    </p:extLst>
  </p:cSld>
</p:sld>
</file>

<file path=ppt/slides/slide2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0C05C-9899-45B8-9218-7CACC385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BF97E-E92D-4FB6-A3F9-91EA9C7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4832-EEF4-47BF-8D22-8E39FF1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213AF-7B0C-4F5D-8046-8FBF61A3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SPDM device identity and measurement：解决方案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76525-EE54-4767-B566-FDF349E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16F0B-CD30-4F8A-B77D-D5CB583D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497A0-1C6E-4CA3-BFF1-DC5EA31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6B3A5-76D4-4770-A314-BCFEF0E2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 requester/responder 协议、certificate chain、measurement blocks、transcript 和 secured session 建立 device trust...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ECDAA-CC2B-4AC7-ACD1-5C46B01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A0F19-D144-49A3-9215-A35EE66D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3EBC8-28CF-436A-A2F6-87F09F7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FCAD2-4996-4C95-A0C2-B5C8179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0E50-9021-42BF-954D-0A3A8FD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通过 requester/responder 协议、certificate chain、measurement blocks、transcript 和 secured...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042FC-462B-4D67-8213-D7E6EB7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41EDA-3B68-4BB4-9CAE-5DEF667B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11F29-D2A6-4849-AF87-ECB3C60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CA5B2-A1AB-44BE-A751-8903690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B7C29-92F9-4CC9-ADE3-EFDF81D1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2FBB3-C138-4359-A8C9-EA387CDE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Device certificate and measurement retrieval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BDED5-8113-409B-8FFB-ADB39A2C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1EEC7-AF70-46F5-B288-C5BED02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359F1-40DB-4F68-BDF8-ADB6570A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5225A-B0F5-4EF4-AB44-B46CE477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Challenge-response and transcript binding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66D92-9950-4226-88F0-EFAFCBF8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DE863-79A6-4865-9D01-6A94B18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89595-4ACF-4B7C-8339-B59BE735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39844-64BB-4B85-8A94-FA032FBB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Key exchange for secured control messages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DE653-28F6-4763-BA50-74C7D32B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548189-2FA2-4463-9CFE-E3ACFF44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来源：SPDM device identity and measurement｜证据等级：E0 / Spec-standard SOTA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6F5F19-B20D-4692-B851-D4D930A8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B86B5-0103-402F-A091-F3AE839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89BEFE-4435-4666-88C7-E1CB931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E7F51-B1BB-450A-90C5-87EB8345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解决方案  |  13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6DD2A-4067-43FE-B258-E3057CE3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225</a:t>
            </a:r>
          </a:p>
        </p:txBody>
      </p:sp>
    </p:spTree>
    <p:extLst>
      <p:ext uri="{BB962C8B-B14F-4D97-AF65-F5344CB8AC3E}">
        <p14:creationId xmlns:p14="http://schemas.microsoft.com/office/powerpoint/2010/main" val="2121266919"/>
      </p:ext>
    </p:extLst>
  </p:cSld>
</p:sld>
</file>

<file path=ppt/slides/slide2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E3F72D-95D0-4A43-A299-7950E9F8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576DC-1F57-4138-A01E-13656F95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A2E63-6A9E-4564-BA1A-5E626D4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1E38C-2CF4-4BFB-BB14-7CF7A377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SPDM device identity and measurement：实验结果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F03AD-D4D3-4C19-9111-972C851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3EFD2-5A5C-40C3-9220-10858CB0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1EDD9-F6D1-4128-8F52-77763FB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59DBE-E185-4DE4-AA46-18EA96A6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规范/Survey，无新实验；SPDM device identity and measurement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97D39-2AD4-4DA9-A2AD-4455D0C6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D103A-871A-4B60-849B-DFCEEF40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2C58-682F-4EBF-A6A3-B26166D9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5F68E-3DEA-48C8-AFD1-106C6717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2E30D-19DF-45FA-9D0B-01AA7C2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816D6-C5BA-4FE9-A713-910436F4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44339-0E79-40E4-A6AF-EB937244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可支撑：SPDM is the first-party specification foundation for device identity, measurement...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E476E-579D-498B-A64A-3619715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D62A1-8115-44A3-ACB3-1C2292D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证据等级：E0 / Spec-standard SOTA；来源状态：本地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187E4-7D18-402F-875F-AF8AD5A8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0B32A-0C89-401C-A058-9E5388F6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90A9A-98E7-4B22-A74F-CED47631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7CA37-0818-414F-A533-D5DFB69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F308F-13C5-4295-A7A7-2ABBC338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8EB6A-6C3B-4272-8402-CF39334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FD959-347B-4530-9E0F-48556E9F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AA812-09FD-498C-93ED-B8097839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91F17-8CD2-481F-B936-714E1D7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2AF29-CF0D-4196-BF54-8838E24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9B38E-9672-4D80-9CA3-3BB2E2A0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SPDM device identity and measurement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14BAE-305B-417B-B57E-D8EF71DE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6DE04-9C1F-4C8C-8DDC-BE1E62D8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B1B84-7E94-4168-9B3C-8B57A093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E59FD9-56D1-4372-9157-758FDA0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4C09AA-5CB8-4B87-94E8-6C7BA9BD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30F75-1A8A-4B7F-84E3-9EAF30C2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5684C7-081A-4B28-9794-6C19FFD9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FAB272-9C39-492C-BD03-D2150CD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FEBD20-A24E-4FAB-88E5-B6FB71C0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1F9127-1237-4695-9CE4-2007EB6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F0134F-AB96-4119-A593-7B5C66C9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723251-0F83-46F6-B0C3-D96799E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625A8D-FF47-4593-9F97-8502CDC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767264-996E-4986-9FB9-89F096B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2B8607-47CB-4B51-A1C8-8083D3CF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来源：SPDM device identity and measurement｜证据等级：E0 / Spec-standard SOTA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D26071-8B78-4127-9301-0CB830D8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5F18B9-B3B7-40CE-A348-A41E6CE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CE013B-AE52-4D1B-94FF-F59CCF7E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85A975-7432-4248-8FFF-0EA3A00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实验结果  |  13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41977D-8800-43DD-9A53-3CF12B1B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226</a:t>
            </a:r>
          </a:p>
        </p:txBody>
      </p:sp>
    </p:spTree>
    <p:extLst>
      <p:ext uri="{BB962C8B-B14F-4D97-AF65-F5344CB8AC3E}">
        <p14:creationId xmlns:p14="http://schemas.microsoft.com/office/powerpoint/2010/main" val="232770028"/>
      </p:ext>
    </p:extLst>
  </p:cSld>
</p:sld>
</file>

<file path=ppt/slides/slide2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9A414-D25F-4820-8DC0-C433504B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9EE6C-7F0D-4322-B2BB-6F843566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AA70E-DDEA-457E-BAEC-3962F19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D8AAE-754C-4428-BAC2-D69A928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SPDM device identity and measurement：文章评价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E51AB-654D-47E4-842D-A4C55793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2C279-3EAC-406B-8928-74A058E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>
              <a:alpha val="12549"/>
            </a:srgbClr>
          </a:solidFill>
          <a:ln xmlns:a="http://schemas.openxmlformats.org/drawingml/2006/main" w="9525">
            <a:solidFill>
              <a:srgbClr val="1E40AF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ADBD2-E356-4379-8D5A-AFFC4CB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E0 / Spec-standard SOTA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27FE3-7022-4B1D-B2FA-FE09F43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评价：SPDM device identity and measurement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ED512-7DFB-4C32-B2E2-1D1A619B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58F3C-3CD0-42CD-9401-04E7044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CFA38-B73A-41F7-AF0C-2B53153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3B2AA-7F78-4E93-A7FF-699C12AC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4F36D-51D3-4287-8BEE-D49A302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设计优势：是 CoVE-IO、TDISP、PCIe IDE keying 和 vendor device attestation 的共同 device-evidence 底座。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51717-4BCE-4C0E-A548-555F26A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4E238-52BD-4835-AE63-1DBB4E5E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局限性：单独成功的 SPDM session 不能证明 TDI state、IOMMU/IOPMP policy、IDE link 或 device firmware 隔离正确。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4646F-D1CA-4CC0-A9A3-B488491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F88CE-B4A8-49C9-8740-719CC35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 fleet-scale device attestation；风险在证书供应链、measurement schema 和 firmware update...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378F5-E67E-42D1-9825-C6D295A8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350A3-1B3B-4B08-A53B-2C5CB276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3B3A3-B5AA-457F-9727-6465FB7A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4BE9C-A1A9-42B8-AAF0-B30A522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15C48-0FAB-41AD-938E-391E5482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1337D-EEFD-4F30-A7BE-C76B0CA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CE8B2-18E1-4649-90F8-CA62F3A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01379-A0DF-4BE7-BA5D-E86E90C9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F0632-9402-4BB2-9BB0-58C7EFC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B3FD9-BB46-4C6F-8E12-94501C7E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是 CoVE-IO、TDISP、PCIe IDE keying 和 vendor device attestation 的共同。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1CFBF1-5A25-49ED-BB71-E8A081A4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62E96-4BFB-484B-873F-A10CA2D3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A1CDF-87BB-4DC4-8C0C-A68DAB4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单独成功的 SPDM session 不能证明 TDI state、IOMMU/IOPMP policy、IDE link 或 device...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6907F-6785-4387-BF9B-D90DDF6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748A6-3F89-4969-BF83-26C3273E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E32C70-5E1D-4D2E-A4D2-51ED7F1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 fleet-scale device attestation；风险在证书供应链、measurement schema 和 firmware...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EC6C8-08E9-4076-8551-BBEA42B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7DC920-749A-45C6-A4EE-8E7A43C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B94913-F17E-420B-8890-98F9947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1FBD6F-6EF2-44F0-9527-A6AEBB9B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D3E81-EC68-42E5-96EB-68A1633E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来源：SPDM device identity and measurement｜证据等级：E0 / Spec-standard SOTA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7DED5-CAFF-4342-B4E6-4F7C7E1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7F3E51-040E-401F-B6FD-E0BD7422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1A04BE-28C4-485C-98BD-00DD1B16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9E1954-6DFA-4F79-A8E5-DDABA727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文章评价  |  13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0A7BB5-0533-46D7-847C-61B78CEC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227</a:t>
            </a:r>
          </a:p>
        </p:txBody>
      </p:sp>
    </p:spTree>
    <p:extLst>
      <p:ext uri="{BB962C8B-B14F-4D97-AF65-F5344CB8AC3E}">
        <p14:creationId xmlns:p14="http://schemas.microsoft.com/office/powerpoint/2010/main" val="1251753329"/>
      </p:ext>
    </p:extLst>
  </p:cSld>
</p:sld>
</file>

<file path=ppt/slides/slide2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C2B29-0A4F-4D3A-AB41-5C814FF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F06DC-F7E7-48FB-A1F0-7345EB7E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4592F-F61C-4677-A909-1E54E672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428C4-4A33-4F33-BBDB-179B0970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CoVE-IO and TDISP trusted-device lifecycle：内容摘要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FAA-4A68-49A6-905D-296D59C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6DECD-70D1-4F37-860A-3D897289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D2B8B-1AA4-4AF3-A3C1-0F79AB9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965-C8F9-48E3-BA34-A0EE5447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把 TVM trusted I/O 拆成 TDI/TDM/DSM、SPDM、TDISP、PCIe IDE、IOMMU、trusted MSI 和 CoVE ABI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3707A-0AA2-45D7-8E90-A0B06F0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DA011-D1E2-4FF9-87FF-B98E24E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7C6D2-2362-4DC1-B3BC-4366F205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B80DE-F550-42F3-B0D3-10EE928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22FDB-C746-4F51-BEC5-B11DAD2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把 TVM trusted I/O 拆成 TDI/TDM/DSM、SPDM、TDISP、PCIe IDE、IOMMU、trusted MSI 和 CoVE ABI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00F17-F865-4C91-9179-C571F288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99580-AC62-41A9-A325-21A2F23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RISC-V CoVE-IO draft maps SPDM and TDISP-style ideas into the RISC-V TEE-I/O track.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37969-1F53-4C3F-8789-745D481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806C5-8882-476E-9DFE-294D44B3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00F6F-672B-477B-AEEC-EF6EE15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8C4CE-895D-4208-9DEA-77A331FB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EB58B-40F7-47EE-9069-45FA853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9F7C4-7D1F-4408-8D93-56445995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A2AE8-5A81-47C1-9198-A1EA3127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774EC-D941-4FCD-B7A9-4A4126FC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12B49-F321-4F4F-9BED-4FBB9AA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395F1-17CD-4BE9-A0FD-7A5C615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D1024-A7AB-467C-919C-BF9C3EC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规范/标准材料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ED1D5-C23D-4380-9640-E27DC36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79B15-B483-4589-AF3B-E90C357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617BD-02E0-429F-A823-B4CA839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A8308-6C61-479A-A10C-A7258B73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76AE8-15FC-432C-98F4-53512802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998E2-A96A-4C7B-88EA-702C4D8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487F31-8528-4A0B-8E23-24D82059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04AAB-BA5A-44C3-99D7-7275F0F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来源：CoVE-IO and TDISP trusted-device lifecycle｜证据等级：E3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ECE2BE-56B2-4987-A9DD-7B024CD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14A68-04CA-4571-9428-31DFEB4E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3B46EE-F585-4B76-8F91-CEC6A77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D000A9-020C-4267-909E-61645CD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内容摘要  |  13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AC807C-0444-4E02-B841-8017EC24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228</a:t>
            </a:r>
          </a:p>
        </p:txBody>
      </p:sp>
    </p:spTree>
    <p:extLst>
      <p:ext uri="{BB962C8B-B14F-4D97-AF65-F5344CB8AC3E}">
        <p14:creationId xmlns:p14="http://schemas.microsoft.com/office/powerpoint/2010/main" val="1663442504"/>
      </p:ext>
    </p:extLst>
  </p:cSld>
</p:sld>
</file>

<file path=ppt/slides/slide2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9FEB3-1945-48AB-8AFC-EBE2EC0F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F7CE0-971A-4E1B-9688-ADE313B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5B757-EE2D-469B-91DA-1F4F434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31BD6-EED7-4242-83C9-CFEF070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CoVE-IO and TDISP trusted-device lifecycle：研究背景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4592B-1BDB-4A3A-B20F-D37EF19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C081F-23F6-4752-9AD0-C50024B0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33B7D-687C-447C-A611-F1D7AE2C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F3A6F-4EDB-4137-BBEA-35075D8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TVM/Realm 使用设备时，需要把 device interface identity、DMA/MMIO、interrupt delivery 和 PCIe/CXL link 放到同一边界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A7C63-CA30-4719-8971-2E156AB7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0401D-4E24-4933-A996-1E8AB64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3D6D6-7475-44F4-90A9-A7BF6CFA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02F95-4A99-4058-A14E-8A514452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24726-01E1-4119-A6F9-3C03258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TVM/Realm 使用设备时，需要把 device interface identity、DMA/MMIO、interrupt delivery 和 PCIe/CXL link 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7FA8E-3FA3-47A5-8D5D-9998CA3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1516A-B2EF-4AAF-A28D-0B5B8DB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5753E-F7E2-40D4-AE0A-30FA1F8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E7650-F837-4C4A-BE16-7F9DC17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F6E17-575C-4D0D-8456-1C159F6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66AC7-3EAD-4690-A5B9-2C82B73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5E20D-AF33-4FBF-927F-A985DDD9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FA4CB-950C-4B56-AE93-B15D47ED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80E0C-92CC-422D-9C96-9180EEF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B0E47-5262-4B9C-8BF7-B640ABA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73879-AFA1-4EB1-AACE-970B8493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SPDM/TDISP/PCIe IDE/attested TLS 与 trusted device lifecycle 组合起来写。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67D1E-636B-4290-A1A9-ECC11D53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5C274-547B-443B-B75E-9D1BDF1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122AB-F327-4EA2-A765-FBE524E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CoVE-IO and TDISP trusted-device lifecycle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A7A88-DEFE-4994-A260-FCB34871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AFAA4-A304-412A-8D84-EA48498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ABEC3-78B7-4F91-AABF-498FDC2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2E2CB-6B49-4C82-A63D-929C2271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F2AA7-C026-4629-BBD5-8FDE327C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来源：CoVE-IO and TDISP trusted-device lifecycle｜证据等级：E3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3771F-A735-4FC7-8C25-BC1592A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5ADC2F-4DBE-4E5B-BCC5-A3A8D636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11B1D8-D013-4F00-8419-41F9C857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6B0B8-EBB2-4E19-89B1-ED7BD10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研究背景  |  13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26742-1CD8-4E4E-9216-F33992C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229</a:t>
            </a:r>
          </a:p>
        </p:txBody>
      </p:sp>
    </p:spTree>
    <p:extLst>
      <p:ext uri="{BB962C8B-B14F-4D97-AF65-F5344CB8AC3E}">
        <p14:creationId xmlns:p14="http://schemas.microsoft.com/office/powerpoint/2010/main" val="1051031853"/>
      </p:ext>
    </p:extLst>
  </p:cSld>
</p:sld>
</file>

<file path=ppt/slides/slide2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21381-122B-4864-9115-C580C05D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EF859-4980-4FE5-9E7D-12EA077B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A1C9-5FE5-4C28-A061-2483DD2A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EADDB-8ABC-42C1-8BC8-9A440556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CoVE-IO and TDISP trusted-device lifecycle：解决方案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45EA8-CC1A-4E8F-BB65-12635D5B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D2E2F-26D5-45CE-B685-7231F1A9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776A5-EC0F-4697-B82D-7DE8185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66FBA-CC3C-4B57-86D3-98E6850E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CoVE-IO draft 描述 RISC-V confidential I/O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C2843-2765-43AE-837B-88006ED0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5E599-B1C3-4F5A-AC2F-76BB2B2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9AD8F-D662-4498-A924-78F23267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66B00-7134-44E7-B7A1-E67614C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BDA8D-98F7-4057-8F23-AEB1BC47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CoVE-IO draft 描述 RISC-V confidential I/O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042DA-19BF-4426-A8DD-8F8245E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454A4-2051-4975-8BD0-6847DF0B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TDISP/TDISP XT 只作为公开 metadata 辅助，不推断 gated normative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6E2C4-C2C6-4386-B574-1276FDDB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F3FCA-7B94-4F89-818B-A9F0913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AFE68-2374-43AC-848A-7921A11B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30689-7C67-41B0-87AC-1FC17F1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67274-08D9-41F9-8E3F-B6ED981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5C4D3-7336-4F94-9F19-FF2F60E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TDI/TDM/DSM and TSM/RDSM 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783B3-15B2-47E7-91FF-FD8D7E7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15BF3-6887-428C-B53B-6B1E63D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89A2F-20F8-4892-A904-897B87F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EADF0-49BA-4623-91AC-B22471FD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plus TDISP plus PCIe IDE composition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3D086-BCB0-49B2-AF48-4BCD2CE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56A51-D128-4247-8C72-472A449C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ADD4B4-62C5-4825-92E0-E3162DD7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591E2-F301-4C93-BB3D-604B2D1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IOMMU/IOPMP/AIA trusted DMA and interrupt substrate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D9364-834D-443C-8F67-2FE4F6B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07DDFB-5E0F-4046-9C24-E406ADC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来源：CoVE-IO and TDISP trusted-device lifecycle｜证据等级：E3 / 草案/未批准规范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CC74F6-4018-4C79-8745-A6A7B47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E349E-D9AE-4FE0-B069-CC9C1594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AD82D-9305-49A7-B667-C6BBE01D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45208-C778-414B-AF11-A7722DA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解决方案  |  13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2D9B8-67B0-4DCF-BC0C-9174945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230</a:t>
            </a:r>
          </a:p>
        </p:txBody>
      </p:sp>
    </p:spTree>
    <p:extLst>
      <p:ext uri="{BB962C8B-B14F-4D97-AF65-F5344CB8AC3E}">
        <p14:creationId xmlns:p14="http://schemas.microsoft.com/office/powerpoint/2010/main" val="1578617606"/>
      </p:ext>
    </p:extLst>
  </p:cSld>
</p:sld>
</file>

<file path=ppt/slides/slide2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1AE185-A8C1-44F1-A599-03347EC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24650-4E4D-48D4-B894-AA1CAE7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3772E-EBE7-40B1-95AC-1C94AB13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1837-5277-44D0-9407-18E9CD2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CoVE-IO and TDISP trusted-device lifecycle：实验结果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076FC-7FBD-459F-A150-7379061F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99D5D-467A-4E2A-9093-98613FA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910E-F763-461D-A7E8-A746A79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35F7C-395E-47DC-A0D8-824651C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规范/Survey，无新实验；CoVE-IO and TDISP trusted-device lifecycle 只支撑术语、taxonomy、接口语义或证据边界。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3E7BE-F2BD-4B72-995E-B6135B7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4453C-46F3-45DD-B7FB-1B47BB1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15D3E-EEBE-4EAF-AC74-0F6A324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B84AA-DB15-40E4-BF12-F78C3876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06C4A-EDA7-4FBD-B1E4-6EBA194E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本页不展示独立系统实验，也不把二手归纳写成一手结果。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CAFE9-DEDC-4F2E-AC7D-CE243AB4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ECE1C-0DA9-4B3B-93A9-C004F983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可支撑：RISC-V CoVE-IO draft maps SPDM and TDISP-style ideas into the RISC-V TEE-I/O track.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7F919-C5E9-42B3-A46B-BD02C407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2961E-8B52-45B8-A2BD-FC13794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证据等级：E3 / Draft-not-ratified；来源状态：本地 PDF 已核验。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F693B-3C19-43B3-8BCC-713DAC7A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39360-77E7-4247-B3C5-610D736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涉及具体平台、协议状态或数值时，转到原始论文、官方规范或厂商材料核验。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25FD9-C47C-44A6-9EDF-C38CEAAA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DDE78-118C-472C-851A-1D7EC02A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B71AE-035E-47DE-832A-3BC7C37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31BA4-B85E-4876-BDB4-0F28A81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960F2-9CFF-4C54-B036-48DB96E0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925988-9477-450D-BCAF-94959C7F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01E79-CDCB-4707-BCF6-D78B58FB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E96E6-900D-40D8-9A62-1A8717F0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84173-6A09-4D0C-9D2D-ADB4001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CoVE-IO and TDISP trusted-device lifecycle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3E1E3-A606-4E10-916C-BAA79CD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7397C-6F59-470E-8B9E-706FD54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3922D-70F3-4C52-B5ED-24C4573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23B1CA-4BE2-42F1-9461-E97BB5B8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B02FF-50A0-47B5-BA5A-1702F72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4DB007-BA66-4859-B51B-994A28CD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060A5D-C731-4F7C-8FE1-F554685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11A20B-1C45-4E11-BF39-C7ED883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4C3322-1BE1-4BBD-815C-28EB3042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743584-4051-4558-B3C8-D160044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7BA962-854A-4605-82D2-AC8F417E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CABD0F-F5EA-419E-AB2E-B49E4B16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3D70A8-6135-41B4-9181-3E6EEB27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9E7EDC-BE90-4F9C-A5A2-53252F06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DE0CB-F54F-4486-B3C9-323BD7CA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来源：CoVE-IO and TDISP trusted-device lifecycle｜证据等级：E3 / 草案/未批准规范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CA5D0A-F95D-4171-8F3C-657A0167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7DE5B0-3670-4794-BD2E-E8450424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7EF24-C032-4BF7-A207-158B9BB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74946-61DF-43DE-865F-BE55AF99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实验结果  |  13 / 15 方向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8A32F3-EF5D-4143-AEE5-75D77FE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231</a:t>
            </a:r>
          </a:p>
        </p:txBody>
      </p:sp>
    </p:spTree>
    <p:extLst>
      <p:ext uri="{BB962C8B-B14F-4D97-AF65-F5344CB8AC3E}">
        <p14:creationId xmlns:p14="http://schemas.microsoft.com/office/powerpoint/2010/main" val="638963341"/>
      </p:ext>
    </p:extLst>
  </p:cSld>
</p:sld>
</file>

<file path=ppt/slides/slide2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133CC-2DE7-4E24-8C8D-6E55EF5F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9810A-5466-4C1E-A7D0-2EDE1BA1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61FEA-6AE9-47D5-8671-9F66A3C7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2E5AD-2D2D-4E31-9595-42D79AC0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CoVE-IO and TDISP trusted-device lifecycle：文章评价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DB482-5F81-4977-B0FC-E1A1C77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A7691-0C42-46AF-A109-07BF410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D015-F7D7-4FD0-BA96-7F813D5A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67C70-82D2-409B-9F37-2F5EB8B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评价：CoVE-IO and TDISP trusted-device lifecycle 适合做 taxonomy/规范入口；规范/Survey，无新实验，不能替代一手系统证据。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EDBBB-C57A-4152-B0FE-CE47A52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AA924-A3A6-4A6A-913F-363090F2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7DE2E-B806-4F1B-92F5-0EF46FF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856E-642F-444F-87A7-EFCB6008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ED668-0003-4823-93F1-869EAA4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设计优势：给 RISC-V TVM trusted I/O 提供最完整的公开 draft 架构入口。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843C2-06D1-4B2E-ADBF-65258858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FD05D-8D3A-496D-98A4-C116CAB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局限性：v0.3.0 未 ratified，TDISP/XT 规范不可公开复核，不能写成 production CoVE-IO stack。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94C73-718C-4DBB-86ED-99FC06DE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70B0A-0C96-441B-997D-26DCC13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商业化潜力：指向 vendor NIC/DPU/accelerator assignment；风险在 SPDM证书、TDISP state、IDE key、ATS/PRI 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739CB-C3FE-41B5-9728-A7399B0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FB4D4-835C-421D-AB83-DAE02556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规范/Survey，无新实验；具体平台结论转到一手材料核验。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1E0CE-D4EE-4AAF-AAAC-6AFEA449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0BB8D-77BA-4AF5-A3E2-F3A6EA7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9940E-147C-401A-90A4-0CFAB7ED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5FEF0-B98D-48C9-A55B-4A6B247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4495F-22F7-47B9-8656-3D584EEA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B8275-7D49-475F-BE30-1F18D8A5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DB8ED-01CC-4C0C-93E6-E3A346A0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30502-BBBA-4CC3-B046-6F7C4918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 RISC-V TVM trusted I/O 提供最完整的公开 draft 架构入口。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51CD9-C7E7-48B1-84A0-A2BAE5B0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4B9CB-55DB-45FE-9D04-FFF1611D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08D3C-4054-47FE-B427-8DAFE32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v0.3.0 未 ratified，TDISP/XT 规范不可公开复核，不能写成 production CoVE-IO stack。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8DBE1-63DF-4474-A4CC-E2B7CE47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C9E56-B55F-4DA8-A6F1-41421E2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7CB6C4-ACF3-4A77-B8B8-9520C78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指向 vendor NIC/DPU/accelerator assignment；风险在 SPDM证书、TDISP state、IDE key...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D0576E-BDF8-43D4-89A7-D72A7224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D1446-E9F0-4A2E-90FA-60920A6B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F9A772-D3A4-48B2-A5DB-9856EBDF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37E81-BE5D-4363-82E8-0D7779C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E19642-355E-4209-AAD9-6F25F828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来源：CoVE-IO and TDISP trusted-device lifecycle｜证据等级：E3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12A0E-3535-41EB-8FC4-907666C4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8899C3-AF62-4F40-BA5D-D8726E6B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688984-4F44-4500-947E-F1352F3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6706B1-EDDF-4D26-BF18-960158B5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文章评价  |  13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F7A212-4FD4-4FDA-8A7D-23B4968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232</a:t>
            </a:r>
          </a:p>
        </p:txBody>
      </p:sp>
    </p:spTree>
    <p:extLst>
      <p:ext uri="{BB962C8B-B14F-4D97-AF65-F5344CB8AC3E}">
        <p14:creationId xmlns:p14="http://schemas.microsoft.com/office/powerpoint/2010/main" val="751447721"/>
      </p:ext>
    </p:extLst>
  </p:cSld>
</p:sld>
</file>

<file path=ppt/slides/slide2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CB58C-0178-44FD-95AF-09883510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35F63-9866-414A-AD02-5F293A0C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6D8E6-B205-497E-9F1A-C33C966D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27AFD-9A14-424F-9EA1-185B9516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CF761-7755-489B-951D-BC5BFCD4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EC4E5-3E8C-443F-8919-0BCE926A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B4F46-6F91-4828-9446-DA2E5B6E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DAF58-E87D-4C33-BA48-75D60BD3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TLS+RA binds an application secure channel to an attested TEE endpoint, anchoring endpoint/channel-binding...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BD4E3-06A4-4F56-BD50-8E4A32F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D5D2F-7B4C-40A8-B79C-DE5B058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60254-1B51-45F9-B00E-88ECC9B8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BBB09-E427-4029-BA41-A573A57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A20FB-0E40-4E81-902E-921E316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Binds an application secure channel to an attested TEE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1BF48-6B54-4C5D-9DC0-B60D2427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724E2-D128-4576-8E6B-8D0D7A49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Anchors endpoint/channel-binding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17F36-092E-4C7E-B9B0-B967795C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C8CE7-24A7-488E-9FEA-BEE74DD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Peer-reviewed endpoint/channel-binding evidence for integrating remote attestation into TLS.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91EC8-8E9B-4CF6-97D6-C3ACA28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16F01-FF9C-4CB5-9E59-8D7E4E96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F78C2-1990-45D3-9FB9-9651C82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7B665-0B3E-4B22-A14B-B81A1550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39597-AF2E-4CAC-ADBF-39B98260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18562-6861-4F67-B367-B297084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E664D-6D46-46F1-AE09-3559449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3C1CE-017A-4387-B06E-6BA08B74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B4F43-74BC-43C9-BE65-DB43B65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BC107-6F9C-4AA0-BBF3-0C6FA54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32171-3B01-4989-83AB-835C2F75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EECEE-E9E8-424A-BB02-724906D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4A57E-1AF4-42FA-AA62-D5ACA677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BC784-C31D-4D64-8316-B20F1929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0AAC2-6D4B-4825-A8C2-9635281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91AE42-18DE-461C-98AA-E1D5737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D3668-F45D-4AF8-980A-33224687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D50C45-AB78-4862-8436-AF431B2C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9F5F21-D59B-4CBA-B865-D2447F5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来源：Separate but Together: TLS channel binding with remote...｜证据等级：E1 / Peer-reviewed endpoint channel-binding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602357-0DE7-4391-9594-8C4EC104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BC66E9-BC60-4F7A-93CF-F3115A8A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C19C9-593F-4FC4-AE10-E08FFFD9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416FA0-C7D3-42D1-9915-1D9DE6E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内容摘要  |  13 / 15 方向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738DAC-6C0E-4462-B77E-2621B47E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233</a:t>
            </a:r>
          </a:p>
        </p:txBody>
      </p:sp>
    </p:spTree>
    <p:extLst>
      <p:ext uri="{BB962C8B-B14F-4D97-AF65-F5344CB8AC3E}">
        <p14:creationId xmlns:p14="http://schemas.microsoft.com/office/powerpoint/2010/main" val="593742675"/>
      </p:ext>
    </p:extLst>
  </p:cSld>
</p:sld>
</file>

<file path=ppt/slides/slide2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2F0F9-5FDB-4295-98A2-9F161300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B6CEC-8D7B-40D7-B541-3F98A415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FC67B-0F6A-473B-9385-BBF4CCA1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36D4E-206B-4431-84D9-3B048C0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DA766-057C-4391-852E-5E5B742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DB22F-9331-4C4F-8971-B43789C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912B7-157E-4D7C-A418-E81771F6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2861C-A1EF-40ED-918F-E9CEA080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and TDISP can identify device/control-plane state, but they do not prove where an application TLS...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55E23-4BB2-42ED-BCBC-1484A531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11608-E309-4008-9FED-777AE2CA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9A580-0689-4561-B32F-A25F558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982E5-3B01-462B-889D-63D258A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F7A04-EC5C-4A74-8565-A8492D7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and TDISP identify device/control-plane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6021A-C6D2-4E4E-ACD9-567C5FE8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3FF3B-7C71-4967-8F23-A6511B9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Application TLS needs binding to attestation evidence and workload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DE439-3DB7-453B-887B-9462CA6E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3B15B-EF8C-4EA2-AF97-682FECD4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57234-EDEF-4B7B-8359-48323381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10247-0F5E-4487-826D-410ED3E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EFF3C-1874-470D-8433-56D9F4D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A001A-B77F-4192-8754-8B2494D7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973C9-0B0D-433A-AA62-9F244202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F73A2-04C7-4DA1-8B78-5BCCA661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77B3A-4BEE-4FDB-B99A-C9BD91C5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4CA7C-1B27-46BA-A568-CE182B38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BC173-0A46-420E-9E1F-5F44A4D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SPDM/TDISP/PCIe IDE/attested TLS 与 trusted device lifecycle 组合起来写。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9592B-F7C5-420D-92B8-2FC5D0C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68A9A-5093-4E97-9B86-30FC651D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C1557-1701-477A-8148-8789049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5D84B-8C78-4B57-A614-BE12F9B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26E24-F077-4EFE-B56E-C4EF6E1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B64BDB-A5D2-4840-8AA9-A5C72666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6CE97C-6BEA-457F-AEC5-FD8E84F0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F6971E-1C69-40FE-B6D4-2EC8AA7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来源：Separate but Together: TLS channel binding with remote...｜证据等级：E1 / Peer-reviewed endpoint channel-binding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D95C0-E092-444B-B213-8315418B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CC9E35-A394-448A-8E37-CE1CFE1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23341-A253-4D4C-A479-40269188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DC7B0-F0DE-4BA1-BDEC-0E92E906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研究背景  |  13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E0C2E1-0ADC-491B-B176-B8AF8D7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1841867715"/>
      </p:ext>
    </p:extLst>
  </p:cSld>
</p:sld>
</file>

<file path=ppt/slides/slide2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A9EBB-FB39-46C9-AE17-60CA7A24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A195B-A5E2-4E44-84AA-A305D55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99EB3-7CE7-446C-9A42-32E61D8C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29D90-6B13-4096-80E4-2205B6ED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0AC2D-5C7B-45C9-B7C8-447CE1E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A9B28-924B-4A46-B0E1-F555E101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D776C-A64F-47FD-B825-3BA81C8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0C7B7-0B48-41BD-A5A3-E44F056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Integrate remote-attestation evidence into the TLS handshake or certificate path so the channel and TEE state...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B24A2-C7C1-474D-946A-677091C4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6B9B8-B354-42B2-A434-ACF44A1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C2FE7-74EB-4E32-B504-635BCFCE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4ED62-7ED4-4618-814F-FB7B32C3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9522A-D338-4111-BB29-56DE858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Integrate remote-attestation evidence into TLS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7872D-BB14-4DAC-8C2F-9766B57B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BBD1A-E29E-4353-99DD-CD8FDE2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Bind channel endpoint, TEE measurement, and verifier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55B42-D51F-492E-92CB-C9C7ECE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EE33B-C8F0-4208-82C0-382E2B88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1FF14-C763-48A3-9C95-C6DD6DA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6FF56-FEF8-4716-A5BA-3AC1A92F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76284-152D-44D4-964A-1D4E71F1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97FEC-160C-4DC2-B78F-4A1C806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TLS endpoint and attestation binding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C8274-584E-4929-9E25-595F6A41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8B866-AD11-45A7-A50D-C7A6DD9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EC491-9495-4147-A98F-9F8939D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681B6-AF01-4BA6-BD0C-DA9BC92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certificate/evidence composition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E44AB-C6AB-41A8-A9C2-6EC997A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9778C-935E-4FED-85BD-20003C36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A24C0-70A5-4F64-9223-CD556CC1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85C78-9ED2-404B-B33D-A36D547A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relying-party verification 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C45C8-4426-4B2F-B132-39C4743F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425253-BC3E-4067-AF51-1E9185AA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来源：Separate but Together: TLS channel binding with remote...｜证据等级：E1 / Peer-reviewed endpoint channel-binding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58E127-43F4-4ECF-BE8D-07D66A48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75A670-DAA4-419B-9F3A-49B8102B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96912-E691-4172-AF08-F835002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1DCC6-E56D-46A7-A87D-CC0150F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解决方案  |  13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345BEF-AB6C-4D2D-A864-512FDCF8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235</a:t>
            </a:r>
          </a:p>
        </p:txBody>
      </p:sp>
    </p:spTree>
    <p:extLst>
      <p:ext uri="{BB962C8B-B14F-4D97-AF65-F5344CB8AC3E}">
        <p14:creationId xmlns:p14="http://schemas.microsoft.com/office/powerpoint/2010/main" val="1266754313"/>
      </p:ext>
    </p:extLst>
  </p:cSld>
</p:sld>
</file>

<file path=ppt/slides/slide2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262D0-EEA7-45B1-B82F-B0190DE8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E7B44-4524-419C-BB12-783CDFA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1AFD6-57E3-4EDE-82F8-DBA0DD6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80FBF-DD0D-47FF-AEA0-C27C4E4E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534F7-583B-412D-9497-CC4EF0E7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D502F-C328-42E7-B03B-2DED794D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4A22-2169-4823-BA82-147C95D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2768A-6A3D-42CE-B14F-12E9B41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ATC 2025 peer-reviewed system paper provides a TLS+RA prototype and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E50E9-BB2F-4D22-A3D9-52D76A3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7ABD2-07CC-4043-A018-D1C1E49F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3F454-F160-4D05-918A-BAACDF9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4BB76-6127-472E-A537-B0851EC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AC37B-5F0F-413E-934B-7E77FC87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USENIX ATC 2025 peer-reviewed prototype and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6DDD9-D815-497A-92D5-40F42B7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5A878-4E3C-4472-BEF9-368FAE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Supports endpoint/channel binding, not SPDM/TDISP device identity or DMA protection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8C622-926B-45A1-8040-5489879D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AE57-B4D1-487A-9950-E683CA91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6E905-E358-4A56-A072-DC98E99C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22BD9-27E8-4B53-8482-6374DFBA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FBFCB-ABEB-48D3-96BF-FC88527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40E7B-B320-48EC-8BF9-4468AC29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004D-657A-43DE-AEA9-C033A192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8424C-FC18-4C4F-B7A5-C5C082F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38F07-5ACF-46EE-B758-E25EA5CB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2CC14-BA7A-4408-9FFA-66B839D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A6216-F7C1-4FDE-9F1A-800D703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0F3DB-8A46-43B0-9CBD-1F73A1C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19817-BCF1-4598-B09A-D8C5DF9C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BD11D-3369-453F-864D-CD9E594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5D420-18FE-4F76-8F07-2BFEA3A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25D84-33A9-48D3-A077-549BC63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A71753-0BF1-4DC2-9B17-3FD7A3C5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0133B-1D1C-4129-BE36-F24C8C4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FF124B-988D-4F5F-8F0E-A8368298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7896B6-E58E-4528-9662-3FB9BE6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44C2AC-6E01-4DA8-9626-3F87A35B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B81B9F-4820-4B5A-8A95-9B99481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4F4AF0-CDB8-4FC5-833B-3E8EE39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0849C0-384D-42A5-9F22-E33B9334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来源：Separate but Together: TLS channel binding with remote...｜证据等级：E1 / Peer-reviewed endpoint channel-binding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F851A1-33AA-4D73-92A1-4B1554A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D2AC1F-9A9B-4FD0-BA3B-BD859296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F2654D-80B8-4C15-933A-CA221900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E9A1C1-A16C-4C4C-9E90-80284AFC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实验结果  |  13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DC51DA-0070-4B47-9091-95896BA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1699908741"/>
      </p:ext>
    </p:extLst>
  </p:cSld>
</p:sld>
</file>

<file path=ppt/slides/slide2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1BBBC-253D-4BF4-92C1-4D7EDB2B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F008E-B614-425D-A711-A8640DF8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70FD0-6684-40AB-999A-7275D5E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0DE95-60E7-47BF-B54C-36418F8D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 attestation：文章评价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FA857-9366-44EC-B6F1-570BF6FE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FB5C5-18D0-4C40-BD7F-E3080580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D4F02-9A27-4FDC-8D44-3CEB513E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Peer-reviewed endpoint channel-binding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963F4-A30E-43A9-BCAE-1583A42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Fits the protocol/device-endpoint 主讲定位 better than FOLIO, which is a trusted-I/O contrast paper.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1098E-D658-413A-871E-FD6AC8F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1BFB3-E930-473F-A594-00611B11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5F73C-2A26-476C-A904-3A31452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D86C1-A46D-44B1-8492-DCF7F4B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EE80F-511A-4CBE-BD12-35837516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设计优势：Fits the protocol/device-endpoint 主讲定位 better than FOLIO, which is a trusted-I/O...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44D7B-ED23-44C4-B82A-E42BD07F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7E2F1-5A5E-427D-843E-DBB02B2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局限性：TLS+RA does not solve device assignment, TDISP state, IDE link protection, 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D751F-B128-4908-B50C-CFB71D7C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68AB5-EC60-4A54-B51D-BE2905E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商业化潜力：Useful for confidential service onboarding and key release; risks remain in...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FA64B-BDD9-4A08-8FB0-16BE8B5C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14974-F55F-4097-A02B-49BB3FD3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endpoint channel-binding evidence；本地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378A1-A880-4793-88C8-9C91962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872A6-D3CF-40BA-BB26-CF0CBF8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0F7F7-CC94-4A4C-A33F-4B23662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2203F-CFA3-46CC-873A-3717805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E6370-CB72-4790-ADCE-85017BD7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D6927-E7A1-407D-A7F1-F2AE86E5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DFF08-80D8-4032-801A-8CE2AF97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D714A-3A03-4E11-8B6A-EEF34EC3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Fits the protocol/device-endpoint 主讲定位 better than FOLIO, which is a...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6D059-415C-441D-9FC4-DD12F6CD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C3739-EAFF-4EF0-A023-9FB62C4A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3181-839B-4592-9700-631CCA9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TLS+RA does not solve device assignment, TDISP state, IDE link protection, or...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DECDE9-4BFB-4276-90AA-18E7337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F6E22-CC5F-4954-9D03-C395A6E2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734070-93D2-44BB-B17B-30E48133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Useful for confidential service onboarding and key release; risks remain in...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840B9D-C747-4514-B4D7-B53765C9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0BD6C-BB3B-4FC6-A669-820C69BE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E0951-8BC0-42A0-9793-9DA5C7CC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527CFA-75BC-4A87-9F1F-245C8DB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740743-AFFF-43AA-BE05-7230B940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来源：Separate but Together: TLS channel binding with remote...｜证据等级：E1 / Peer-reviewed endpoint channel-binding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7F1ED4-094B-4E30-BA32-BEE892E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F790DC-C0CE-4C92-8120-FF89E616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66316A-08FE-4439-9762-8ECA7244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94ACB1-E898-4195-976B-C34BD66C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文章评价  |  13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088A98-F471-42B3-AA21-9601B2AF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237</a:t>
            </a:r>
          </a:p>
        </p:txBody>
      </p:sp>
    </p:spTree>
    <p:extLst>
      <p:ext uri="{BB962C8B-B14F-4D97-AF65-F5344CB8AC3E}">
        <p14:creationId xmlns:p14="http://schemas.microsoft.com/office/powerpoint/2010/main" val="1398507002"/>
      </p:ext>
    </p:extLst>
  </p:cSld>
</p:sld>
</file>

<file path=ppt/slides/slide2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E8446-F624-472E-903A-4ADE8EE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38284-4969-4C52-92C1-654E434B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143C0-0B38-4AAF-B871-6150EC8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82A8D-6035-490D-B29E-E9FA082E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1AEE3-E12F-4254-99BE-ECA811A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75729-9432-487F-AE93-C324F590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92647-8C2F-4FA0-B914-053930C8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56C81-AD01-4986-B1AC-7F15AEAF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23F82-9D47-42FB-8CC1-092A07A4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2205B-E0B3-4055-A8C3-2933DB13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647E3-7A8C-4ABF-88ED-17807E1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D9FA3-74AB-4572-AA4D-677BAD48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2C329-6C6C-4E74-8752-8AC7BEBC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device identity and measurement：开创/基础入口，E0 / Spec-standard SOTA。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067FC-3E27-47BA-827E-342BAFB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649F8-506C-41F3-9FC4-5CD650C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and TDISP trusted-device lifecycle：代表性改进，E3 / 草案/未批准规范。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67F7A-8BB1-4853-AB02-CD83AB1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0BA2F-E0A1-4DB5-A478-8B65975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remote...：当前 SOTA/补充边界，E1 / Peer-reviewed endpoint channel-binding evidence。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9D831-9922-434C-8E8E-E047896B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86A4C-AACD-4528-8988-3D4246C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62911-D833-47BD-AA5A-E46858D3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4BBCA0-BCC8-4365-B89B-44C69D4D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7C5F2-A178-4393-B6CD-6C5E9899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CFA8D-025F-49B3-9AEE-36DC99B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DD5598-D10C-4349-A953-F5527C0F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0AFB3-79F0-4AD1-A4AC-9F35263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C0C12-6478-410E-9AB2-772F4E8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D2181-4A47-497D-9E96-463687A0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SPDM device identity and measurement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0EB37-9142-4111-991F-2C4E46B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E588E-B03D-4431-A9A4-84323FD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SPDM is the first-party specification foundation for device identity...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3A178-DA5C-46DF-A0B1-65CFC5A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8175D-69E6-4FB4-A9A5-F3810C8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CoVE-IO and TDISP trusted-device lifecycle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BD4DD8-FECD-4061-BB8A-87A6540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9BA5D4-E87B-41D5-A029-DDF8E102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RISC-V CoVE-IO draft maps SPDM and TDISP-style ideas into the RISC-V...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F7876B-5697-4433-898E-561D65E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65649-CCCD-4871-BE5E-35DA672D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Separate but Together: TLS channel binding with remote...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95DE5-0BEA-4E1D-B988-651E897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CEA9AD-BE34-42CC-970E-FB2656B5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Peer-reviewed endpoint/channel-binding evidence for integrating remote...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4C8A56-4C08-4DBA-B98B-639579E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F30D70-6763-4C00-83F4-0060F336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836EA-8710-44D5-8107-AAED01F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C8A56C-ADBB-426A-B8E1-FABF34E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320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4DAED8-7D00-4103-B681-CDE1A914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437374-865D-41AB-9065-C2122E96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Confidential I/O protocol、trusted device interface、network endpoint | 方向总结  |  13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A669B8-D3F0-46F3-9AFF-561AFF61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238</a:t>
            </a:r>
          </a:p>
        </p:txBody>
      </p:sp>
    </p:spTree>
    <p:extLst>
      <p:ext uri="{BB962C8B-B14F-4D97-AF65-F5344CB8AC3E}">
        <p14:creationId xmlns:p14="http://schemas.microsoft.com/office/powerpoint/2010/main" val="1284469748"/>
      </p:ext>
    </p:extLst>
  </p:cSld>
</p:sld>
</file>

<file path=ppt/slides/slide2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80AE8-4246-4176-8678-E32BBD8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4E47-19B2-4DD8-A9B7-B69F381C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B80E-BA1E-499F-8872-F480C8E0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F02CD-73E3-4A22-96E3-41B4333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126C6-5491-49A5-AA7F-76C858C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679B2-4973-4E1A-A61D-BFEAB29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rack-level accelerator TEE 走向 cloud-scale DSA/NPU/GPU pool 与 Arm CCA accelerator。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4558A-5917-4C40-A223-8210B97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4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946EF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48B63-EFE9-461B-8F9C-6D951922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1377E-D40C-4825-9473-C6AE040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HETEE: rack-scale heterogeneous TEE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81BE7-3679-4CE5-B811-BA0BF8D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F78C4-8814-4E3D-87D0-FFB463DF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DE732-B726-4974-BF76-609E12D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1F75C-6DE0-43A4-8E3E-2A90467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2E232-FDA4-4429-A7D3-85F6F3A1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9F399-C247-46CB-9C71-B0ECE31F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D1A6A-572B-4867-9819-A4BCE90E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60DB7-A3F5-4BE1-9AA4-DCE98C7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E8871-7052-42A2-8A84-96C7BDA7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67F08-615E-448B-A07B-BBD26BF2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74F36-CAFE-47A9-AECE-441F4D5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Accelerator / DPU / SmartNIC confidential offload  |  14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AF950-C88B-4FEC-8491-B6781856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239</a:t>
            </a:r>
          </a:p>
        </p:txBody>
      </p:sp>
    </p:spTree>
    <p:extLst>
      <p:ext uri="{BB962C8B-B14F-4D97-AF65-F5344CB8AC3E}">
        <p14:creationId xmlns:p14="http://schemas.microsoft.com/office/powerpoint/2010/main" val="2089924293"/>
      </p:ext>
    </p:extLst>
  </p:cSld>
</p:sld>
</file>

<file path=ppt/slides/slide2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27158-B739-4351-A8DB-47D3D194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1BCEB-3CEE-4F83-B700-3075AFDB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3FD71-A758-4A40-9CE2-82A5F9C9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7E6D4-C8CE-49DD-AA1D-1EFB52E9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179EB-F894-46F3-83CF-503F43F4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7D2E1-47D3-4A1A-819D-C908022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F77B-79A3-4616-89C0-669538CC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6F6AD-AAF1-442C-B465-235281A6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F4D66-CE23-4BED-9080-07704B2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F0CEB-4FC9-4131-B214-E879FB61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AD983-B1CE-4703-B4DD-00E5D3E5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8C67E-17F3-4DF9-AA55-A5747CE7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769E3-7341-4009-9143-B6B78E19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rack-level accelerator TEE 走向 cloud-scale DSA/NPU/GPU pool 与 Arm CCA accelerator。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CD39C-6491-4B5E-9230-86EB83F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8023-C016-401C-A74B-2C4C5C3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固定三篇主讲材料；`sang2025portal`、`deng2022strongbox`、`nvidia_bluefield_operation_2025` 作为辅助对比，不计入三篇主讲。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9BF28-7350-49DB-A31E-2968D40B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9FD82-3BB1-4386-812F-38433D6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A6E5A-2359-4DAB-9783-40F280A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C43B2-11FC-44AA-8BC8-315CB05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5D51C-A16D-445F-991B-7CA242DE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0FEDB-19E5-4198-93BE-A4C180B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CF0AC-717B-4794-923F-56CCFEDD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136D8-E79F-4265-8F18-F101DB3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645F7-3A2A-48DB-9EAF-775096A6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E6E70-60D2-4BEC-BECD-D81D960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FA9BA-915B-4A70-986C-E9BE204B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C2A9B-FE79-4B19-82E7-027271C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HETEE: rack-scale heterogeneous TEE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C6518-5FDB-4B30-A93E-505A421F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82C2A-020D-498D-9151-AE0C182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446439-DAAE-4764-91AF-CF54027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AD918B-9878-48B0-8B86-20FA6EE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D5D15-2FF7-4F22-AEED-5C9EA19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912B95-FE1B-4F30-9A94-7D719F05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A6796C-C662-4846-90C5-0B2CB7DD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5CF16-B5FF-4EC1-9A42-C4DF51E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74C11-DD19-4B9B-A803-CC55CD9B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BF4815-F07D-46E4-9720-998849B2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FF364A-F4DA-4ED4-9792-D01BD915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3C37CF-7370-4332-B5A1-FBB35E6A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ECC058-FCCC-4E1E-93C0-6BC211C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9F1200-9DC5-4D75-957C-D595C56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442E0E-9D3B-4BA6-9E3B-535B31B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BBFF7F-506C-4E7A-9DC0-1376E10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方向开场  |  14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2DD977-9C5F-4330-B9E8-2D9E5BD3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240</a:t>
            </a:r>
          </a:p>
        </p:txBody>
      </p:sp>
    </p:spTree>
    <p:extLst>
      <p:ext uri="{BB962C8B-B14F-4D97-AF65-F5344CB8AC3E}">
        <p14:creationId xmlns:p14="http://schemas.microsoft.com/office/powerpoint/2010/main" val="1624911264"/>
      </p:ext>
    </p:extLst>
  </p:cSld>
</p:sld>
</file>

<file path=ppt/slides/slide2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DB993-3AD9-4576-8445-C42ABCD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EF819-7878-49CA-9BCA-C9369198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E11C4-EF4B-404C-B2E2-B319495E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5D9C4-F6B5-4531-B1F9-412B8A8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HETEE: rack-scale heterogeneous TEE：内容摘要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F3F0E-F8EA-4B64-AA35-FC5CD5D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D337C-C9EA-4410-926B-A41A2122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159E3-0AAD-486F-9174-6C2171E2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C0357-2CA6-4455-87EC-2CBB0FAD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 用 rack-level security controller 与 PCIe fabric 动态隔离 GPU/FPGA/TPU 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DB7F-0350-4BFF-97AD-7A7BFDB3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3BEC4-075F-4EE2-B374-A9F0B507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B3C0B-DDA0-4010-A221-DBEAFC4E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E553A-B32C-44E7-9336-D02CA04A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02AA9-E820-47DF-A47B-23CA1100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 用 rack-level security controller 与 PCIe fabric 动态隔离 GPU/FPGA/TPU 等 accelerator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2A01A-5864-48AD-B524-C049D16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B8F2D-061B-44FC-8182-D4228867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 is a foundational peer-reviewed work for heterogeneous CPU-accelerator TEEs.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2A4B6-9E05-4AED-A3E7-6247E0FB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A1942-BAC3-4DA1-9C7B-1F3D2A4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4C8B5-31E7-40E8-B429-9B1BE13A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A4516-8592-4E76-8B56-A1818C3D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9DDA4-C177-4EE8-8E02-51279257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11B79-225C-4B5E-A2C4-272D11AC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2518E-9D95-4EB2-B772-2DEFC5A8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B20D1-96CF-41B8-A94C-7A4D3A17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A8EC9-C487-4CFC-AADE-4195054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BB5ED-8509-4CB9-B08A-4B9556E0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19C3D-37FC-4519-B4E4-DC22B2D4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76D7A-393D-45F8-9C55-2F959E18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E5F743-B563-40F3-9298-6F0A620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249EF-8468-4888-BF78-C0E3266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9DE95-8DAF-4859-868E-AE1AD78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E3BC5-9D9D-4488-BC86-D4AE578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C84A4-A76C-4500-83FA-35B842E0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9BE36D-52E0-4E85-BC9B-C4778213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151C4-464B-408F-8329-81C747E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来源：HETEE: rack-scale heterogeneous TEE｜证据等级：E1 / 基础证据 peer-reviewed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AB48A8-7847-4E31-83BE-28C868DC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1DDBA-4EDB-4DF3-8532-809E5C54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0AF5E-6490-456A-9818-A811C677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A1E677-38EB-46EC-B186-1B70F5CB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内容摘要  |  14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495789-D8BE-4BFE-B79E-B3839D7C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241</a:t>
            </a:r>
          </a:p>
        </p:txBody>
      </p:sp>
    </p:spTree>
    <p:extLst>
      <p:ext uri="{BB962C8B-B14F-4D97-AF65-F5344CB8AC3E}">
        <p14:creationId xmlns:p14="http://schemas.microsoft.com/office/powerpoint/2010/main" val="1828829665"/>
      </p:ext>
    </p:extLst>
  </p:cSld>
</p:sld>
</file>

<file path=ppt/slides/slide2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64036-619B-4F32-9090-41281142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39B3-5216-4578-9F83-9EBE9AD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737B2-2B2E-446F-9413-D102EC76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20BEF-9FE4-4397-A7E5-13B30027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HETEE: rack-scale heterogeneous TEE：研究背景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F682-A8FF-409C-B471-C7939F33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9F86-3F12-4262-ADC0-8332B86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0DE1A-D1D1-4D9D-9E4E-747F8E4D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56286-95DD-4B7C-8045-7CD1110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TEE 不能天然保护 accelerator offload path，敏感数据进入 GPU、driver、PCIe fabric 或 remote resource pool 后仍可能暴露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33767-A732-4CB5-8D40-FC85115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A6EA1-A6A2-4FE6-93FB-BD2BD88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72D23-3126-4164-A845-D06DCE9E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5A1CA-355E-4001-B5A6-F308D5DB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DEC8E-246A-46D5-9CD3-4A28F63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TEE 不能天然保护 accelerator offload path，敏感数据进入 GPU、driver、PCIe fabric 或 remote resource...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BA6D3-8996-4789-94A9-D4D6FE3D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DFE4D-2CD3-44EE-8BA7-63ACE33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AAA97-2EF5-4B0E-BE40-BDC9891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DE706-8844-4FF9-9A45-246F1123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DA27F-DF7A-4AD1-801F-4366E9A5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FF34B-85A5-4ED6-AEF3-5DD98974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AA8D7-3D50-49C7-9856-521DCFC9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8B5FB-1200-4514-9BB2-43DFD978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F7701D-D571-44C3-8BB2-15493321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D64C8-9979-46DC-BC60-D584D6F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64F93-6567-43EE-A1B6-9DC9012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rack-level accelerator TEE 走向 cloud-scale DSA/NPU/GPU pool 与 Arm...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0FCEF-1C35-4728-80DD-7772535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CF6D2-2667-49EC-A65C-4D8F9CC3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8152E1-FE26-4F66-8990-DBA211A7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HETEE: rack-scale heterogeneous TEE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4CF73-7FE7-4DB5-A54E-DDE894A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6A952-FAE6-480F-9384-B4AC58B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1763B6-7FE6-47E4-AFC2-B652DFD3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C8514-79BF-4BF9-96C6-754ABE8E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8928FF-808F-4DE2-8CBB-321BD89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来源：HETEE: rack-scale heterogeneous TEE｜证据等级：E1 / 基础证据 peer-reviewed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C6BE41-BCDE-47C3-9B3E-87EA8AAE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8B52D1-E1DC-4708-ABB0-7AC3FA6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C6B8E-24AF-4905-864F-20C8546A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61A24-6179-4F55-ABAE-C098089F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研究背景  |  14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A1BA0B-15BC-461F-954E-DE0FA25D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242</a:t>
            </a:r>
          </a:p>
        </p:txBody>
      </p:sp>
    </p:spTree>
    <p:extLst>
      <p:ext uri="{BB962C8B-B14F-4D97-AF65-F5344CB8AC3E}">
        <p14:creationId xmlns:p14="http://schemas.microsoft.com/office/powerpoint/2010/main" val="1723741397"/>
      </p:ext>
    </p:extLst>
  </p:cSld>
</p:sld>
</file>

<file path=ppt/slides/slide2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58AF0-5F77-4AEB-9390-1613BE6B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609A7-17C9-4773-81A9-A1ABCF3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1B7B0-077B-4868-B8EE-D9CA3A1D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A571B-AFFB-4B0D-9F17-AF24C796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HETEE: rack-scale heterogeneous TEE：解决方案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AE10A-69D1-4812-A5FF-2FC14193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E097-4BBD-4975-9020-3B14362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4741B-2963-4CF0-AA07-094064FD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19258-E6DA-4CE3-9EA7-B4D5B42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Controller 作为 thin TCB 管理 accelerator assignment、加密认证、remote attestation、secure cleanup 和资源回收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656AD-6188-4629-AFE1-ABD4D76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91629-B25B-48A3-8AB0-99B6AB8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B0E0A-CE85-4459-97D0-7F18845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A38E7-1098-490B-9239-6A9AA17C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6B09D-B4DD-46DE-9CD3-EC65E093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Security Controller 作为 thin TCB 管理 accelerator assignment、加密认证、remote attestation、secure...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13694-A187-4820-A4C1-54FAFC98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75CD9-0AE5-4779-9521-B89779E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DD335-440A-482F-A05D-AE6FE00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1032B-8E0B-41FA-BA49-25ECF1D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D0D75-3E91-4FFE-A981-A199C244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1EDB2-3532-4AE9-B7D7-293C221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Rack-level Security 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B67F4-2F87-47BC-B951-1248F86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F0213-1DE0-4644-9A58-B03D7511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B5DD9-8BDC-4C73-AD82-555BABD9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496BE-ABE1-441E-9DF0-A5BA153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PCIe ExpressFabric accelerator assignment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11747-2E7F-494C-8BC3-9313C7C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8018D-D0C9-4A61-B9EE-B2DD08E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8D7B1-C26E-4E67-A662-3EDB70B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FB301-1F41-40BF-AC7A-DB36CAA2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attestation and secure cleanup lifecycle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BB85B9-72AF-4879-A7B9-D970891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166FD-6BF1-41DF-9FA3-5FDF7FE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来源：HETEE: rack-scale heterogeneous TEE｜证据等级：E1 / 基础证据 peer-reviewed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BDE034-728E-4A76-B2CC-5F587B4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01C89-04DB-49D7-B7A5-BE898CA7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19D6F-7BCB-4C95-88A9-A81CC73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6F659F-EF00-48CA-AA24-6C6FFF34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解决方案  |  14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0B95B2-5352-4636-8F74-E0BDB8CD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243</a:t>
            </a:r>
          </a:p>
        </p:txBody>
      </p:sp>
    </p:spTree>
    <p:extLst>
      <p:ext uri="{BB962C8B-B14F-4D97-AF65-F5344CB8AC3E}">
        <p14:creationId xmlns:p14="http://schemas.microsoft.com/office/powerpoint/2010/main" val="349116478"/>
      </p:ext>
    </p:extLst>
  </p:cSld>
</p:sld>
</file>

<file path=ppt/slides/slide2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F1586-0A63-4E9E-A809-739EBD0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3F220-EAE1-451A-B2F6-72A89D9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F758A-6C23-4876-889F-1D2F73A1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9CC6A-2D38-4333-AF64-287F934F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HETEE: rack-scale heterogeneous TEE：实验结果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647B9-1BE0-4482-BEA6-9A2915C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23B27-B56E-456C-8E56-93FFA9C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ECE30-98EB-49B9-817C-9409903D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F39AB-90C6-46F7-8A1C-EF13D07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真实硬件原型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6B44A-9139-42D4-ADD7-F5B9D970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C7181-B638-4ABE-BE02-0954925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B1E68-7D07-4EC1-B728-899D8D5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441E6-E72D-4444-AF04-06378000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47992-FA2B-4A09-A944-4B372B39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真实硬件原型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D771-DAAE-4ED0-B0A5-7ABF6BEB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60859-F688-4B3C-B508-20FAAF4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ResNet152 inference 最大 throughput overhead 2.17%，training 最大 overhead 0.95%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ECC87-F83E-44B0-B80E-DDCF6384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AFF67-90B4-4116-8D05-CD80D90F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69BD1-FE36-4812-A852-0CF92100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5B3A4-C911-4385-B08A-1AD57112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31341-5014-4E5B-A8C4-159065C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10073-112B-497E-9AA8-DF1813B2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0935D-3C4F-4A66-BE69-F34426D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EEEA9-A91E-437E-B906-1237569A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BDADE-8169-4486-9FC6-3110B5D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HETEE: rack-scale heterogeneous TEE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8744D-84C0-480B-B145-6532E43F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59564-405A-4E56-851D-1E36297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7DA31-D08D-4B40-9A95-63401A80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405E6-C63C-49E9-9267-2A376366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E470D-7CFB-4781-AF2B-5D724B2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32962-9384-4ADE-94B1-7A995C3D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26D6D-3C0B-4EFE-8089-8B95DCF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F5E15-FA68-4A2B-80E7-5C5E2D4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738B93-CEC6-4E2D-95E8-DF965866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1428EE-3A72-4697-AF17-6158C1E4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65F4D9-6FF0-4875-A0AE-469045B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67317D-6341-4BCE-A0BC-2DEBBD7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22970B-B1D9-4CE5-9DE1-E86BCB9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A35F21-7494-421C-B596-12DD589F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4D24FF-27D6-441F-B2AB-7E2393B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来源：HETEE: rack-scale heterogeneous TEE｜证据等级：E1 / 基础证据 peer-reviewed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12159-2456-40FD-8EAD-5A80CCC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DE969F-99F3-408D-A31B-B68B70E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DE6FB3-0600-4012-9541-617AFF5E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3160E2-955A-4EF5-BF88-810848BB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实验结果  |  14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263C5-DA8A-4842-AA27-722446DC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244</a:t>
            </a:r>
          </a:p>
        </p:txBody>
      </p:sp>
    </p:spTree>
    <p:extLst>
      <p:ext uri="{BB962C8B-B14F-4D97-AF65-F5344CB8AC3E}">
        <p14:creationId xmlns:p14="http://schemas.microsoft.com/office/powerpoint/2010/main" val="2130416920"/>
      </p:ext>
    </p:extLst>
  </p:cSld>
</p:sld>
</file>

<file path=ppt/slides/slide2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E10F9-C654-4B64-9181-7D81AE0E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6643E-F48E-4143-B818-2F1E303E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5821A-ACFE-421F-BE84-4A6A972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7F854-AF85-4E86-B574-9121DB3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HETEE: rack-scale heterogeneous TEE：文章评价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AA2DD-4DAA-4D6D-9708-8AAA39E7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40501-B67A-41B4-8D3E-3742E96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7F6DA-B19A-4438-8619-6E941B78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基础证据 peer-reviewed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7D6D3-0BE0-40BA-9026-7A7E645C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confidential offload 的 foundational baseline，说明 CPU TEE 边界可以被。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5D46-A4F0-4767-AEE8-9B19AF49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52559-75EB-483C-AE4F-A3ED5C17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0F418-1730-4A1F-80C2-04CA76C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FD665-F9AF-48D2-A173-5C4AF3B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9165E-47C3-44FA-9DAD-8489085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设计优势：accelerator confidential offload 的 foundational baseline，说明 CPU TEE 边界可以被。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AB733-0ADB-4F95-A093-69C25F2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B5089-F966-4731-BF4D-C93E56E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局限性：早于 SPDM/TDISP/CoVE-IO，不能当作 modern trusted I/O 标准或 vendor DPU attestation proof。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460F4-AEB3-4443-A8EF-B12D55B1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71504-C249-4432-9423-29907AD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商业化潜力：适合启发 DPU/SmartNIC security-controller 设计；风险在集中 TCB、设备固件可信和 production lifecycle 复杂度。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1F756-3CF6-4268-BDD0-55C1170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B7319-79EF-4CDD-8E59-BA32BE5B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Foundational peer-reviewed；本地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61689-2863-4707-AC86-362F808B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7AA66-8DFF-43FF-9CE4-5CDCD173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AAD45-7ED8-4021-9FC1-98AA297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3D5F0-2613-4A06-9CAE-365E81D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C6ED9-21E8-490E-A135-16C30D4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339CD9-33C6-4C1F-92EB-8A8762E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A5EE8-3D64-4D27-B7A2-4FF98CA2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11889-5707-4BE1-9DC8-3772B4C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confidential offload 的 foundational baseline，说明 CPU TEE 边界可以被。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77674-6C35-4D49-B982-32DCD6D5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D88957-19D9-4A64-87F5-06DD5645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64C2C5-F3A9-47EC-AE68-95E4703C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早于 SPDM/TDISP/CoVE-IO，不能当作 modern trusted I/O 标准或 vendor DPU attestation proof。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8559F-CE2C-4839-8928-D9FF545F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00A75-54B1-428D-82B8-FD88060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2450C0-4579-465E-A521-5A1051FE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适合启发 DPU/SmartNIC security-controller 设计；风险在集中 TCB、设备固件可信和 production...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D0AD5-CC75-4967-B8CD-6190C7E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7E604-DACD-4075-9763-06CCEE9A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6CA27-E9CD-49F1-87B2-40725E66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2ECAB7-BE7B-46D8-801A-8FC6E1C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ABD00-00D2-4EF0-9796-0FA11EA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来源：HETEE: rack-scale heterogeneous TEE｜证据等级：E1 / 基础证据 peer-reviewed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C374DA-FD9E-45B2-8C3A-A1AF873B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56B55F-588F-4C8F-8B80-0429F3F6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103C4F-2F2A-4E2F-AF83-13C7085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109A36-7221-4532-A4CB-3C9A3396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文章评价  |  14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EB8F70-4DD2-495F-AE5F-251CEAB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245</a:t>
            </a:r>
          </a:p>
        </p:txBody>
      </p:sp>
    </p:spTree>
    <p:extLst>
      <p:ext uri="{BB962C8B-B14F-4D97-AF65-F5344CB8AC3E}">
        <p14:creationId xmlns:p14="http://schemas.microsoft.com/office/powerpoint/2010/main" val="1750979076"/>
      </p:ext>
    </p:extLst>
  </p:cSld>
</p:sld>
</file>

<file path=ppt/slides/slide2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21CF4-938E-4986-A27C-77AD026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AFA30-3B2A-4E0C-9533-E93D471D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BDB1A-575A-460F-8771-D9D69E03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B090C-2F1E-441D-ABED-A700BE6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7631F-D571-45CD-A396-788B9E3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9416A-B2BD-4FDD-A3EC-C70CCCC2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D07E4-B1C4-4F0C-8E08-E985F77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44BE6-00A2-4C37-A1EC-B1EEC19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用 cloud-scale Security Controller 桥接 TEE-enabled nodes 与 legacy non-TEE DSA/NPU/GPU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9B3A1-CE5F-456A-BD44-9A53D77F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F2249-5E45-488C-845B-E7D6876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22DD7-A98D-4249-8B95-EF8A2DE4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CAAFE-7024-4AD5-945A-5B11680C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65F94-C2B4-4758-B4E9-61D8223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用 cloud-scale Security Controller 桥接 TEE-enabled nodes 与 legacy non-TEE...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60045-9CCB-4A54-8FD3-CFE73ABB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A1B88-47C1-4FF7-A0E4-E01985AB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Cloud-scale acceleration work is a peer-reviewed 2024 SOTA item for confidential...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05C9A-3E6E-4229-BF37-BC9B9B3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33677-1375-41E6-A9BD-B1FF0F11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B6663-52CD-457C-956C-529A094C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F37CE-FC07-4A59-933B-25F968A0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92D0F-B149-401A-8592-6206BC2E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121D5-7066-45AE-BF80-88B1AD98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CAE34-6F4F-47B7-AA84-93E1D979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A3BF4-41C3-4326-B2DF-82ECBB37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663C0-AB83-4E01-9E4E-BF5A9B80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B592B-3C95-4B47-B923-5F6BC042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78D5D-C98E-4BDB-9F8C-0C56B495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A8ACD-872E-49CB-807C-56FE4BA8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0BD12-7D77-418A-B6E9-E6D69A18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48EF6-298E-49BD-84D1-293E8BB9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EE199D-8241-4717-9D7D-1741451A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C289F-1AF3-41AA-A552-CAC47D6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0D2D74-214C-48D0-8F68-E33D2A4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E67FB8-075F-4E8D-B77F-2B8BCE7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1F31B-E6F6-403D-A94F-E13A38E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来源：CloudScale confidential computing with heterogeneous devices｜证据等级：E1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3455A3-7F83-448F-9879-D81FD9D4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8FD73-83CB-46EC-8F4D-A8CE6CF7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8B3E83-0D4C-4248-ACF3-AED452C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83281D-E2DB-4A4E-997E-6C0F9E91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内容摘要  |  14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028ACD-A497-48F3-97F5-9031016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246</a:t>
            </a:r>
          </a:p>
        </p:txBody>
      </p:sp>
    </p:spTree>
    <p:extLst>
      <p:ext uri="{BB962C8B-B14F-4D97-AF65-F5344CB8AC3E}">
        <p14:creationId xmlns:p14="http://schemas.microsoft.com/office/powerpoint/2010/main" val="2002807234"/>
      </p:ext>
    </p:extLst>
  </p:cSld>
</p:sld>
</file>

<file path=ppt/slides/slide2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EEFF2-7804-4A2A-B2FB-5F78E9AA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2E75-AB70-4F7F-8EC4-9408B110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1EEDF-4A15-46B2-A278-6D037412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91F6-79B6-4A93-BE5B-BA5DD40B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76F9B-CE74-4080-AB49-694F1454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88DCB-F5DB-497B-88E5-301CC0AD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E3CE-5ADF-4579-B569-A8AD2077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9EEA-8EF3-4F1C-9E7D-56DFE9A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数据中心中多数 DSA 节点没有 TEE 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5234A-9BF1-48D5-B493-E44AB978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C220E-FBCE-47DF-9F4B-82EA7F4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B6D2F-0501-4C0C-A88B-7A3CCE09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CCA27-0C49-4327-B6ED-F68D02CA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4B232-5AAB-49FD-B8A4-3EE5FBE0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数据中心中多数 DSA 节点没有 TEE 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EB992-6D22-435A-B518-E12A4EE0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DE406-8502-43EF-9854-81C8B8A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用户要在 accelerator 性能与敏感数据保护之间取舍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68981-6828-4A13-BEFF-F5C954A4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12771-E3B5-41BB-A680-F80915F9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C9520-C0E4-491B-A0DB-7432566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05E12-9B1E-4FF5-ACAA-E257B064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9B006-44E2-495C-A223-5ADAC35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AE3BB-5380-46EE-A458-A044D9A1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59E92-16E7-4B16-812D-662D7BF4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54FCF-0B02-4FE6-88D1-AD9C9EBD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CA8651-1C31-428E-A78A-F2B8C29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D3FD9-4264-47FF-A5F5-D91F1A5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FC1E5-DE17-4F7E-86E4-445BB92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rack-level accelerator TEE 走向 cloud-scale DSA/NPU/GPU pool 与 Arm...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7D2F2-4A46-417A-AE5A-D9CAD7CF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2151F1-6B56-459C-83FE-ECD3BDF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F6BE4-DE03-4E1D-A173-FDA8962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8587D8-CB50-4D54-BD14-92E186A0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BA1D2-7E9D-4224-863E-5793C4E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CF081C-D285-49C6-A659-1DE7DEC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37BAF3-D088-4116-B491-A7366A41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FA73B0-D92F-45A9-94D0-0EE302D9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来源：CloudScale confidential computing with heterogeneous devices｜证据等级：E1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ED898-134A-400A-9210-89D314E3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27AE7-469A-4B84-90CA-90479008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8CC53-322D-4E36-920F-4058D131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1DCF37-DD7A-4A29-9F96-5C4DC224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研究背景  |  14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9CD8CE-4767-470D-8400-0D1D57DD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247</a:t>
            </a:r>
          </a:p>
        </p:txBody>
      </p:sp>
    </p:spTree>
    <p:extLst>
      <p:ext uri="{BB962C8B-B14F-4D97-AF65-F5344CB8AC3E}">
        <p14:creationId xmlns:p14="http://schemas.microsoft.com/office/powerpoint/2010/main" val="1918937049"/>
      </p:ext>
    </p:extLst>
  </p:cSld>
</p:sld>
</file>

<file path=ppt/slides/slide2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23974-7A11-4AEB-879B-88CE2A7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E6379-0D7E-428F-922F-7ACA5A82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A67A0-FC6B-4F6C-871D-C24D10DD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BFF4E-FF28-4768-A81B-73F69A13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A20E8-EFCE-4BFF-94B5-14F34B6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5EFF9-58C5-4B83-9A93-F835F7F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0DC0C-D101-40C7-8394-72FBDE13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7D75B-1AA8-4ACA-9FB2-8ECA87F7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 作为 TEE proxy 执行 access control、attestation、key exchange 和 encrypted/authenticated data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3B53F-90CA-4E55-8FAB-9C5793EF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0165E-EEF2-4D82-B9A7-94A5308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1D973-8B44-480F-96B2-F13B1F7E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CC3AE-0C1D-483E-9F65-F3C2009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85746-F658-4148-9FCE-F463DB22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 作为 TEE proxy 执行 access control、attestation、key exchange 和 encrypted/authenticated data...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F70D3-097E-45B6-93DE-BCEDF29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3DE27-B603-4F71-87EA-14940353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C96DB-156D-444B-8200-DB54C15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91089-5DA6-436B-939A-90080D81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E2508-3D18-471A-B15C-164C0DA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BF042-B6D7-4717-895A-AB545E59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Cloud-scale Security 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C6EF4-6413-4481-8FB5-8B66085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B466E-424E-40F0-A3AF-1D83D6E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07C45-6BF3-4267-A2A5-BB7012F4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019C5-4262-450E-A760-577275F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TEE / non-TEE DSA pool attestation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DF68C-0FC7-47EF-8CB2-78FCB3C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110F2-1942-4FFD-988B-CB00B5F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3CD41-E35C-442D-8450-7DAC6716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B38BD-4EC3-42D9-B9BC-91959C6C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Encrypted and authenticated offload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1CF0C-013F-41B0-9864-38D094E3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11D6F-D264-49E9-852E-D1590E0D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来源：CloudScale confidential computing with heterogeneous devices｜证据等级：E1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5538D-56A2-4858-8ACD-C034090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C0B341-2567-4AC1-8C5F-71B628C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1D644-0630-4BD5-9CA4-D05D89B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1C113E-D553-4CE4-B5C6-DDD0628F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解决方案  |  14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B2EAE1-DFF1-41DF-8F01-DC116A86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248</a:t>
            </a:r>
          </a:p>
        </p:txBody>
      </p:sp>
    </p:spTree>
    <p:extLst>
      <p:ext uri="{BB962C8B-B14F-4D97-AF65-F5344CB8AC3E}">
        <p14:creationId xmlns:p14="http://schemas.microsoft.com/office/powerpoint/2010/main" val="125939460"/>
      </p:ext>
    </p:extLst>
  </p:cSld>
</p:sld>
</file>

<file path=ppt/slides/slide2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7514D-EC5F-4D57-B735-7041BEB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F550-9CE3-4C65-AEA0-FE95073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EA5F4-DD1F-4614-A2D1-15D0574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68314-0E25-4A62-9009-642DE7C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106A1-FCFE-41B7-B684-29369BD9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32ACE-B521-457C-8A87-D0D558F4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8D693-9EE8-4750-8AF0-28B491C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C81B4-FFAD-4AE5-8A9C-378697E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AI、Redis、file-system workloads 平均 1.5-5% overhead，并扩展到 2236 concurrent NPUs running CNNs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C5210-8A96-41B0-9C33-32E69E88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91E4D-0582-4AAE-8712-3793710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33F5-EE8E-4ADD-B0CD-062169D8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D46E9-91EF-4099-9AFB-8371E7AA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CE37E-8292-41C4-81DD-B667A2DF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AI、Redis、file-system workloads 平均 1.5-5% overhead，并扩展到 2236 concurrent NPUs running...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98E59-82CD-40DA-8E87-0912A555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57200-D4FC-4469-AB84-BEE4F43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38BFA-A750-45D4-A5FB-252CB29A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09401-805D-4D90-857B-CA1DD43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7BB07-EC69-4AB2-A057-40FF23B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CB11E-655E-4A7B-8A03-58CAB6DD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BEDC2-E7D2-470C-BAF5-7CA82F0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B1751-316C-4C2C-85BB-80478BC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238FB-BC66-485D-8D9B-163316E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11D42-3829-4871-B8D2-8282DED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7B521-8B1A-41DC-97AC-FD33A02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EB334-228A-4426-91B5-5978A872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78A3F-3105-453D-9E63-54454715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3FEB6-04C4-47E2-9E98-640A87F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C1A5A6-B8EA-4396-9149-9141C766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1328E-6D10-439E-A5EF-27344F7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05899E-38CF-40C1-A56B-307DAB2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F0C066-8B1F-4480-B4B4-C40C35DA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EB234-C370-469D-BF5A-B392887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D7C0C-A187-475E-A04F-9AAC5278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95C85F-BB16-408A-8487-BAAE4EC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D4B6AC-5B14-4837-8DD2-DB2339DC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D7FD14-EF5C-4842-B573-36435FE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284433-E2A8-4AD5-A9DE-38309590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来源：CloudScale confidential computing with heterogeneous devices｜证据等级：E1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9A6D1-4C66-414E-8A18-B5ABF932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1BEAC4-03C7-40A1-A3FC-80B08A0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8DE0E6-F125-4E55-BEE4-C0871D9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C711D1-DD5C-45CC-9F68-2552374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实验结果  |  14 / 15 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19DDD1-A46C-480C-AD35-0F4D2BB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249</a:t>
            </a:r>
          </a:p>
        </p:txBody>
      </p:sp>
    </p:spTree>
    <p:extLst>
      <p:ext uri="{BB962C8B-B14F-4D97-AF65-F5344CB8AC3E}">
        <p14:creationId xmlns:p14="http://schemas.microsoft.com/office/powerpoint/2010/main" val="1173650527"/>
      </p:ext>
    </p:extLst>
  </p:cSld>
</p:sld>
</file>

<file path=ppt/slides/slide2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01F1E-3F19-4429-88CC-5AD0517A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EF7AB-C15B-451F-B368-73A2DB2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6708B-53C7-42CB-B5F1-0C238D8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70387-877D-4C70-93D4-C925AFC1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A0030-528D-478F-9FE8-4A501F60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FE0B-C5DC-4044-B744-D17CA39E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A945C-F586-48E4-969B-8E6D9D8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AAA78-D55A-45E1-9B08-702E35C7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accelerator TEE 从单机扩展到 cloud-scale heterogeneous DSA pool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33EA-067B-4C17-8AF0-1D97CB8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4F08E-D942-44DB-BF2F-EB42A3A0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5EB06-45C0-4F94-A753-EAF68E8D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41D00-0A13-4D2F-94A2-F03C4DBA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9C500-2E0A-44B0-A1BC-9B54F478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设计优势：把 accelerator TEE 从单机扩展到 cloud-scale heterogeneous DSA pool。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4A89F-D90A-4F3D-9E39-9B3D1D4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7680D-960E-456D-B216-A9D74017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局限性：SC 正确性和供应链可信是硬假设；不替代 SPDM/TDISP/PCIe IDE/IOMMU 或 vendor DPU RoT。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9751D-7154-437A-A797-D049F950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B73A9-5367-4BED-B3A5-A828AAC3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商业化潜力：贴近云 DPU/SmartNIC/NPU resource-pool 问题；风险在多租户编排、热插拔、failure isolation 和 production...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83ADC-56FD-41E8-BF21-970C2E85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62606-948B-4D8A-89A5-969C7295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BBF7A-5E97-4818-ABA8-F9BBA93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9E81B-9034-43A4-B3C8-FEF92E2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670831-D4C9-48E1-8E62-AB62296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2F59B-81C1-4699-85D6-E2E7829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D2B66-8A0A-4B7A-B649-6F8F2E34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3B845-8A88-406A-9220-E9DDCEC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4FD2F-7AEC-4FF4-BCBB-3073F4C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C1873-3FBB-45E3-8FCF-022B83B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accelerator TEE 从单机扩展到 cloud-scale heterogeneous DSA pool。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23FC05-12AC-4A84-8102-25A537C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44D7C-BCEA-42D2-8FB1-0F8EECB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E63FF-6A36-470E-AED6-32F8D99B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SC 正确性和供应链可信是硬假设；不替代 SPDM/TDISP/PCIe IDE/IOMMU 或 vendor DPU RoT。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B34C2A-0E9B-4576-8D20-0F6E170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FCFB1D-42F9-43FD-B35E-DE5B4F1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0510A-3118-4EC7-A9CB-AD0F0D5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贴近云 DPU/SmartNIC/NPU resource-pool 问题；风险在多租户编排、热插拔、failure isolation 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910BAD-E8ED-4553-B4E6-5D919E28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52E898-D8FD-46A8-B097-9E6E7D2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303BF1-917B-4D8D-BCB4-BAB32CD4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F228F4-FEFB-4140-BD72-6A7858F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0A4B34-9560-434E-8C73-231C442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来源：CloudScale confidential computing with heterogeneous devices｜证据等级：E1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187317-B05C-44F2-A19C-B7F5ED4A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5F8BCE-A4CA-462F-9DBA-EA3EDC5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F5A6AA-13A9-48AC-9BC4-89394B2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A5C254-4053-47ED-B567-233E3851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文章评价  |  14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D1DFE4-2EAA-49BD-802E-7991642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250</a:t>
            </a:r>
          </a:p>
        </p:txBody>
      </p:sp>
    </p:spTree>
    <p:extLst>
      <p:ext uri="{BB962C8B-B14F-4D97-AF65-F5344CB8AC3E}">
        <p14:creationId xmlns:p14="http://schemas.microsoft.com/office/powerpoint/2010/main" val="297657255"/>
      </p:ext>
    </p:extLst>
  </p:cSld>
</p:sld>
</file>

<file path=ppt/slides/slide2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C5491-F206-46ED-A68C-0F30FCAC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EE241-3097-4998-BC81-4710D1B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9BCCA-B40F-4523-AED8-1330F53A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7B900-B576-4B7B-A4D6-448A9DA7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C7C3-C355-4234-9D16-500D8E24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998DD-B6EF-49FF-8BEF-2B6AE8E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B1569-244D-40FF-B3EA-B1B21DA2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3170D-80DB-4D2F-915B-1A420194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用 Arm CCA GPC/GPT 与 Monitor-side shadow task 保护 Realm 使用 GPU/FPGA accelerator 的 workflowow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4EC07-AA39-4CEA-BCA2-C2523765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1908-D2BB-4CC5-9FC2-24959815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00845-D2C1-40C9-9A88-1FA6BD2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D91BF-4D63-4509-BCEB-8183154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52E99-5841-4C7D-94C1-37A538DC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用 Arm CCA GPC/GPT 与 Monitor-side shadow task 保护 Realm 使用 GPU/FPGA accelerator 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7482F-793C-4D24-8AD3-6F23EF8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E132D-0F46-456A-9B6D-5ED6CC6E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is a recent peer-reviewed SOTA item for GPU accelerator enclaves.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1F44-B2B3-47C4-9320-AC2ADEF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A85EC-BAC9-4218-A982-C5C7BD9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5DE03-EEE5-44A9-B40D-20B7FD6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7B196-468E-4C1A-AEB1-802CEB6A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DCE44-BD65-4655-8DCD-783C544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2E1D8-D937-4138-9C02-493EC0D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3DD06-B2EC-4A1D-9668-7CF58435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0776E-ABBA-429B-A6C6-65EB20D3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36538-EB95-4D8F-A196-89BB10A8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741C6-0EDB-49FC-9EF2-0C7F0B0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4EC4B-F476-4846-BF70-56A1CA9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59BB4-F288-4BAE-B051-E363B229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4221A6-9EBC-4768-A8CF-009C733A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C33E3-D4BC-404D-A58D-5604438A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C6C58-C467-4F21-BA52-D0C6F6E2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8760A-3ECF-4F24-9572-DC6855F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04FB2-D300-47FF-AECB-FD010661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A3810-1C09-4389-B8E6-6DFF18F2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415EA-EDF7-4FEE-95E0-079E080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来源：CAGE confidential accelerator workflowow for Arm CCA｜证据等级：E1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B4BB9-C355-4235-A1B5-FC4B51F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1F5444-D54B-4980-A93A-3F3A44FB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2F024-65AD-4A11-B5AC-FE93412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D790AD-8EE6-432F-9A5D-D07A7F6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内容摘要  |  14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FE56D8-A2F4-415A-9448-B5D19AA8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251</a:t>
            </a:r>
          </a:p>
        </p:txBody>
      </p:sp>
    </p:spTree>
    <p:extLst>
      <p:ext uri="{BB962C8B-B14F-4D97-AF65-F5344CB8AC3E}">
        <p14:creationId xmlns:p14="http://schemas.microsoft.com/office/powerpoint/2010/main" val="800722935"/>
      </p:ext>
    </p:extLst>
  </p:cSld>
</p:sld>
</file>

<file path=ppt/slides/slide2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4C73C-F35C-47AC-A70C-DEA25FD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F9841-3083-4757-AE96-5C4C54A7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8B437-37A5-4938-990A-287D11D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14F07-165A-4D2B-BBA2-CE0B139C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48E46-13CF-4D16-93E7-8E9F7473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6AB26-F744-4494-AC8B-B8F6310E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5BF5D-6376-4054-B6C3-51C3F7AC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5C414-C6A3-4BEE-9FA7-14ED4292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保护 Realm memory，但 untrusted accelerator driver/runtime 会处理 code、metadata、MMIO、DMA buffer 和 completion...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4755F-AA30-432B-9ED2-081E468F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733D5-1E73-49EF-B2EA-8CEEFB4E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0FA97-FD65-436E-9E49-2736FB17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45D3-0CF9-4E5A-A19E-E7F8B803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21170-2807-4FA1-8141-F379BD1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保护 Realm memory，但 untrusted accelerator driver/runtime 会处理 code、metadata、MMIO、DMA...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57A23-4B24-4476-A872-F7D910B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64073-C34E-4692-A737-AFCF3C1C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D0305-FF52-4782-BA60-93E9CED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D0800-EAF6-4412-A62F-BD9B30D8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2F5D3-D9EA-4BC0-BE6B-693A9777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16A0C-5D24-4DC9-A877-AB55358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2A99A-B3A3-494F-8E35-F961D14C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C58DC-AB9B-4E8C-B7DC-8390F20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D0BB8-23E2-4920-BF7B-B8A4EDB1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39FAC-D571-4E08-AD27-A7BD9617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4A1E5-DDC3-483F-94E7-2BAC2F9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rack-level accelerator TEE 走向 cloud-scale DSA/NPU/GPU pool 与 Arm...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3AE6A-527F-4CC3-82E1-6980DA02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4D6A7-B8A8-433D-B7E2-2E0990D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3D275-4215-4B36-A386-5C30A7D6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4F06B-B1C1-4AA2-B5FE-F725FBC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A8D95-31F2-4AB9-B4D0-BCD1A9AD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F4662-589B-4CA8-86BC-0A499F05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543B7B-7E5D-4FE9-989A-58891C90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EAE84-A1E3-46B7-B233-02325B52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来源：CAGE confidential accelerator workflowow for Arm CCA｜证据等级：E1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CACB1A-1E24-41F4-A4B9-BA46946F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1A281-D532-4FD2-B8E9-D5598D6D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E9FF34-F0F6-46A1-8231-C57671C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88259-9764-47A6-8DA4-0027588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研究背景  |  14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8F162-E813-469D-92AF-F6B9549F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252</a:t>
            </a:r>
          </a:p>
        </p:txBody>
      </p:sp>
    </p:spTree>
    <p:extLst>
      <p:ext uri="{BB962C8B-B14F-4D97-AF65-F5344CB8AC3E}">
        <p14:creationId xmlns:p14="http://schemas.microsoft.com/office/powerpoint/2010/main" val="497856327"/>
      </p:ext>
    </p:extLst>
  </p:cSld>
</p:sld>
</file>

<file path=ppt/slides/slide2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541DB-3217-4EE2-AE85-58302C2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6BF9A-383C-491B-A242-A0298E4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ED020-E471-414B-9953-60A505DE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B9C6-ABD7-477B-BBF3-EBECD87F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52959-14C9-4C2B-ABE1-FEB798E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ADE4D-3C48-404F-AD50-FD6FED6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706D0-F44F-4D01-A721-0BD96DF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8B36A-BAC6-4CB8-BBE2-300D1C6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shadow task、Monitor verification、GPC/GPT protection 和 accelerator-specific cleanup，把真实 accelerator task 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82EA9-BDA1-4709-9AA1-D490261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A2F1F-720D-43A8-B7F2-DE2B9C57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02382-03DF-48CA-BAC3-D76E868C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8A5AD-FD63-4161-A872-40B39486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E4D98-1FD4-44CC-88D8-AE9582D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shadow task、Monitor verification、GPC/GPT protection 和 accelerator-specific cleanup，把真实。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5AF42-3CA6-49D0-A4AF-9B07A699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F80D0-5C6F-45BF-97B2-82A6CAE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4A821-C19E-4150-AD6E-696E7BE4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6142A-3DD7-47E2-961E-3A40158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D626C-8D2E-449E-9962-C698C47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9057B-89E0-4E96-B5CA-0576FEA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Shadow task and Monitor-side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8453E-BE30-4E5F-85F8-84CF7606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C2F58-53D9-4358-9E6E-5B1D3F8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86525-7F56-430E-A95D-597B4D19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65C46-D0DE-49B8-A0BF-B68B7F0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GPC/GPT protected accelerator buffers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53582-8029-47C6-9854-B55195D6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5718F-C0BC-431A-AD24-F84FD849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E5826-0829-4A38-B365-EF10EE1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BD243-6367-470F-A55C-26BCA0C5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GPU/FPGA workflowow-specific cleanup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535D6-8270-4A2A-AFA7-88973DFE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02B15-453E-46F3-B614-2874B1A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来源：CAGE confidential accelerator workflowow for Arm CCA｜证据等级：E1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FA459-9DF4-4B66-979B-EFD1BA2A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1E26A-3CCB-4962-A36F-404B0309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01D78-C7E1-4621-8030-3FA0C19D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8C44EA-8E19-441D-86EF-F349E4A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解决方案  |  14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A5AD2A-67F8-4707-832F-7DFB20AE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253</a:t>
            </a:r>
          </a:p>
        </p:txBody>
      </p:sp>
    </p:spTree>
    <p:extLst>
      <p:ext uri="{BB962C8B-B14F-4D97-AF65-F5344CB8AC3E}">
        <p14:creationId xmlns:p14="http://schemas.microsoft.com/office/powerpoint/2010/main" val="252224890"/>
      </p:ext>
    </p:extLst>
  </p:cSld>
</p:sld>
</file>

<file path=ppt/slides/slide2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67C32-B941-44B4-B22F-4385FDA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5524F-53A4-4CEA-83CE-B2C7A4D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52F82-3FCE-4971-967B-1110ABA9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D7032-9F24-4D14-880D-0997CFB9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052E5-9DD8-4311-97C2-9D35667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8EBBE-A9A6-46A5-BC93-D009B59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71A99-3D6A-472B-BE49-E75E6A0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A296A-3A8C-41AF-8AAA-2F9A6526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GPU benchmark 开销 0.58%-5.31%，FPGA benchmark 开销 9.61%-16.30%，TCB 增量约。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2226A-CD8B-4E48-85E6-0BF5065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F1425-13CF-41AE-9246-120D37B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86B9A-F570-4869-92CF-61C4FD1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204A-03DF-4F73-9E3B-26F2CC3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F6855-827B-44B0-B487-BDFA43AD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 GPU benchmark 开销 0.58%-5.31%，FPGA benchmark 开销 9.61%-16.30%，TCB 增量约 1301 LoC + 140 LoC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C40C7-B2AB-4818-A3C7-AA3B9C6B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9C82A-CDDF-45A8-8114-C7162A69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6FC86-909D-4963-976A-6DB9B456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CDE7F-E5BD-4915-8AFE-C016179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F28B9-3590-438F-8A04-6EF3D7D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538AA-4AA5-4EE3-9569-2A11E082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48742-8D99-4EEF-8E1D-B704B021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ABF8B-0EF6-4524-9564-A799EB38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95EF8-25DC-414A-891C-E501A3C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F2DAC-E067-494A-B1E7-11B23332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1CD57-4040-4B06-A8F1-C89E4E86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B9084-8A79-4191-A299-8D21711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9A823-89B5-47D7-862B-DD9D8B7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AA982B-FB90-4488-8F90-BE89A77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A246B-E1C1-436E-AE5A-BB1490A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B995E-81B0-4EA7-8A87-2E297EE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C72249-D8E9-4649-AF8A-ED1A52EF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01532B-31A2-463B-AA53-6ACF984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19B6D-EE92-4C6E-8596-15A02C9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B2D31E-8EE3-45D8-BB8B-B0BF96A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4450F1-49FA-4570-8C01-BCF2B94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083DCA-C72E-4CEA-9D44-523D0D7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98E3A3-915C-46F5-BFA2-C20B3EE3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456420-94E0-47B9-A660-E232182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来源：CAGE confidential accelerator workflowow for Arm CCA｜证据等级：E1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396B6F-32D1-4040-808C-4419D82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58C33-03FF-4405-81EE-46A4B432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176EC2-2A68-4EC1-AB6C-BA8082F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468070-6851-4D1E-B1A4-1499E5B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实验结果  |  14 / 15 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69F66B-0FC7-4F8C-B92D-698B0C4F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254</a:t>
            </a:r>
          </a:p>
        </p:txBody>
      </p:sp>
    </p:spTree>
    <p:extLst>
      <p:ext uri="{BB962C8B-B14F-4D97-AF65-F5344CB8AC3E}">
        <p14:creationId xmlns:p14="http://schemas.microsoft.com/office/powerpoint/2010/main" val="179760176"/>
      </p:ext>
    </p:extLst>
  </p:cSld>
</p:sld>
</file>

<file path=ppt/slides/slide2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66DD0-3785-44BB-959E-ED49076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A57AA-E33E-4D78-A930-F244C768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5DC4F-BEC9-4CFD-9A24-FB95147E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04A88-3C2A-4EF5-A67E-1B3E183C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4007-79D8-46FA-A484-511CB779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D2B8E-533A-4129-8666-9815B1C6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39CDB-16DC-4BD8-AB6F-C2D4741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5E269-B2E8-4E11-916E-5C4EC4D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 Arm CCA GPU/FPGA confidential accelerator 的 peer-reviewed SOTA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9AA3D-1C4F-4D63-A9C1-5B9D57F5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2B1BF-41E2-4D5A-AA02-DB1EDDC5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E2A90-32D7-4327-81B6-1C97C10F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74BB4-A88D-4F6E-8BFF-0D5A6344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9E864-EFA7-4FBE-ADE3-DD0DB7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设计优势：当前 Arm CCA GPU/FPGA confidential accelerator 的 peer-reviewed SOTA。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093EA-B42D-43FC-82BF-F6D18E89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0C3BD-EF4A-4936-A40E-E75191E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局限性：Device identity、SPDM/TDISP、production CCA hardware、复杂多租户 accelerator scheduling 和侧信道仍。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873F2-AEAF-4EFA-B728-923902E2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0FEED-ED7F-43C4-8769-608D1069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商业化潜力：可迁移到 DPU/SmartNIC packet-processing rules、queue descriptors 和 TLS keys；风险在 TCB 增量、设备身。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DE183-1872-40B5-9B3E-ADFAED9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B3CF3-3F07-4EBC-B12E-79F4152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AC2CB-4A0C-46D5-9655-8284981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B17FE-6698-4DA7-9C2A-8B4DA16E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C4BC7-94E6-4257-8008-3CFD6B8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0CE0E-0A66-40B5-9E7B-1514FBA2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2ACA1-FA96-404F-959A-F71C6C67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E35BA-B583-41D3-B47F-5BDAC000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DE0B5-EE5E-4D88-8F92-B89E0E26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5EE33-3C69-4BFB-B3D8-243611E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Arm CCA GPU/FPGA confidential accelerator 的 peer-reviewed SOTA。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D93FE-C19E-4DFA-AFFD-7DFFBE4B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80438-9CD9-4B3D-A260-CC71356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96016-129A-4AAB-8D57-0CE209E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Device identity、SPDM/TDISP、production CCA hardware、复杂多租户 accelerator...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A3ECA-B02F-4E6D-8891-2071D963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FD57AE-8577-4AC4-970C-4FC9FD57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E04F4-355F-4382-A71D-2DC7174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可迁移到 DPU/SmartNIC packet-processing rules、queue descriptors 和 TLS keys；风险在。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A873B-4A40-4805-BE45-C7A81B9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FB6E0-85D2-4C0B-A855-6CBF7EBE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47C4AE-4C0E-441A-9B25-3F137CAF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F2DE33-725F-441F-A933-59F45012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D501B8-E87A-4C9E-A644-99A32B39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来源：CAGE confidential accelerator workflowow for Arm CCA｜证据等级：E1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54E71-F0C1-4E0F-8E55-A5764E6B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5FFDE-F3E1-445B-92D0-BE05F72D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6A9B4C-29BA-4687-B60D-1F162536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BA939-BD28-47B5-879F-2A2390F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文章评价  |  14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093EA3-40E4-4576-B2D9-AD37D7DF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844972143"/>
      </p:ext>
    </p:extLst>
  </p:cSld>
</p:sld>
</file>

<file path=ppt/slides/slide2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A9B34-DC81-4793-AC70-B0258938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B544E-6005-4AA1-84D1-810E905F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F1667-2987-4125-A0BD-3ECBB6F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1701C-1772-4078-91B3-F50C3720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BDFD8-2619-4F04-AAC6-456A9D70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EB9FB-CE86-4498-AA3A-26E17DF9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16DF7-AD77-46D4-BA53-FBC1233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F17DF-123A-4FBB-8C32-4F334045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7CFB3-9666-41E4-BAE5-3CC76B0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4C0A1-76C7-4685-B232-C5DD4192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739D1-A1E0-440C-8BCD-D046E5E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C9E6E-DD73-487C-8582-F22AD31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283CE-C66C-40DD-8C2F-83F680C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HETEE: rack-scale heterogeneous TEE：开创/基础入口，E1 / 基础证据 peer-reviewed。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57C6F-D6CC-4262-9DCB-71289FC4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A091B-9A56-4103-8B85-E6A7A33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devices：代表性改进，E1 / 同行评审改进证据。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13DB3-3214-4AB4-B61F-BBFD5822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A1897-9F85-495C-8AC2-2B6EFF68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CCA：当前 SOTA/补充边界，E1 / 同行评审改进证据。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552E8-6ADD-4290-94E2-24CEEDCF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E5E2A-8E35-41C8-9EB2-C8C98153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7D419-38FF-4DED-9322-7A28D10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C299E-EAA2-4BBA-9DDF-6A97510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6B573-0192-4D20-BF72-51D4949F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88ADE-1E27-4587-880B-209FB21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61627-318F-4802-B06B-D6ADF58D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F3F40-B073-456E-A981-103C1E9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7A449-EADC-41E9-A17C-FAEBFF38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9DB99-D6C8-4883-B5CE-0576795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HETEE: rack-scale heterogeneous TEE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6AEEE-1792-4DC8-B39C-C5A809F7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16DFB-B536-4BAD-92F5-137DD79F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HETEE is a foundational peer-reviewed work for heterogeneous...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1A3B3-1B18-4E3A-A566-0993EB5D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AF5AC-463C-475A-9258-9DF7E73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CloudScale confidential computing with heterogeneous devices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DBD44-8A56-4BF0-9B33-6188D854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10AFA6-1ABD-449E-82F1-1FF5B27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Cloud-scale acceleration work is a peer-reviewed 2024 SOTA item for...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F7C1D-A7A6-4DF8-9A42-FA2B2C9C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600CC-3880-4B24-8624-E023858A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CAGE confidential accelerator workflowow for Arm CCA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4CD0DC-88E5-45E9-AB29-5D6998D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3BB847-1BAB-4A2A-AAA4-6F200A2D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CAGE is a recent peer-reviewed SOTA item for GPU accelerator enclaves.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0DA338-03CE-4E91-8172-66AE032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649BA1-ED15-4728-8B6A-5EE924BA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D930C6-B6EE-456F-A152-16423B0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EEF695-0E52-4919-91FD-2FCC03D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42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7DD7AA-7405-4DE8-8C71-7B8AC90A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022BF6-B4EF-4812-BAD7-700CC98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Accelerator / DPU / SmartNIC confidential offload | 方向总结  |  14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454E81-A986-4682-871B-02AADED8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717059364"/>
      </p:ext>
    </p:extLst>
  </p:cSld>
</p:sld>
</file>

<file path=ppt/slides/slide2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ABFD73-F267-4D03-BD76-59BB6DE2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5F86D-936D-4EAD-9BD4-34DBA5F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29615-701E-4C65-BF00-111D7B43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BB346-BC5C-4929-9034-E95B7126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  <a:cs typeface="Microsoft YaHei"/>
              </a:rPr>
              <a:t>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770E-AB2D-4517-9390-D25D7E64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704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CD19A-0821-4C7E-A2E0-766E8928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NIC-local root、secure offload、resource management 与 confidential storage 分开写。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21838-C44C-4B56-B42E-756549DF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3F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3F5E"/>
                </a:solidFill>
                <a:latin typeface="Microsoft YaHei"/>
                <a:ea typeface="Microsoft YaHei"/>
                <a:cs typeface="Microsoft YaHei"/>
              </a:rPr>
              <a:t>主讲材料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64BA5-2752-4058-AEAA-DE517B2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318C0-B20D-470B-8A8E-2C7424D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S-NIC: SmartNIC function isolation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D2BC0-7827-4382-BB1D-C72C2E66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3CD02-4504-496F-BFA2-128A6606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6B9B3-EDD7-4EEB-9FAF-403007FB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911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TNIC: trusted NIC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2103B-9238-4D86-A31C-08063632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5FEE5-ED76-4D25-AA2E-A51C4A9C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79E48-CB11-422B-B834-ACEADCCA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530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Hazel: secure disaggregated storage data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E8E7F-E772-4514-B1A7-E788B5D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62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32C06-3D2E-4BC8-8ECC-25013526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4DC9C-C13C-4405-AF97-08F3CCDD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8F087-5146-4858-82E6-84F22B35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D1F86-2399-448D-8333-1685DFA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 | SmartNIC / trusted NIC / secure storage data path  |  15 / 15 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BEE0A-2D74-41A6-818E-D001B4C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257</a:t>
            </a:r>
          </a:p>
        </p:txBody>
      </p:sp>
    </p:spTree>
    <p:extLst>
      <p:ext uri="{BB962C8B-B14F-4D97-AF65-F5344CB8AC3E}">
        <p14:creationId xmlns:p14="http://schemas.microsoft.com/office/powerpoint/2010/main" val="342267160"/>
      </p:ext>
    </p:extLst>
  </p:cSld>
</p:sld>
</file>

<file path=ppt/slides/slide2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F9EE5-D36E-4927-87B7-D0259EB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11F52-FC7C-4712-81E3-AE89672E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99210-E274-4A86-8353-1672626D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方向开场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7DF4A-FCCA-473E-8954-D61F133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path：方向开场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FAAD8-328A-48B9-9D83-35B3E8BD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A089D-A5AD-4C78-9CC3-77E7F372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16DE1-A736-4D1F-92F3-3396BB8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6748-EDFB-4391-8E5D-E3BA1D18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的核心是先界定保护对象、管理边界和证据强度，再用三篇主讲材料串起技术演进。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56FC-53F5-45A1-9DDB-082DB01B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80AD7-7E2F-403C-8E6F-C68A1D7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F5706-1D98-45BF-AAA2-F9E7AB7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B5580-D73F-495F-B6BA-C289337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FCB02-B3D9-4CA4-B875-2C4BE5D1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NIC-local root、secure offload、resource management 与 confidential storage 分开写。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1B3D9-9099-471A-A916-E9D67E4A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07654-A2D5-4853-881F-F4D61B23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固定三篇主讲材料；`nvidia_bluefield_operation_2025` 与 `khalilov2024osmosis` 作为辅助材料，不计入三篇主讲。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06EC2-1369-4A40-9A6D-42A3FBEC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2AB34-B132-4E7F-A92E-6AA5DD3D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先讲方向痛点和设计轴，再逐篇说明贡献、限制、证据强度和可落地条件。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FF73F-CF38-496E-BFD0-8C34BC3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5BAD5-5E30-4FD5-BC70-62002AD2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对规范、Survey、draft、vendor evidence 保持显式标注，避免把背景材料写成一手系统证明。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D67DA-CD8D-41A3-823C-0813FEF3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94520-FD1B-462A-891A-1E704DAC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7EAF4-9E1C-44FF-9F98-F3D5F5BA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三篇主讲材料的分工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3F80F-4FB1-4AB9-85E4-F09BD2C6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02C4D-D427-49E3-A2E1-B1526613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BE693-BD42-4AF7-95BA-CE57BD0B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78FF6-AB1D-4D45-8930-3A2DD633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ADB2F3-C16D-499D-BD91-137C6D41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S-NIC: SmartNIC function isolation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FEB129-DF8F-4291-A936-E768594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420D0-53A4-44F1-8152-F595609E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F7BC8-A825-48A7-B08B-B6411980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BB5A9-E912-4E62-B8A9-D1452235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TNIC: trusted NIC 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1E2D8-9B2F-4BC3-A6E9-3FC8F60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AC7E0-1EEE-4B9C-B536-E3C40058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DF134-8866-473D-80B5-45C02AE0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E07C3B-9F97-4123-BEC6-0A308A81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Hazel: secure disaggregated storage data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F0B1F-33C0-49E9-ADE2-DDE08ABE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5D63FB-8735-4EE3-90DB-6AAC3A3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6D9307-5F1E-48F7-B78F-CFA5F74A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EAC511-1366-4152-8AD2-F236044A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6F420D-750E-4220-BBA7-3EAF47B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EF407-34FE-4511-B2AE-D93E836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3D8DFA-8C0F-4651-8CCA-4FE5E703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0C4BA5-7EEA-4B92-9A31-9BE64C97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方向开场  |  15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2F51BA-D869-452B-BDC1-CFCE4D4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258</a:t>
            </a:r>
          </a:p>
        </p:txBody>
      </p:sp>
    </p:spTree>
    <p:extLst>
      <p:ext uri="{BB962C8B-B14F-4D97-AF65-F5344CB8AC3E}">
        <p14:creationId xmlns:p14="http://schemas.microsoft.com/office/powerpoint/2010/main" val="2019160460"/>
      </p:ext>
    </p:extLst>
  </p:cSld>
</p:sld>
</file>

<file path=ppt/slides/slide2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AC22B-33A4-4F7F-BC7F-0930FE6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06B14-7D6C-41ED-9E50-C5E629B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E9702-D864-45C4-B662-848B2650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F5AC2-2EA0-459F-8632-F0288C6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S-NIC: SmartNIC function isolation：内容摘要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781B7-6DB9-47C2-8115-D000C2C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BEBE1-B00A-4CC7-9ABA-7503CBC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CC79-F0B5-4EDE-8788-47006BB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2BFA5-2001-4E9A-BDD7-4CA6243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 提出 virtual smart NIC，用硬件隔离 SmartNIC 上的 network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BBCDF-367C-4823-88B2-DD01875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6505B-F72A-4242-88C1-7391E9A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CE137-CF3C-490F-A705-38C5A85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E9CAF-D4A0-4B6F-87D0-E7206B3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A5ABC-5196-41A1-9DE3-731019E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 提出 virtual smart NIC，用硬件隔离 SmartNIC 上的 network functions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A4B02-DCBA-4A32-ACFA-94F09B56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FE3A9-61EA-4C61-B79D-357DD17C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sNIC is the foundational peer-reviewed systems paper for cloud SmartNIC isolation.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0BBB9-714A-4E7A-98F4-99E8F115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F1F1F-AFF8-4A6C-92FC-92E7A539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3AC64-4365-469C-A183-C72F8571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2BE8A-2003-4995-9DD9-395837C1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20B6E-B18E-4E74-9DEB-1FE9750E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48C0F-148F-48DA-8350-1005D22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B48A4-6441-47B5-910C-85F425C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86858-B71B-46D7-850D-97EECC63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A78C3-C93C-42B3-AA23-DC6D4CE5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733E04-ECC6-46D8-9578-3DEE85CB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C2ABB-4626-4A5C-B537-3FBACCFC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443C-B69D-490B-9DEA-83FE7EE7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3423EE-AE68-4B09-8690-C3D89CF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50049-01A0-4347-A86C-54DC5D3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1A883-9050-4F0C-9022-175771B4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1CD6A7-2DE7-491F-A963-4325A638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204D9-5062-41BC-9EE4-FDD4D47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DABB5F-B904-4702-B7B6-3F1C11E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413394-A886-464B-BE40-9A4789F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来源：S-NIC: SmartNIC function isolation｜证据等级：E1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21876D-509F-414E-BC02-3F0C885D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C17750-1EA3-4D4A-8EE7-5D47110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5EFAD2-6482-4006-845A-C0533C2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F6183-1FAF-447F-B9B9-AAC1B86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内容摘要  |  15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564F56-D05E-460F-BD14-F223C5B7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259</a:t>
            </a:r>
          </a:p>
        </p:txBody>
      </p:sp>
    </p:spTree>
    <p:extLst>
      <p:ext uri="{BB962C8B-B14F-4D97-AF65-F5344CB8AC3E}">
        <p14:creationId xmlns:p14="http://schemas.microsoft.com/office/powerpoint/2010/main" val="1890691896"/>
      </p:ext>
    </p:extLst>
  </p:cSld>
</p:sld>
</file>

<file path=ppt/slides/slide2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FFF60-898F-4935-BE48-39B8548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9E483-C024-41F6-9AB2-2FB4619D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4D5D3-4A6B-4844-B58A-FA52127A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1D6F6-51D0-4F18-931A-4F74DAA3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S-NIC: SmartNIC function isolation：研究背景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7DA17-594E-4C42-82F4-4AE37DE3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2F8E-0774-4C73-A908-4C2CF28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47417-7DE4-4739-9427-09EC104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CF6CE-3BBC-45F6-917E-C0454FF1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SmartNIC/DPU 上运行 packet processing、DPI、NAT、storage offload 后，NIC OS 和其他租户。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CCD71-B521-425C-9BFB-5124635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047B3-FED9-4A7E-B1A3-21998F6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E1133-99C4-4EDF-B305-468CBFD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31039-0854-4E90-85DB-BE16C24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ACE5F-3216-438D-AFB5-FF2F731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SmartNIC/DPU 上运行 packet processing、DPI、NAT、storage offload 后，NIC OS 和其他租户函数可能泄漏或篡改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A8EF5-6EA8-48F7-B034-0B136816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047E9-7A0D-437C-961E-F315E56C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AF699-E3AE-4597-B1FB-0B26EB4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4DFCC-B27E-4C4B-9385-419D2248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94258-EAA0-4A8C-91CE-4A1ABA41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C96DB-074C-4247-9E3E-DD4B2C4B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5B227-3757-4CCD-86F2-AB8D21DE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15CD0D-5D58-4DB5-80D0-E1F7C5BE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B6714-CD04-4B32-B09E-927EDF5A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E951D-3E32-4AF8-A2E3-E5FBCDA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1BA9-7894-4C9B-B49C-F65C6D42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NIC-local root、secure offload、resource management 与 confidential...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2BEAC-AEEF-467F-AABA-3B57C35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159F4-343D-438B-8B82-C605666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92E15-A5FC-4B73-93AC-05594E1A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S-NIC: SmartNIC function isolation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B3053-CA77-49F0-BF10-3FD760B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D05E2-33C3-41F4-82E3-928F5C08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8199F-83B0-441D-A779-A785FD8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D2C75-C78E-4C0D-8787-093271A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690BB-3D87-411B-BA62-29CB19C7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来源：S-NIC: SmartNIC function isolation｜证据等级：E1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FD4D9-5325-4768-A339-A7AACDDB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DB535-2C6D-4C9E-9B0D-2D6DE22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7B56AE-ADF0-4078-9EFD-FF38CF1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45770-AA85-451D-BFFD-2E12A72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研究背景  |  15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805109-E3C3-4177-B58E-88A22544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260</a:t>
            </a:r>
          </a:p>
        </p:txBody>
      </p:sp>
    </p:spTree>
    <p:extLst>
      <p:ext uri="{BB962C8B-B14F-4D97-AF65-F5344CB8AC3E}">
        <p14:creationId xmlns:p14="http://schemas.microsoft.com/office/powerpoint/2010/main" val="1818037192"/>
      </p:ext>
    </p:extLst>
  </p:cSld>
</p:sld>
</file>

<file path=ppt/slides/slide2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2AB4AB-A200-4A85-8633-2C7B66C5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E542-69C4-46BF-97A8-974E137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A7503-470A-4076-A267-578F1B86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52051-A5BF-493F-BBE7-08B27FD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S-NIC: SmartNIC function isolation：解决方案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79366-E855-43E7-BB7D-DC53B5B2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9AEFF-352A-4730-B90B-AA213F37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CC687-0431-4E82-88C8-36D84B45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723A2-73FA-46D9-8F9E-B730DE6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memory denylist、locked TLB、cache partitioning、accelerator virtualization、DMA isolation、bus arbitration 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99341-876A-4713-8420-175E31E6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7CF79-D632-4CE1-9ECD-13661563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E7471-DAC7-4BA4-A0CD-E6ABCE5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0E82A-3E17-4D1C-90AA-379C2E6A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694E8-6959-4B6E-990D-B4D38DB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memory denylist、locked TLB、cache partitioning、accelerator virtualization、DMA isolation...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D9856-1DDF-4A76-B73F-C484DF13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DE09D-708E-4082-A2C0-A1565701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40B9B-4FD6-4905-86C4-56C67D6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1A71A-4520-4172-84FE-A524D8F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60A9F-AB28-47A1-9128-8EC76FD2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C204F-2495-4AA6-8166-4098E5EA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Virtual SmartNIC launch/destroy lifecycle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49F36-2AA4-4900-ACB0-7B7689D3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DF233-0604-4503-ABAB-2367D3DA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CC3534-D49C-4301-AB1F-4F401C7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94ADC-6918-455C-BC8A-0856EE47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 denylist, locked TLB, and DMA isolation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95FE1-F28E-46AC-B039-BB84CA0F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3D6EE-CAA8-4EF7-8885-E9C127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CAF52-90D9-4C85-9182-CFCC53C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298B92-CD2F-4F1F-BF42-1F80F85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Cache partitioning, accelerator virtualization, and bus arbitration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7B42B-B154-4FC9-9347-4A7A2C34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683FED-C99E-4180-9254-8205A973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来源：S-NIC: SmartNIC function isolation｜证据等级：E1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262A4-F619-4C4F-9845-70CEAD37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A2FDC-99E4-44EE-B41C-15947D9C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608B40-7B19-46C0-969B-7CE99F9B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B0D09-AB5A-4315-8884-A321FF74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解决方案  |  15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0FC8F-A4FD-4BE4-9656-C11AA83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261</a:t>
            </a:r>
          </a:p>
        </p:txBody>
      </p:sp>
    </p:spTree>
    <p:extLst>
      <p:ext uri="{BB962C8B-B14F-4D97-AF65-F5344CB8AC3E}">
        <p14:creationId xmlns:p14="http://schemas.microsoft.com/office/powerpoint/2010/main" val="350675983"/>
      </p:ext>
    </p:extLst>
  </p:cSld>
</p:sld>
</file>

<file path=ppt/slides/slide2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306EA-FC2E-456C-8C80-CB69B77F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361C1-2039-4063-806B-5C071D44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C6CB0-6B94-461D-9A18-4E8ECFF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7D18D-382B-4254-9C46-EECCDC2F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S-NIC: SmartNIC function isolation：实验结果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E09E-F0EF-468A-A276-504237C4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80293-FD56-489B-8A38-180B3A6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30AB4-2818-45DA-94AF-9B097F8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4F91A-7A30-46AD-8A83-92EFA27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论文报告硬件面积约 +8.89%，功耗约 +11.45%，function throughput worst-case 下降小于 1.7%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4E5C4-4A39-4DAF-B774-B77801E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CD7B7-367F-4902-B432-9FD6FC43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2ED6B-1963-486D-B873-6513A23E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E1E79-5FED-408E-8C27-BA7308F6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FAE1F-8643-4D27-BA9D-2968A0E4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论文报告硬件面积约 +8.89%，功耗约 +11.45%，function throughput worst-case 下降小于 1.7%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3405C-8A67-4562-888B-650B0E2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D0BD4-7402-4B56-A04D-946FFE92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F0827-71C3-4334-896A-2C120BF2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0B6CC-F1F4-4AF9-95D2-1FDE5BC4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4DCCA-8F02-4FAA-85AD-BABEA8F0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BB463-7B60-499F-951F-2D89178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7F3B8-893C-4168-8288-BEAD5BC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D0443-9EAD-4E15-8190-6E248FE0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C9144-038B-4F11-9FCE-8E32A8B3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S-NIC: SmartNIC function isolation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61651-89D8-4845-9118-E8B8852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668A7-D708-4D71-AD86-9AA96162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580D3-B47F-4577-A0C9-538CBA09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B4352-A9CF-4D7D-99CA-A50BAC5A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46409-5FB4-4995-B236-C8E3DB89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2DBFF-BC05-4391-B86A-5D907C58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9988C-00D9-478E-9752-917E7737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5929F-687B-4A4D-B987-4C0F9C0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9B6CA-4991-49DF-8CBA-FE16FD3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B438F-17CB-4013-9A50-EA39769C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002565-DD71-463A-8F17-A1BAD87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80533B-5276-4706-8A05-54C2F125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D1B6B-CA0C-4A13-93EE-7E091C26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AEF3D-3577-4775-AFA7-57A221E9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AA680-AEAA-4052-8995-D6D482B6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来源：S-NIC: SmartNIC function isolation｜证据等级：E1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389E23-5B27-4F98-87E9-C708C91D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C3D5C-2EB9-4836-88D3-2B2D1B8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29BCF-3C98-4E15-AF6F-111A371A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A60878-03BE-4024-BA49-35B0A174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实验结果  |  15 / 15 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BC14EA-48F8-46D4-B59E-BC262B4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262</a:t>
            </a:r>
          </a:p>
        </p:txBody>
      </p:sp>
    </p:spTree>
    <p:extLst>
      <p:ext uri="{BB962C8B-B14F-4D97-AF65-F5344CB8AC3E}">
        <p14:creationId xmlns:p14="http://schemas.microsoft.com/office/powerpoint/2010/main" val="9220336"/>
      </p:ext>
    </p:extLst>
  </p:cSld>
</p:sld>
</file>

<file path=ppt/slides/slide2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AABCD-15B1-45AD-A2A5-E46E5BED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C386D-35A6-4420-9BDC-00BF02BB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502C1-1AA3-4D69-80BD-CA86AD9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58BC2-339D-46A5-B1BA-4BF9609D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S-NIC: SmartNIC function isolation：文章评价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42BCA-C51A-4F32-B9B8-BD3A15B8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4D05E-C4C2-4716-BB09-6689D194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AB92-6614-41FA-BACA-18DEE32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83B56-4564-4E4C-9381-FDA92DA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 secure vNIC/vSwitch/offload 提供清晰的 NIC-local resource ownership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13DF5-C2F3-440B-A5D1-AC34316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ECBCE-117C-4F4D-AB5F-DD9535C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A6E72-3C36-489F-8E73-9C514A3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8866F-676E-4128-9650-48924ABD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C1C99-BCF4-41D1-ABA2-DABA5A7E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设计优势：为 secure vNIC/vSwitch/offload 提供清晰的 NIC-local resource ownership baseline。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7B092-A615-47F0-9D55-FF97147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F8C8C-4993-4A38-878D-75292A67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局限性：没有真实 production NIC silicon，也不是完整 VM/Realm trusted I/O 或 SPDM/TDISP lifecycle。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3FB8E-6560-459E-8C14-9146355C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9E044-CDD2-4869-96CB-4820E95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商业化潜力：可指导 DPU tenant network-function isolation；落地风险在资源利用率、function chaining 和 vendor...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31C6F-8072-4F6F-97CA-089D2DF0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B0766-96BB-4EF6-8E71-6B0F8B1B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8CE2D-320C-49D9-AE5A-675D869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10B1C-D50C-4B60-A195-ED18B27C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83101-3867-4CC7-B263-5D90AD44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B5D06-AED0-464D-9D53-7DC31261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FD3AC-80A0-40A8-A4A3-1C5B725C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3217F-FB0C-4FB6-ABD4-142C02E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F144B-23C3-44B9-88CB-25CA6161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E6442-EC75-4D34-B687-462DFD4A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 secure vNIC/vSwitch/offload 提供清晰的 NIC-local resource ownership baseline。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133E7-10D7-4ED8-92A0-B601D70A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12053-C050-43D1-B904-E2BF333E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65495-15F3-491C-8CAC-118274D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没有真实 production NIC silicon，也不是完整 VM/Realm trusted I/O 或 SPDM/TDISP lifecycle。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0C073-6BF6-45DB-AF86-27AB8E4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69D84E-7EAB-4B44-8E3C-FDDC6D7C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F10E6-452A-442E-8945-A177085A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可指导 DPU tenant network-function isolation；落地风险在资源利用率、function chaining 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FFD254-0D35-4768-94D7-A72FDC9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862DF6-48E4-45E5-9BC2-C1A82943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B0B182-4305-4EF0-9664-E89781DB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CD8DD6-9651-47A5-90CE-E241F536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499268-7B47-4C79-9777-F24769D6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来源：S-NIC: SmartNIC function isolation｜证据等级：E1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6D7687-FCBF-4BCE-9B9F-440E774F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ED1F71-C77D-4ABC-8A20-24804290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1C0B9-5038-43CD-819E-29E4C25F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6ED255-6C1C-4E52-AAB2-A4E382CC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文章评价  |  15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EB687B-085E-42AC-9E75-89C78C5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263</a:t>
            </a:r>
          </a:p>
        </p:txBody>
      </p:sp>
    </p:spTree>
    <p:extLst>
      <p:ext uri="{BB962C8B-B14F-4D97-AF65-F5344CB8AC3E}">
        <p14:creationId xmlns:p14="http://schemas.microsoft.com/office/powerpoint/2010/main" val="560247913"/>
      </p:ext>
    </p:extLst>
  </p:cSld>
</p:sld>
</file>

<file path=ppt/slides/slide2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8B447-F7EC-449F-8BA6-815F22C7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B589-EFF0-400A-ADC4-77264C08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9C0B7-B731-44C5-B61B-59D570A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2A20F-A288-419D-A100-5EDFB9AE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TNIC: trusted NIC architecture：内容摘要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514B7-3C2C-48A4-B4E5-C7CDE7F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4D22F-EB0C-45EC-9470-D370EF0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57A26-02B2-4C54-9420-F916B747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2CEC9-6848-441E-87BD-AC5B584B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 在 NIC 级别构建 minimal silicon root-of-trust，为可信分布式系统提供 transferable authentication 和 non-equivocation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2649E-E45A-49FD-8381-2FF50A95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EF38C-356C-4172-A321-F3C664BE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35CA4-A5B3-42A3-857A-55E1F9DE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43B96-D9EC-43C5-8D18-C00588B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0E8D9-425B-443B-9135-B751092F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 在 NIC 级别构建 minimal silicon root-of-trust，为可信分布式系统提供 transferable authentication 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898F2-CF56-44F9-9642-8520505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4E82E-1E23-433C-A485-C66BD3F4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 is a peer-reviewed ASPLOS 2025 SOTA trusted NIC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0E501-CE86-47B3-A89A-2919AF32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BCDA2-B8C3-4D30-903F-518D694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90745-40FF-4A79-9A7E-3EFEEF0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6FB23-1728-4FA3-BBEA-989E014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E9FEE-86FC-46F1-B50C-27C06C4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9598A-6F5C-4C91-9372-18062584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4D7E3-7B67-4E1A-84F0-2FEFDA08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9BC50-5391-4AB9-B786-C6994E9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304D2-0CC2-47D5-8AFE-A6277226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EC64C-C4E2-4529-A44A-E955B478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F77BB-D8E8-4A85-80C1-79D2CDAC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38796-7C73-411C-A76D-C1756D4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4BFE6-1F2E-4A5F-83D2-768139B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E8D3A-D776-402C-B448-8DDF42F9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6AE7AB-2851-4866-A125-9AAB22F0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7D68B-6DF0-474B-A362-25D261DA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74E96-335F-481A-A7DF-6D040888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BC0F0-F108-4245-8730-7B70851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C0A0D7-57FF-4B0E-990F-66E81731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来源：TNIC: trusted NIC architecture｜证据等级：E1 / 同行评审改进证据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2BB717-C15D-4BC9-BDDF-CD7347A5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756B4-BC49-4C96-B14F-AB91ED38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484893-36D5-4416-A74B-04D4ADB4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C943DC-0C13-478C-84EF-942F059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内容摘要  |  15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2417E-DE68-4807-80EC-8DC9625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264</a:t>
            </a:r>
          </a:p>
        </p:txBody>
      </p:sp>
    </p:spTree>
    <p:extLst>
      <p:ext uri="{BB962C8B-B14F-4D97-AF65-F5344CB8AC3E}">
        <p14:creationId xmlns:p14="http://schemas.microsoft.com/office/powerpoint/2010/main" val="1997394604"/>
      </p:ext>
    </p:extLst>
  </p:cSld>
</p:sld>
</file>

<file path=ppt/slides/slide2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5384D-B95C-4E9C-B5A2-377CE0D6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B9853-D9B7-4B73-8C88-2622009E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C077B-472A-4157-A4D5-7F279B7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9E52C-0C11-4167-A4EB-55389AB5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TNIC: trusted NIC architecture：研究背景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2F8A7-3AFF-41CD-B2DC-2D8C85C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8CF45-682C-4E6C-9571-4AD249C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65B0A-DD49-4277-9AB4-5E2381F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3B11D-1313-4A47-A338-2AEDFAC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TEE 在跨节点网络 I/O 中 TCB 大、性能差、异构性高，无法作为统一 network trust substrate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E03AB-CE41-4255-B964-58817F6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64BD4-1FA3-46CF-9AD5-071F9E4C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77F99-5E92-4975-9409-F890C3D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4E2BB-C316-4E1D-8805-8E55373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B296F-0ED4-4231-906A-D5ED7CD3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TEE 在跨节点网络 I/O 中 TCB 大、性能差、异构性高，无法作为统一 network trust substrate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800B0-730F-4AA6-A9E1-994B557E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E041C-C502-48B9-83E7-52235BF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993CD-D922-44C4-854B-A815F450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FC8C0-B1DF-47EE-B9C1-EC64A053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1B5A3-C1C2-43B5-ADC6-7EAD87FC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283EE-BE15-4BED-9C35-79ED4DFD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DB8AC-8425-4D52-8B5D-512B518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951F4-5408-4A74-8202-A1727E92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A8DB6-977A-4C88-93FB-43643E7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36A7C-F54B-4F1B-92EA-619938A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AA438-9862-40BB-8692-C7C3879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NIC-local root、secure offload、resource management 与 confidential...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85F08-CA06-43DD-937A-6CBB1ABD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81F06-9FC8-44CE-A4F4-81B42E64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64F16-8FE8-4E3C-95F7-C6CC8A2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TNIC: trusted NIC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B9CF9-7F60-4432-9E20-A3611A07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D889D-8BCE-4415-A5BF-8F35A68B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F8FF5-AA66-4CCF-912E-FD15985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FB1E13-5C1B-4317-B2E0-7BE1F09D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24849-7F68-42C8-B354-1D16AA91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来源：TNIC: trusted NIC architecture｜证据等级：E1 / 同行评审改进证据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32E71-42E5-4BE9-8E05-A1777C0F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62B56-715E-420B-A746-F52DAE9C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8F69EE-09FA-4CBA-9FCF-050B3FD7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A8B5B2-08AF-41E9-A4C7-A9B9B217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研究背景  |  15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516824-929A-4CDD-87F3-CE08B25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265</a:t>
            </a:r>
          </a:p>
        </p:txBody>
      </p:sp>
    </p:spTree>
    <p:extLst>
      <p:ext uri="{BB962C8B-B14F-4D97-AF65-F5344CB8AC3E}">
        <p14:creationId xmlns:p14="http://schemas.microsoft.com/office/powerpoint/2010/main" val="1742159970"/>
      </p:ext>
    </p:extLst>
  </p:cSld>
</p:sld>
</file>

<file path=ppt/slides/slide2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AD3CE8-FBB4-43A1-A834-326C942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99297-72BB-45F7-8CD1-BDCAEA9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16F99-58C1-4852-B73F-051D9F4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F8521-69AC-4699-83BB-B17D5621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TNIC: trusted NIC architecture：解决方案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09F13-3D1C-440B-8366-46FAB58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BF557-196D-4D3B-87F1-3EF132C9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10043-5D9B-40AE-8202-123BC624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B6961-D17A-4AAB-9B66-8DCBD8B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 NIC hardware 上实现最小安全 primitive、kernel-bypass stack 和可验证协议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06BF3-27B4-49CE-8D07-B658EB6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CF651-E879-4F08-98B7-900EC903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98E41-B277-4289-8103-94A3A6C2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F3E48-A2B2-4ED3-B1A4-7CF20B89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FFBE6-AB18-4446-B32D-897695D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在 NIC hardware 上实现最小安全 primitive、kernel-bypass stack 和可验证协议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61A31-36B2-4899-ABCC-CC27BCB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6FE81-8FC5-4952-A194-D30AAFA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 Tamarin 验证核心性质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BDD436-7AF6-4993-91B1-DC64FC5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9F70F-3E86-4F40-8DDC-ED6247BF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1D4AF-6162-4421-9BCD-B280D7F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8B7C3-303E-4E6F-89D1-E69A87D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D46C1-1A7A-4C84-871C-EAC3EF8A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8A15C-8F15-4619-82CF-0C3A9D45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NIC-level silicon root-of-trust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A211C-C20E-4AC6-9715-2FEC609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C034-AF8A-4AAC-B8D7-607FE34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9B7A9-F193-4F3A-BDDA-4CAE5E7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C9240-446C-461F-AF82-4419583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Transferable authentication and non-equivocation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2BD7A-C0B4-4870-B498-2E226F20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F7C63-25EC-4E32-8305-9D79AB1E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31BFD-6B9B-4E78-9726-AD5B7FA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00493-0986-4ED4-8163-B84AA6E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Tamarin-verified protocol core and kernel-bypass stack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82B9D-C878-4ECD-BF8E-9461715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C805E-B1C6-4E60-8275-68A2A718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来源：TNIC: trusted NIC architecture｜证据等级：E1 / 同行评审改进证据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EAF0CA-042F-4AC5-AE96-FED033AA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861763-F37E-4CDF-90E3-555F122A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20390C-B417-4288-B5D1-501B24A5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4AF1CA-5F45-440B-B45B-FFFE53A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解决方案  |  15 / 15 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B744AB-7134-4F1D-898D-570684CF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266</a:t>
            </a:r>
          </a:p>
        </p:txBody>
      </p:sp>
    </p:spTree>
    <p:extLst>
      <p:ext uri="{BB962C8B-B14F-4D97-AF65-F5344CB8AC3E}">
        <p14:creationId xmlns:p14="http://schemas.microsoft.com/office/powerpoint/2010/main" val="689674099"/>
      </p:ext>
    </p:extLst>
  </p:cSld>
</p:sld>
</file>

<file path=ppt/slides/slide2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010B9-FC42-4F65-9275-1AA2C5E6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D053D-D64D-4FF6-8149-E16040B1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7D708-A1FC-4489-BD87-82A3CDD5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B10E5-A496-459D-BAEB-0B6DF756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TNIC: trusted NIC architecture：实验结果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BCB2C-BB0E-44A8-9C8D-F3A81EEB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C33C7-C200-4749-8B5E-17E858B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F4490-D394-4E3A-99FD-B0D90E70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8D249-603B-4001-BE3E-B0964A2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论文报告相比 CPU-centric TEE systems 最多 6x 性能提升，硬件 TCB 约 2,114 LoC，并用 Tamarin 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E2B29-EFCF-4646-9460-D5FBEA67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7F54-42F7-449D-80AC-D9E2BF6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C0704-C787-44BC-A4E1-2D4A4941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F6C52-2281-43A0-8E13-493CEE11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7EE29-A4E9-4542-83A3-1A766CF2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论文报告相比 CPU-centric TEE systems 最多 6x 性能提升，硬件 TCB 约 2,114 LoC，并用 Tamarin 验证核心性质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0F2D3-0353-4C13-9F82-A1FFE4A2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A5E45-913B-4780-84A9-BF027373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E3BAB-E30B-46E3-A917-6145BF80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E921D-1A2F-4245-B724-067EB7A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5BA3B-31E4-4CF0-B008-E7C9BBB4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BB136-C3AB-4C56-A66A-0EBC16B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7B794-0E4F-4968-B16A-17B1D570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455A1-48E8-4EB4-9659-79D59FD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F0A4B-3E8A-444C-98D5-CA70F0D1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TNIC: trusted NIC architecture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0F6EB-571F-4649-A88C-316BBD32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660E0-AFD5-4593-A59F-DB655D0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C37CB-1E87-4458-9E3F-BC1B5A48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62287-76F9-4D04-B46C-7C6A12FC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EBC49-C0DD-47AA-A427-88F524AD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EA6F3-3772-4FBB-BD2B-B653B91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BBE1C6-6ACC-4007-98D6-4562833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BBB1B-3AD9-49B8-AD03-245DF1A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117AE-16ED-4107-BAA9-8ED31AF5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6AFE8-8612-46A3-AD20-B2111939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E2E779-9D2F-43B6-8918-8FCC849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770466-493D-481E-A0E9-8B24C80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C1F556-0111-4503-8290-C571B341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0E2EE-3C41-40FB-A64A-519B72D0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030645-4EE9-4CFB-A09A-D8D802E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来源：TNIC: trusted NIC architecture｜证据等级：E1 / 同行评审改进证据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54C913-8534-42BB-8010-E161934F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91FB9-88C3-41F4-9C8F-E62FDD1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5F2F9-4693-483F-BD6A-E1273D31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BF8C4B-C229-4C89-9745-DE4E9E83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实验结果  |  15 / 15 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EC9980-6ACC-4A48-8A76-01042EF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267</a:t>
            </a:r>
          </a:p>
        </p:txBody>
      </p:sp>
    </p:spTree>
    <p:extLst>
      <p:ext uri="{BB962C8B-B14F-4D97-AF65-F5344CB8AC3E}">
        <p14:creationId xmlns:p14="http://schemas.microsoft.com/office/powerpoint/2010/main" val="1034862054"/>
      </p:ext>
    </p:extLst>
  </p:cSld>
</p:sld>
</file>

<file path=ppt/slides/slide2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2254A-891B-4AD8-B6AA-2AD5C8A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A4D5F-3CB9-49DB-8D4F-CFC26450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6F4B0-3B51-4042-8B45-C515E26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9AB4-45F5-47C8-A126-91C86CC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TNIC: trusted NIC architecture：文章评价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738CA-5280-4C26-BD08-2409F1A0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CA80A-A7A1-4FE1-AE33-547CEBA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12549"/>
            </a:srgbClr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32619-4CB4-4737-B9D2-89CEE5B7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E1 / 同行评审改进证据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50094-0F50-4209-B4A1-5B96E4BF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 network endpoint root-of-trust 提供 peer-reviewed SOTA 和形式化验证证据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D2A61-CCE9-4E55-BCBF-964DA5C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64F20-C1C8-4EEC-9813-FB6ECBB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D431C-6171-4839-9BE9-D7BA4463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0C8C5-EEC1-44EF-BD73-09EF899D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B0DE9-7663-4B67-A082-AA2FFBBD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设计优势：为 network endpoint root-of-trust 提供 peer-reviewed SOTA 和形式化验证证据。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BA0A3-D7D0-45B6-818E-AF277D7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F7F42-1703-416D-9102-16074BCC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局限性：不保护 workload memory，也不替代 SPDM/TDISP、IOMMU、link encryption 或 device lifecycle 标准。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058D8-0524-4D82-A80C-23C4EBB4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01181-3B46-479B-9BE4-8E517D0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商业化潜力：可成为 SmartNIC local root 的学术蓝图；风险在 silicon provisioning、证书链和云厂商互操作。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89997-262B-4845-A1E6-9E3038B8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B587B-1D1C-4041-9282-2887809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证据边界：E1 / Peer-reviewed SOTA；本地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88F74-3096-4881-8A3F-5C8022F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9A42F-B86D-4419-B0BE-ED6DC045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53361-896B-49B7-916B-50BE653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2200B-3537-4F07-9B13-83166BD0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2B1A8-B8BD-4E13-9579-EAB0069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83426-1013-4368-B85B-F90ACCA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5B305-7921-41E4-A202-2581B83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6CECF-3F15-47D3-A89B-4918654F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 network endpoint root-of-trust 提供 peer-reviewed SOTA 和形式化验证证据。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DD201-F7FB-4A90-A004-C4AC0570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152A34-E276-413D-B8A5-34CB5FA3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25388-C4E3-4870-8181-B7E28A9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不保护 workload memory，也不替代 SPDM/TDISP、IOMMU、link encryption 或 device lifecycle 标准。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583C2-8398-439C-8BBC-02D9F02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296586-A177-4A17-9C77-D4AC4DC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ADD10-C873-4589-8DB3-83EC943A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可成为 SmartNIC local root 的学术蓝图；风险在 silicon provisioning、证书链和云厂商互操作。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6CD27E-0FB1-4EC1-9FB4-234380F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5FAB33-0FA7-4661-A4F5-89C50E65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BA2289-158E-4E42-997C-CC3E373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代表性改进; 证据强度 E1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60F89E-0B7C-4304-8A1E-2E12B93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E42C9A-82CF-4966-8E55-74C6A60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来源：TNIC: trusted NIC architecture｜证据等级：E1 / 同行评审改进证据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81B08F-4269-4EE0-A66D-6E39240A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377E8-E422-444B-8A21-91A0F21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932BFB-4471-41FE-952C-4A89FEC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C05C1-6B86-499A-AB7A-67F244C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文章评价  |  15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F42D03-44FE-4CFC-91AB-4F03F6C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268</a:t>
            </a:r>
          </a:p>
        </p:txBody>
      </p:sp>
    </p:spTree>
    <p:extLst>
      <p:ext uri="{BB962C8B-B14F-4D97-AF65-F5344CB8AC3E}">
        <p14:creationId xmlns:p14="http://schemas.microsoft.com/office/powerpoint/2010/main" val="350914304"/>
      </p:ext>
    </p:extLst>
  </p:cSld>
</p:sld>
</file>

<file path=ppt/slides/slide2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102AF-5926-4FC4-A552-C43B61C2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9EB66-8100-4612-950A-28B309E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1307F-E7D7-4D22-A2DD-98E684EC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内容摘要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0F41D-5D2E-4278-A7FF-7CBBF6C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path：内容摘要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7854C-C313-48A5-81BC-C1B6546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DE1E5-77E0-4879-A719-D32E92B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F91E-51BB-40B2-BFD2-294DCC4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42D40-E305-40D8-80F4-0F9C7DE8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 为 NVMe-oF disaggregated storage 提供 confidentiality、integrity 和 freshness，并利用 BlueField-3 offload 降低开销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B93FF-49C8-439A-9740-B7BCE60F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E9C0B-4519-4EBE-A937-4D84FED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FD903-DFE1-4871-94E3-943AF3FF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AD7BD-FF0D-4F5E-AA29-7FD34FF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86EE1-6876-4993-9846-F898864C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 为 NVMe-oF disaggregated storage 提供 confidentiality、integrity 和 freshness，并利用。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D4527-D44E-413B-B56C-5680253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F2461-8B6F-4185-9459-7E8BA53F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 is retained as a draft SOTA item for trusted NIC and secure storage data paths.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52555-B72B-4F93-A85E-C07E005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6DB63-051C-4CE1-9026-D1478C5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2CB0C-E428-49FD-8B61-A8EBA98C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A8295-6516-478A-9BE5-2138B0C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7FF75-F9CB-4252-80A6-E25745A5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6F166-97A1-4AAB-AC07-F54B3B5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59BDA-118F-4B14-8646-DDC4BB92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论文定位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FC109-0FAB-48FB-9978-22344E3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2E297-4E36-483B-BB84-C3215BF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6EE85-C4FA-4FED-810A-A4226F3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材料类型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E3898-BB7B-4E7D-B30C-91E4001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系统论文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4DFDB-5EA7-4D5A-AFEE-6897053E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7D4C80-4376-4853-A96D-8CB1B2C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00BE9-DDFF-432D-8D31-89CB5AB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64F600-7030-479E-B316-6D24AB3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06A00-E3AD-4BF3-9DB9-2C2F8901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00B7E-9159-4C54-BAC5-9EAD1AFA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92F11-E1A0-408B-9D15-2194B83A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259DF-C337-45F3-AE85-289E63D7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来源：Hazel: secure disaggregated storage data path｜证据等级：E3 / 草案/未批准规范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3942F-C2DA-4A8C-A509-D0EDD75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76812-D94D-44FF-B8C4-ED624DB2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D4D97-2BDC-403D-AD5A-6CBCB9B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AE10A2-0445-439D-867D-300392E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内容摘要  |  15 / 15 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288A7B-6F94-4B0A-BD5A-D861C006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269</a:t>
            </a:r>
          </a:p>
        </p:txBody>
      </p:sp>
    </p:spTree>
    <p:extLst>
      <p:ext uri="{BB962C8B-B14F-4D97-AF65-F5344CB8AC3E}">
        <p14:creationId xmlns:p14="http://schemas.microsoft.com/office/powerpoint/2010/main" val="2116904109"/>
      </p:ext>
    </p:extLst>
  </p:cSld>
</p:sld>
</file>

<file path=ppt/slides/slide2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67D74-F179-4914-80F0-35E6CC4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5DBAA-8312-4308-AE1D-5FD676D6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13420-4D79-4A74-ABB0-5D336BB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450A4-F340-4BA6-81EA-D51C153B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8ADE8-2526-4DEC-8722-A62C95A7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E70F7-2D26-40B2-AA01-66AC3217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A941B-A6A8-4028-86AD-5BB4EE26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152A1-33C1-4AFC-BE81-57F337C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 使用远端存储时，本地 dm-crypt/dm-integrity/dm-x 难以保持性能、扩展性和 replay freshness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7F6E6-0F96-4AD8-82F8-2D7FF57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44E9F-EA21-4068-A92A-63334C7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46838-9B8D-4078-8917-9344CEF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C1C8-2A6D-444C-A6A9-30B0142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444B-C944-4D30-A345-F6ADAC5B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confidential workload 使用远端存储时，本地 dm-crypt/dm-integrity/dm-x 难以保持性能、扩展性和 replay freshness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50D05-728A-422F-B5B5-6606B82B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BB154-3926-4BAD-B57A-3CA772A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D37AF-9C9F-47EA-BB06-5D65F68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2C4BA-BA7C-4C4D-BBB2-706B520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1DD1B-F88A-431F-885D-4BE28FA2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F7949-283A-4CDD-8752-11AF3DA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C42FB-D183-4977-BD36-8AD82C41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保护对象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D6165-48FA-4646-93F2-6C02C33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5A0A92-918A-427C-AC5D-D78C4549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063E4-B1D4-4331-9FCD-403540E8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传统瓶颈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11DE7A-4B2D-4D68-9333-8FA4F50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NIC-local root、secure offload、resource management 与 confidential...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4018B-BD80-4FEB-A20A-42250D2B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258FB-6435-4556-B3E6-910638C9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本文入口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C7150-D7DF-47C1-A04C-F08F6FA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Hazel: secure disaggregated storage data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DE818-6D85-418A-B54E-F41A080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A28B7-052E-413A-9C2D-FC19B78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8FA46B-CBF3-4DF5-ACDC-B43EC89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C11A6-0671-4626-83B1-18AF043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89FF1A-A609-43BF-B16E-10392BD0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来源：Hazel: secure disaggregated storage data path｜证据等级：E3 / 草案/未批准规范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810D56-C14B-46FB-AD24-48B01BE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1921BF-9249-4059-9A4C-B8550C7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131515-2884-4635-8911-CCC19600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64F35-1B0D-4EB2-8C4E-DE595B9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研究背景  |  15 / 15 方向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3A86F-1B89-43FE-9C05-8E8C169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270</a:t>
            </a:r>
          </a:p>
        </p:txBody>
      </p:sp>
    </p:spTree>
    <p:extLst>
      <p:ext uri="{BB962C8B-B14F-4D97-AF65-F5344CB8AC3E}">
        <p14:creationId xmlns:p14="http://schemas.microsoft.com/office/powerpoint/2010/main" val="525476842"/>
      </p:ext>
    </p:extLst>
  </p:cSld>
</p:sld>
</file>

<file path=ppt/slides/slide2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74976-FA5D-4E92-A81C-96B23046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66C00-6C9D-4E0C-BC0F-D0622663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F06EF-2D54-43A8-A303-EC621E01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9F0E4-EBB3-41C2-9266-E456994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path：解决方案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B7A1A-D182-4F16-9008-DE237F58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9B390-3818-4349-9BB1-EC2F436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52C94-763C-4EB1-86BC-08E256B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A2BC8-397A-45FD-ABE1-8905828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counter leasing、NVMe metadata、Hazel Merkle Tree、metadata cache、eventual consistency 和 DPU crypto offload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C8441-0A56-41E1-8C4C-037487B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7489-8D87-4E9E-8515-45DBEC8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A88D3-C77F-498E-BB10-355BA6E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75F4-45D7-48E7-AABE-CB3C527C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88E28-16E9-4705-92B4-A18194C4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counter leasing、NVMe metadata、Hazel Merkle Tree、metadata cache、eventual consistency 和 DPU...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486EA-8A5E-475B-AF98-1EE26D5F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AA606-1378-41F5-BB77-2020C77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2CA78-99CB-41FB-85EB-5A278585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核心设计拆解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15FBD-E46F-4320-A631-2A39C98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C175E-9ECF-4D96-9FD4-6E36D818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6FEEF-87CC-4BBA-82D9-0AE5892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Counter leasing and KBS/TEE-assisted control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34A3F-7E53-4710-A0FE-EA8FC77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771B2-94C9-435E-A979-5DA76F07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4B9BC-138F-4FE1-98A9-54629A8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29F0B-AFF0-4438-ABFD-68419D7C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NVMe metadata plus Hazel Merkle Tree freshness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5DA4C-8E38-4201-9AFD-BD2AC71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0" y="3581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84559-7CD0-40B6-A60D-722C3A9D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700" y="3009900"/>
            <a:ext cx="144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FDA2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A5DA3-E22F-4434-8E04-129185D4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3124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00255-24A2-4D65-9780-9650171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50" y="3409950"/>
            <a:ext cx="117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73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BlueField-3 crypto offload for NVMe-oF data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33C5B8-0262-44BE-8289-9F49C205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52B35-0C00-448C-B329-B32F8AE1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来源：Hazel: secure disaggregated storage data path｜证据等级：E3 / 草案/未批准规范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C90AC-35A5-49BA-9D97-B70D930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41D4E-4554-4A8E-B522-DF722B59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4D32C2-A89F-408B-B840-30FF8C6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E4628-2F73-4C4D-BB41-F852AF03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解决方案  |  15 / 15 方向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84361-94E5-4FEB-8DA3-81CDB10E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271</a:t>
            </a:r>
          </a:p>
        </p:txBody>
      </p:sp>
    </p:spTree>
    <p:extLst>
      <p:ext uri="{BB962C8B-B14F-4D97-AF65-F5344CB8AC3E}">
        <p14:creationId xmlns:p14="http://schemas.microsoft.com/office/powerpoint/2010/main" val="2023134002"/>
      </p:ext>
    </p:extLst>
  </p:cSld>
</p:sld>
</file>

<file path=ppt/slides/slide2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9F09F-763B-4F9F-B537-307444B8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10DE6-C382-4FF5-AC47-C6D97AE4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F945C-6F29-4E0F-AB01-BBAADB9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2DD2A-AB3E-4E2F-A56D-E3472AC4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DA795-BFBA-4371-A864-6A6958F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121D5-D500-494B-B0C7-06454519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E1249-48B5-4A2D-980C-493C121B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A6AAB-3394-4CAD-B474-673D75A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preprint 提供 NVMe-oF storage 原型评估，报告常见路径 1%-2% overhead，IO500 平均约 6.。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A362-BBA4-4266-98C1-080D3D64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89120-1D50-4F8B-8519-9CCB307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19BB3-2C76-4D43-B994-E0C21955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DC67-AD93-42B8-A955-F5AFBCC9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D78B0-E60A-4579-A3D9-A4732E4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arXiv preprint 提供 NVMe-oF storage 原型评估，报告常见路径 1%-2% overhead，IO500 平均约 6.3%，YCSB p99...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498B0B-E561-485E-810E-E14FDF7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8AE71-2927-4004-9AF2-1B71FB2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小随机 freshness I/O 是弱点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51BEF-036E-4B4D-8B74-AB4461DE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F6D90-39B1-4CE1-816B-32D7FEA4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10C7F-545C-4E68-AFC3-08E82AC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实验/证据边界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BB494-C5CB-450F-8BC3-84274FDE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95E78-270D-4D8B-B446-2FFD5116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6B0B3-1369-45C3-BD3A-D0499C59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9C9266-89BE-4D08-A182-B9464CA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BCADE-1B3F-4E5F-BD73-87FCA2A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数据/来源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508E5-9FE7-475B-87D0-503973DE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Hazel: secure disaggregated storage data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905AC3-8C3F-4B97-84B9-1B576DD6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本地 PDF 已核验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02196-13B4-4643-8741-BA12BE40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DB5F5-8998-4E90-BBDE-BC923D9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Baseline/对照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980B1-C7E6-42DC-81AF-56EB5C6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以论文或规范原文为准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A2DAC2-A221-4E25-B8A1-7E1CD65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不跨材料外推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258D9-7F42-4D8B-8CFF-11F3CA8F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DF2A1E-3AC1-42AF-8E3F-858CEE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指标/对象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92871-B79C-44B3-9465-259A8072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只使用当前来源可证明的信息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F2B26-1B9D-4532-B273-79119DB5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5F7A17-AB76-44E1-8586-9FB239D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356E58-4F51-4126-B7E8-89B9A59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0694B-EC29-45E9-A8B8-199B6E8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可进入本方向演进图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54E384-4621-455F-A85C-2E5CE0A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4958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不能替代更强证据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550789-96C9-44DB-BA34-BC4B6CA9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07F2B-CF4A-433A-964E-6CC87364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来源：Hazel: secure disaggregated storage data path｜证据等级：E3 / 草案/未批准规范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591A77-FE12-4387-9C5C-4C8C85BF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C00E15-C9D4-441E-A614-2DE9D99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B48122-DEF0-4317-BBD5-872E3FB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4274F6-D075-41F4-AAF7-8C5751E1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实验结果  |  15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04F5D4-8626-4265-A2A0-3F77B6C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272</a:t>
            </a:r>
          </a:p>
        </p:txBody>
      </p:sp>
    </p:spTree>
    <p:extLst>
      <p:ext uri="{BB962C8B-B14F-4D97-AF65-F5344CB8AC3E}">
        <p14:creationId xmlns:p14="http://schemas.microsoft.com/office/powerpoint/2010/main" val="2090000378"/>
      </p:ext>
    </p:extLst>
  </p:cSld>
</p:sld>
</file>

<file path=ppt/slides/slide2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3BC35-B953-4C8A-85BE-63F49813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38C70-60F2-4621-A27B-1416E55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251EC-E8AD-4130-9FDC-E445960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2438-F676-4DFF-B378-809DC9A4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path：文章评价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531B4-2D64-41F0-A322-08078111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来源状态：本地 PDF 已核验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1C5DE-B7CF-48E5-B907-19DDDA9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12549"/>
            </a:srgbClr>
          </a:solidFill>
          <a:ln xmlns:a="http://schemas.openxmlformats.org/drawingml/2006/main" w="9525">
            <a:solidFill>
              <a:srgbClr val="F59E0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C46A3-DD60-4E8F-AFB9-191A5508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E3 / 草案/未批准规范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CD348-3161-4B35-A1DF-8798522F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 confidential computing 的 storage data path、freshness 和 DPU offload 放到同一。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BBFEE-2685-458F-85A4-B536160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DE68A-9AA5-4257-8FA8-FAFD0036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693E-3319-413A-83C8-00EDF910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9E82E-F02C-49D7-9F21-6846EA6B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05803-E903-41AF-B952-864F4E42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设计优势：把 confidential computing 的 storage data path、freshness 和 DPU offload 放到同一系统原型中。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0AB2A-182A-4CE1-BAF4-9BB2351E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1E725-7399-4724-A528-08F56AD4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局限性：仍是 preprint；没有把 BlueField DPU attestation、SPDM/TDISP/NVMe-oF endpoint identity 完整闭环。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FE4B7-2631-4C70-8CCF-AD4400A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849B-2709-456D-9A56-F19E8728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商业化潜力：接近云上 confidential storage 需求；风险在 crash consistency、KBS/DPU 运维和 production endpoint...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481D-184C-41EB-AB49-D4B7DD7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09668-B90C-4972-9434-A5791C42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证据边界：E3 / Draft-not-ratified；本地 PDF 已核验。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CC1DC-A4D7-4376-AAE7-969AF9CF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038F3-BA7E-4088-8D1F-5D94F4B9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5CA30-329A-4902-9120-0264D62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文章评价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F2E79-BD54-4E5A-932D-A584AB06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93AB4-F835-457E-A219-DBA5EC2A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3494D-D4E0-44FA-A780-547E37EB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3513C-11AE-4430-BB42-366CB681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设计优势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5C0E5-8818-4979-9CD3-3CB967DF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242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 confidential computing 的 storage data path、freshness 和 DPU offload 放到同一系统原型中。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E40E6-8D57-42C1-ADAD-A468696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876AC-8573-44E5-883B-F54FD645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主要局限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80114-C3AA-433E-831E-AE3565A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814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仍是 preprint；没有把 BlueField DPU attestation、SPDM/TDISP/NVMe-oF endpoint...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1701E-66FF-4954-BCB6-F2E4608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F3887-67B6-41FE-9078-509B15C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B45FA7-05FC-4342-B210-F6E3D91C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386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接近云上 confidential storage 需求；风险在 crash consistency、KBS/DPU 运维和 production...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0624D1-3231-45F3-AD50-521F4363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EA2922-3338-45D8-BD81-3C7F33C7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讲稿定位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5F8A21-23AD-4481-8B61-FDB83724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24098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SOTA/补充边界; 证据强度 E3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669045-29FF-45C3-896E-0CA278EE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21E529-55E7-4266-8E54-82C3BB87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来源：Hazel: secure disaggregated storage data path｜证据等级：E3 / 草案/未批准规范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52CF81-FC36-4B3B-A1EC-EA3DD3E8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7CF7C4-9932-4F0C-80B0-3EB22EA3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7FCDE8-4589-4805-A452-3D782589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A117F6-990F-47B1-820E-438E2909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文章评价  |  15 / 15 方向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213F18-5D5E-4EBB-A22F-AF681FEB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273</a:t>
            </a:r>
          </a:p>
        </p:txBody>
      </p:sp>
    </p:spTree>
    <p:extLst>
      <p:ext uri="{BB962C8B-B14F-4D97-AF65-F5344CB8AC3E}">
        <p14:creationId xmlns:p14="http://schemas.microsoft.com/office/powerpoint/2010/main" val="1726439620"/>
      </p:ext>
    </p:extLst>
  </p:cSld>
</p:sld>
</file>

<file path=ppt/slides/slide2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FC050-B4A2-4F6D-9B34-3380CB3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550B8-9074-47FF-9B06-3EDA96F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3C079-6624-4289-9D0B-B00BAC4D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CCC9B-ED72-4ED7-8049-989868B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path：方向总结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69CC8-29FB-49E6-9A56-3A511035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方向综述：主讲材料与公开来源综合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B511D-86DD-45E1-A0C9-680CA75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763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>
                <a:alpha val="25098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BD70-60DF-439D-B1B4-96E68679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4302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方向综述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61DAC-9495-4505-B093-50C7F53C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的结论是：三篇主讲材料共同给出技术演进，但仍要用证据等级约束每个结论。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4ADEA-5733-4CD8-B51A-F9CDA1A2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10B39-DB33-4E7A-A38D-72BF77C3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2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57FD6-93E3-4B07-B989-39CAC4E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内容说明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D76AA-C813-4136-A098-00628647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49E91-0BD1-4284-A8F9-39881625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S-NIC: SmartNIC function isolation：开创/基础入口，E1 / 同行评审改进证据。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6FD5F-2E21-433B-AC5A-EB988833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78123-764B-4001-81F4-CA47DA9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TNIC: trusted NIC architecture：代表性改进，E1 / 同行评审改进证据。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85BEC-5602-4E4C-BB0E-5EFABB84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4E640-974C-49A7-BA7B-48A2E27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576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Hazel: secure disaggregated storage data path：当前 SOTA/补充边界，E3 / 草案/未批准规范。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229BE-73C6-4075-9AC6-950D30B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5DA1B-0B0C-4204-B580-6D0AA240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81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本方向结论：先用三篇主讲材料建立演进关系，再用证据等级控制机制、实验和商业化结论。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09E6A-7C50-493E-AD1A-81E647F5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C11E5-CD7D-4CD2-8A92-9C9B2D77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EED708-FADB-4E9C-8B1A-B482D2AC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19350"/>
            <a:ext cx="508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本方向方法对比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D4BE9-3326-4F8E-945F-108BD2F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6C226-7A2E-4D63-B087-8421DDC4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1ED79-71DC-4156-9D40-C484206B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2800350"/>
            <a:ext cx="157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选择理由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FD9AA-2C24-4F43-8679-CF99293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24C91-44F1-4F0B-8B69-78F4B002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S-NIC: SmartNIC function isolation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9C970-A5D4-46CB-8A9C-862EC2E3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开创/基础入口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B7A71-032F-4964-8E6E-223EB30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1242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sNIC is the foundational peer-reviewed systems paper for cloud SmartNIC...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74A46-859F-4820-8FF8-E3438472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433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9588FF-CDC9-4F57-ADEA-330A7A29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TNIC: trusted NIC 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1FBA9-728B-4AF6-AD96-E351282C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代表性改进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F62AE-0C4E-4F84-81BC-2309E15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35814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TNIC is a peer-reviewed ASPLOS 2025 SOTA trusted NIC system.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477BA3-54EC-44C7-9C7C-B7D08EF1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62A45-1BCD-402C-BB76-24C9A94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Hazel: secure disaggregated storage data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E8CA2-A59B-4603-A9E1-16757FE8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当前 SOTA/补充边界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F6712A-5651-4147-9DE8-335CBF6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900" y="4038600"/>
            <a:ext cx="157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Hazel is retained as a draft SOTA item for trusted NIC and secure...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00F4DA-8AFB-4A7C-9E22-00C097A5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34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C36DCD-6256-47CC-B95E-DC307F60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3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来源：论文原文、官方规范或公开材料｜证据等级：见本页 badge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FBE26-00E9-4A94-B077-2FAA386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D608D0-DC49-457F-88B1-581F11DC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104B16-E32D-4D54-A114-58944E6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E3A447-A105-49DC-ACEF-F9A0345F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SmartNIC / trusted NIC / secure storage data path | 方向总结  |  15 / 15 方向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A2ECBC-D360-460E-A7EA-9BD3128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274</a:t>
            </a:r>
          </a:p>
        </p:txBody>
      </p:sp>
    </p:spTree>
    <p:extLst>
      <p:ext uri="{BB962C8B-B14F-4D97-AF65-F5344CB8AC3E}">
        <p14:creationId xmlns:p14="http://schemas.microsoft.com/office/powerpoint/2010/main" val="1558246540"/>
      </p:ext>
    </p:extLst>
  </p:cSld>
</p:sld>
</file>

<file path=ppt/slides/slide2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A502E-39A1-4243-8D18-05A5B323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9D5FF-FE8A-4C10-8AE8-24D2377D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94D6-60ED-452B-9E9F-F0C01FE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6EB2D-5453-4E01-87ED-5A45FF62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F4270-0398-453D-A004-4C556D93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可信执行边界正在从 CPU 内部隔离扩展到完整数据路径。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7D21B-45B5-4DCE-A6B8-6E19D2B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AF86D-9DC3-42B6-B0C1-77C8D5A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EB6C-5489-4B29-9F30-CCBF34A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3752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8E7F2-5D03-47F4-81DC-27C491D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D8976-01DF-40E8-9825-DF348BD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4322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146CC-C082-4D75-84D4-36C5EC41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908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早期 TEE 主要解决 CPU 与内存隔离。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F58F7-53A3-4174-82C8-F61502E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03642-B2B1-40AB-90D4-C11D934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98A03-B3EB-431A-AA6D-6949D02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4327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新一代机密计算必须纳入设备、DMA、interrupt 和远端 verifier。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A18B4-29B6-4966-8DED-B2AC10B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AE134-B0CE-4959-AC3B-6B6C870F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4812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E2D0F-9095-4986-96CA-CD3BF200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957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Arm CCA 与 RISC-V CoVE/AP-TEE 代表架构级 confidential VM 路线。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CFF46-4C1B-4E2A-903A-ED71AB59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D3FC6-307B-4C25-8A29-148DA09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0057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155EC-8FF8-42D7-A7DA-9EC3DC2C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4817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可信 I/O 仍处在规范与系统原型共同演进阶段。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B7135-8018-4A86-92CF-B336DC6D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763CB-57A4-4A9D-9003-B125539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28850"/>
            <a:ext cx="3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A0305-FEFC-4D80-A1B0-3951CED5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3752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B95C9-C7FC-47BD-939B-F2D4FCA0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A6B0D-5710-4831-888E-8DA2DAC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4322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28C27-2D3E-49D1-B23A-F44239CC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908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统一的 device identity、lifecycle 与 attestation 语义仍不成熟。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8594B-5C3B-4997-ADCC-8464E457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528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17BB0-86BA-4369-B6FB-2C3E6B46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9567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AF8522-3D2F-4E1F-8544-233968E1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4327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可信 I/O 的性能、安全和可部署性需要更多公开系统评测。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5EAD1-7A49-4A51-947A-E75F0B8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593D1-A598-4ED8-89B2-6BDCF508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2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FB4CA-5FDB-47C8-B6B3-488F0FE2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957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异构设备与存储路径中的 TCB 划分仍缺少通用框架。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4C149-F547-4C53-BBC7-8A082C3F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57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D2ADD-DA64-4C1A-B266-9595F930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00575"/>
            <a:ext cx="318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DF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5AB9E-C76E-4457-9832-9D0DE5AB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4817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未来工作应同时关注规范互操作、真实工作负载和端到端证据链。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A6F9DE-D8BD-4594-A8A8-FEF44ABE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9C8505-F7E5-491E-B5DD-36258BD6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91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D7ACF-AFEB-4ADF-A76A-16139159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CE132-E2E2-48B2-A32A-54A10F85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全局总结 | 研究启示  |  15 / 15 方向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27A24F-9F5A-4575-B8C0-684828D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1510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275</a:t>
            </a:r>
          </a:p>
        </p:txBody>
      </p:sp>
    </p:spTree>
    <p:extLst>
      <p:ext uri="{BB962C8B-B14F-4D97-AF65-F5344CB8AC3E}">
        <p14:creationId xmlns:p14="http://schemas.microsoft.com/office/powerpoint/2010/main" val="289346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2026-06-30T09:31:16.3290000Z</dcterms:created>
  <dcterms:modified xsi:type="dcterms:W3CDTF">2026-06-30T09:31:16.3290000Z</dcterms:modified>
</coreProperties>
</file>