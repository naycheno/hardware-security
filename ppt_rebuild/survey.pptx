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-text|s=$coverTitle"/>
          <p:cNvSpPr txBox="1"/>
          <p:nvPr/>
        </p:nvSpPr>
        <p:spPr>
          <a:xfrm>
            <a:off x="952500" y="2095500"/>
            <a:ext cx="102870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noProof="1">
                <a:solidFill>
                  <a:srgbClr val="2563EB"/>
                </a:solidFill>
                <a:latin typeface="Inter"/>
                <a:ea typeface="MiSans"/>
              </a:rPr>
              <a:t>Hardware Security Survey</a:t>
            </a:r>
          </a:p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64748B"/>
                </a:solidFill>
                <a:latin typeface="Inter"/>
                <a:ea typeface="MiSans"/>
              </a:rPr>
              <a:t>Trusted Execution, Confidential Computing, and I/O Protection</a:t>
            </a:r>
          </a:p>
        </p:txBody>
      </p:sp>
      <p:sp>
        <p:nvSpPr>
          <p:cNvPr id="4" name="dsl:subtitle-text|s=$coverSubtitle"/>
          <p:cNvSpPr txBox="1"/>
          <p:nvPr/>
        </p:nvSpPr>
        <p:spPr>
          <a:xfrm>
            <a:off x="952500" y="35242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64748B"/>
                </a:solidFill>
                <a:latin typeface="Inter"/>
                <a:ea typeface="MiSans"/>
              </a:rPr>
              <a:t>A Comprehensive Review of Arm CCA, RISC-V CoVE, and Cross-Architecture Platform Security</a:t>
            </a:r>
          </a:p>
        </p:txBody>
      </p:sp>
      <p:sp>
        <p:nvSpPr>
          <p:cNvPr id="5" name="dsl:divider-line"/>
          <p:cNvSpPr/>
          <p:nvPr/>
        </p:nvSpPr>
        <p:spPr>
          <a:xfrm>
            <a:off x="952500" y="4191000"/>
            <a:ext cx="1905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meta-text|s=$body"/>
          <p:cNvSpPr txBox="1"/>
          <p:nvPr/>
        </p:nvSpPr>
        <p:spPr>
          <a:xfrm>
            <a:off x="952500" y="4381500"/>
            <a:ext cx="5715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64748B"/>
                </a:solidFill>
                <a:latin typeface="Inter"/>
                <a:ea typeface="MiSans"/>
              </a:rPr>
              <a:t>15 Technical Directions | 45 Primary Papers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64748B"/>
                </a:solidFill>
                <a:latin typeface="Inter"/>
                <a:ea typeface="MiSans"/>
              </a:rPr>
              <a:t>Evidence-Based Survey with E0-E4 Grading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571500" y="28575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Contents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571500" y="7810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oc-col1|s=$body"/>
          <p:cNvSpPr txBox="1"/>
          <p:nvPr/>
        </p:nvSpPr>
        <p:spPr>
          <a:xfrm>
            <a:off x="571500" y="1047750"/>
            <a:ext cx="5334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01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TEE Taxonomy &amp; Classification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02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Arm TrustZone Lineage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03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Arm CCA / RME / RMM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04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CCA Fine-Grained Isolation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05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CCA I/O &amp; Accelerator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06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Attestation &amp; Boot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07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RISC-V Security Primitives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08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RISC-V TEE Lineage</a:t>
            </a:r>
          </a:p>
        </p:txBody>
      </p:sp>
      <p:sp>
        <p:nvSpPr>
          <p:cNvPr id="6" name="dsl:toc-col2|s=$body"/>
          <p:cNvSpPr txBox="1"/>
          <p:nvPr/>
        </p:nvSpPr>
        <p:spPr>
          <a:xfrm>
            <a:off x="6286500" y="1047750"/>
            <a:ext cx="5334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09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RISC-V CoVE / AP-TEE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10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RISC-V CoVE-IO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11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Memory Encryption &amp; Integrity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12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Memory / I/O Fabrics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13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Confidential I/O Protocol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14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Accelerator / DPU / SmartNIC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2563EB"/>
                </a:solidFill>
                <a:latin typeface="Inter"/>
                <a:ea typeface="MiSans"/>
              </a:rPr>
              <a:t>15</a:t>
            </a:r>
            <a:r>
              <a:rPr sz="1200" noProof="1">
                <a:solidFill>
                  <a:srgbClr val="1F2937"/>
                </a:solidFill>
                <a:latin typeface="Inter"/>
                <a:ea typeface="MiSans"/>
              </a:rPr>
              <a:t>  SmartNIC / Trusted NIC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itle"/>
          <p:cNvSpPr txBox="1"/>
          <p:nvPr/>
        </p:nvSpPr>
        <p:spPr>
          <a:xfrm>
            <a:off x="762000" y="1143000"/>
            <a:ext cx="10477500" cy="476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方向01：硬件辅助 TEE Taxonomy</a:t>
            </a:r>
          </a:p>
        </p:txBody>
      </p:sp>
      <p:sp>
        <p:nvSpPr>
          <p:cNvPr id="6" name="dsl:subtitle"/>
          <p:cNvSpPr txBox="1"/>
          <p:nvPr/>
        </p:nvSpPr>
        <p:spPr>
          <a:xfrm>
            <a:off x="762000" y="1666875"/>
            <a:ext cx="104775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建立 protected object、resource manager、evidence chain 和 device boundary 的总分类图</a:t>
            </a:r>
          </a:p>
        </p:txBody>
      </p:sp>
      <p:sp>
        <p:nvSpPr>
          <p:cNvPr id="7" name="dsl:content"/>
          <p:cNvSpPr txBox="1"/>
          <p:nvPr/>
        </p:nvSpPr>
        <p:spPr>
          <a:xfrm>
            <a:off x="762000" y="219075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核心问题：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远程用户不信任平台管理者，但平台仍需调度 CPU、分配内存、处理 I/O，并给 verifier 提供可信证据。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三篇论文分工：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Li 2024 (SoK, E2)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：server-side TEE runtime taxonomy，提出 TRAF 框架，四种 mode 平衡安全与管理性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Boubakri 2025 (Survey, E2)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：RISC-V TEE 谱系，PMP 到 CoVE/AP-TEE，Table 1 横向比较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Wang/Huang 2026 (SoK, E2)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：accelerator TEE 分类，GPU/NPU/DPU，51 篇 corpus 分析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证据等级：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三篇均为 SoK/Survey，只作为 design-space anchor；具体机制、协议状态和性能数字需回原始论文或官方规范。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2024 — SoK TEE Choices: TRAF 框架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SoK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 TRAF 框架，将 TEE 生命周期和 CPU/memory/I/O runtime 映射到四种 resource-management mode。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先分 remote attestation 与 runtime management，再分析 CPU、memory、I/O 事件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四种 mode：unprotected、RTPM-only、RTPM-guarded、instance-assisted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建立 pitfall 与 known attack 的映射关系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作为 01 的主 taxonomy anchor，不替代平台论文或官方规范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2024, p.1 abstract, p.2 contributions; p.3 Figure 2; p.5 Figure 3/Figure 4; p.7 Figure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2024 — 研究背景 + 解决方案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TEE 根本矛盾：host 被视为不可信，却必须管理调度、页表、I/O 和实例生命周期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Remote Execution 目标：secure measurement、confidentiality、integrity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攻击者模型：控制 privileged software，管理 non-TEE world 的 memory、I/O、scheduling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remote attestation 只能证明初始状态；运行中安全取决于 runtime event 管理权限制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TRAF 把"TEE 安不安全"转成"runtime event 由谁管理、谁校验、谁承担 TCB 成本"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CPU scheduling 多为 unprotected mode（调度效率优先）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context switch 多为 RTPM-only mode（寄存器状态由 TCB 保存/恢复）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 allocation 常在 guarded 与 assisted mode 之间取舍（corner case 高发）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I/O data transmission 仍依赖 unprotected path（引出 trusted I/O 章节）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2024 p.2 Section 2.1-2.2; p.5 Figure 4; p.6-p.8 Section 4.3-4.5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2024 — 实验结果 + 文章评价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SoK 论文，无新实验；证据对象为 Figure 1-5、Table 1、Appendix Table 2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Figure 5 把多种 TEE 的 CPU、memory、I/O event 映射到四种 mode，说明跨平台可比性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Table 1 把 vulnerable design flaws 与 known attacks 对齐，用于解释 pitfall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具体机制、协议状态和数值必须回到原始平台论文或官方规范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TRAF 抽象清楚，统一解释 CPU/memory/I/O runtime event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不是平台机制证明，device path 覆盖不足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高：适合架构审查和 verifier policy checklist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 taxonomy anchor，不作性能或生产状态证据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2024 p.7 Figure 5; p.9 Table 1; p.12 Section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Boubakri 2025 — RISC-V TEE Survey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Survey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 RISC-V primitives、representative systems、comparison matrix 和 open challenges 组织 2016-2025 谱系。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Figure 1 给出 timeline：Sanctum(2016) -&gt; Keystone(2020) -&gt; Penglai/CURE(2021) -&gt; CoVE/AP-TEE(2023)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Table 1 横向比较 isolation、memory、secure I/O、TCB、SDK、compliance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Primitive stack：privilege mode、PMP/ePMP、MMU、H-extension 决定隔离基础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System lineage：open enclave -&gt; memory protection -&gt; confidential VM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在 01 中作为 RISC-V branch 的辅助 SOTA，具体机制回原始材料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来源：Boubakri 2025 p.1 abstract, p.4 Section 2.3; p.4 Figure 1; p.19 Table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Boubakri 2025 — 研究背景 + 解决方案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TEE 的开放性带来可定制安全硬件，也带来术语碎片化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轻量 enclave 复用 PMP/ePMP 和 M-mode monitor，受 region 数量和粒度限制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更强系统修改 page table walker、cache/memory metadata 或安全 monitor，带来验证成本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CoVE/AP-TEE 需要 TVM、TSM、ABI、memory ownership 和 attestation 组合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Primitive stack：privilege mode、PMP/ePMP、MMU、H-extension 是底座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System lineage：Sanctum/Keystone -&gt; Penglai/CURE/SPEAR-V -&gt; CoVE/AP-TEE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Comparison matrix：Table 1 比较 secure I/O、cache side-channel、validation、SDK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Open challenges：fragmentation、programming model、standardization、production validation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来源：Boubakri 2025 p.4 Section 2.2; p.12-p.13 Section 3.7; p.17-p.18 Section 3.14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Boubakri 2025 — 实验结果 + 文章评价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Survey 论文，无新实验；证据源为 Figure 1 timeline、Table 1 comparison matrix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Table 1 说明 RISC-V 方案在 secure I/O、SDK、TCB、compliance 维度差异很大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论文中转述的系统细节和数值只作为阅读地图，必须回引原始论文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输出应是 evidence matrix，而不是系统评测页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谱系和比较矩阵清楚，覆盖 2016-2025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二手证据，且 draft/spec 状态可能变化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中：适合 roadmap，依赖标准和生态成熟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辅助 SOTA，连接 08/09/10 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来源：Boubakri 2025 p.20-p.29 Section 4; p.30-p.31 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Wang/Huang 2026 — Accelerator TEE SoK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SoK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分析 51 个 accelerator TEE studies，提出 Host-type、Acc.-type、Mix-type，围绕 access control、memory encryption、attestation 组织设计空间。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关键统计：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41/51 studies 在 2022 年之后提出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42/51 依赖 CPU TEE，40/51 支持特定 CPU architecture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43/51 只支持一种 accelerator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三类架构：Host-type 复用 CPU TEE；Acc.-type 把控制逻辑放进 accelerator；Mix-type 组合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三类机制：access control、memory protection、attestation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在 01 中补齐 Li 2024 对 device path 覆盖不足的问题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来源：Wang/Huang 2026 p.1 abstract, p.2-p.3 motivation; p.2 Table I; p.4 Figure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Wang/Huang 2026 — 研究背景 + 解决方案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CPU TEE 只保护 CPU-side execution/memory；workload offload 后数据跨 device memory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攻击面贯穿 task preparation/termination 和 task computing 两阶段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攻击目标：input/output、model parameters、task code、page table、metadata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攻击来源：host OS/hypervisor、malicious task、device/firmware adversary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三类架构：Host-type 复用 CPU TEE；Acc.-type 把控制逻辑放进 accelerator；Mix-type 组合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Access control：CPU TEE、TSM/RMM/firmware、I/O bus filter 共同决定 DMA/MMIO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 protection：host memory、device memory、I/O link 和 security metadata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Attestation：需要 accelerator HRoT、endorser、reference values 和 verifier policy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来源：Wang/Huang 2026 p.4-p.6 Figure 2 and Section IV; p.1-p.4 Figure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Wang/Huang 2026 — 实验结果 + 文章评价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SoK 论文，无新 end-to-end 系统实验；价值在 corpus、taxonomy tables 和 checklist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Table I corpus(51)、Table III security、Table IV/V access-control、Table VI-IX memory/attestation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Table X-XIII 评价 TCB size、software stack、multi-type support、plug-and-play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Figure 4 给出 memory-encryption granularity mismatch 示例分析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把设备侧 access/memory/attestation/TCB 放入统一 taxonomy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二手 SoK 证据，不能替代原始系统或规范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高：confidential accelerator 与 GPU cloud 需求明确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辅助 SOTA，连接 05/10/13/14/15 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来源：Wang/Huang 2026 p.12-p.14 Table X-XIII; p.15 discussion and 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476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方向01 总结</a:t>
            </a:r>
          </a:p>
        </p:txBody>
      </p:sp>
      <p:graphicFrame>
        <p:nvGraphicFramePr>
          <p:cNvPr id="4" name="dsl:summary-table"/>
          <p:cNvGraphicFramePr>
            <a:graphicFrameLocks noGrp="1"/>
          </p:cNvGraphicFramePr>
          <p:nvPr/>
        </p:nvGraphicFramePr>
        <p:xfrm>
          <a:off x="762000" y="1047750"/>
          <a:ext cx="10477500" cy="5048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305050"/>
                <a:gridCol w="4191000"/>
                <a:gridCol w="3981450"/>
              </a:tblGrid>
              <a:tr h="6057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Li 2024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TRAF：runtime event -&gt; management mode -&gt; pitfall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偏 CPU/server-side TEE，不能证明平台机制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Boubakri 2025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primitives -&gt; systems -&gt; open challenges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二手 survey，状态需跟官方 spec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Wang/Huang 2026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accelerator TEE：access/memory/attestation/TCB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不能替代 device/system 原始证据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01 Takeaway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分类先行，证据分级约束结论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后续章节必须补一手材料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2024 Figure 3-Figure 5; Boubakri 2025 Figure 1/Table 1; Wang/Huang 2026 Table I/Figure 1/Table III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itle"/>
          <p:cNvSpPr txBox="1"/>
          <p:nvPr/>
        </p:nvSpPr>
        <p:spPr>
          <a:xfrm>
            <a:off x="762000" y="1143000"/>
            <a:ext cx="10477500" cy="476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方向02：Arm TrustZone TEE 与漏洞谱系</a:t>
            </a:r>
          </a:p>
        </p:txBody>
      </p:sp>
      <p:sp>
        <p:nvSpPr>
          <p:cNvPr id="6" name="dsl:subtitle"/>
          <p:cNvSpPr txBox="1"/>
          <p:nvPr/>
        </p:nvSpPr>
        <p:spPr>
          <a:xfrm>
            <a:off x="762000" y="1666875"/>
            <a:ext cx="104775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把 TrustZone 作为 CCA 前史和边界对比，建立技术演进路径</a:t>
            </a:r>
          </a:p>
        </p:txBody>
      </p:sp>
      <p:sp>
        <p:nvSpPr>
          <p:cNvPr id="7" name="dsl:content"/>
          <p:cNvSpPr txBox="1"/>
          <p:nvPr/>
        </p:nvSpPr>
        <p:spPr>
          <a:xfrm>
            <a:off x="762000" y="219075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核心问题：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TrustZone 作为 CCA 前史和边界对比，不把 TrustZone threat model 误写成 CCA。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三篇论文分工：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Arm TrustZone 白皮书 (E4)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：开创/基础入口，Secure/Non-secure world 双世界起点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Pinto 2019 (Survey, E2)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：代表性改进，TrustZone 架构、TEE 软件栈、应用和虚拟化 survey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Cerdeira 2020 (SoK, E2)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：当前 SOTA/补充边界，TrustZone-assisted TEE 漏洞类型和根因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证据等级：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白皮书为 E4 产业证据；Survey/SoK 为 E2 背景材料；具体平台结论需回一手材料。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TrustZone 白皮书 — 内容摘要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E4 / 基础产业证据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First-party Arm TrustZone whitepaper 定义 Secure/Non-secure world、NS bit 和 SoC 级隔离的基本模型，是 Arm TEE 最强的基础机制来源。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world 和 Non-secure world 的双世界模型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NS bit 在处理器、互连和外设路径传播安全状态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monitor 作为 world switch 的 trusted 边界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历史基础价值高，能解释 Arm TEE 的双世界起点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TrustZone 白皮书; local PDF 已核验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TrustZone 白皮书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移动和嵌入式平台需要把安全服务从普通 OS 中隔离出来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传统软件隔离容易被攻破，需要硬件辅助的安全边界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安全支付、DRM、生物识别等场景需要可信执行环境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在处理器、互连和外设路径传播安全状态，形成双世界系统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world 运行 trusted OS 和 trusted applications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Non-secure world 运行普通 OS 和应用程序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monitor 负责 world switch 和上下文保存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TrustZone 白皮书; local PDF 已核验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TrustZone 白皮书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白皮书 / industry evidence，无独立实验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只支撑 TrustZone 基础模型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可进入本方向演进图，不能替代更强证据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历史基础价值高，能解释 Arm TEE 的双世界起点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不代表 CCA/RME/RMM 或 confidential VM threat model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已进入移动和嵌入式 SoC 生态；风险在 TCB 大、接口复杂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开创/基础入口; 证据强度 E4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TrustZone 白皮书; local PDF 已核验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Pinto 2019 — Demystifying Arm TrustZone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Background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全面梳理 TrustZone 架构、TEE 软件栈、应用和虚拟化相关工作，Systematic survey of TrustZone-assisted TEEs。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按系统软件、TEE、虚拟化和应用场景分类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给 TrustZone 生态建立 survey map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覆盖 TEE OS、trusted applications、硬件辅助虚拟化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IoT 和 mobile deployment patterns 的系统分析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来源：Pinto 2019, DOI: 10.1145/3291047; local PDF 已核验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Pinto 2019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TrustZone 长期被广泛部署，但公开系统化资料不足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学术系统和产业 TEE 栈边界不统一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术语碎片化，缺乏统一的 taxonomy 和分类框架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按系统软件、TEE、虚拟化和应用场景分类，建立 survey map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TEE OS and trusted applications 的系统分析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Hardware-assisted virtualization use cases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IoT and mobile deployment patterns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来源：Pinto 2019, DOI: 10.1145/3291047; local PDF 已核验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Pinto 2019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Survey 论文，无新实验；只支撑术语、taxonomy、接口语义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不展示独立系统实验，不把二手归纳写成一手结果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涉及具体平台、协议状态或数值时，转到原始论文或厂商材料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适合写 TrustZone 背景和生态谱系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 CCA/RME 不完整，不能直接支撑 Realm 或 confidential VM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有助于厂商盘点旧 TEE 生态和迁移成本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代表性改进; 证据强度 E2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来源：Pinto 2019, DOI: 10.1145/3291047; local PDF 已核验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Cerdeira 2020 — TrustZone 漏洞 SoK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Peer-reviewed SoK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S&amp;P 2020 SoK，归纳 TrustZone-assisted TEE 的主流漏洞类型和根因，建立漏洞 taxonomy。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Trusted application 和 TEE OS 的 attack surface 分析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monitor / driver interface 的 risk 识别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Vulnerability taxonomy 和 root-cause grouping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解释为什么后续 CCA 需要更强边界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来源：Cerdeira 2020, DOI: 10.1109/SP40000.2020.00061; local PDF 已核验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Cerdeira 2020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TrustZone TEE 暴露接口复杂、TCB 变大，真实系统反复出现漏洞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Trusted application 和 TEE OS 的边界不清晰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monitor 和 driver 的接口成为攻击入口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按漏洞面、接口、权限边界和实现缺陷建立 taxonomy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Trusted application and TEE OS attack surface 的系统梳理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Secure monitor / driver interface risk 的分类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Vulnerability taxonomy 解释为什么 CCA 需要更强边界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来源：Cerdeira 2020, DOI: 10.1109/SP40000.2020.00061; local PDF 已核验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Cerdeira 2020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Survey 论文，无新实验；只支撑术语、taxonomy、接口语义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不展示独立系统实验，不把二手归纳写成一手结果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涉及具体平台、协议状态或数值时，转到原始论文或厂商材料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能支撑"为什么需要更强 CCA threat model"的历史动机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不能替代 CCA/RME/RMM 机制分析，不能推出 Realm 安全结论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可用于安全审计和迁移评估；需缩小 TCB、规范接口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SOTA/补充边界; 证据强度 E2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来源：Cerdeira 2020, DOI: 10.1109/SP40000.2020.00061; local PDF 已核验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476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方向02 总结</a:t>
            </a:r>
          </a:p>
        </p:txBody>
      </p:sp>
      <p:graphicFrame>
        <p:nvGraphicFramePr>
          <p:cNvPr id="4" name="dsl:summary-table"/>
          <p:cNvGraphicFramePr>
            <a:graphicFrameLocks noGrp="1"/>
          </p:cNvGraphicFramePr>
          <p:nvPr/>
        </p:nvGraphicFramePr>
        <p:xfrm>
          <a:off x="762000" y="1047750"/>
          <a:ext cx="10477500" cy="5048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305050"/>
                <a:gridCol w="4191000"/>
                <a:gridCol w="3981450"/>
              </a:tblGrid>
              <a:tr h="6057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Arm TrustZone 白皮书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Secure/Non-secure world 双世界隔离起点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不代表 CCA/RME/RMM 或 confidential VM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Pinto 2019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TrustZone 生态 survey 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 CCA/RME 不完整，不能支撑 Realm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Cerdeira 2020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漏洞类型和根因 taxonomy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不能替代 CCA/RME/RMM 机制分析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02 Takeaway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三篇共同给出技术演进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用证据等级约束每个结论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itle"/>
          <p:cNvSpPr txBox="1"/>
          <p:nvPr/>
        </p:nvSpPr>
        <p:spPr>
          <a:xfrm>
            <a:off x="762000" y="1143000"/>
            <a:ext cx="10477500" cy="476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方向03：Arm CCA / RME / RMM 基础架构</a:t>
            </a:r>
          </a:p>
        </p:txBody>
      </p:sp>
      <p:sp>
        <p:nvSpPr>
          <p:cNvPr id="6" name="dsl:subtitle"/>
          <p:cNvSpPr txBox="1"/>
          <p:nvPr/>
        </p:nvSpPr>
        <p:spPr>
          <a:xfrm>
            <a:off x="762000" y="1666875"/>
            <a:ext cx="104775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围绕 Realm、RME、RMM、granule ownership 与 lifecycle 建立 Arm CCA 主线</a:t>
            </a:r>
          </a:p>
        </p:txBody>
      </p:sp>
      <p:sp>
        <p:nvSpPr>
          <p:cNvPr id="7" name="dsl:content"/>
          <p:cNvSpPr txBox="1"/>
          <p:nvPr/>
        </p:nvSpPr>
        <p:spPr>
          <a:xfrm>
            <a:off x="762000" y="219075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核心问题：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云场景下 host 仍需管理资源，但不应看到 tenant workload 数据。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三篇论文分工：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Li 2022 CCA (E1)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：开创/基础入口，OSDI 系统论文，提出 Realm、RME、RMM、GPT/GPC 与 lifecycle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Arm CCA 架构规范 (E0)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：代表性改进，官方规范，定义 Realm model 和 standard evidence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Arm RMM 规范 (E0)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：当前 SOTA/补充边界，官方规范，定义 Realm management 和 lifecycle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证据等级：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E1 为系统论文基础证据；E0 为官方规范标准材料；具体实现正确性需回验证和厂商证据。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2022 — Arm Confidential Computing Architecture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基础证据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OSDI 2022 系统论文，提出并验证 Arm CCA 核心设计，包括 Realm、RME、RMM、GPT/GPC 与 lifecycle。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world 和 host/tenant 的硬件级分离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Granule ownership 和 GPT/GPC 的内存保护机制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RMM-mediated lifecycle 和 attestation path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把资源管理和数据可见性分离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2022, OSDI 2022; local PDF 已核验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2022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云场景下 host 仍需管理资源，但不应看到 tenant workload 数据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传统虚拟化中 hypervisor 可访问所有 VM 内存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需要硬件级隔离保证 tenant 数据的 confidentiality 和 integrity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把资源管理和数据可见性分离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用硬件 granule ownership 保护 Realm 内存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RMM lifecycle 管理 Realm 的创建、运行、销毁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GPT/GPC 实现物理地址空间的访问控制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2022, OSDI 2022; local PDF 已核验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Li 2022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OSDI 系统论文提供设计验证和原型评估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本阶段只记录可核对的证据类型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定量细节回引本地 PDF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Arm CCA 主线入口，把 Realm/RME/RMM 安全边界讲清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论文原型不等同于后续完整规范或量产实现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潜力强，机制进入 Arm 架构和 Linux/firmware 生态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来源：Li 2022, OSDI 2022; local PDF 已核验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CCA 架构规范 — 内容摘要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E0 / Spec SOTA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First-party Arm CCA specification 定义当前 Realm model 和 standard evidence，是 CCA 机制语义最权威的来源。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security state 和 PAS ownership 的定义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 delegation、RIPAS 和 lifecycle vocabulary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Attestation 和 platform interface 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写 CCA 机制和状态语义时最权威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CCA Specification, DEN0125; developer.arm.com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CCA 架构规范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研究论文需要落到稳定的硬件/固件 ABI 和平台行为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缺乏统一的标准化接口和状态语义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不同厂商实现可能不一致，需要规范约束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规范化 CCA/RME 相关对象、状态、接口和安全语义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security state 和 PAS ownership 的标准定义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 delegation、RIPAS 和 lifecycle vocabulary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Attestation 和 platform interface semantics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CCA Specification, DEN0125; developer.arm.com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Arm CCA 架构规范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规范材料，无新实验；只支撑术语、taxonomy、接口语义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不展示独立系统实验，不把规范写成一手实现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涉及具体平台、协议状态或数值时，转到原始论文或厂商材料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写 CCA 机制和状态语义时最权威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不是性能、可用性或具体实现正确性的证据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价值取决于 Armv9 CCA 平台、firmware/RMM、OS 生态同步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代表性改进; 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CCA Specification, DEN0125; developer.arm.com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Realm Management Monitor 规范 — 内容摘要</a:t>
            </a:r>
          </a:p>
        </p:txBody>
      </p:sp>
      <p:sp>
        <p:nvSpPr>
          <p:cNvPr id="4" name="dsl:badge-bg"/>
          <p:cNvSpPr/>
          <p:nvPr/>
        </p:nvSpPr>
        <p:spPr>
          <a:xfrm>
            <a:off x="10096500" y="523875"/>
            <a:ext cx="1524000" cy="28575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text"/>
          <p:cNvSpPr txBox="1"/>
          <p:nvPr/>
        </p:nvSpPr>
        <p:spPr>
          <a:xfrm>
            <a:off x="10096500" y="523875"/>
            <a:ext cx="152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E0 / Spec SOTA</a:t>
            </a:r>
          </a:p>
        </p:txBody>
      </p:sp>
      <p:sp>
        <p:nvSpPr>
          <p:cNvPr id="6" name="dsl:content"/>
          <p:cNvSpPr txBox="1"/>
          <p:nvPr/>
        </p:nvSpPr>
        <p:spPr>
          <a:xfrm>
            <a:off x="762000" y="104775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First-party RMM specification 定义 Realm management 和 lifecycle semantics，是 CCA TCB 核心。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关键要点：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RMI/RSI interface boundary 的标准定义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和 REC lifecycle 的管理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Granule state transition 和 measurement hooks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creation、memory transition、measurement、run/exit 约束</a:t>
            </a:r>
          </a:p>
        </p:txBody>
      </p:sp>
      <p:sp>
        <p:nvSpPr>
          <p:cNvPr id="7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RMM Specification, DEN0137; developer.arm.com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RMM 规范 — 背景 + 方案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RMM 位于 CCA TCB 核心，状态机或内存管理错误会破坏 Realm 安全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需要标准化的管理接口和生命周期语义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的创建、运行、销毁需要严格的规范约束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8" name="dsl:section2-content"/>
          <p:cNvSpPr txBox="1"/>
          <p:nvPr/>
        </p:nvSpPr>
        <p:spPr>
          <a:xfrm>
            <a:off x="762000" y="4000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用规范接口约束 Realm creation、memory transition、measurement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RMI/RSI interface boundary 定义管理角色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和 REC lifecycle 的标准状态机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Granule state transition 和 measurement hooks</a:t>
            </a:r>
          </a:p>
        </p:txBody>
      </p:sp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RMM Specification, DEN0137; developer.arm.com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857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RMM 规范 — 实验 + 评价</a:t>
            </a:r>
          </a:p>
        </p:txBody>
      </p:sp>
      <p:sp>
        <p:nvSpPr>
          <p:cNvPr id="4" name="dsl:section1-title"/>
          <p:cNvSpPr txBox="1"/>
          <p:nvPr/>
        </p:nvSpPr>
        <p:spPr>
          <a:xfrm>
            <a:off x="762000" y="104775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5" name="dsl:section1-content"/>
          <p:cNvSpPr txBox="1"/>
          <p:nvPr/>
        </p:nvSpPr>
        <p:spPr>
          <a:xfrm>
            <a:off x="762000" y="142875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规范材料，无新实验；只支撑术语、taxonomy、接口语义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不展示独立系统实验，不把规范写成一手实现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涉及具体平台、协议状态或数值时，转到原始论文或厂商材料</a:t>
            </a:r>
          </a:p>
        </p:txBody>
      </p:sp>
      <p:cxnSp>
        <p:nvCxnSpPr>
          <p:cNvPr id="6" name="dsl:divider"/>
          <p:cNvCxnSpPr/>
          <p:nvPr/>
        </p:nvCxnSpPr>
        <p:spPr>
          <a:xfrm>
            <a:off x="571500" y="342900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section2-title"/>
          <p:cNvSpPr txBox="1"/>
          <p:nvPr/>
        </p:nvSpPr>
        <p:spPr>
          <a:xfrm>
            <a:off x="762000" y="3619500"/>
            <a:ext cx="3810000" cy="33337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762000" y="4000500"/>
          <a:ext cx="10477500" cy="2190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9375"/>
                <a:gridCol w="7858125"/>
              </a:tblGrid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能把 RMM 作为 CCA TCB 核心讲清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不证明任一 RMM 实现正确，且本地 PDF 不可用时不能写不可见细节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依赖 RMM 实现验证、firmware 更新、硬件支持和 verifier 检查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SOTA/补充边界; 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来源：Arm RMM Specification, DEN0137; developer.arm.com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eft-accent"/>
          <p:cNvSpPr/>
          <p:nvPr/>
        </p:nvSpPr>
        <p:spPr>
          <a:xfrm>
            <a:off x="571500" y="571500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762000" y="523875"/>
            <a:ext cx="4762500" cy="3810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Inter"/>
                <a:ea typeface="MiSans"/>
              </a:rPr>
              <a:t>方向03 总结</a:t>
            </a:r>
          </a:p>
        </p:txBody>
      </p:sp>
      <p:graphicFrame>
        <p:nvGraphicFramePr>
          <p:cNvPr id="4" name="dsl:summary-table"/>
          <p:cNvGraphicFramePr>
            <a:graphicFrameLocks noGrp="1"/>
          </p:cNvGraphicFramePr>
          <p:nvPr/>
        </p:nvGraphicFramePr>
        <p:xfrm>
          <a:off x="762000" y="1047750"/>
          <a:ext cx="10477500" cy="5048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305050"/>
                <a:gridCol w="4191000"/>
                <a:gridCol w="3981450"/>
              </a:tblGrid>
              <a:tr h="6057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Li 2022 CCA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Realm/RME/RMM/GPT/lifecycle 核心设计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论文原型不等同于后续规范或量产实现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Arm CCA 规范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CCA 接口/Realm/memory/attestation 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不是性能、可用性或具体实现正确性的证据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Arm RMM 规范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RMM 接口/RMI/RSI/lifecycle 定义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不证明任一 RMM 实现正确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0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03 Takeaway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三篇共同建立演进关系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用证据等级控制机制、实验和商业化结论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dsl:source"/>
          <p:cNvSpPr txBox="1"/>
          <p:nvPr/>
        </p:nvSpPr>
        <p:spPr>
          <a:xfrm>
            <a:off x="762000" y="6286500"/>
            <a:ext cx="10477500" cy="23812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"/>
          <p:cNvSpPr txBox="1"/>
          <p:nvPr/>
        </p:nvSpPr>
        <p:spPr>
          <a:xfrm>
            <a:off x="762000" y="1047750"/>
            <a:ext cx="104775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Arm CCA 细粒度隔离与部署模型</a:t>
            </a:r>
          </a:p>
        </p:txBody>
      </p:sp>
      <p:sp>
        <p:nvSpPr>
          <p:cNvPr id="5" name="dsl:ch-subtitle"/>
          <p:cNvSpPr txBox="1"/>
          <p:nvPr/>
        </p:nvSpPr>
        <p:spPr>
          <a:xfrm>
            <a:off x="762000" y="1524000"/>
            <a:ext cx="1047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从 VM 级 Realm 扩展到用户态、容器与细粒度内存保护</a:t>
            </a:r>
          </a:p>
        </p:txBody>
      </p:sp>
      <p:sp>
        <p:nvSpPr>
          <p:cNvPr id="6" name="dsl:ch-intro"/>
          <p:cNvSpPr txBox="1"/>
          <p:nvPr/>
        </p:nvSpPr>
        <p:spPr>
          <a:xfrm>
            <a:off x="762000" y="2095500"/>
            <a:ext cx="104775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核心是先界定保护对象、管理边界和证据强度，再用三篇主讲材料串起技术演进。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从 VM 级 Realm 扩展到用户态、容器、进程内与移动/Android 部署。</a:t>
            </a:r>
          </a:p>
        </p:txBody>
      </p:sp>
      <p:sp>
        <p:nvSpPr>
          <p:cNvPr id="7" name="dsl:ch-papers"/>
          <p:cNvSpPr txBox="1"/>
          <p:nvPr/>
        </p:nvSpPr>
        <p:spPr>
          <a:xfrm>
            <a:off x="762000" y="3048000"/>
            <a:ext cx="10477500" cy="342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本方向三篇主讲材料：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Shelter: CCA 用户态隔离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开创/基础入口，E1 / 基础证据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RContainer: CCA 安全容器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代表性改进，E1 / 同行评审改进证据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NanoZone: CCA 细粒度内存保护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当前 SOTA/补充边界，E3 / 草案/未批准规范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Shelter: CCA 用户态隔离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Arm CCA 支持用户态隔离，把 Realm 能力从 VM 级机密计算推进到 user-space compartment。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Shelter 是首个经同行评审的 CCA 用户态隔离系统，将原本仅服务于虚拟机的 Realm 机制扩展到应用级隔离边界。通过封装 CCA 原语，使应用 compartment 在不完全信任 OS/host 的前提下运行敏感逻辑。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论文定位：开创/基础入口；材料类型：系统论文；证据等级：E1 / 基础证据。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来源：Shelter: CCA 用户态隔离｜证据等级：E1 / Foundational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Shelter: CCA 用户态隔离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 机制不必只服务 VM，进程内敏感代码同样需要小 TCB、host-untrusted 的隔离边界。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传统安全边界以进程或 VM 为粒度，难以满足应用内敏感逻辑的细粒度隔离需求。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CCA primitives 封装成用户态隔离模型，让应用 compartment 在不完全信任 OS/host 的前提下运行敏感逻辑。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User-space compartment over Arm CCA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Realm-backed isolation boundary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Runtime 和 OS 集成路径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来源：Shelter: CCA 用户态隔离｜证据等级：E1 / Foundational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Shelter: CCA 用户态隔离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USENIX Security 论文提供原型与开销评估。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本报告不复制未核对的具体性能数字，只引用已核验的机制方向。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安全性分析强依赖 timing、硬件和网络假设。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开辟 CCA 细粒度使用方式，是从 VM Realm 走向应用隔离的方向入口。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系统原型不等同于通用 ABI 或量产部署，生态依赖 runtime、OS 与 CCA 硬件支持。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对云端敏感函数、插件隔离和移动端安全服务有潜力；风险在开发者可用性和平台普及速度。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来源：Shelter: CCA 用户态隔离｜证据等级：E1 / Foundational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RContainer: CCA 安全容器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Arm CCA 扩展到安全容器架构，面向云原生场景重构容器隔离边界。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RContainer 是面向 CCA 安全容器的代表性改进系统，利用 CCA 硬件原语为容器 workload 建立更强机密性边界，同时保留容器化部署模型。将 CCA 从 confidential VM 推向容器 workload，贴近云原生落地场景。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论文定位：代表性改进；材料类型：系统论文；证据等级：E1 / 同行评审改进证据。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来源：RContainer: CCA 安全容器｜证据等级：E1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RContainer: CCA 安全容器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容器共享内核带来部署效率，但传统容器边界难以抵御高权限 host/内核路径的泄露风险。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云原生场景要求强隔离与容器化部署效率兼得，需要新的硬件辅助隔离机制。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利用 CCA 硬件 primitives 为容器 workload 建立更强机密性边界，同时保留容器化部署模型。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CCA-backed secure container boundary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Container lifecycle 和 Realm lifecycle 映射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Runtime/orchestration 集成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来源：RContainer: CCA 安全容器｜证据等级：E1 / Peer-reviewed SOTA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RContainer: CCA 安全容器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NDSS 系统论文提供原型评估。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本报告不复制未核对的具体性能数字。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实验关注容器启动、运行开销与 CCA lifecycle 耦合。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贴近云原生落地，把 CCA 从 confidential VM 推向容器 workload。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容器生态、编排系统和 CCA lifecycle 的耦合复杂，生产部署需要额外工程证据。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商业潜力高，适合云平台安全容器服务；风险在 Kubernetes/runtime 改造、调试可观测性和租户迁移成本。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来源：RContainer: CCA 安全容器｜证据等级：E1 / Peer-reviewed SOTA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NanoZone: CCA 细粒度内存保护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探索 Arm CCA 上更可扩展、更细粒度的内存保护域，缓解 VM/Realm 粒度过粗的问题。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NanoZone 作为草案级 SOTA 工作，研究 CCA granule/lifecycle 能否支撑更小保护域。预印本状态提供了前沿设计方向，但尚不能代表同行评议共识或硬件/OS 生态成熟度。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论文定位：当前 SOTA/补充边界；材料类型：系统论文；证据等级：E3 / 草案/未批准规范。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来源：NanoZone: CCA 细粒度内存保护｜证据等级：E3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NanoZone: CCA 细粒度内存保护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只用 Realm/VM 粒度会在管理成本、保护域数量和应用内敏感数据隔离之间形成矛盾。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细粒度隔离需求与 CCA 现有 granule/lifecycle 机制的可扩展性之间存在张力。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研究 CCA granule/lifecycle 能否支撑更小保护域，并用辅助材料对照进程内信任收缩问题。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Fine-grained memory protection over CCA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Granule/lifecycle scaling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Intra-process isolation comparison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来源：NanoZone: CCA 细粒度内存保护｜证据等级：E3 / Draft-not-ratified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NanoZone: CCA 细粒度内存保护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arXiv 预印本提供设计与评估线索。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draft/not ratified 状态下只作为前沿方向证据，不能写成同行评议共识或成熟生产证据。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只引用本地 PDF 中已核验的机制方向。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直接回应 CCA 保护粒度和可扩展性问题，适合作为细粒度隔离前沿。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预印本尚不能代表同行评议共识或硬件/OS 生态成熟度。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若硬件和 runtime 成本可控，可服务插件沙箱、密钥处理和多租户组件隔离；风险在 ABI 稳定性和开发复杂度。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来源：NanoZone: CCA 细粒度内存保护｜证据等级：E3 / Draft-not-ratified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Ch04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方向总结：Arm CCA 细粒度隔离与部署模型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-table"/>
          <p:cNvGraphicFramePr>
            <a:graphicFrameLocks noGrp="1"/>
          </p:cNvGraphicFramePr>
          <p:nvPr/>
        </p:nvGraphicFramePr>
        <p:xfrm>
          <a:off x="571500" y="952500"/>
          <a:ext cx="11049000" cy="552449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3646170"/>
                <a:gridCol w="3646170"/>
                <a:gridCol w="1325880"/>
              </a:tblGrid>
              <a:tr h="6629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Shelter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用户态隔离，将 Realm 推进到 user-space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生态依赖 runtime、OS 与 CCA 硬件支持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RContainer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安全容器，云原生部署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编排系统耦合复杂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2420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NanoZone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细粒度内存保护域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预印本，生态不成熟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"/>
          <p:cNvSpPr txBox="1"/>
          <p:nvPr/>
        </p:nvSpPr>
        <p:spPr>
          <a:xfrm>
            <a:off x="762000" y="1047750"/>
            <a:ext cx="104775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Arm CCA I/O、DMA、Accelerator、Interrupt</a:t>
            </a:r>
          </a:p>
        </p:txBody>
      </p:sp>
      <p:sp>
        <p:nvSpPr>
          <p:cNvPr id="5" name="dsl:ch-subtitle"/>
          <p:cNvSpPr txBox="1"/>
          <p:nvPr/>
        </p:nvSpPr>
        <p:spPr>
          <a:xfrm>
            <a:off x="762000" y="1524000"/>
            <a:ext cx="1047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把设备访问、DMA、interrupt ownership 与 accelerator workflow 纳入 CCA 边界</a:t>
            </a:r>
          </a:p>
        </p:txBody>
      </p:sp>
      <p:sp>
        <p:nvSpPr>
          <p:cNvPr id="6" name="dsl:ch-intro"/>
          <p:cNvSpPr txBox="1"/>
          <p:nvPr/>
        </p:nvSpPr>
        <p:spPr>
          <a:xfrm>
            <a:off x="762000" y="2095500"/>
            <a:ext cx="104775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核心是先界定保护对象、管理边界和证据强度，再用三篇主讲材料串起技术演进。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把设备访问、DMA、interrupt ownership 与 accelerator workflow 纳入 CCA 边界。</a:t>
            </a:r>
          </a:p>
        </p:txBody>
      </p:sp>
      <p:sp>
        <p:nvSpPr>
          <p:cNvPr id="7" name="dsl:ch-papers"/>
          <p:cNvSpPr txBox="1"/>
          <p:nvPr/>
        </p:nvSpPr>
        <p:spPr>
          <a:xfrm>
            <a:off x="762000" y="3048000"/>
            <a:ext cx="10477500" cy="342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本方向三篇主讲材料：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ACAI: CCA Accelerator Execution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开创/基础入口，E3 / 草案/未批准规范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Devlore: Device Interrupt Protection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代表性改进，E3 / 草案/未批准规范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Accelerator TEE SoK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当前 SOTA/补充边界，E2 / Background substrate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ACAI: CCA Accelerator Execution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研究如何用 Arm CCA 保护 accelerator execution，说明 CPU Realm 之外的 offload path 不能默认继承机密性。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ACAI 是 CCA accelerator 执行路径的早期设计点，以 CCA-aware 加速器执行路径连接 Realm、设备内存访问、队列管理和 attestation，缩小 host 可见面。对 AI/HPC confidential offload 有潜在应用价值。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论文定位：开创/基础入口；材料类型：系统论文；证据等级：E3 / 草案/未批准规范。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来源：ACAI: CCA accelerator execution｜证据等级：E3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ACAI: CCA Accelerator Execution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Confidential workloads 需要使用 GPU/NPU/FPGA 等加速器。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如果设备 DMA、队列和驱动仍由 untrusted host 控制，Realm 内数据会在 offload 路径暴露。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以 CCA-aware accelerator execution path 连接 Realm、设备内存访问、队列管理和 attestation，缩小 host 可见面。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CCA-aware accelerator execution path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Protected DMA 和 command/data movement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Driver/runtime TCB boundary for offload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来源：ACAI: CCA accelerator execution｜证据等级：E3 / Draft-not-ratified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ACAI: CCA Accelerator Execution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arXiv 系统论文提供原型/设计评估。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draft/not-ratified 状态下只引用本地 PDF 中已核验的机制方向与结果。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不写成标准或生产事实。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 Arm CCA 讨论从 CPU/VM 推到 accelerator workflow，是本方向的入口设计点。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预印本不能代表标准化接口或量产设备能力，且驱动/runtime TCB 仍是主要工程风险。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可服务 AI/HPC confidential offload；风险在设备厂商支持、驱动隔离和 attestation 生态不统一。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来源：ACAI: CCA accelerator execution｜证据等级：E3 / Draft-not-ratified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Devlore: Device Interrupt Protection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关注 confidential VM 的 device interrupt protection，把 interrupt delivery 纳入机密计算边界。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Devlore 指出 interrupt 是 CCA device path 的核心安全面，不应只讨论 DMA。将 interrupt delivery、device ownership 与 confidential boundary 绑定，使设备事件不再只是外围控制面问题。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论文定位：代表性改进；材料类型：系统论文；证据等级：E3 / 草案/未批准规范。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来源：Devlore: device interrupt protection｜证据等级：E3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Devlore: Device Interrupt Protection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即便 DMA 受控，设备 interrupt 仍可能泄露 timing/ownership 信息。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Host 可能利用 interrupt 破坏 confidential VM 的状态机。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将 interrupt delivery、device ownership 与 confidential boundary 绑定，使设备事件不再只是外围控制面问题。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Confidential-device interrupt ownership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Interrupt delivery mediation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VM/device lifecycle coupling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来源：Devlore: device interrupt protection｜证据等级：E3 / Draft-not-ratified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Devlore: Device Interrupt Protection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本地已核验 arXiv PDF 提供 device-interrupt protection 设计/原型证据。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只写机制方向和证据状态，不写未复核数字或成熟部署结论。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draft/not-ratified 状态下只引用已核验的机制方向。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明确指出 interrupt 是 CCA device path 的核心安全面，不应只讨论 DMA。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Draft evidence，落地需硬件、firmware、OS、hypervisor 和 interrupt controller 协同。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对云端直通设备和加速器租户隔离很关键；风险在 legacy 设备兼容和中断虚拟化复杂性。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来源：Devlore: device interrupt protection｜证据等级：E3 / Draft-not-ratified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Background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Accelerator TEE SoK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为 accelerator/device TEE 提供 taxonomy，帮助组织 GPU/NPU/DPU/SmartNIC 的身份、内存路径、runtime 与 attestation 问题。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Accelerator TEE SoK 提供当前设备 TEE 设计的分类学框架，将设备身份、内存路径、队列、runtime、driver TCB 与 attestation 系统化。作为 CCA I/O 方向的背景基底，避免只围绕 CPU Realm 叙事。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论文定位：当前 SOTA/补充边界；材料类型：SoK/综述；证据等级：E2 / Background substrate。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来源：Accelerator TEE SoK for CCA I/O｜证据等级：E2 / Background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Background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Accelerator TEE SoK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设备 TEE 机制比 CPU TEE 更分散。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不同 accelerator 的队列、固件、驱动和本地 root 差异很大。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taxonomy 区分设备身份、内存路径、队列、runtime、driver TCB 与 attestation，作为 CCA I/O 方向的背景基底。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Accelerator/device TEE design taxonomy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Device identity and attestation vocabulary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Memory, queue, runtime and driver TCB dimensions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来源：Accelerator TEE SoK for CCA I/O｜证据等级：E2 / Background substrate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E2 / Background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Accelerator TEE SoK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规范/Survey，无新实验。Accelerator TEE SoK 只支撑术语、taxonomy、接口语义或证据边界。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不展示独立系统实验，也不把二手归纳写成一手结果。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涉及具体平台、协议状态或数值时，转到原始论文或官方规范核验。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能把 accelerator TEE 设计空间系统化，避免只围绕 CPU Realm 叙事。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 Arm CCA 专用机制证据，也不是某个设备的生产部署证明。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有助于产品需求拆解和 vendor 对标；风险在 taxonomy 与具体硬件能力之间仍需二次验证。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来源：Accelerator TEE SoK for CCA I/O｜证据等级：E2 / Background substrate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Ch05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方向总结：Arm CCA I/O、DMA、Accelerator、Interrupt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-table"/>
          <p:cNvGraphicFramePr>
            <a:graphicFrameLocks noGrp="1"/>
          </p:cNvGraphicFramePr>
          <p:nvPr/>
        </p:nvGraphicFramePr>
        <p:xfrm>
          <a:off x="571500" y="952500"/>
          <a:ext cx="11049000" cy="552449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3646170"/>
                <a:gridCol w="3646170"/>
                <a:gridCol w="1325880"/>
              </a:tblGrid>
              <a:tr h="6629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ACAI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CCA-aware accelerator 执行路径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预印本，驱动 TCB 风险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Devlore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设备 interrupt 保护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需多组件协同，legacy 兼容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2420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Accelerator TEE SoK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设备 TEE taxonomy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非专用机制，需二次验证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"/>
          <p:cNvSpPr txBox="1"/>
          <p:nvPr/>
        </p:nvSpPr>
        <p:spPr>
          <a:xfrm>
            <a:off x="762000" y="1047750"/>
            <a:ext cx="104775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Attestation、Boot、Lifecycle</a:t>
            </a:r>
          </a:p>
        </p:txBody>
      </p:sp>
      <p:sp>
        <p:nvSpPr>
          <p:cNvPr id="5" name="dsl:ch-subtitle"/>
          <p:cNvSpPr txBox="1"/>
          <p:nvPr/>
        </p:nvSpPr>
        <p:spPr>
          <a:xfrm>
            <a:off x="762000" y="1524000"/>
            <a:ext cx="1047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区分 secure boot、launch attestation、runtime evidence 与 verifier policy</a:t>
            </a:r>
          </a:p>
        </p:txBody>
      </p:sp>
      <p:sp>
        <p:nvSpPr>
          <p:cNvPr id="6" name="dsl:ch-intro"/>
          <p:cNvSpPr txBox="1"/>
          <p:nvPr/>
        </p:nvSpPr>
        <p:spPr>
          <a:xfrm>
            <a:off x="762000" y="2095500"/>
            <a:ext cx="104775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核心是先界定保护对象、管理边界和证据强度，再用三篇主讲材料串起技术演进。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区分 secure boot、launch attestation、runtime/control-flow evidence、evidence profile 与 verifier policy。</a:t>
            </a:r>
          </a:p>
        </p:txBody>
      </p:sp>
      <p:sp>
        <p:nvSpPr>
          <p:cNvPr id="7" name="dsl:ch-papers"/>
          <p:cNvSpPr txBox="1"/>
          <p:nvPr/>
        </p:nvSpPr>
        <p:spPr>
          <a:xfrm>
            <a:off x="762000" y="3048000"/>
            <a:ext cx="10477500" cy="342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本方向三篇主讲材料：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SWATT: 软件 Attestation 早期代表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开创/基础入口，E1 / 基础证据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RATS 架构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代表性改进，E0 / Spec-standard SOTA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VRASED Verified RA Co-design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 — 当前 SOTA/补充边界，E1 / 同行评审改进证据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SWATT: 软件 Attestation 早期代表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提出软件 attestation 的早期代表方法，用 timing-sensitive checksum 让远程 verifier 检查设备内存内容。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SWATT 是远程软件 attestation 问题的经典起点。用严格时间假设约束 prover 计算能力，使篡改设备难以伪造完整内存 checksum。历史价值高，能解释 attestation 从软件测量走向硬件 RoT 的动因。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论文定位：开创/基础入口；材料类型：系统论文；证据等级：E1 / 基础证据。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来源：SWATT: 软件 attestation 早期代表｜证据等级：E1 / Foundational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SWATT: 软件 Attestation 早期代表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低端嵌入式设备缺少硬件 root of trust，但仍需要远程确认代码完整性和启动状态。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传统软件保护方法难以在强对手面前提供可信的远程验证。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用严格时间假设约束 prover 计算能力，使篡改设备难以伪造完整内存 checksum。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Software-only remote attestation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Timing-sensitive memory checksum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Verifier/prover challenge-response model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来源：SWATT: 软件 attestation 早期代表｜证据等级：E1 / Foundational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Foundational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SWATT: 软件 Attestation 早期代表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论文在嵌入式节点场景评估。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安全性强依赖 timing、硬件和网络假设。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只引用已核验的实验方向，不复制未复核的具体数值。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历史价值高，能解释 attestation 从软件测量走向硬件 RoT 的动因。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面对现代强对手和复杂 SoC/TEE 时适用性有限。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现代商业方案应转向硬件 RoT、标准化 evidence 和 verifier policy；SWATT 主要作为历史基线。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来源：SWATT: 软件 attestation 早期代表｜证据等级：E1 / Foundational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E0 / Spec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RATS 架构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attester、verifier、relying party、evidence、endorsements、reference values、attestation results 和 appraisal policy。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RFC 9334 定义了当前跨 TEE 远程 attestation 的 RATS 架构。规范化 evidence 生成、传递、评估角色与拓扑。是跨平台 attestation 术语和 verifier policy 的权威基线，但不证明任一平台测量链充分。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论文定位：代表性改进；材料类型：规范/标准材料；证据等级：E0 / Spec-standard SOTA。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来源：RATS 架构｜证据等级：E0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E0 / Spec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RATS 架构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多平台 attestation 需要统一角色、消息、freshness 和 verifier policy 词汇。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否则 CCA、CoVE、DPU/NIC evidence 难以对齐，难以构建跨平台验证体系。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RATS 规范化 evidence 生成、传递、评估角色与拓扑。EAT RFC 辅助说明实体状态和安全属性 claims 的 token 编码。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Attester/verifier/relying-party roles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Evidence, endorsements, reference values and appraisal policy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Attestation results and freshness vocabulary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来源：RATS 架构｜证据等级：E0 / Spec-standard SOTA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E0 / Spec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RATS 架构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规范/Survey，无新实验。RATS 架构只支撑术语、taxonomy、接口语义或证据边界。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不展示独立系统实验，也不把二手归纳写成一手结果。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具体平台结论转到一手材料核验。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是跨平台 attestation 术语和 verifier policy 的权威基线。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不证明任一平台测量链充分，也不定义完整 token claim encoding。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标准化落地潜力强；风险在平台 evidence profile、endorsement 分发和 verifier policy 运维复杂。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来源：RATS 架构｜证据等级：E0 / Spec-standard SOTA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VRASED: Verified RA Co-design — 内容摘要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dy"/>
          <p:cNvSpPr txBox="1"/>
          <p:nvPr/>
        </p:nvSpPr>
        <p:spPr>
          <a:xfrm>
            <a:off x="571500" y="876300"/>
            <a:ext cx="11049000" cy="561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设计并验证面向 simple embedded devices 的 hardware/software remote attestation root。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VRASED 是同行评审验证 RA co-design 的最强锚点。用少量硬件扩展保护 attestation 代码、密钥和内存访问，并形式化验证整体 RA 安全属性。结合形式化验证、硬件/软件 co-design 和真实原型，证据强度突出。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论文定位：当前 SOTA/补充边界；材料类型：系统论文；证据等级：E1 / 同行评审改进证据。</a:t>
            </a:r>
          </a:p>
        </p:txBody>
      </p:sp>
      <p:sp>
        <p:nvSpPr>
          <p:cNvPr id="10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来源：VRASED verified RA co-design｜证据等级：E1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VRASED: Verified RA Co-design — 背景与方案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g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10" name="dsl:bg-body"/>
          <p:cNvSpPr txBox="1"/>
          <p:nvPr/>
        </p:nvSpPr>
        <p:spPr>
          <a:xfrm>
            <a:off x="571500" y="1219200"/>
            <a:ext cx="11049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RA 安全性依赖硬件隔离、软件 routine 和协议共同成立。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早期方案缺少实现级机器可检查证明，难以保证形式化安全性。</a:t>
            </a:r>
          </a:p>
        </p:txBody>
      </p:sp>
      <p:cxnSp>
        <p:nvCxnSpPr>
          <p:cNvPr id="11" name="dsl:sep-line"/>
          <p:cNvCxnSpPr/>
          <p:nvPr/>
        </p:nvCxnSpPr>
        <p:spPr>
          <a:xfrm>
            <a:off x="571500" y="3333750"/>
            <a:ext cx="11049000" cy="0"/>
          </a:xfrm>
          <a:prstGeom prst="straightConnector1">
            <a:avLst/>
          </a:prstGeom>
          <a:ln w="12700">
            <a:solidFill>
              <a:srgbClr val="E2E8F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sol-title"/>
          <p:cNvSpPr txBox="1"/>
          <p:nvPr/>
        </p:nvSpPr>
        <p:spPr>
          <a:xfrm>
            <a:off x="571500" y="352425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13" name="dsl:sol-body"/>
          <p:cNvSpPr txBox="1"/>
          <p:nvPr/>
        </p:nvSpPr>
        <p:spPr>
          <a:xfrm>
            <a:off x="571500" y="3867150"/>
            <a:ext cx="11049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用少量硬件扩展保护 attestation 代码、密钥和内存访问，并形式化验证整体 RA 安全属性。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Hardware/software RA root co-design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Formal verification of security sub-properties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MSP430/Basys3 FPGA implementation</a:t>
            </a:r>
          </a:p>
        </p:txBody>
      </p:sp>
      <p:sp>
        <p:nvSpPr>
          <p:cNvPr id="14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来源：VRASED verified RA co-design｜证据等级：E1 / Peer-reviewed SOTA</a:t>
            </a:r>
          </a:p>
        </p:txBody>
      </p:sp>
      <p:sp>
        <p:nvSpPr>
          <p:cNvPr id="15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ev-badge-bg"/>
          <p:cNvSpPr/>
          <p:nvPr/>
        </p:nvSpPr>
        <p:spPr>
          <a:xfrm>
            <a:off x="10096500" y="95250"/>
            <a:ext cx="1524000" cy="190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-badge-text"/>
          <p:cNvSpPr txBox="1"/>
          <p:nvPr/>
        </p:nvSpPr>
        <p:spPr>
          <a:xfrm>
            <a:off x="10096500" y="95250"/>
            <a:ext cx="1524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7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VRASED: Verified RA Co-design — 实验与评价</a:t>
            </a:r>
          </a:p>
        </p:txBody>
      </p:sp>
      <p:sp>
        <p:nvSpPr>
          <p:cNvPr id="8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p-title"/>
          <p:cNvSpPr txBox="1"/>
          <p:nvPr/>
        </p:nvSpPr>
        <p:spPr>
          <a:xfrm>
            <a:off x="571500" y="8763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10" name="dsl:exp-body"/>
          <p:cNvSpPr txBox="1"/>
          <p:nvPr/>
        </p:nvSpPr>
        <p:spPr>
          <a:xfrm>
            <a:off x="571500" y="121920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USENIX Security 2019 peer-reviewed paper，提供原型和验证证据。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Reports prototype and verification evidence for simple embedded devices.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只引用已核验的实验方向，不复制未复核的具体数值。</a:t>
            </a:r>
          </a:p>
        </p:txBody>
      </p:sp>
      <p:sp>
        <p:nvSpPr>
          <p:cNvPr id="11" name="dsl:eval-title"/>
          <p:cNvSpPr txBox="1"/>
          <p:nvPr/>
        </p:nvSpPr>
        <p:spPr>
          <a:xfrm>
            <a:off x="571500" y="3048000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12" name="dsl:eval-table"/>
          <p:cNvGraphicFramePr>
            <a:graphicFrameLocks noGrp="1"/>
          </p:cNvGraphicFramePr>
          <p:nvPr/>
        </p:nvGraphicFramePr>
        <p:xfrm>
          <a:off x="571500" y="339090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939165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证据强，结合形式化验证、硬件/软件 co-design 和真实原型。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目标是 simple embedded devices，不是 cloud CVM、CCA Realm 或 CoVE TVM evidence profile。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适合可审计 MCU/IoT RoT 和 attestation IP；风险在 proof maintenance、toolchain 和 profile 标准化。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来源：VRASED verified RA co-design｜证据等级：E1 / Peer-reviewed SOTA</a:t>
            </a:r>
          </a:p>
        </p:txBody>
      </p:sp>
      <p:sp>
        <p:nvSpPr>
          <p:cNvPr id="14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95250"/>
            <a:ext cx="762000" cy="190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95250"/>
            <a:ext cx="762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Inter"/>
                <a:ea typeface="MiSans"/>
              </a:rPr>
              <a:t>Ch06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42900"/>
            <a:ext cx="942975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方向总结：Attestation、Boot、Lifecycle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-table"/>
          <p:cNvGraphicFramePr>
            <a:graphicFrameLocks noGrp="1"/>
          </p:cNvGraphicFramePr>
          <p:nvPr/>
        </p:nvGraphicFramePr>
        <p:xfrm>
          <a:off x="571500" y="952500"/>
          <a:ext cx="11049000" cy="552449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3646170"/>
                <a:gridCol w="3646170"/>
                <a:gridCol w="1325880"/>
              </a:tblGrid>
              <a:tr h="6629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SWATT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Timing-sensitive 软件校验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现代强对手适用性有限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1867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RATS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远程 attestation 统一架构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不保证测量链充分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2420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VRASED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验证 RA 硬件/软件 co-design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面向嵌入式，非云场景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source|s=$caption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方向07：RISC-V 基础安全 primitives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从标准规范到安全 substrate 的技术演进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PMP/ePMP/Smepmp、IOMMU、IOPMP、AIA、CFI 等 substrate 与 TEE 本体区分开。先用三篇主讲材料建立演进关系，再用证据等级控制每个结论。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privileged architecture — 开创/基础入口（E0 / 基础证据 standard substrate）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IOMMU — 代表性改进（E0 / Spec-standard SOTA）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Advanced Interrupt Architecture — 当前 SOTA/补充边界（E0 / Spec-standard SOTA）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privileged architecture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E0 / 基础证据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RISC-V privilege modes、PMP、virtualization、trap/translation 和相关保护基础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privileged ISA defines PMP, traps, modes, and paging substrate for RISC-V TEEs。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E0 / 基础证据 standard substrate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privileged architecture｜证据等级：E0 / Foundational standard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安全系统需要从标准 privilege/translation/memory-control 机制出发，TEE 论文不能跳过底层隔离语义。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通过 M/S/U/HS/VS modes、PMP/ePMP/Smepmp、trap/translation 机制组合隔离 substrate。这些机制共同构成 RISC-V TEE 的底层安全底座。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privileged architecture｜证据等级：E0 / Foundational standard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规范/Survey，无新实验。RISC-V privileged architecture 只支撑术语、taxonomy、接口语义或证据边界。涉及具体平台、协议状态或数值时，转到原始论文或厂商材料核验。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所有 RISC-V TEE、CoVE、AP-TEE 讨论的共同底座。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 confidential VM 或 enclave 的完整方案，也不覆盖设备 I/O 隔离。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商业价值在于开放生态共识；风险在厂商实现差异和扩展组合复杂度。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privileged architecture｜证据等级：E0 / Foundational standard substrate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IOMMU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E0 / Spec-standard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RISC-V I/O translation/protection 架构，用于约束设备地址转换和访问权限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IOMMU specification is the current standard substrate for DMA isolation and CoVE-IO。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E0 / Spec-standard SOTA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DMA 和总线 master 可绕过 CPU-side PMP/页表。TEE 或 CoVE-IO 需要 I/O 侧地址转换和权限控制。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IOMMU 把设备发起的访问纳入可配置 translation/protection 边界。提供 I/O page-table 和 permission semantics，是 CoVE-IO 的标准 substrate。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规范/Survey，无新实验。RISC-V IOMMU 只支撑术语、taxonomy、接口语义或证据边界。涉及具体平台、协议状态或数值时，转到原始论文或厂商材料核验。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是 RISC-V confidential I/O 和 DMA 隔离讨论的标准 substrate。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IOMMU 自身不是 TEE，也不覆盖设备身份、attestation 或 interrupt ownership。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对服务器和异构设备直通很关键；风险在设备生态、固件配置和 verifier 无法直接观察配置完整性。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IOMMU｜证据等级：E0 / Spec-standard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Advanced Interrupt Architecture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E0 / Spec-standard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interrupt、MSI、virtual interrupt 等基础，为 trusted interrupt delivery 和 confidential I/O 提供标准语义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AIA specification is the current interrupt virtualization and ownership substrate。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E0 / Spec-standard SOTA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Advanced Interrupt Architecture｜证据等级：E0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Confidential I/O 不只需要 DMA 隔离，也需要可信 interrupt/MSI delivery。runtime CFI 则是独立的控制流防护 substrate。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AIA 规范化 interrupt controller 与 MSI/virtual interrupt，为 confidential I/O 提供 trusted interrupt-delivery substrate。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Advanced Interrupt Architecture｜证据等级：E0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CH07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规范/Survey，无新实验。RISC-V Advanced Interrupt Architecture 只支撑术语、taxonomy、接口语义或证据边界。涉及具体平台、协议状态或数值时，转到原始论文或厂商材料核验。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为 trusted MSI、interrupt ownership 和虚拟化中断路径提供标准词汇。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不定义完整 confidential I/O protocol，也不证明实现侧中断隔离正确。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对直通设备和 SmartNIC/DPU 中断路径有基础价值；风险在平台实现、IOMMU/IOPMP 组合和审计可见性。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Advanced Interrupt Architecture｜证据等级：E0 / Spec-standard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6477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314700"/>
                <a:gridCol w="3314700"/>
                <a:gridCol w="1657350"/>
              </a:tblGrid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privileged architecture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定义 privilege modes、PMP、virtualization 基础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不是 confidential VM 或 enclave 完整方案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E0 / 基础证据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IOMMU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定义 I/O translation/protection 架构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不覆盖设备身份、attestation 或 interrupt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E0 / Spec-standard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Advanced Interrupt Architecture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定义 interrupt、MSI、virtual interrupt 基础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不定义完整 confidential I/O protocol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E0 / Spec-standard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方向08：RISC-V TEE lineage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Sanctum / Keystone / Penglai / SPEAR-V 技术演进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从 PMP-based enclave 到 scalable memory protection，再到 tag/metadata primitive。固定三篇主讲材料，直接呈现 RISC-V enclave lineage 演进。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Keystone: 开源 RISC-V TEE 框架 — 开创/基础入口（E1 / 基础证据）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Penglai: scalable enclave memory protection — 代表性改进（E1 / 同行评审改进证据）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SPEAR-V: low-overhead RISC-V enclave primitive — 当前 SOTA/补充边界（E1 / 同行评审改进证据）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Keystone: 开源 RISC-V TEE 框架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基础证据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开源 RISC-V TEE 框架，用 PMP、security monitor 和 runtime abstraction 构建 enclave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EuroSys 2020 Keystone is the foundational public RISC-V open-source TEE framework paper。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E1 / 基础证据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来源：Keystone: 开源 RISC-V TEE 框架｜证据等级：E1 / Foundational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商业 TEE 难定制、难验证。RISC-V 提供开放硬件/软件协同机会，需要可研究、可裁剪的 enclave baseline。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PMP region、security monitor、runtime 和 host ABI 组合成可扩展的开源 TEE 框架。实现 PMP-based enclave isolation 和软件/硬件协同设计。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来源：Keystone: 开源 RISC-V TEE 框架｜证据等级：E1 / Foundational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论文报告 CoreMark/Beebs/RV8 等开销结果。具体数值需核对原文 Table/Figure 后写入。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TEE baseline，适合解释 PMP-based enclave 的优势和限制。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EuroSys 2020 foundational evidence，不代表后续标准化 confidential VM 或生产 enclave。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开源可定制性强；风险在 PMP region 限制、生态成熟度和安全 monitor 正确性。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来源：Keystone: 开源 RISC-V TEE 框架｜证据等级：E1 / Foundational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Penglai: scalable enclave memory protection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同行评审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面向大规模 enclave 的 scalable memory protection，回应 serverless/microservice 对大量动态 enclave 的需求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OSDI 2021 Penglai is a peer-reviewed SOTA scalable RISC-V enclave OS after Keystone。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E1 / 同行评审改进证据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来源：Penglai: scalable enclave memory protection｜证据等级：E1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 PMP region 数量有限，难以支撑大量 enclave、动态生命周期和更大的受保护内存。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引入更可扩展的内存保护和 metadata 管理机制，把 RISC-V enclave 从少量静态隔离推进到云端规模化。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来源：Penglai: scalable enclave memory protection｜证据等级：E1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OSDI 论文报告可支持大量 enclave 和较大安全内存。具体指标需核对原文 Table/Figure 后写入。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系统贡献强，直接解决 PMP-based enclave 在规模上的瓶颈。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需要硬件修改和生态配套，不等同于 RISC-V ratified confidential-computing standard。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适合云原生 enclave 服务方向；风险在硬件采纳、标准化和云平台管理接口。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来源：Penglai: scalable enclave memory protection｜证据等级：E1 / Peer-reviewed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SPEAR-V: low-overhead RISC-V enclave primitive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同行评审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提出低开销、实用的 RISC-V enclave primitive，用 tag/metadata primitive 支持双向 sandbox 和嵌套隔离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SPEAR-V is a peer-reviewed SOTA RISC-V TEE system with SoC and remote-attestation focus。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E1 / 同行评审改进证据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来源：SPEAR-V: low-overhead RISC-V enclave primitive｜证据等级：E1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enclave 需要更灵活、低开销、可抵抗部分 controlled-channel 风险的硬件 primitive。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tag/metadata primitive 替代仅靠 PMP region 的隔离表达，支持更细粒度的 protected/unprotected 交互。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来源：SPEAR-V: low-overhead RISC-V enclave primitive｜证据等级：E1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CH08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AsiaCCS 论文报告 protected/unprotected 场景低开销。具体数值需核对原文 Table/Figure 后写入。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机制设计清晰，展示 RISC-V enclave primitive 可沿 tag/metadata 路线演进。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Peer-reviewed 系统证据不等同于 RISC-V 标准或量产硬件采纳。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若硬件供应商采纳，适合细粒度隔离和嵌入式/边缘 TEE；风险在 ISA 扩展标准化和工具链支持。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来源：SPEAR-V: low-overhead RISC-V enclave primitive｜证据等级：E1 / Peer-reviewed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6477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314700"/>
                <a:gridCol w="3314700"/>
                <a:gridCol w="1657350"/>
              </a:tblGrid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Keystone: 开源 RISC-V TEE 框架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PMP + security monitor + runtime 构建 enclave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不代表后续标准化 confidential VM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基础证据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Penglai: scalable enclave memory protection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可扩展内存保护应对大规模 enclave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需要硬件修改和生态配套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同行评审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SPEAR-V: low-overhead RISC-V enclave primitive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tag/metadata primitive 支持双向 sandbox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不等同于 RISC-V 标准或量产硬件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同行评审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方向09：RISC-V CoVE / AP-TEE confidential VM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从 enclave 到 confidential VM 的架构演进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pre-CoVE enclave 与 AP-TEE/CoVE TVM lifecycle 区分开。survey 只作为 background substrate，不替代 CoVE/AP-TEE 机制证据。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CoVE reference architecture — 开创/基础入口（E3 / 基础证据 public preprint）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AP-TEE / CoVE TVM 规范草案 — 代表性改进（E3 / 草案/未批准规范）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TEE 谱系辅助材料 — 当前 SOTA/补充边界（E2 survey / Background substrate）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CoVE reference architecture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E3 / 基础证据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 RISC-V CoVE confidential computing 参考架构方向，明确 confidential VM 需要的 ISA、non-ISA、SoC 与 platform requirements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 2023 is the early mainline design material for RISC-V confidential VMs。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E3 / 基础证据 public preprint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 reference architecture｜证据等级：E3 / Foundational public preprint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多租户 confidential VM 需要降低 tenant 对 host/hypervisor 的信任，并区别于单进程 enclave lineage。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CoVE reference architecture 描述 TVM 所需的硬件、固件、hypervisor 和 platform support。明确 ISA/non-ISA/SoC/platform requirement split。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 reference architecture｜证据等级：E3 / Foundational public preprint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架构论文/position-style，无完整系统实验。具体 ABI/state details 需要 AP-TEE draft 补充。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CoVE confidential VM 入口材料，能把 RISC-V 从 enclave lineage 推向 TVM 模型。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不提供完整 ABI、状态机或 ratified standard 语义。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对开放 confidential VM 生态有方向价值；风险在标准未定、平台支持和 verifier ecosystem。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 reference architecture｜证据等级：E3 / Foundational public preprint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AP-TEE / CoVE TVM 规范草案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E3 / 草案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RISC-V AP-TEE/CoVE TVM lifecycle 和 SBI ABI，包括 TVM、TSM、COVH/COVG 与 memory lifecycle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AP-TEE draft is the current standards-track source for RISC-V confidential VM semantics。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E3 / 草案/未批准规范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AP-TEE / CoVE TVM 规范草案｜证据等级：E3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 需要标准化 TVM、TSM、memory lifecycle、attestation 和 host/guest 调用界面，才能与 Arm CCA/RMM 同层比较。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给出 TSM、TSM-driver、Supervisor Domains、COVH/COVG、memory donation/reclaim/share 等 draft 规范语义。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AP-TEE / CoVE TVM 规范草案｜证据等级：E3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规范/Survey，无新实验。RISC-V AP-TEE / CoVE TVM 规范草案只支撑术语、taxonomy、接口语义或证据边界。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当前最关键的 RISC-V CCA 对照材料，直接定义 TVM/TSM lifecycle。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v0.7 RC2 仍是 draft，状态机和 ABI 可能变化。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商业潜力在开放 confidential VM stack；风险在标准收敛、firmware/OS support 和兼容迁移。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AP-TEE / CoVE TVM 规范草案｜证据等级：E3 / Draft-not-ratified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361950"/>
            <a:ext cx="952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TEE 谱系辅助材料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620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361950"/>
            <a:ext cx="1333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E2 survey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904875"/>
            <a:ext cx="11049000" cy="528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pre-CoVE enclave 与 CoVE 放入 RISC-V TEE 谱系，辅助区分 enclave architecture、trusted monitor/runtime 和 confidential VM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Recent RISC-V TEE survey cross-checks the CoVE and AP-TEE lineage against older enclave work。</a:t>
            </a:r>
          </a:p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论文定位：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E2 survey / Background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TEE 谱系辅助材料｜证据等级：E2 survey / Background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TEE 论文和规范发展快，survey 可减少分类断裂。即使本地 PDF 已核验，机制细节仍要回到原始论文/spec。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 secure enclave、TEE mechanism、memory/I/O/attestation support 分类。机制 claim 必须回引 CoVE paper 和 AP-TEE spec。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TEE 谱系辅助材料｜证据等级：E2 survey / Background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14300"/>
            <a:ext cx="1143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CH09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规范/Survey，无新实验。RISC-V TEE 谱系辅助材料只支撑术语、taxonomy、接口语义或证据边界。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有助于横向定位 Keystone/Penglai/SPEAR-V 与 CoVE/AP-TEE。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Survey 不能替代原始机制论文或官方规范，尤其不能承载性能或安全证明细节。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适合产品路线图分类；风险在 survey 分类滞后和不同 threat model 被误合并。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E2 survey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TEE 谱系辅助材料｜证据等级：E2 survey / Background substrate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6477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314700"/>
                <a:gridCol w="3314700"/>
                <a:gridCol w="1657350"/>
              </a:tblGrid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CoVE reference architecture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CoVE confidential computing 参考架构方向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不提供完整 ABI、状态机或 ratified standard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 / 基础证据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AP-TEE / CoVE TVM 规范草案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定义 TVM lifecycle 和 SBI ABI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v0.7 RC2 仍是 draft，可能变化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 / 草案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085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TEE 谱系辅助材料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pre-CoVE enclave 与 CoVE 谱系分类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不能替代原始机制论文或官方规范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E2 survey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方向10：RISC-V CoVE-IO / TEE-I/O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设备身份、DMA/MMIO、中断与链路安全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把设备身份、DMA/MMIO、interrupt、link security 与 I/O translation 放到同一边界。先用三篇主讲材料建立演进关系，再用证据等级控制每个结论。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sIOPMP: scalable I/O protection for TEE — 开创/基础入口（E1 / Peer-reviewed）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CoVE-IO 规范草案 — 代表性改进（E3 / Draft）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IOMMU 支撑 CoVE-IO — 当前 SOTA/补充边界（E0 / Spec）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sIOPMP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提出面向 TEE 的 scalable I/O protection，聚焦设备 access control 和 metadata/checking 可扩展性。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sIOPMP 是 RISC-V trusted I/O 和 DMA 保护的 peer-reviewed 机制起点。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该论文发表于 ASPLOS，提供可扩展的 I/O 保护元数据与检查机制，提高设备访问控制效率并支撑更大规模 I/O protection。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来源：sIOPMP: scalable I/O protection for TEE｜证据等级：E1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DMA 设备可绕过 CPU memory isolation，I/O 保护是 TEE 的关键缺口。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只保护 CPU 页表或 PMP 不足以覆盖设备侧访问。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设备侧 DMA 需要独立的 access control 和 checking 语义。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设计 scalable I/O protection metadata/checking 机制。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提高设备访问控制效率并支撑更大规模 I/O protection。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作为 TEE-oriented DMA isolation substrate，填补 RISC-V 设备侧保护空白。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来源：sIOPMP: scalable I/O protection for TEE｜证据等级：E1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ASPLOS 论文给出吞吐和开销评估。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待补证据：需要核对原文 Table/Figure 后再写入具体数值。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本地 PDF 已核验，可进入本方向演进图，但不能替代更强证据。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I/O protection 的 peer-reviewed SOTA，可作为 CoVE-IO access-control 前置材料。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主要解决 access control，不覆盖完整 device identity、TDISP、link security 或 trusted interrupt。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对高性能设备直通有价值；风险在硬件改造、IOMMU/IOPMP 组合和平台可观测性。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来源：sIOPMP: scalable I/O protection for TEE｜证据等级：E1 / Peer-reviewed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CoVE-IO 规范草案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E3 / Draft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定义 RISC-V CoVE-IO confidential I/O 架构，把 TVM 设备使用扩展到 device identity、DMA/MMIO、interrupt 和 link security。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CoVE-IO and TEE-I/O draft 是当前 RISC-V confidential I/O 的标准轨道 SOTA。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TDI/TDM/DSM、SPDM、TDISP、PCIe IDE、trusted MSI 等机制组合描述 draft confidential I/O lifecycle。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CoVE-IO 规范草案｜证据等级：E3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TVM 使用真实设备时，安全边界必须覆盖设备身份、DMA/MMIO、interrupt delivery、link protection 和管理 control plane。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 I/O 保护只关注 access control，缺少完整的 confidential I/O lifecycle 定义。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TDI/TDM/DSM 建立设备域词汇表。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SPDM/TDISP 与 PCIe IDE  linkage 实现设备身份和链路保护。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Trusted MSI 和 interrupt-path 概念覆盖中断安全。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组合描述 draft confidential I/O lifecycle。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CoVE-IO 规范草案｜证据等级：E3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本页不展示独立系统实验，也不把二手归纳写成一手结果。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当前最重要的 RISC-V confidential I/O 规范入口。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v0.3.0 draft 仍可能变化，不证明任一硬件或 OS 实现成熟。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对 RISC-V confidential accelerator/NIC 生态关键；风险在 SPDM/TDISP/IDE 与平台 ABI 收敛。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CoVE-IO 规范草案｜证据等级：E3 / Draft-not-ratified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RISC-V IOMMU 支撑 CoVE-IO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E0 / Spec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IOMMU 支撑设备 DMA translation/protection，是 CoVE-IO 设备侧地址访问控制的标准底座。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IOMMU specification 提供当前 CoVE-IO 所需的 DMA isolation substrate。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IOMMU 控制设备可访问地址空间，与 CoVE-IO trusted device lifecycle 集成。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 支撑 CoVE-IO｜证据等级：E0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CoVE-IO 不能只靠 PMP 或 CPU page table。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设备侧 DMA 需要独立的 translation/protection 语义。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IOMMU 是设备 DMA 地址转换与保护的标准机制。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IOMMU 控制设备可访问地址空间。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提供 Device DMA translation/protection 和 I/O page-table permission 语义。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与 CoVE-IO trusted device lifecycle 集成，作为标准支撑点。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riscv_aia_2023 作为 trusted MSI/interrupt delivery 辅助材料。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 支撑 CoVE-IO｜证据等级：E0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CH10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本页不展示独立系统实验，也不把二手归纳写成一手结果。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CoVE-IO 中 DMA isolation 和 I/O translation 的标准支撑点。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IOMMU 不是单独的 confidential I/O 方案，也不覆盖 device identity、SPDM/TDISP 或 link security。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适合服务器设备直通与多租户 DMA 管控；风险在配置完整性、固件测量和 verifier 可见性。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来源：RISC-V IOMMU 支撑 CoVE-IO｜证据等级：E0 / Spec-standard SOTA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2762250"/>
                <a:gridCol w="3314700"/>
                <a:gridCol w="2209800"/>
              </a:tblGrid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sIOPMP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面向 TEE 的 scalable I/O protection，聚焦设备 access control 和 metadata/checking 可扩展性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主要解决 access control，不覆盖完整 device identity、TDISP、link security 或 trusted interrupt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Peer-reviewed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CoVE-IO 规范草案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定义 RISC-V confidential I/O 架构，把 TVM 设备使用扩展到 device identity、DMA/MMIO、interrupt 和 link security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v0.3.0 draft 仍可能变化，不证明任一硬件或 OS 实现成熟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E3 / Draft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IOMMU 支撑 CoVE-IO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IOMMU 支撑设备 DMA translation/protection，是 CoVE-IO 设备侧地址访问控制的标准底座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IOMMU 不是单独的 confidential I/O 方案，也不覆盖 device identity、SPDM/TDISP 或 link security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E0 / Spec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方向11：Memory encryption / integrity / replay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内存加密、完整性校验与重放保护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避免把 access control、ownership、encryption、integrity、freshness/replay 混写。先用三篇主讲材料建立演进关系，再用证据等级控制每个结论。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Memory Encryption: A Survey — 开创/基础入口（E2 / Background）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Bonsai Merkle Trees — 代表性改进（E1 / Peer-reviewed）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AMD SEV-SNP — 当前 SOTA/补充边界（E4 / Industry）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Memory Encryption: A Survey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E2 / Background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综述 memory encryption 的威胁模型、技术路线和性能/安全权衡。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Henson 2014 是 secure memory encryption、integrity 和 freshness 的 background starting point。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按硬件增强、OS 辅助、专用设备与 cryptographic memory controller 路线组织 taxonomy，并解释 encryption、authentication、attestation 等概念。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Full disk encryption 不能保护运行时 DRAM、bus 和 DMA 路径上的明文。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access control 与 encryption/integrity/replay 是不同问题。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需要系统化的 taxonomy 来区分各类保护机制。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按硬件增强、OS 辅助、专用设备与 cryptographic memory controller 路线组织 taxonomy。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解释 encryption、authentication、attestation 等核心概念。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提供本方向的概念边界，防止把 PMP/GPT/IOPMP 写成 encryption。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规范/Survey，无新实验。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本页不展示独立系统实验，也不把二手归纳写成一手结果。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最适合给本方向提供概念边界，防止把 PMP/GPT/IOPMP 写成 encryption。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2014 时间截面早于 SEV-SNP、TDX、Arm CCA、RISC-V CoVE 和 CXL/PCIe IDE。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可作为架构设计 checklist；风险是单独引用会遗漏现代 confidential VM ownership metadata。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开创/基础入口；证据强度 E2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Bonsai Merkle Trees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用 counter/tree metadata 检测 tamper 和 replay，锚定 memory freshness 证据。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Address-independent seed encryption 减少 OS friction。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Bonsai Merkle Trees 认证 counter metadata 和 root state，为 secure processor 提供 integrity tree 机制。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Encryption alone cannot detect stale or modified memory values returned by an untrusted memory system。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Freshness requires integrity trees, counters, or authenticated roots。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需要 peer-reviewed 机制来锚定 memory integrity 和 freshness 证据。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Address-independent seed encryption (AISE) 提供 counter-mode seed。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Bonsai Merkle Tree (BMT) 在 encryption counters 上构建认证树。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root MAC 用于 replay/tamper detection，减少 secure-processor integrity-tree 开销。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MICRO 2007 peer-reviewed secure-processor simulation。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Historical performance numbers are lineage evidence, not direct CCA/SEV-SNP product proof。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本地 PDF 已核验，可进入本方向演进图，但不能替代更强证据。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Moves the section anchor from vendor/spec contrast back to peer-reviewed memory-integrity mechanism。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Secure-processor lineage is not the same as a modern confidential-VM product implementation。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Useful for memory-controller integrity-tree design; productization depends on platform integration。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AMD SEV-SNP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E4 / Industry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核心论点：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在 encrypted VM 基础上加入 secure nested paging 与完整性相关保护，减少 host-controlled metadata 风险。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AMD SEV-SNP 是现代 VM memory-integrity 部署的产业证据。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引入 secure nested paging、RMP 等机制，把 memory ownership/validation 与 encrypted VM lifecycle 结合。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来源：AMD SEV-SNP industry memory-integrity evidence｜证据等级：E4 / Industry evidence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早期 encrypted VM 面临 nested page table、reverse map metadata、replay/alias 和 malicious host 风险。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Host-controlled metadata 可能泄露或篡改 VM 状态。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需要硬件级 memory ownership 和 integrity 保护。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引入 Secure Nested Paging 替代传统 nested paging。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Reverse Map Table (RMP) 提供 memory ownership metadata。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Integrity-oriented VM isolation controls 减少 host 对 VM 内存元数据的控制。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来源：AMD SEV-SNP industry memory-integrity evidence｜证据等级：E4 / Industry evidence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CH11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厂商技术材料，无独立学术实验。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只能作为产业机制和部署 evidence。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本地 PDF 已核验，具体平台结论转到一手材料核验。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展示 memory encryption 从 confidentiality 走向 integrity/metadata protection 的商用方向。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Vendor whitepaper 不是 peer-reviewed proof，也不证明所有 SEV-SNP 部署抵抗实现攻击或侧信道。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具有真实云平台相关性；风险在供应商绑定、固件/微码版本和 verifier policy 透明度。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SOTA/补充边界；证据强度 E4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来源：AMD SEV-SNP industry memory-integrity evidence｜证据等级：E4 / Industry evidence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314700"/>
                <a:gridCol w="3314700"/>
                <a:gridCol w="1657350"/>
              </a:tblGrid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Memory Encryption Survey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综述 memory encryption 威胁模型、技术路线和性能/安全权衡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2014 时间截面早于 SEV-SNP、TDX、Arm CCA、RISC-V CoVE 和 CXL/PCIe IDE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E2 / Background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Bonsai Merkle Trees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Counter/tree metadata 检测 tamper 和 replay，锚定 memory freshness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Secure-processor lineage 不是 modern confidential-VM product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Peer-reviewed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AMD SEV-SNP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Secure nested paging + RMP，减少 host-controlled metadata 风险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Vendor whitepaper 不是 peer-reviewed proof，不证明所有部署抵抗侧信道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E4 / Industry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bar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700" noProof="1">
                <a:solidFill>
                  <a:srgbClr val="2563EB"/>
                </a:solidFill>
                <a:latin typeface="Inter"/>
                <a:ea typeface="MiSans"/>
              </a:rPr>
              <a:t>方向12：Memory / I/O Fabrics</a:t>
            </a:r>
          </a:p>
        </p:txBody>
      </p:sp>
      <p:sp>
        <p:nvSpPr>
          <p:cNvPr id="5" name="dsl:subtitle"/>
          <p:cNvSpPr txBox="1"/>
          <p:nvPr/>
        </p:nvSpPr>
        <p:spPr>
          <a:xfrm>
            <a:off x="762000" y="1524000"/>
            <a:ext cx="1047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CXL、PCIe IDE、RDMA 与机密计算数据通路</a:t>
            </a:r>
          </a:p>
        </p:txBody>
      </p:sp>
      <p:sp>
        <p:nvSpPr>
          <p:cNvPr id="6" name="dsl:intro"/>
          <p:cNvSpPr txBox="1"/>
          <p:nvPr/>
        </p:nvSpPr>
        <p:spPr>
          <a:xfrm>
            <a:off x="762000" y="2095500"/>
            <a:ext cx="10477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高性能 memory/fabric data path 如何把 confidential boundary 推出 CPU 本地内存。三篇论文都属于 data-path/fabric substrate，能解释为何需要跨 fabric 建模，但不能单独证明 confidential I/O 安全性。</a:t>
            </a:r>
          </a:p>
        </p:txBody>
      </p:sp>
      <p:sp>
        <p:nvSpPr>
          <p:cNvPr id="7" name="dsl:papers"/>
          <p:cNvSpPr txBox="1"/>
          <p:nvPr/>
        </p:nvSpPr>
        <p:spPr>
          <a:xfrm>
            <a:off x="762000" y="2857500"/>
            <a:ext cx="104775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DirectCXL — CXL.mem 直接 load/store 远端内存（E1 / Peer-reviewed）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CXL-Tiers — 硬件 tiering + 软件 VM 性能隔离（E1 / Peer-reviewed）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ODRP — 可编程 RDMA remote paging（E1 / Peer-reviewed）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DirectCXL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把远端内存变成 host 可直接 load/store 的 CXL.mem 地址空间。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论文提出 directly accessible memory disaggregation：host 通过 CXL.mem 直连 remote memory resources，无需先搬入 host DRAM。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补充 Linux 5.13 runtime、cxl-namespace、segment table 和 mmap 接口。在本 survey 中它是 fabric data-path 基础论文。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来源：DirectCXL (ASPLOS 2022)｜证据等级：E1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 memory disaggregation 的主要成本来自 page/object 软件路径，而不是单纯的链路带宽。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page-based 方案依赖虚拟内存和 swap/page-fault，有 page fault、I/O amplification 和 context switch。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object-based 方案用 key-value 或对象接口绕开部分地址转换成本，但要求应用改接口。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两类方案通常仍依赖 RDMA 或类似 DMA 协议，需要 memory region、metadata、copy 和 runtime 参与。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CXL device 是被动内存模块：CXL controller 解析 CXL flits，将地址转换后交给内部 DRAM controllers。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host kernel 在 PCIe enumeration 后映射 BAR/HDM，CPU 访问 HDM system memory 时请求经 root port 转成 CXL flit。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CXL switch 用 virtual hierarchy 和 routing table 连接 host 与 CXL device。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runtime 用 /dev/directcxl、ioctl、cxl-namespace 和 mmap 暴露给应用。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来源：DirectCXL (ASPLOS 2022)｜证据等级：E1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64B read latency 中，RDMA 路径约 2705 cycles，DirectCXL.memory load request 约 328 cycles，论文报告 8.3x faster。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从 memory hierarchy 看，RDMA 比 DirectCXL 慢 6.2x；DirectCXL 仍比 local DRAM 慢，瓶颈主要来自 PCIe/CXL IP。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真实 workload 中，DirectCXL 相对 RDMA-based memory disaggregation 平均约 3x 性能提升。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这些数据证明的是 fabric access path 的性能差异，不证明链路加密、设备身份或多租户隔离。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问题切得准，系统原型覆盖 CXL device、switch、runtime 和 workload 评估，能支撑 memory fabric substrate 的叙事。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论文目标是性能和 disaggregation，不覆盖 CXL IDE、SPDM/TDISP、attestation、multi-tenant memory ownership 或 verifier policy。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CXL.memory expansion/pooling 有明确数据中心价值，DirectCXL 的 namespace/runtime 思路可转化为平台管理接口。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基础论文 / 背景系统；证据强度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来源：DirectCXL (ASPLOS 2022)｜证据等级：E1 / Peer-reviewed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CXL-Tiers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在 VM 云环境里把硬件 tiering 与软件隔离策略组合起来。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提出 Intel Flat Memory Mode：在 memory controller 内以 cache-line 粒度管理 local DRAM 与 CXL.memory。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Memstrata 是轻量 multi-tenant allocator，用 slowdown estimator 和 dedicated local pages 缓解 outlier VM。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来源：CXL-Tiers (ASPLOS 2024)｜证据等级：E1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云平台希望用 CXL.memory 降低成本和 embodied carbon，但 CXL 访问延迟高于本地 DRAM。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软件 tiering 需要追踪 hotness：PTE 扫描、PTE poisoning 或 instruction sampling 在 VM 场景里有开销、兼容性和隐私问题。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page 级 placement 假设页内访问有空间局部性，但 VM 的 free-page randomization、warm VM 和 huge page 会破坏这个假设。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设计目标包括 unmodified VM、低 host overhead、不增加 cross-VM interference、接近 local DRAM 性能。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hardware-tiered NUMA node 将 local DRAM 与 CXL.memory 组合成软件可见的 aggregate capacity，并在 cache-line 粒度交换。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mixed mode 额外暴露 dedicated local memory NUMA node，为 cache-unfriendly 或 latency-sensitive VM 预留稳定本地页。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Memstrata 读取 performance events，用 random forest slowdown estimator 识别 outlier VM，并迁移 dedicated local pages。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分工清楚：硬件处理行级 hotness，软件处理多租户公平和 outlier 缓解。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来源：CXL-Tiers (ASPLOS 2024)｜证据等级：E1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单 VM 115 workloads 中，mixed mode 下 82% workload slowdown 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&lt;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=5%，95% workload slowdown 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&lt;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=10%，但 outlier 可达 34%。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multi-VM 场景中，Memstrata 可以识别 outlier 并迁移 dedicated local pages，把 worst-case slowdown 从 35% 降到小于 6%。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Memstrata 的最大 CPU overhead 是 single core 的 4%，内存开销约 110 MB。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这些数据证明 CXL tiering 能接近 local DRAM，但也显示 resource-management policy 会决定尾部体验。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真实 CXL hardware prototype、115 workloads、multi-VM outlier 实验和 Azure production motivation，让商业可信度强。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Intel Flat Memory Mode 依赖特定处理器/MC 能力，且论文不解决 CXL IDE keying、attestation、device assignment 或 confidential VM ownership。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CXL capacity tier 能直接服务云成本、内存扩容和碳排优化，Memstrata 可作为 hypervisor 管理层策略。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背景系统 / 性能隔离；证据强度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来源：CXL-Tiers (ASPLOS 2024)｜证据等级：E1 / Peer-reviewed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95250"/>
            <a:ext cx="1143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title"/>
          <p:cNvSpPr txBox="1"/>
          <p:nvPr/>
        </p:nvSpPr>
        <p:spPr>
          <a:xfrm>
            <a:off x="571500" y="285750"/>
            <a:ext cx="95250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ODRP — 内容摘要</a:t>
            </a:r>
          </a:p>
        </p:txBody>
      </p:sp>
      <p:sp>
        <p:nvSpPr>
          <p:cNvPr id="6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-badge-bg"/>
          <p:cNvSpPr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-badge-text"/>
          <p:cNvSpPr txBox="1"/>
          <p:nvPr/>
        </p:nvSpPr>
        <p:spPr>
          <a:xfrm>
            <a:off x="10287000" y="285750"/>
            <a:ext cx="133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E1 / Peer-reviewed</a:t>
            </a:r>
          </a:p>
        </p:txBody>
      </p:sp>
      <p:sp>
        <p:nvSpPr>
          <p:cNvPr id="9" name="dsl:body"/>
          <p:cNvSpPr txBox="1"/>
          <p:nvPr/>
        </p:nvSpPr>
        <p:spPr>
          <a:xfrm>
            <a:off x="571500" y="857250"/>
            <a:ext cx="110490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F2937"/>
                </a:solidFill>
                <a:latin typeface="Inter"/>
                <a:ea typeface="MiSans"/>
              </a:rPr>
              <a:t>核心贡献：</a:t>
            </a: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把 remote paging 的内存管理搬进 RNIC data path，而不是只用 RDMA 加速数据搬运。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传统 one-sided RDMA 适合读写远端 buffer，但不擅长动态 memory allocation/deallocation。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ODRP 用 RDMA WR chain 在 RNIC 上实现 load、mapped store、unmapped store、invalidate 等 frontswap API，实现 page granularity remote memory management、zero MNode CPU usage。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来源：ODRP (ASPLOS 2025)｜证据等级：E1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bg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one-sided static 预注册大 slab，runtime 不用 MNode CPU，但 internal fragmentation 导致 remote memory utilization 低。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one-sided dynamic 细化 allocation 粒度，但 memory registration 是 control path 操作，4KB 或 1MB MR 注册代价很高。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two-sided 可做到 4KB 粒度，但每次 swap 请求都要 MNode CPU 参与，CPU 很快成为瓶颈。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研究问题：能否同时获得 fine-grained utilization、zero MNode CPU 和 good performance。</a:t>
            </a:r>
          </a:p>
        </p:txBody>
      </p:sp>
      <p:sp>
        <p:nvSpPr>
          <p:cNvPr id="7" name="dsl:sep-line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"/>
          <p:cNvSpPr txBox="1"/>
          <p:nvPr/>
        </p:nvSpPr>
        <p:spPr>
          <a:xfrm>
            <a:off x="571500" y="33337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body"/>
          <p:cNvSpPr txBox="1"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MNode 把内存切成 4KB pages，用 FIFO free page queue 管空闲页，并为每个 CNode 维护 translation table。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CNode backend 维护 allocation bitmap，提前判断 mapped/unmapped store，避免 WR chain 内额外分支。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RNIC WR chain 用 READ/WRITE/CAS/FAA 等 primitives 实现 page load、mapped store、unmapped store、invalidate。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EndianSwap、Modulo WR 和 WR recycling 克服 RNIC semantics 限制。</a:t>
            </a:r>
          </a:p>
        </p:txBody>
      </p:sp>
      <p:sp>
        <p:nvSpPr>
          <p:cNvPr id="10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来源：ODRP (ASPLOS 2025)｜证据等级：E1 /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badge-bg"/>
          <p:cNvSpPr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badge-text"/>
          <p:cNvSpPr txBox="1"/>
          <p:nvPr/>
        </p:nvSpPr>
        <p:spPr>
          <a:xfrm>
            <a:off x="571500" y="133350"/>
            <a:ext cx="114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noProof="1">
                <a:solidFill>
                  <a:srgbClr val="000000"/>
                </a:solidFill>
                <a:latin typeface="Inter"/>
                <a:ea typeface="MiSans"/>
              </a:rPr>
              <a:t>CH12</a:t>
            </a:r>
          </a:p>
        </p:txBody>
      </p:sp>
      <p:sp>
        <p:nvSpPr>
          <p:cNvPr id="5" name="dsl:exp-title"/>
          <p:cNvSpPr txBox="1"/>
          <p:nvPr/>
        </p:nvSpPr>
        <p:spPr>
          <a:xfrm>
            <a:off x="571500" y="3810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body"/>
          <p:cNvSpPr txBox="1"/>
          <p:nvPr/>
        </p:nvSpPr>
        <p:spPr>
          <a:xfrm>
            <a:off x="571500" y="762000"/>
            <a:ext cx="11049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与 one-sided static 相比，ODRP 实现 1.72x 到 12x remote memory utilization 提升；与 one-sided dynamic 相比最多 1.82x。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ODRP 和 one-sided static 都绕过 runtime MNode CPU；dynamic/two-sided 在多 CNode 时会饱和 MNode CPU。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真实应用 overhead 范围约 0.8%-14.6%，swap-intensive Kmeans 的 overhead 约 14.2%。</a:t>
            </a:r>
          </a:p>
          <a:p>
            <a:pPr algn="l" lvl="0" indent="-205740" marL="257175">
              <a:lnSpc>
                <a:spcPct val="15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8 CNodes 时 ODRP 达到 one-sided static 约 87.3% 的 swap throughput，同时显著改善 utilization。</a:t>
            </a:r>
          </a:p>
        </p:txBody>
      </p:sp>
      <p:sp>
        <p:nvSpPr>
          <p:cNvPr id="7" name="dsl:eval-title"/>
          <p:cNvSpPr txBox="1"/>
          <p:nvPr/>
        </p:nvSpPr>
        <p:spPr>
          <a:xfrm>
            <a:off x="571500" y="3143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5242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问题定义清晰，真正把 allocation/deallocation 从 control path 推到 data path，且用 commodity RDMA hardware。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WR-chain 编程复杂，empty free queue、CNode crash、TT recovery 等 corner cases 仍需 MNode CPU 或额外 recovery 逻辑。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 remote memory、SmartNIC/DPU offload 和低 CPU memory pooling 场景。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背景系统 / 内存卸载；证据强度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来源：ODRP (ASPLOS 2025)｜证据等级：E1 / Peer-reviewed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"/>
          <p:cNvSpPr txBox="1"/>
          <p:nvPr/>
        </p:nvSpPr>
        <p:spPr>
          <a:xfrm>
            <a:off x="571500" y="285750"/>
            <a:ext cx="476250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4" name="dsl:title-line"/>
          <p:cNvSpPr/>
          <p:nvPr/>
        </p:nvSpPr>
        <p:spPr>
          <a:xfrm>
            <a:off x="571500" y="74295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summary-table"/>
          <p:cNvGraphicFramePr>
            <a:graphicFrameLocks noGrp="1"/>
          </p:cNvGraphicFramePr>
          <p:nvPr/>
        </p:nvGraphicFramePr>
        <p:xfrm>
          <a:off x="571500" y="857250"/>
          <a:ext cx="11049000" cy="54292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314700"/>
                <a:gridCol w="3314700"/>
                <a:gridCol w="1657350"/>
              </a:tblGrid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核心思想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证据等级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DirectCXL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把远端内存变成 host 可直接 load/store 的 CXL.mem 地址空间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不覆盖 CXL IDE、SPDM/TDISP、attestation、multi-tenant memory ownership 或 verifier policy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Peer-reviewed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CXL-Tiers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在 VM 云环境里把硬件 tiering 与软件隔离策略组合起来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Intel Flat Memory Mode 依赖特定处理器/MC 能力，不解决 CXL IDE keying、attestation 或 confidential VM ownership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Peer-reviewed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357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ODRP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 remote paging 的内存管理搬进 RNIC data path，实现 zero MNode CPU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WR-chain 编程复杂，empty free queue、CNode crash、TT recovery 等 corner cases 仍需 MNode CPU 或额外 recovery 逻辑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E1 / Peer-reviewed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source"/>
          <p:cNvSpPr txBox="1"/>
          <p:nvPr/>
        </p:nvSpPr>
        <p:spPr>
          <a:xfrm>
            <a:off x="571500" y="6572250"/>
            <a:ext cx="11049000" cy="19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来源：三篇主讲材料选择、评价字段与 evidence ledger｜证据等级：方向综述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2563EB"/>
                </a:solidFill>
                <a:latin typeface="Inter"/>
                <a:ea typeface="MiSans"/>
              </a:rPr>
              <a:t>Direction 13: Confidential I/O Protocol &amp; Trusted Device Interface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762000" y="1524000"/>
            <a:ext cx="1047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SPDM, CoVE-IO/TDISP, and TLS Channel Binding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762000" y="2095500"/>
            <a:ext cx="10668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Confidential I/O protocol、trusted device interface、network endpoint 的核心是先界定保护对象、管理边界和证据强度，再用三篇主讲材料串起技术演进。</a:t>
            </a:r>
          </a:p>
        </p:txBody>
      </p:sp>
      <p:sp>
        <p:nvSpPr>
          <p:cNvPr id="7" name="dsl:paper-list|s=$body"/>
          <p:cNvSpPr txBox="1"/>
          <p:nvPr/>
        </p:nvSpPr>
        <p:spPr>
          <a:xfrm>
            <a:off x="762000" y="2857500"/>
            <a:ext cx="10668000" cy="3619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SPDM device identity and measurement — 开创/基础入口 (E0 / Spec-standard SOTA)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CoVE-IO and TDISP trusted-device lifecycle — 代表性改进 (E3 / 草案/未批准规范)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'Separate but Together: TLS channel binding with remote... — 当前 SOTA/补充边界 (E1 / Peer-reviewed endpoint channel-binding evidence)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SPDM Device Identity and Measurement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E0 / Spec-standard SOTA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SPDM 定义 device/component identity、measurement、capability negotiation...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SPDM is the first-party specification foundation for device identity, measurement, and...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来源：SPDM device identity and measurement｜证据等级：E0 / Spec-standard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Confidential workload 使用真实设备时，不能只相信 host 枚举出的 PCIe requester ID、VF 配置或驱动状态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通过 requester/responder 协议、certificate chain、measurement blocks、transcript 和 secured...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Device certificate and measurement retrieval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Challenge-response and transcript binding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Key exchange for secured control messages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本页不展示独立系统实验，也不把二手归纳写成一手结果。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可支撑：SPDM is the first-party specification foundation for device identity, measurement...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证据等级：E0 / Spec-standard SOTA；来源状态：本地 PDF 已核验。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涉及具体平台、协议状态或数值时，转到原始论文、官方规范或厂商材料核验。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是 CoVE-IO、TDISP、PCIe IDE keying 和 vendor device attestation 的共同。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单独成功的 SPDM session 不能证明 TDI state、IOMMU/IOPMP policy、IDE link 或 device...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 fleet-scale device attestation；风险在证书供应链、measurement schema 和 firmware...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开创/基础入口; 证据强度 E0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CoVE-IO and TDISP Trusted-Device Lifecycle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E3 / 草案/未批准规范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CoVE-IO 把 TVM trusted I/O 拆成 TDI/TDM/DSM、SPDM、TDISP、PCIe IDE、IOMMU、trusted MSI 和 CoVE ABI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RISC-V CoVE-IO draft maps SPDM and TDISP-style ideas into the RISC-V TEE-I/O track.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来源：CoVE-IO and TDISP trusted-device lifecycle｜证据等级：E3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TVM/Realm 使用设备时，需要把 device interface identity、DMA/MMIO、interrupt delivery 和 PCIe/CXL link 放。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用 CoVE-IO draft 描述 RISC-V confidential I/O lifecycle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TDISP/TDISP XT 只作为公开 metadata 辅助，不推断 gated normative rules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TDI/TDM/DSM and TSM/RDSM lifecycle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SPDM plus TDISP plus PCIe IDE composition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IOMMU/IOPMP/AIA trusted DMA and interrupt substrate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本页不展示独立系统实验，也不把二手归纳写成一手结果。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可支撑：RISC-V CoVE-IO draft maps SPDM and TDISP-style ideas into the RISC-V TEE-I/O track.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证据等级：E3 / Draft-not-ratified；来源状态：本地 PDF 已核验。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涉及具体平台、协议状态或数值时，转到原始论文、官方规范或厂商材料核验。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给 RISC-V TVM trusted I/O 提供最完整的公开 draft 架构入口。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v0.3.0 未 ratified，TDISP/XT 规范不可公开复核，不能写成 production CoVE-IO stack。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指向 vendor NIC/DPU/accelerator assignment；风险在 SPDM证书、TDISP state、IDE key...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代表性改进; 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TLS Channel Binding with Remote Attestation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Peer-reviewed endpoint channel-binding evidence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Binds an application secure channel to an attested TEE endpoint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Anchors endpoint/channel-binding evidence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Peer-reviewed endpoint/channel-binding evidence for integrating remote attestation into TLS.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来源：Separate but Together: TLS channel binding with remote...｜证据等级：E1 / Peer-reviewed endpoint cha...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SPDM and TDISP identify device/control-plane state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Application TLS needs binding to attestation evidence and workload identity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Integrate remote-attestation evidence into TLS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Bind channel endpoint, TEE measurement, and verifier policy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TLS endpoint and attestation binding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certificate/evidence composition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relying-party verification policy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USENIX ATC 2025 peer-reviewed prototype and evaluation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Supports endpoint/channel binding, not SPDM/TDISP device identity or DMA protection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Fits the protocol/device-endpoint 主讲定位 better than FOLIO, which is a...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TLS+RA does not solve device assignment, TDISP state, IDE link protection, or...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Useful for confidential service onboarding and key release; risks remain in...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Confidential I/O protocol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mary-table"/>
          <p:cNvGraphicFramePr>
            <a:graphicFrameLocks noGrp="1"/>
          </p:cNvGraphicFramePr>
          <p:nvPr/>
        </p:nvGraphicFramePr>
        <p:xfrm>
          <a:off x="571500" y="1143000"/>
          <a:ext cx="11049000" cy="5334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1657350"/>
                <a:gridCol w="3867150"/>
                <a:gridCol w="276225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选择理由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SPDM device identity and measurement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SPDM is the first-party specification foundation for device identity...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CoVE-IO and TDISP trusted-device lifecycle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RISC-V CoVE-IO draft maps SPDM and TDISP-style ideas into the RISC-V...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'Separate but Together: TLS channel binding with remote...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Peer-reviewed endpoint/channel-binding evidence for integrating remote...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2563EB"/>
                </a:solidFill>
                <a:latin typeface="Inter"/>
                <a:ea typeface="MiSans"/>
              </a:rPr>
              <a:t>Direction 14: Accelerator / DPU / SmartNIC Confidential Offload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762000" y="1524000"/>
            <a:ext cx="1047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HETEE, CloudScale, and CAGE for GPU/FPGA TEE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762000" y="2095500"/>
            <a:ext cx="10668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Accelerator / DPU / SmartNIC confidential offload 的核心是先界定保护对象、管理边界和证据强度，再用三篇主讲材料串起技术演进。</a:t>
            </a:r>
          </a:p>
        </p:txBody>
      </p:sp>
      <p:sp>
        <p:nvSpPr>
          <p:cNvPr id="7" name="dsl:paper-list|s=$body"/>
          <p:cNvSpPr txBox="1"/>
          <p:nvPr/>
        </p:nvSpPr>
        <p:spPr>
          <a:xfrm>
            <a:off x="762000" y="2857500"/>
            <a:ext cx="10668000" cy="3619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'HETEE: rack-scale heterogeneous TEE — 开创/基础入口 (E1 / 基础证据 peer-reviewed)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CloudScale confidential computing with heterogeneous devices — 代表性改进 (E1 / 同行评审改进证据)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CAGE confidential accelerator workflowow for Arm CCA — 当前 SOTA/补充边界 (E1 / 同行评审改进证据)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HETEE: Rack-Scale Heterogeneous TEE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基础证据 peer-reviewed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HETEE 用 rack-level security controller 与 PCIe fabric 动态隔离 GPU/FPGA/TPU 等 accelerator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HETEE is a foundational peer-reviewed work for heterogeneous CPU-accelerator TEEs.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来源：HETEE: rack-scale heterogeneous TEE｜证据等级：E1 / Foundational peer-reviewed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CPU TEE 不能天然保护 accelerator offload path，敏感数据进入 GPU、driver、PCIe fabric 或 remote resource...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Security Controller 作为 thin TCB 管理 accelerator assignment、加密认证、remote attestation、secure...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Rack-level Security Controller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PCIe ExpressFabric accelerator assignment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Remote attestation and secure cleanup lifecycle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真实硬件原型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论文报告 ResNet152 inference 最大 throughput overhead 2.17%，training 最大 overhead 0.95%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accelerator confidential offload 的 foundational baseline，说明 CPU TEE 边界可以被。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早于 SPDM/TDISP/CoVE-IO，不能当作 modern trusted I/O 标准或 vendor DPU attestation proof。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适合启发 DPU/SmartNIC security-controller 设计；风险在集中 TCB、设备固件可信和 production...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CloudScale Confidential Computing with Heterogeneous Devices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同行评审改进证据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CloudScale 用 cloud-scale Security Controller 桥接 TEE-enabled nodes 与 legacy non-TEE...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Cloud-scale acceleration work is a peer-reviewed 2024 SOTA item for confidential...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来源：CloudScale confidential computing with heterogeneous devices｜证据等级：E1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数据中心中多数 DSA 节点没有 TEE 能力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用户要在 accelerator 性能与敏感数据保护之间取舍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SC 作为 TEE proxy 执行 access control、attestation、key exchange 和 encrypted/authenticated data...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Cloud-scale Security Controller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TEE / non-TEE DSA pool attestation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Encrypted and authenticated offload path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论文报告 AI、Redis、file-system workloads 平均 1.5-5% overhead，并扩展到 2236 concurrent NPUs running...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 accelerator TEE 从单机扩展到 cloud-scale heterogeneous DSA pool。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SC 正确性和供应链可信是硬假设；不替代 SPDM/TDISP/PCIe IDE/IOMMU 或 vendor DPU RoT。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贴近云 DPU/SmartNIC/NPU resource-pool 问题；风险在多租户编排、热插拔、failure isolation 和。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CAGE: Confidential Accelerator Workflow for Arm CCA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同行评审改进证据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CAGE 用 Arm CCA GPC/GPT 与 Monitor-side shadow task 保护 Realm 使用 GPU/FPGA accelerator 的。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CAGE is a recent peer-reviewed SOTA item for GPU accelerator enclaves.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来源：CAGE confidential accelerator workflowow for Arm CCA｜证据等级：E1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Arm CCA 保护 Realm memory，但 untrusted accelerator driver/runtime 会处理 code、metadata、MMIO、DMA...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用 shadow task、Monitor verification、GPC/GPT protection 和 accelerator-specific cleanup，把真实。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Shadow task and Monitor-side verification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GPC/GPT protected accelerator buffers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GPU/FPGA workflowow-specific cleanup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论文报告 GPU benchmark 开销 0.58%-5.31%，FPGA benchmark 开销 9.61%-16.30%，TCB 增量约 1301 LoC + 140 LoC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Arm CCA GPU/FPGA confidential accelerator 的 peer-reviewed SOTA。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Device identity、SPDM/TDISP、production CCA hardware、复杂多租户 accelerator...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可迁移到 DPU/SmartNIC packet-processing rules、queue descriptors 和 TLS keys；风险在。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Accelerator / DPU / Sm...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mary-table"/>
          <p:cNvGraphicFramePr>
            <a:graphicFrameLocks noGrp="1"/>
          </p:cNvGraphicFramePr>
          <p:nvPr/>
        </p:nvGraphicFramePr>
        <p:xfrm>
          <a:off x="571500" y="1143000"/>
          <a:ext cx="11049000" cy="5334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1657350"/>
                <a:gridCol w="3867150"/>
                <a:gridCol w="276225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选择理由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'HETEE: rack-scale heterogeneous TEE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HETEE is a foundational peer-reviewed work for heterogeneous...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CloudScale confidential computing with heterogeneous devices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Cloud-scale acceleration work is a peer-reviewed 2024 SOTA item for...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CAGE confidential accelerator workflowow for Arm CCA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CAGE is a recent peer-reviewed SOTA item for GPU accelerator enclaves.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left-accent"/>
          <p:cNvSpPr/>
          <p:nvPr/>
        </p:nvSpPr>
        <p:spPr>
          <a:xfrm>
            <a:off x="571500" y="11430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2563EB"/>
                </a:solidFill>
                <a:latin typeface="Inter"/>
                <a:ea typeface="MiSans"/>
              </a:rPr>
              <a:t>Direction 15: SmartNIC / Trusted NIC / Secure Storage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762000" y="1524000"/>
            <a:ext cx="1047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64748B"/>
                </a:solidFill>
                <a:latin typeface="Inter"/>
                <a:ea typeface="MiSans"/>
              </a:rPr>
              <a:t>S-NIC, TNIC, and Hazel for NIC Isolation &amp; Storage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762000" y="2095500"/>
            <a:ext cx="10668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SmartNIC / trusted NIC / secure storage data path 的核心是先界定保护对象、管理边界和证据强度，再用三篇主讲材料串起技术演进。</a:t>
            </a:r>
          </a:p>
        </p:txBody>
      </p:sp>
      <p:sp>
        <p:nvSpPr>
          <p:cNvPr id="7" name="dsl:paper-list|s=$body"/>
          <p:cNvSpPr txBox="1"/>
          <p:nvPr/>
        </p:nvSpPr>
        <p:spPr>
          <a:xfrm>
            <a:off x="762000" y="2857500"/>
            <a:ext cx="10668000" cy="3619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'S-NIC: SmartNIC function isolation — 开创/基础入口 (E1 / 同行评审改进证据)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'TNIC: trusted NIC architecture — 代表性改进 (E1 / 同行评审改进证据)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- 'Hazel: secure disaggregated storage data path — 当前 SOTA/补充边界 (E3 / 草案/未批准规范)</a:t>
            </a:r>
          </a:p>
        </p:txBody>
      </p:sp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S-NIC: SmartNIC Function Isolation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同行评审改进证据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S-NIC 提出 virtual smart NIC，用硬件隔离 SmartNIC 上的 network functions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sNIC is the foundational peer-reviewed systems paper for cloud SmartNIC isolation.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来源：S-NIC: SmartNIC function isolation｜证据等级：E1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SmartNIC/DPU 上运行 packet processing、DPI、NAT、storage offload 后，NIC OS 和其他租户函数可能泄漏或篡改 state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用 memory denylist、locked TLB、cache partitioning、accelerator virtualization、DMA isolation...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Virtual SmartNIC launch/destroy lifecycle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Memory denylist, locked TLB, and DMA isolation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Cache partitioning, accelerator virtualization, and bus arbitration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论文报告硬件面积约 +8.89%，功耗约 +11.45%，function throughput worst-case 下降小于 1.7%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为 secure vNIC/vSwitch/offload 提供清晰的 NIC-local resource ownership baseline。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没有真实 production NIC silicon，也不是完整 VM/Realm trusted I/O 或 SPDM/TDISP lifecycle。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可指导 DPU tenant network-function isolation；落地风险在资源利用率、function chaining 和。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TNIC: Trusted NIC Architecture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E1 / 同行评审改进证据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TNIC 在 NIC 级别构建 minimal silicon root-of-trust，为可信分布式系统提供 transferable authentication 和。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TNIC is a peer-reviewed ASPLOS 2025 SOTA trusted NIC system.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来源：TNIC: trusted NIC architecture｜证据等级：E1 / Peer-reviewed SOTA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CPU TEE 在跨节点网络 I/O 中 TCB 大、性能差、异构性高，无法作为统一 network trust substrate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在 NIC hardware 上实现最小安全 primitive、kernel-bypass stack 和可验证协议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用 Tamarin 验证核心性质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NIC-level silicon root-of-trust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Transferable authentication and non-equivocation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Tamarin-verified protocol core and kernel-bypass stack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论文报告相比 CPU-centric TEE systems 最多 6x 性能提升，硬件 TCB 约 2,114 LoC，并用 Tamarin 验证核心性质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为 network endpoint root-of-trust 提供 peer-reviewed SOTA 和形式化验证证据。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不保护 workload memory，也不替代 SPDM/TDISP、IOMMU、link encryption 或 device lifecycle 标准。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可成为 SmartNIC local root 的学术蓝图；风险在 silicon provisioning、证书链和云厂商互操作。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代表性改进; 证据强度 E1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Hazel: Secure Disaggregated Storage Data Path — 内容摘要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evidence-badge-bg"/>
          <p:cNvSpPr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vidence-badge-text"/>
          <p:cNvSpPr txBox="1"/>
          <p:nvPr/>
        </p:nvSpPr>
        <p:spPr>
          <a:xfrm>
            <a:off x="10287000" y="2857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E3 / 草案/未批准规范</a:t>
            </a:r>
          </a:p>
        </p:txBody>
      </p:sp>
      <p:sp>
        <p:nvSpPr>
          <p:cNvPr id="9" name="dsl:body-content|s=$body"/>
          <p:cNvSpPr txBox="1"/>
          <p:nvPr/>
        </p:nvSpPr>
        <p:spPr>
          <a:xfrm>
            <a:off x="571500" y="1143000"/>
            <a:ext cx="11049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Hazel 为 NVMe-oF disaggregated storage 提供 confidentiality、integrity 和 freshness，并利用。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Hazel is retained as a draft SOTA item for trusted NIC and secure storage data paths.</a:t>
            </a:r>
          </a:p>
        </p:txBody>
      </p:sp>
      <p:sp>
        <p:nvSpPr>
          <p:cNvPr id="10" name="dsl:source-line|s=$caption"/>
          <p:cNvSpPr txBox="1"/>
          <p:nvPr/>
        </p:nvSpPr>
        <p:spPr>
          <a:xfrm>
            <a:off x="571500" y="63817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Inter"/>
                <a:ea typeface="MiSans"/>
              </a:rPr>
              <a:t>来源：Hazel: secure disaggregated storage data path｜证据等级：E3 / Draft-not-ratified</a:t>
            </a:r>
          </a:p>
        </p:txBody>
      </p:sp>
      <p:sp>
        <p:nvSpPr>
          <p:cNvPr id="11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bg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研究背景</a:t>
            </a:r>
          </a:p>
        </p:txBody>
      </p:sp>
      <p:sp>
        <p:nvSpPr>
          <p:cNvPr id="6" name="dsl:bg-content|s=$body"/>
          <p:cNvSpPr txBox="1"/>
          <p:nvPr/>
        </p:nvSpPr>
        <p:spPr>
          <a:xfrm>
            <a:off x="571500" y="1047750"/>
            <a:ext cx="11049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confidential workload 使用远端存储时，本地 dm-crypt/dm-integrity/dm-x 难以保持性能、扩展性和 replay freshness</a:t>
            </a:r>
          </a:p>
        </p:txBody>
      </p:sp>
      <p:sp>
        <p:nvSpPr>
          <p:cNvPr id="7" name="dsl:divider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ol-title|s=$title"/>
          <p:cNvSpPr txBox="1"/>
          <p:nvPr/>
        </p:nvSpPr>
        <p:spPr>
          <a:xfrm>
            <a:off x="571500" y="3429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解决方案</a:t>
            </a:r>
          </a:p>
        </p:txBody>
      </p:sp>
      <p:sp>
        <p:nvSpPr>
          <p:cNvPr id="9" name="dsl:sol-content|s=$body"/>
          <p:cNvSpPr txBox="1"/>
          <p:nvPr/>
        </p:nvSpPr>
        <p:spPr>
          <a:xfrm>
            <a:off x="571500" y="3810000"/>
            <a:ext cx="11049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counter leasing、NVMe metadata、Hazel Merkle Tree、metadata cache、eventual consistency 和 DPU...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Counter leasing and KBS/TEE-assisted control path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NVMe metadata plus Hazel Merkle Tree freshness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BlueField-3 crypto offload for NVMe-oF data path</a:t>
            </a:r>
          </a:p>
        </p:txBody>
      </p:sp>
      <p:sp>
        <p:nvSpPr>
          <p:cNvPr id="10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truste...</a:t>
            </a:r>
          </a:p>
        </p:txBody>
      </p:sp>
      <p:sp>
        <p:nvSpPr>
          <p:cNvPr id="5" name="dsl:exp-title|s=$title"/>
          <p:cNvSpPr txBox="1"/>
          <p:nvPr/>
        </p:nvSpPr>
        <p:spPr>
          <a:xfrm>
            <a:off x="571500" y="666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实验结果</a:t>
            </a:r>
          </a:p>
        </p:txBody>
      </p:sp>
      <p:sp>
        <p:nvSpPr>
          <p:cNvPr id="6" name="dsl:exp-content|s=$body"/>
          <p:cNvSpPr txBox="1"/>
          <p:nvPr/>
        </p:nvSpPr>
        <p:spPr>
          <a:xfrm>
            <a:off x="571500" y="1047750"/>
            <a:ext cx="11049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arXiv preprint 提供 NVMe-oF storage 原型评估，报告常见路径 1%-2% overhead，IO500 平均约 6.3%，YCSB p99...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Inter"/>
                <a:ea typeface="MiSans"/>
              </a:rPr>
              <a:t>• 小随机 freshness I/O 是弱点</a:t>
            </a:r>
          </a:p>
        </p:txBody>
      </p:sp>
      <p:sp>
        <p:nvSpPr>
          <p:cNvPr id="7" name="dsl:eval-title|s=$title"/>
          <p:cNvSpPr txBox="1"/>
          <p:nvPr/>
        </p:nvSpPr>
        <p:spPr>
          <a:xfrm>
            <a:off x="571500" y="2952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文章评价</a:t>
            </a:r>
          </a:p>
        </p:txBody>
      </p:sp>
      <p:graphicFrame>
        <p:nvGraphicFramePr>
          <p:cNvPr id="8" name="dsl:eval-table"/>
          <p:cNvGraphicFramePr>
            <a:graphicFrameLocks noGrp="1"/>
          </p:cNvGraphicFramePr>
          <p:nvPr/>
        </p:nvGraphicFramePr>
        <p:xfrm>
          <a:off x="571500" y="3333750"/>
          <a:ext cx="11049000" cy="3048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8839200"/>
              </a:tblGrid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判断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设计优势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把 confidential computing 的 storage data path、freshness 和 DPU offload 放到同一系统原型中。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主要局限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仍是 preprint；没有把 BlueField DPU attestation、SPDM/TDISP/NVMe-oF endpoint...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商业落地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接近云上 confidential storage 需求；风险在 crash consistency、KBS/DPU 运维和 production...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讲稿定位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SOTA/补充边界; 证据强度 E3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ir-badge-bg"/>
          <p:cNvSpPr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ir-badge-text"/>
          <p:cNvSpPr txBox="1"/>
          <p:nvPr/>
        </p:nvSpPr>
        <p:spPr>
          <a:xfrm>
            <a:off x="571500" y="285750"/>
            <a:ext cx="95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SmartNIC / trusted NIC...</a:t>
            </a:r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334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2563EB"/>
                </a:solidFill>
                <a:latin typeface="Inter"/>
                <a:ea typeface="MiSans"/>
              </a:rPr>
              <a:t>方向总结</a:t>
            </a:r>
          </a:p>
        </p:txBody>
      </p:sp>
      <p:sp>
        <p:nvSpPr>
          <p:cNvPr id="6" name="dsl:title-underline"/>
          <p:cNvSpPr/>
          <p:nvPr/>
        </p:nvSpPr>
        <p:spPr>
          <a:xfrm>
            <a:off x="571500" y="952500"/>
            <a:ext cx="1143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dsl:summary-table"/>
          <p:cNvGraphicFramePr>
            <a:graphicFrameLocks noGrp="1"/>
          </p:cNvGraphicFramePr>
          <p:nvPr/>
        </p:nvGraphicFramePr>
        <p:xfrm>
          <a:off x="571500" y="1143000"/>
          <a:ext cx="11049000" cy="5334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1657350"/>
                <a:gridCol w="3867150"/>
                <a:gridCol w="2762250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Inter"/>
                          <a:ea typeface="MiSans"/>
                        </a:rPr>
                        <a:t>选择理由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'S-NIC: SmartNIC function isolation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开创/基础入口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sNIC is the foundational peer-reviewed systems paper for cloud SmartNIC...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'TNIC: trusted NIC architecture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代表性改进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TNIC is a peer-reviewed ASPLOS 2025 SOTA trusted NIC system.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600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- 'Hazel: secure disaggregated storage data path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当前 SOTA/补充边界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Inter"/>
                          <a:ea typeface="MiSans"/>
                        </a:rPr>
                        <a:t>Hazel is retained as a draft SOTA item for trusted NIC and secure...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-text|s=$title"/>
          <p:cNvSpPr txBox="1"/>
          <p:nvPr/>
        </p:nvSpPr>
        <p:spPr>
          <a:xfrm>
            <a:off x="952500" y="1143000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3000" noProof="1">
                <a:solidFill>
                  <a:srgbClr val="2563EB"/>
                </a:solidFill>
                <a:latin typeface="Inter"/>
                <a:ea typeface="MiSans"/>
              </a:rPr>
              <a:t>Key Takeaways &amp; Research Gaps</a:t>
            </a:r>
          </a:p>
        </p:txBody>
      </p:sp>
      <p:sp>
        <p:nvSpPr>
          <p:cNvPr id="4" name="dsl:divider"/>
          <p:cNvSpPr/>
          <p:nvPr/>
        </p:nvSpPr>
        <p:spPr>
          <a:xfrm>
            <a:off x="5143500" y="1809750"/>
            <a:ext cx="1905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ody-text|s=$body"/>
          <p:cNvSpPr txBox="1"/>
          <p:nvPr/>
        </p:nvSpPr>
        <p:spPr>
          <a:xfrm>
            <a:off x="1333500" y="2095500"/>
            <a:ext cx="9525000" cy="2857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500" noProof="1">
                <a:solidFill>
                  <a:srgbClr val="1F2937"/>
                </a:solidFill>
                <a:latin typeface="Inter"/>
                <a:ea typeface="MiSans"/>
              </a:rPr>
              <a:t>Platform Evolution:</a:t>
            </a:r>
            <a:r>
              <a:rPr sz="1500" noProof="1">
                <a:solidFill>
                  <a:srgbClr val="1F2937"/>
                </a:solidFill>
                <a:latin typeface="Inter"/>
                <a:ea typeface="MiSans"/>
              </a:rPr>
              <a:t> Hardware security has shifted from isolated CPU features to platform-level protection contracts.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b="1" sz="1500" noProof="1">
                <a:solidFill>
                  <a:srgbClr val="1F2937"/>
                </a:solidFill>
                <a:latin typeface="Inter"/>
                <a:ea typeface="MiSans"/>
              </a:rPr>
              <a:t>Convergent Directions:</a:t>
            </a:r>
            <a:r>
              <a:rPr sz="1500" noProof="1">
                <a:solidFill>
                  <a:srgbClr val="1F2937"/>
                </a:solidFill>
                <a:latin typeface="Inter"/>
                <a:ea typeface="MiSans"/>
              </a:rPr>
              <a:t> Arm CCA and RISC-V CoVE represent parallel confidential computing architectures with shared challenges in memory ownership, I/O isolation, and attestation.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b="1" sz="1500" noProof="1">
                <a:solidFill>
                  <a:srgbClr val="1F2937"/>
                </a:solidFill>
                <a:latin typeface="Inter"/>
                <a:ea typeface="MiSans"/>
              </a:rPr>
              <a:t>Critical Gaps:</a:t>
            </a:r>
            <a:r>
              <a:rPr sz="1500" noProof="1">
                <a:solidFill>
                  <a:srgbClr val="1F2937"/>
                </a:solidFill>
                <a:latin typeface="Inter"/>
                <a:ea typeface="MiSans"/>
              </a:rPr>
              <a:t> Verified RMM implementations, ratified RISC-V standards, production confidential I/O protocols, and cross-architecture evidence chains remain open.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b="1" sz="1500" noProof="1">
                <a:solidFill>
                  <a:srgbClr val="1F2937"/>
                </a:solidFill>
                <a:latin typeface="Inter"/>
                <a:ea typeface="MiSans"/>
              </a:rPr>
              <a:t>Evidence Range:</a:t>
            </a:r>
            <a:r>
              <a:rPr sz="1500" noProof="1">
                <a:solidFill>
                  <a:srgbClr val="1F2937"/>
                </a:solidFill>
                <a:latin typeface="Inter"/>
                <a:ea typeface="MiSans"/>
              </a:rPr>
              <a:t> E0 (specifications) → E1 (peer-reviewed systems) → E4 (industry deployment). Stronger evidence needed for production security claims.</a:t>
            </a:r>
          </a:p>
        </p:txBody>
      </p:sp>
      <p:sp>
        <p:nvSpPr>
          <p:cNvPr id="6" name="dsl:thank-you|s=$subtitle"/>
          <p:cNvSpPr txBox="1"/>
          <p:nvPr/>
        </p:nvSpPr>
        <p:spPr>
          <a:xfrm>
            <a:off x="952500" y="5334000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800" noProof="1">
                <a:solidFill>
                  <a:srgbClr val="2563EB"/>
                </a:solidFill>
                <a:latin typeface="Inter"/>
                <a:ea typeface="MiSans"/>
              </a:rPr>
              <a:t>Thank You</a:t>
            </a:r>
          </a:p>
        </p:txBody>
      </p:sp>
      <p:sp>
        <p:nvSpPr>
          <p:cNvPr id="7" name="dsl:bottom-bar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64748B"/>
    <Color name="accent" value="#DC2626"/>
    <Color name="background" value="#FFFFFF"/>
    <Color name="text" value="#1F2937"/>
    <Color name="surface" value="#F8FAFC"/>
    <Color name="border" value="#E2E8F0"/>
    <Color name="lightText" value="#9CA3AF"/>
    <Color name="white" value="#FFFFFF"/>
    <Color name="dark" value="#111827"/>
  </Colors>
  <TextStyles>
    <TextStyle name="title" font_size="36.0" color="$primary" font_family="Inter, MiSans" line_height="1.3"/>
    <TextStyle name="chapterTitle" font_size="44.0" color="$white" font_family="Inter, MiSans" line_height="1.2"/>
    <TextStyle name="subtitle" font_size="24.0" color="$secondary" font_family="Inter, MiSans" line_height="1.4"/>
    <TextStyle name="body" font_size="18.0" color="$text" font_family="Inter, MiSans" line_height="1.5"/>
    <TextStyle name="caption" font_size="14.0" color="$secondary" font_family="Inter, MiSans" line_height="1.4"/>
    <TextStyle name="badge" font_size="12.0" color="$white" font_family="Inter, MiSans"/>
    <TextStyle name="coverTitle" font_size="48.0" color="$primary" font_family="Inter, MiSans" line_height="1.2"/>
    <TextStyle name="coverSubtitle" font_size="28.0" color="$secondary" font_family="Inter, MiSans" line_height="1.4"/>
    <TextStyle name="evidenceLabel" font_size="12.0" color="$white" font_family="Inter, MiSans"/>
  </TextStyles>
  <TableStyles>
    <TableStyle name="default" fontSize="16.0" fontFamily="Inter, MiSans" headerFill="$primary" headerColor="$white" headerBold="true" bodyFill="$white,$surface" bodyColor="$text" firstColumnBold="false">
      <Border style="solid" width="1.0" color="$border"/>
    </TableStyle>
  </TableStyles>
</DslMetadata>
</file>

<file path=customXml/itemProps1.xml><?xml version="1.0" encoding="utf-8"?>
<ns0:datastoreItem xmlns:ns0="http://schemas.openxmlformats.org/officeDocument/2006/customXml" ns0:itemID="{B20D0D69-B2CE-49FE-9994-F8964DE20D02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